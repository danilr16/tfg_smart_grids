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256" r:id="rId2"/>
    <p:sldId id="257" r:id="rId3"/>
    <p:sldId id="259" r:id="rId4"/>
    <p:sldId id="260" r:id="rId5"/>
    <p:sldId id="263" r:id="rId6"/>
    <p:sldId id="266" r:id="rId7"/>
    <p:sldId id="267" r:id="rId8"/>
    <p:sldId id="271" r:id="rId9"/>
    <p:sldId id="346" r:id="rId10"/>
    <p:sldId id="347" r:id="rId11"/>
    <p:sldId id="269" r:id="rId12"/>
    <p:sldId id="272" r:id="rId13"/>
    <p:sldId id="273" r:id="rId14"/>
    <p:sldId id="297" r:id="rId15"/>
    <p:sldId id="298" r:id="rId16"/>
    <p:sldId id="299" r:id="rId17"/>
    <p:sldId id="301" r:id="rId18"/>
    <p:sldId id="302" r:id="rId19"/>
    <p:sldId id="304" r:id="rId20"/>
    <p:sldId id="345" r:id="rId21"/>
    <p:sldId id="307" r:id="rId22"/>
    <p:sldId id="325" r:id="rId23"/>
    <p:sldId id="326" r:id="rId24"/>
    <p:sldId id="327" r:id="rId25"/>
    <p:sldId id="328" r:id="rId26"/>
    <p:sldId id="330" r:id="rId27"/>
    <p:sldId id="331" r:id="rId28"/>
    <p:sldId id="332" r:id="rId29"/>
    <p:sldId id="333" r:id="rId30"/>
    <p:sldId id="334" r:id="rId31"/>
    <p:sldId id="335" r:id="rId32"/>
    <p:sldId id="336" r:id="rId33"/>
    <p:sldId id="337" r:id="rId34"/>
    <p:sldId id="342" r:id="rId35"/>
    <p:sldId id="343" r:id="rId36"/>
    <p:sldId id="344" r:id="rId37"/>
  </p:sldIdLst>
  <p:sldSz cx="18288000" cy="10287000"/>
  <p:notesSz cx="6858000" cy="9144000"/>
  <p:embeddedFontLst>
    <p:embeddedFont>
      <p:font typeface="Bantayog" panose="020B0604020202020204"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3660"/>
    <a:srgbClr val="DBE7FF"/>
    <a:srgbClr val="4D6B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4711" autoAdjust="0"/>
  </p:normalViewPr>
  <p:slideViewPr>
    <p:cSldViewPr>
      <p:cViewPr>
        <p:scale>
          <a:sx n="50" d="100"/>
          <a:sy n="50" d="100"/>
        </p:scale>
        <p:origin x="1646" y="76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B82BD7-1BEF-4BE3-8132-A355946D9592}" type="datetimeFigureOut">
              <a:rPr lang="es-ES" smtClean="0"/>
              <a:t>25/05/2026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581327-80F5-4F53-A91A-2A06DA15CAE7}" type="slidenum">
              <a:rPr lang="es-ES" smtClean="0"/>
              <a:t>‹Nº›</a:t>
            </a:fld>
            <a:endParaRPr lang="es-ES"/>
          </a:p>
        </p:txBody>
      </p:sp>
    </p:spTree>
    <p:extLst>
      <p:ext uri="{BB962C8B-B14F-4D97-AF65-F5344CB8AC3E}">
        <p14:creationId xmlns:p14="http://schemas.microsoft.com/office/powerpoint/2010/main" val="4247467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Si les pido que recuerden el día 28 de abril de 2025, probablemente no se acuerden de ese día en específico. Sin embargo, ese día ustedes y yo vivimos un fenómeno histórico. Ese día toda España sufrió un apagón, un cero eléctrico absoluto. La raíz del problema residió en que, aunque los generadores tienen la capacidad de inyectar potencia reactiva que sirve para controlar las tensiones en el sistema eléctrico. Ese día los generadores renovables no estaban habilitados para ayudar en ese control y todo colapsó. Por eso, yo Daniel López Ramos, vengo a presentar “Smart </a:t>
            </a:r>
            <a:r>
              <a:rPr lang="es-ES" dirty="0" err="1"/>
              <a:t>Grids</a:t>
            </a:r>
            <a:r>
              <a:rPr lang="es-ES" dirty="0"/>
              <a:t>: Control de Redes Eléctricas con Inteligencia </a:t>
            </a:r>
            <a:r>
              <a:rPr lang="es-ES" dirty="0" err="1"/>
              <a:t>Artifical</a:t>
            </a:r>
            <a:r>
              <a:rPr lang="es-ES" dirty="0"/>
              <a:t>”, un TFG en colaboración del LSI y el departamento de Ingeniería Eléctrica, para mediante el uso de la IA, dotar al sistema de la capacidad de controlar su estado. ¿Y cómo hemos llegado a este estado actual de descontrol?</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1</a:t>
            </a:fld>
            <a:endParaRPr lang="es-ES"/>
          </a:p>
        </p:txBody>
      </p:sp>
    </p:spTree>
    <p:extLst>
      <p:ext uri="{BB962C8B-B14F-4D97-AF65-F5344CB8AC3E}">
        <p14:creationId xmlns:p14="http://schemas.microsoft.com/office/powerpoint/2010/main" val="479005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El problema es que las redes eléctricas han sufrido un cambio radical. El planteamiento inicial se basaba en la generación de energía en centrales eléctricas centralizadas y controladas y su distribución directa a los usuarios. Sin embargo, el auge de las energías renovables y la adopción masiva de nuevas tecnologías, lo ha cambiado todo.</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2</a:t>
            </a:fld>
            <a:endParaRPr lang="es-ES"/>
          </a:p>
        </p:txBody>
      </p:sp>
    </p:spTree>
    <p:extLst>
      <p:ext uri="{BB962C8B-B14F-4D97-AF65-F5344CB8AC3E}">
        <p14:creationId xmlns:p14="http://schemas.microsoft.com/office/powerpoint/2010/main" val="454977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Donde antes había grandes centros de generación centralizados, ahora hay centros de energía distribuidos con una generación de energía irregular, debido principalmente a la naturaleza inestable de las energías renovables.</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3</a:t>
            </a:fld>
            <a:endParaRPr lang="es-ES"/>
          </a:p>
        </p:txBody>
      </p:sp>
    </p:spTree>
    <p:extLst>
      <p:ext uri="{BB962C8B-B14F-4D97-AF65-F5344CB8AC3E}">
        <p14:creationId xmlns:p14="http://schemas.microsoft.com/office/powerpoint/2010/main" val="3334197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Donde antes había un consumidor pasivo, ahora hay un usuario que genera y consume energía mediante instalaciones de autoconsumo y almacenamiento de electricidad. Es más, muchos de estos usuarios vierten los excedentes de energía que no consumen a la red. Y donde antes había control de todo el proceso en única dirección, ahora hay desconocimiento en un entorno bidireccional.</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4</a:t>
            </a:fld>
            <a:endParaRPr lang="es-ES"/>
          </a:p>
        </p:txBody>
      </p:sp>
    </p:spTree>
    <p:extLst>
      <p:ext uri="{BB962C8B-B14F-4D97-AF65-F5344CB8AC3E}">
        <p14:creationId xmlns:p14="http://schemas.microsoft.com/office/powerpoint/2010/main" val="2608593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 apuesta de las empresas para solucionar este problema actual son las Smart </a:t>
            </a:r>
            <a:r>
              <a:rPr lang="es-ES" dirty="0" err="1"/>
              <a:t>Grids</a:t>
            </a:r>
            <a:r>
              <a:rPr lang="es-ES" dirty="0"/>
              <a:t>, que son básicamente sistemas digitalizados que extraen información de la red mediante sensores y contadores inteligentes. Es ahí donde la inteligencia artificial puede dar una solución.</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5</a:t>
            </a:fld>
            <a:endParaRPr lang="es-ES"/>
          </a:p>
        </p:txBody>
      </p:sp>
    </p:spTree>
    <p:extLst>
      <p:ext uri="{BB962C8B-B14F-4D97-AF65-F5344CB8AC3E}">
        <p14:creationId xmlns:p14="http://schemas.microsoft.com/office/powerpoint/2010/main" val="2365740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Con estos nuevos sistemas, disponemos de muchos datos, que es justo lo que necesitamos para entrenar modelos mediante aprendizaje supervisado. Y en el aprendizaje supervisado nos centraremos en modelos de regresión, ya que estos modelos van a predecir variables físicas continuas.</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6</a:t>
            </a:fld>
            <a:endParaRPr lang="es-ES"/>
          </a:p>
        </p:txBody>
      </p:sp>
    </p:spTree>
    <p:extLst>
      <p:ext uri="{BB962C8B-B14F-4D97-AF65-F5344CB8AC3E}">
        <p14:creationId xmlns:p14="http://schemas.microsoft.com/office/powerpoint/2010/main" val="2046278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Evaluamos así tres modelos consolidados: Random Forest basado en la inteligencia colectiva de árboles de decisión, </a:t>
            </a:r>
            <a:r>
              <a:rPr lang="es-ES" dirty="0" err="1"/>
              <a:t>XGBoost</a:t>
            </a:r>
            <a:r>
              <a:rPr lang="es-ES" dirty="0"/>
              <a:t> con potenciación por gradiente de esos mismos árboles, y Redes Neuronales basadas en estructuras de neuronas interconectadas. Se eligieron porque combinan la robustez de los estándares de la industria con un bajo coste computacional.</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7</a:t>
            </a:fld>
            <a:endParaRPr lang="es-ES"/>
          </a:p>
        </p:txBody>
      </p:sp>
    </p:spTree>
    <p:extLst>
      <p:ext uri="{BB962C8B-B14F-4D97-AF65-F5344CB8AC3E}">
        <p14:creationId xmlns:p14="http://schemas.microsoft.com/office/powerpoint/2010/main" val="1437451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El objetivo principal de este proyecto no se limita a realizar un análisis de datos teórico, sino que pretende resolver un desafío real y actual de ingeniería eléctrica.</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8</a:t>
            </a:fld>
            <a:endParaRPr lang="es-ES"/>
          </a:p>
        </p:txBody>
      </p:sp>
    </p:spTree>
    <p:extLst>
      <p:ext uri="{BB962C8B-B14F-4D97-AF65-F5344CB8AC3E}">
        <p14:creationId xmlns:p14="http://schemas.microsoft.com/office/powerpoint/2010/main" val="3910291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C566A-0067-4771-F9BF-4C209C2CDD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80C4467-3329-E6E0-3287-0ABF862FF14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0C73713-CAD3-05F2-64D6-7C2607C6E342}"/>
              </a:ext>
            </a:extLst>
          </p:cNvPr>
          <p:cNvSpPr>
            <a:spLocks noGrp="1"/>
          </p:cNvSpPr>
          <p:nvPr>
            <p:ph type="body" idx="1"/>
          </p:nvPr>
        </p:nvSpPr>
        <p:spPr/>
        <p:txBody>
          <a:bodyPr/>
          <a:lstStyle/>
          <a:p>
            <a:r>
              <a:rPr lang="es-ES" dirty="0"/>
              <a:t>El desarrollo del proyecto se ha planificado siguiendo un ciclo de vida en cascada permitiendo solapamiento de fases. Dividimos las fases en investigación con el objetivo de asentar la base teórica, análisis permitiendo traducir la investigación en especificaciones formales, desarrollo para la implementación del sistema predictivo, evaluación para medir la eficacia de dicho sistema y cierre para el cumplimiento de una correcta entrega del proyecto.</a:t>
            </a:r>
          </a:p>
        </p:txBody>
      </p:sp>
      <p:sp>
        <p:nvSpPr>
          <p:cNvPr id="4" name="Marcador de número de diapositiva 3">
            <a:extLst>
              <a:ext uri="{FF2B5EF4-FFF2-40B4-BE49-F238E27FC236}">
                <a16:creationId xmlns:a16="http://schemas.microsoft.com/office/drawing/2014/main" id="{FE7CC9D2-D5BA-903C-A2FE-B8CA75557357}"/>
              </a:ext>
            </a:extLst>
          </p:cNvPr>
          <p:cNvSpPr>
            <a:spLocks noGrp="1"/>
          </p:cNvSpPr>
          <p:nvPr>
            <p:ph type="sldNum" sz="quarter" idx="5"/>
          </p:nvPr>
        </p:nvSpPr>
        <p:spPr/>
        <p:txBody>
          <a:bodyPr/>
          <a:lstStyle/>
          <a:p>
            <a:fld id="{72581327-80F5-4F53-A91A-2A06DA15CAE7}" type="slidenum">
              <a:rPr lang="es-ES" smtClean="0"/>
              <a:t>9</a:t>
            </a:fld>
            <a:endParaRPr lang="es-ES"/>
          </a:p>
        </p:txBody>
      </p:sp>
    </p:spTree>
    <p:extLst>
      <p:ext uri="{BB962C8B-B14F-4D97-AF65-F5344CB8AC3E}">
        <p14:creationId xmlns:p14="http://schemas.microsoft.com/office/powerpoint/2010/main" val="1038897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BB16E-D94D-7C94-B998-775283FA16C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C2260C4-3279-E46C-699E-4EE9AAA031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924C89-C3FF-90E3-93C2-E20A338FF7CA}"/>
              </a:ext>
            </a:extLst>
          </p:cNvPr>
          <p:cNvSpPr>
            <a:spLocks noGrp="1"/>
          </p:cNvSpPr>
          <p:nvPr>
            <p:ph type="body" idx="1"/>
          </p:nvPr>
        </p:nvSpPr>
        <p:spPr/>
        <p:txBody>
          <a:bodyPr/>
          <a:lstStyle/>
          <a:p>
            <a:r>
              <a:rPr lang="es-ES" dirty="0"/>
              <a:t>En lo referente a la planificación financiera, se ha calculado el coste total de propiedad, estructurándolo principalmente en coste de capital o CAPEX y coste operativo o OPEX. Como resultado final se estima como presupuesto final para el proyecto unos 18.000 €</a:t>
            </a:r>
          </a:p>
        </p:txBody>
      </p:sp>
      <p:sp>
        <p:nvSpPr>
          <p:cNvPr id="4" name="Marcador de número de diapositiva 3">
            <a:extLst>
              <a:ext uri="{FF2B5EF4-FFF2-40B4-BE49-F238E27FC236}">
                <a16:creationId xmlns:a16="http://schemas.microsoft.com/office/drawing/2014/main" id="{60EDDE4B-BBF7-5B94-FDF4-37B4F5BC5D19}"/>
              </a:ext>
            </a:extLst>
          </p:cNvPr>
          <p:cNvSpPr>
            <a:spLocks noGrp="1"/>
          </p:cNvSpPr>
          <p:nvPr>
            <p:ph type="sldNum" sz="quarter" idx="5"/>
          </p:nvPr>
        </p:nvSpPr>
        <p:spPr/>
        <p:txBody>
          <a:bodyPr/>
          <a:lstStyle/>
          <a:p>
            <a:fld id="{72581327-80F5-4F53-A91A-2A06DA15CAE7}" type="slidenum">
              <a:rPr lang="es-ES" smtClean="0"/>
              <a:t>10</a:t>
            </a:fld>
            <a:endParaRPr lang="es-ES"/>
          </a:p>
        </p:txBody>
      </p:sp>
    </p:spTree>
    <p:extLst>
      <p:ext uri="{BB962C8B-B14F-4D97-AF65-F5344CB8AC3E}">
        <p14:creationId xmlns:p14="http://schemas.microsoft.com/office/powerpoint/2010/main" val="2537406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alcanzar los objetivos, se ha utilizado un </a:t>
            </a:r>
            <a:r>
              <a:rPr lang="es-ES" dirty="0" err="1"/>
              <a:t>stack</a:t>
            </a:r>
            <a:r>
              <a:rPr lang="es-ES" dirty="0"/>
              <a:t> tecnológico estándar en la industria basado en Python y </a:t>
            </a:r>
            <a:r>
              <a:rPr lang="es-ES" dirty="0" err="1"/>
              <a:t>Jupyter</a:t>
            </a:r>
            <a:r>
              <a:rPr lang="es-ES" dirty="0"/>
              <a:t>. Utilizando </a:t>
            </a:r>
            <a:r>
              <a:rPr lang="es-ES" dirty="0" err="1"/>
              <a:t>Numpy</a:t>
            </a:r>
            <a:r>
              <a:rPr lang="es-ES" dirty="0"/>
              <a:t> y Panda para el tratamiento de datos, junto con </a:t>
            </a:r>
            <a:r>
              <a:rPr lang="es-ES" dirty="0" err="1"/>
              <a:t>Scikit-learn</a:t>
            </a:r>
            <a:r>
              <a:rPr lang="es-ES" dirty="0"/>
              <a:t>, </a:t>
            </a:r>
            <a:r>
              <a:rPr lang="es-ES" dirty="0" err="1"/>
              <a:t>Tensorflow</a:t>
            </a:r>
            <a:r>
              <a:rPr lang="es-ES" dirty="0"/>
              <a:t> y </a:t>
            </a:r>
            <a:r>
              <a:rPr lang="es-ES" dirty="0" err="1"/>
              <a:t>Keras</a:t>
            </a:r>
            <a:r>
              <a:rPr lang="es-ES" dirty="0"/>
              <a:t> para implementar los modelos de Machine </a:t>
            </a:r>
            <a:r>
              <a:rPr lang="es-ES" dirty="0" err="1"/>
              <a:t>Learning</a:t>
            </a:r>
            <a:r>
              <a:rPr lang="es-ES" dirty="0"/>
              <a:t>.</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11</a:t>
            </a:fld>
            <a:endParaRPr lang="es-ES"/>
          </a:p>
        </p:txBody>
      </p:sp>
    </p:spTree>
    <p:extLst>
      <p:ext uri="{BB962C8B-B14F-4D97-AF65-F5344CB8AC3E}">
        <p14:creationId xmlns:p14="http://schemas.microsoft.com/office/powerpoint/2010/main" val="1653334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el desarrollo del proyecto se ha trabajado sobre esta red de distribución, de la que podemos observar que tiene 14 nudos y múltiples generadores marcados por iconos. Los datos que disponemos de esta red son muestras reales espaciadas cada 5 minutos para un día de las potencias en cada nudo. ¿Qué potencias son esas? La potencia activa, que es la que se convierte en trabajo útil y la potencia reactiva utilizada para generar los campos electromagnéticos de las líneas.</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12</a:t>
            </a:fld>
            <a:endParaRPr lang="es-ES"/>
          </a:p>
        </p:txBody>
      </p:sp>
    </p:spTree>
    <p:extLst>
      <p:ext uri="{BB962C8B-B14F-4D97-AF65-F5344CB8AC3E}">
        <p14:creationId xmlns:p14="http://schemas.microsoft.com/office/powerpoint/2010/main" val="3117334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Ese número de datos es insuficiente, por lo que a partir de unos scripts en Python y la herramienta GAMS, se generan muestras para el resto del año cada 5 minutos, con variaciones aleatorias de las muestras reales. Disponemos así de 105.120 muestras. Cabe destacar que esos scripts no forman parte del trabajo propio, sino que es material proporcionado por los tutores.</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13</a:t>
            </a:fld>
            <a:endParaRPr lang="es-ES"/>
          </a:p>
        </p:txBody>
      </p:sp>
    </p:spTree>
    <p:extLst>
      <p:ext uri="{BB962C8B-B14F-4D97-AF65-F5344CB8AC3E}">
        <p14:creationId xmlns:p14="http://schemas.microsoft.com/office/powerpoint/2010/main" val="16034210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Ese proceso es relevante en este caso, ya que esos scripts y los algoritmos actuales de optimización de las redes eléctricas, realizan un flujo de cargas óptimo, en este caso con uno de los generadores de la red. Esto significa que el algoritmo busca una configuración de tensiones que minimiza las pérdidas del sistema, mediante la inyección de potencia reactiva. Por tanto, los datos del </a:t>
            </a:r>
            <a:r>
              <a:rPr lang="es-ES" dirty="0" err="1"/>
              <a:t>dataset</a:t>
            </a:r>
            <a:r>
              <a:rPr lang="es-ES" dirty="0"/>
              <a:t> de salida son datos una vez aplicada esta inyección. Esto es una clara dependencia, de la que los algoritmos de IA pueden </a:t>
            </a:r>
            <a:r>
              <a:rPr lang="es-ES" dirty="0" err="1"/>
              <a:t>aprovercharse</a:t>
            </a:r>
            <a:r>
              <a:rPr lang="es-ES" dirty="0"/>
              <a:t>.</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14</a:t>
            </a:fld>
            <a:endParaRPr lang="es-ES"/>
          </a:p>
        </p:txBody>
      </p:sp>
    </p:spTree>
    <p:extLst>
      <p:ext uri="{BB962C8B-B14F-4D97-AF65-F5344CB8AC3E}">
        <p14:creationId xmlns:p14="http://schemas.microsoft.com/office/powerpoint/2010/main" val="15224745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Aquí reside la aportación principal de este proyecto, la arquitectura </a:t>
            </a:r>
            <a:r>
              <a:rPr lang="es-ES" dirty="0" err="1"/>
              <a:t>ElectricSequentialRegressor</a:t>
            </a:r>
            <a:r>
              <a:rPr lang="es-ES" dirty="0"/>
              <a:t> o ESR. El ESR es un modelo basado en la concatenación de modelos, compuesto por dos modelos. El primer modelo realiza la predicción de la variable de control (la potencia reactiva inyectada) y la salida se utiliza como entrada del segundo modelo, además del resto de potencias. El segundo modelo es el que se encarga de predecir las variables de estado (las tensiones de los nudos y las pérdidas del sistema). Cabe destacar que el ESR es compatible completamente con el ecosistema de </a:t>
            </a:r>
            <a:r>
              <a:rPr lang="es-ES" dirty="0" err="1"/>
              <a:t>Scikit-learn</a:t>
            </a:r>
            <a:r>
              <a:rPr lang="es-ES" dirty="0"/>
              <a:t>, por lo que se puede nutrir de las utilidades ya implementadas de esta librería.</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15</a:t>
            </a:fld>
            <a:endParaRPr lang="es-ES"/>
          </a:p>
        </p:txBody>
      </p:sp>
    </p:spTree>
    <p:extLst>
      <p:ext uri="{BB962C8B-B14F-4D97-AF65-F5344CB8AC3E}">
        <p14:creationId xmlns:p14="http://schemas.microsoft.com/office/powerpoint/2010/main" val="2168852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cuanto a los modelos de aprendizaje profundo, se ha seguido la misma lógica del ESR para la topología de las redes y se asignan pesos a las variables objetivo para enfocar el aprendizaje de estas. Además, para este tipo de algoritmos es conveniente realizar una normalización o estandarización de variables y en este caso se realiza, junto con otras estrategias de optimización.</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16</a:t>
            </a:fld>
            <a:endParaRPr lang="es-ES"/>
          </a:p>
        </p:txBody>
      </p:sp>
    </p:spTree>
    <p:extLst>
      <p:ext uri="{BB962C8B-B14F-4D97-AF65-F5344CB8AC3E}">
        <p14:creationId xmlns:p14="http://schemas.microsoft.com/office/powerpoint/2010/main" val="30959942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estos modelos, hay ciertos parámetros de optimización ajenos al entrenamiento de los modelos que condicionan los resultados de estos. Esos son los </a:t>
            </a:r>
            <a:r>
              <a:rPr lang="es-ES" dirty="0" err="1"/>
              <a:t>hiperparámetros</a:t>
            </a:r>
            <a:r>
              <a:rPr lang="es-ES" dirty="0"/>
              <a:t> y para la optimización de estos es común realizar una exploración en rejilla. Este proceso es muy exigente computacionalmente y debido a las limitaciones en este aspecto, se usan métodos de exploración aleatoria que respetan la naturaleza temporal de las series de datos.</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17</a:t>
            </a:fld>
            <a:endParaRPr lang="es-ES"/>
          </a:p>
        </p:txBody>
      </p:sp>
    </p:spTree>
    <p:extLst>
      <p:ext uri="{BB962C8B-B14F-4D97-AF65-F5344CB8AC3E}">
        <p14:creationId xmlns:p14="http://schemas.microsoft.com/office/powerpoint/2010/main" val="14004634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optimizar los modelos del ESR, utilizamos las herramientas nativas de </a:t>
            </a:r>
            <a:r>
              <a:rPr lang="es-ES" dirty="0" err="1"/>
              <a:t>Scikit-learn</a:t>
            </a:r>
            <a:r>
              <a:rPr lang="es-ES" dirty="0"/>
              <a:t> y el </a:t>
            </a:r>
            <a:r>
              <a:rPr lang="es-ES" dirty="0" err="1"/>
              <a:t>framework</a:t>
            </a:r>
            <a:r>
              <a:rPr lang="es-ES" dirty="0"/>
              <a:t> de optimización </a:t>
            </a:r>
            <a:r>
              <a:rPr lang="es-ES" dirty="0" err="1"/>
              <a:t>MetaGen</a:t>
            </a:r>
            <a:r>
              <a:rPr lang="es-ES" dirty="0"/>
              <a:t>, desarrollado por profesorado del LSI.</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18</a:t>
            </a:fld>
            <a:endParaRPr lang="es-ES"/>
          </a:p>
        </p:txBody>
      </p:sp>
    </p:spTree>
    <p:extLst>
      <p:ext uri="{BB962C8B-B14F-4D97-AF65-F5344CB8AC3E}">
        <p14:creationId xmlns:p14="http://schemas.microsoft.com/office/powerpoint/2010/main" val="1322883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la optimización de los modelos de aprendizaje profundo se ha implementado la clase </a:t>
            </a:r>
            <a:r>
              <a:rPr lang="es-ES" dirty="0" err="1"/>
              <a:t>TimeSeriesRandomSearch</a:t>
            </a:r>
            <a:r>
              <a:rPr lang="es-ES" dirty="0"/>
              <a:t>, una validación cruzada diseñada a medida para la serie temporal que previene la fuga de datos en el proceso de normalización.</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19</a:t>
            </a:fld>
            <a:endParaRPr lang="es-ES"/>
          </a:p>
        </p:txBody>
      </p:sp>
    </p:spTree>
    <p:extLst>
      <p:ext uri="{BB962C8B-B14F-4D97-AF65-F5344CB8AC3E}">
        <p14:creationId xmlns:p14="http://schemas.microsoft.com/office/powerpoint/2010/main" val="39463964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66544-A79F-185A-B8AE-C19B075F52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D4DABB-6A0F-BA0E-EA1E-D48DBB96B63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A553936-D63F-0070-F2D9-7FE709C405C3}"/>
              </a:ext>
            </a:extLst>
          </p:cNvPr>
          <p:cNvSpPr>
            <a:spLocks noGrp="1"/>
          </p:cNvSpPr>
          <p:nvPr>
            <p:ph type="body" idx="1"/>
          </p:nvPr>
        </p:nvSpPr>
        <p:spPr/>
        <p:txBody>
          <a:bodyPr/>
          <a:lstStyle/>
          <a:p>
            <a:r>
              <a:rPr lang="es-ES" dirty="0"/>
              <a:t>En total se han entrenado y explorado 8 arquitecturas: tres modelos que utilizan el ESR, 3 redes neuronales y dos modelos base de </a:t>
            </a:r>
            <a:r>
              <a:rPr lang="es-ES" dirty="0" err="1"/>
              <a:t>RandomForest</a:t>
            </a:r>
            <a:r>
              <a:rPr lang="es-ES" dirty="0"/>
              <a:t> y </a:t>
            </a:r>
            <a:r>
              <a:rPr lang="es-ES" dirty="0" err="1"/>
              <a:t>XGBoost</a:t>
            </a:r>
            <a:r>
              <a:rPr lang="es-ES" dirty="0"/>
              <a:t> que actúan como línea base para comparar la eficacia del resto de arquitecturas.</a:t>
            </a:r>
          </a:p>
        </p:txBody>
      </p:sp>
      <p:sp>
        <p:nvSpPr>
          <p:cNvPr id="4" name="Marcador de número de diapositiva 3">
            <a:extLst>
              <a:ext uri="{FF2B5EF4-FFF2-40B4-BE49-F238E27FC236}">
                <a16:creationId xmlns:a16="http://schemas.microsoft.com/office/drawing/2014/main" id="{0E571BEE-A150-745B-3AE0-33E481B0F900}"/>
              </a:ext>
            </a:extLst>
          </p:cNvPr>
          <p:cNvSpPr>
            <a:spLocks noGrp="1"/>
          </p:cNvSpPr>
          <p:nvPr>
            <p:ph type="sldNum" sz="quarter" idx="5"/>
          </p:nvPr>
        </p:nvSpPr>
        <p:spPr/>
        <p:txBody>
          <a:bodyPr/>
          <a:lstStyle/>
          <a:p>
            <a:fld id="{72581327-80F5-4F53-A91A-2A06DA15CAE7}" type="slidenum">
              <a:rPr lang="es-ES" smtClean="0"/>
              <a:t>20</a:t>
            </a:fld>
            <a:endParaRPr lang="es-ES"/>
          </a:p>
        </p:txBody>
      </p:sp>
    </p:spTree>
    <p:extLst>
      <p:ext uri="{BB962C8B-B14F-4D97-AF65-F5344CB8AC3E}">
        <p14:creationId xmlns:p14="http://schemas.microsoft.com/office/powerpoint/2010/main" val="2026310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¿Cómo se ha medido la eficiencia de estos modelos y cuáles han sido los resultados? Se han usado dos recursos, métricas de evaluación y gráficas de dispersión del error cometido. Primero observaremos los resultados en las métricas.</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21</a:t>
            </a:fld>
            <a:endParaRPr lang="es-ES"/>
          </a:p>
        </p:txBody>
      </p:sp>
    </p:spTree>
    <p:extLst>
      <p:ext uri="{BB962C8B-B14F-4D97-AF65-F5344CB8AC3E}">
        <p14:creationId xmlns:p14="http://schemas.microsoft.com/office/powerpoint/2010/main" val="8596060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ello se ha recogido en esta tabla por cada variable y modelo tres métricas de evaluación: MAE, MAPE y coeficiente de determinación. Por columnas se han coloreado con tonos rojizos los peores resultados y en tonos verdosos los mejores.</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22</a:t>
            </a:fld>
            <a:endParaRPr lang="es-ES"/>
          </a:p>
        </p:txBody>
      </p:sp>
    </p:spTree>
    <p:extLst>
      <p:ext uri="{BB962C8B-B14F-4D97-AF65-F5344CB8AC3E}">
        <p14:creationId xmlns:p14="http://schemas.microsoft.com/office/powerpoint/2010/main" val="18631247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Como pueden observar en la tabla, los algoritmos basados exclusivamente en </a:t>
            </a:r>
            <a:r>
              <a:rPr lang="es-ES" i="1" dirty="0"/>
              <a:t>Random Forest</a:t>
            </a:r>
            <a:r>
              <a:rPr lang="es-ES" dirty="0"/>
              <a:t> fracasan de forma generalizada en la predicción de los voltajes cuando no se utiliza la arquitectura ESR. Sin embargo, me gustaría destacar el modelo denominado </a:t>
            </a:r>
            <a:r>
              <a:rPr lang="es-ES" i="1" dirty="0" err="1"/>
              <a:t>ESR_Best_Model</a:t>
            </a:r>
            <a:r>
              <a:rPr lang="es-ES" dirty="0"/>
              <a:t>, una arquitectura híbrida que emplea </a:t>
            </a:r>
            <a:r>
              <a:rPr lang="es-ES" i="1" dirty="0"/>
              <a:t>Random Forest</a:t>
            </a:r>
            <a:r>
              <a:rPr lang="es-ES" dirty="0"/>
              <a:t> como primer regresor y </a:t>
            </a:r>
            <a:r>
              <a:rPr lang="es-ES" i="1" dirty="0" err="1"/>
              <a:t>XGBoost</a:t>
            </a:r>
            <a:r>
              <a:rPr lang="es-ES" dirty="0"/>
              <a:t> como segundo.</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23</a:t>
            </a:fld>
            <a:endParaRPr lang="es-ES"/>
          </a:p>
        </p:txBody>
      </p:sp>
    </p:spTree>
    <p:extLst>
      <p:ext uri="{BB962C8B-B14F-4D97-AF65-F5344CB8AC3E}">
        <p14:creationId xmlns:p14="http://schemas.microsoft.com/office/powerpoint/2010/main" val="7407506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Se constata, además, que las arquitecturas de aprendizaje profundo presentan un desempeño muy favorable en la estimación de las variables de estado y las pérdidas de red. </a:t>
            </a:r>
            <a:r>
              <a:rPr lang="es-ES" dirty="0" err="1"/>
              <a:t>ESR_Best_Model</a:t>
            </a:r>
            <a:r>
              <a:rPr lang="es-ES" dirty="0"/>
              <a:t> sigue dando resultados prometedores y mantiene ese desempeño en la predicción de la potencia reactiva inyectada.</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24</a:t>
            </a:fld>
            <a:endParaRPr lang="es-ES"/>
          </a:p>
        </p:txBody>
      </p:sp>
    </p:spTree>
    <p:extLst>
      <p:ext uri="{BB962C8B-B14F-4D97-AF65-F5344CB8AC3E}">
        <p14:creationId xmlns:p14="http://schemas.microsoft.com/office/powerpoint/2010/main" val="24796911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Respecto a esta variable, las particiones ortogonales propias del </a:t>
            </a:r>
            <a:r>
              <a:rPr lang="es-ES" i="1" dirty="0"/>
              <a:t>Random Forest</a:t>
            </a:r>
            <a:r>
              <a:rPr lang="es-ES" dirty="0"/>
              <a:t> demuestran ser idóneas para captar su comportamiento. Sin embargo, la inclusión del </a:t>
            </a:r>
            <a:r>
              <a:rPr lang="es-ES" i="1" dirty="0"/>
              <a:t>Random Forest</a:t>
            </a:r>
            <a:r>
              <a:rPr lang="es-ES" dirty="0"/>
              <a:t> dentro del marco ESR resulta indispensable, ya que evita predecir el sistema simultáneamente, previniendo así caídas drásticas de eficiencia.</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25</a:t>
            </a:fld>
            <a:endParaRPr lang="es-ES"/>
          </a:p>
        </p:txBody>
      </p:sp>
    </p:spTree>
    <p:extLst>
      <p:ext uri="{BB962C8B-B14F-4D97-AF65-F5344CB8AC3E}">
        <p14:creationId xmlns:p14="http://schemas.microsoft.com/office/powerpoint/2010/main" val="30843000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Analizando ahora de forma visual las distribuciones del error, observamos que en la predicción de pérdidas, los modelos basados tanto en potenciación por gradiente como en aprendizaje profundo logran descifrar la naturaleza física del problema.</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26</a:t>
            </a:fld>
            <a:endParaRPr lang="es-ES"/>
          </a:p>
        </p:txBody>
      </p:sp>
    </p:spTree>
    <p:extLst>
      <p:ext uri="{BB962C8B-B14F-4D97-AF65-F5344CB8AC3E}">
        <p14:creationId xmlns:p14="http://schemas.microsoft.com/office/powerpoint/2010/main" val="42200811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Estos cometen un error máximo del 10%, alcanzando un excelente 5% en sus mejores aproximaciones.</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27</a:t>
            </a:fld>
            <a:endParaRPr lang="es-ES"/>
          </a:p>
        </p:txBody>
      </p:sp>
    </p:spTree>
    <p:extLst>
      <p:ext uri="{BB962C8B-B14F-4D97-AF65-F5344CB8AC3E}">
        <p14:creationId xmlns:p14="http://schemas.microsoft.com/office/powerpoint/2010/main" val="36163739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72581327-80F5-4F53-A91A-2A06DA15CAE7}" type="slidenum">
              <a:rPr lang="es-ES" smtClean="0"/>
              <a:t>28</a:t>
            </a:fld>
            <a:endParaRPr lang="es-ES"/>
          </a:p>
        </p:txBody>
      </p:sp>
    </p:spTree>
    <p:extLst>
      <p:ext uri="{BB962C8B-B14F-4D97-AF65-F5344CB8AC3E}">
        <p14:creationId xmlns:p14="http://schemas.microsoft.com/office/powerpoint/2010/main" val="22906277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Cabe notar que, debido a la propia distribución de las muestras, estos modelos muestran una ligera tendencia a subestimar las pérdidas cuando estas superan el umbral de los 40 kW.</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29</a:t>
            </a:fld>
            <a:endParaRPr lang="es-ES"/>
          </a:p>
        </p:txBody>
      </p:sp>
    </p:spTree>
    <p:extLst>
      <p:ext uri="{BB962C8B-B14F-4D97-AF65-F5344CB8AC3E}">
        <p14:creationId xmlns:p14="http://schemas.microsoft.com/office/powerpoint/2010/main" val="35041591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Por otro lado, los resultados de la predicción de los voltajes son excepcionales.</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30</a:t>
            </a:fld>
            <a:endParaRPr lang="es-ES"/>
          </a:p>
        </p:txBody>
      </p:sp>
    </p:spTree>
    <p:extLst>
      <p:ext uri="{BB962C8B-B14F-4D97-AF65-F5344CB8AC3E}">
        <p14:creationId xmlns:p14="http://schemas.microsoft.com/office/powerpoint/2010/main" val="40659985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Los modelos captan a la perfección el comportamiento dinámico de los nudos, logrando acotar el error de predicción a un máximo estadístico de un 0,5%.</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31</a:t>
            </a:fld>
            <a:endParaRPr lang="es-ES"/>
          </a:p>
        </p:txBody>
      </p:sp>
    </p:spTree>
    <p:extLst>
      <p:ext uri="{BB962C8B-B14F-4D97-AF65-F5344CB8AC3E}">
        <p14:creationId xmlns:p14="http://schemas.microsoft.com/office/powerpoint/2010/main" val="1631993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72581327-80F5-4F53-A91A-2A06DA15CAE7}" type="slidenum">
              <a:rPr lang="es-ES" smtClean="0"/>
              <a:t>32</a:t>
            </a:fld>
            <a:endParaRPr lang="es-ES"/>
          </a:p>
        </p:txBody>
      </p:sp>
    </p:spTree>
    <p:extLst>
      <p:ext uri="{BB962C8B-B14F-4D97-AF65-F5344CB8AC3E}">
        <p14:creationId xmlns:p14="http://schemas.microsoft.com/office/powerpoint/2010/main" val="12802933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72581327-80F5-4F53-A91A-2A06DA15CAE7}" type="slidenum">
              <a:rPr lang="es-ES" smtClean="0"/>
              <a:t>33</a:t>
            </a:fld>
            <a:endParaRPr lang="es-ES"/>
          </a:p>
        </p:txBody>
      </p:sp>
    </p:spTree>
    <p:extLst>
      <p:ext uri="{BB962C8B-B14F-4D97-AF65-F5344CB8AC3E}">
        <p14:creationId xmlns:p14="http://schemas.microsoft.com/office/powerpoint/2010/main" val="13115191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síntesis, ¿qué conclusiones operativas podemos extraer? Para la predicción de las variables de estado, la hegemonía recae sobre los modelos de aprendizaje profundo. Específicamente, la Red Neuronal estándar demuestra una gran flexibilidad para ajustarse a la complejidad de la red. En contraste, para el dominio de la variable de control, las arquitecturas óptimas son las basadas en Random Forest, destacando </a:t>
            </a:r>
            <a:r>
              <a:rPr lang="es-ES" dirty="0" err="1"/>
              <a:t>ESR_RandomForest</a:t>
            </a:r>
            <a:r>
              <a:rPr lang="es-ES" dirty="0"/>
              <a:t>.</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34</a:t>
            </a:fld>
            <a:endParaRPr lang="es-ES"/>
          </a:p>
        </p:txBody>
      </p:sp>
    </p:spTree>
    <p:extLst>
      <p:ext uri="{BB962C8B-B14F-4D97-AF65-F5344CB8AC3E}">
        <p14:creationId xmlns:p14="http://schemas.microsoft.com/office/powerpoint/2010/main" val="20967967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Si buscamos la solución más equilibrada, la arquitectura híbrida </a:t>
            </a:r>
            <a:r>
              <a:rPr lang="es-ES" i="1" dirty="0" err="1"/>
              <a:t>ESR_Best_Model</a:t>
            </a:r>
            <a:r>
              <a:rPr lang="es-ES" dirty="0"/>
              <a:t> reporta los resultados más estables y fiables del estudio. Este modelo opera con una desviación media de apenas el 3% en pérdidas y un 0,1% en la predicción de tensiones. Asimismo, ejecuta la inyección de potencia reactiva con una desviación absoluta media de únicamente 0,0067 puntos por unidad.</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35</a:t>
            </a:fld>
            <a:endParaRPr lang="es-ES"/>
          </a:p>
        </p:txBody>
      </p:sp>
    </p:spTree>
    <p:extLst>
      <p:ext uri="{BB962C8B-B14F-4D97-AF65-F5344CB8AC3E}">
        <p14:creationId xmlns:p14="http://schemas.microsoft.com/office/powerpoint/2010/main" val="28259253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finalizar, este proyecto ha demostrado la viabilidad de la IA en este nuevo ecosistema de las Smart </a:t>
            </a:r>
            <a:r>
              <a:rPr lang="es-ES" dirty="0" err="1"/>
              <a:t>Grids</a:t>
            </a:r>
            <a:r>
              <a:rPr lang="es-ES" dirty="0"/>
              <a:t>, mediante la ruptura del enfoque monolítico de la predicción del estado y control de las redes eléctricas. Para ello se ha propuesto la arquitectura ESR que ha demostrado todo su potencial implementando en una misma arquitectura dos modelos optimizados individualmente para cada variable. Arrojando resultados muy prometedores para dotar al sistema eléctrico de un control autónomo y eficiente sobre su estado. Con esto concluyo mi exposición. Muchas gracias por su atención.</a:t>
            </a:r>
          </a:p>
        </p:txBody>
      </p:sp>
      <p:sp>
        <p:nvSpPr>
          <p:cNvPr id="4" name="Marcador de número de diapositiva 3"/>
          <p:cNvSpPr>
            <a:spLocks noGrp="1"/>
          </p:cNvSpPr>
          <p:nvPr>
            <p:ph type="sldNum" sz="quarter" idx="5"/>
          </p:nvPr>
        </p:nvSpPr>
        <p:spPr/>
        <p:txBody>
          <a:bodyPr/>
          <a:lstStyle/>
          <a:p>
            <a:fld id="{72581327-80F5-4F53-A91A-2A06DA15CAE7}" type="slidenum">
              <a:rPr lang="es-ES" smtClean="0"/>
              <a:t>36</a:t>
            </a:fld>
            <a:endParaRPr lang="es-ES"/>
          </a:p>
        </p:txBody>
      </p:sp>
    </p:spTree>
    <p:extLst>
      <p:ext uri="{BB962C8B-B14F-4D97-AF65-F5344CB8AC3E}">
        <p14:creationId xmlns:p14="http://schemas.microsoft.com/office/powerpoint/2010/main" val="108233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11530567" y="-3574416"/>
            <a:ext cx="5983240" cy="3369636"/>
            <a:chOff x="0" y="0"/>
            <a:chExt cx="744168" cy="419100"/>
          </a:xfrm>
        </p:grpSpPr>
        <p:sp>
          <p:nvSpPr>
            <p:cNvPr id="6" name="Freeform 6"/>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FFFFFF"/>
            </a:solidFill>
          </p:spPr>
          <p:txBody>
            <a:bodyPr/>
            <a:lstStyle/>
            <a:p>
              <a:endParaRPr lang="es-ES"/>
            </a:p>
          </p:txBody>
        </p:sp>
        <p:sp>
          <p:nvSpPr>
            <p:cNvPr id="7" name="TextBox 7"/>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4434283" y="7487696"/>
            <a:ext cx="6252050" cy="3864704"/>
            <a:chOff x="0" y="0"/>
            <a:chExt cx="744168" cy="460007"/>
          </a:xfrm>
        </p:grpSpPr>
        <p:sp>
          <p:nvSpPr>
            <p:cNvPr id="9" name="Freeform 9"/>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4D6BA7"/>
            </a:solidFill>
          </p:spPr>
          <p:txBody>
            <a:bodyPr/>
            <a:lstStyle/>
            <a:p>
              <a:endParaRPr lang="es-ES"/>
            </a:p>
          </p:txBody>
        </p:sp>
        <p:sp>
          <p:nvSpPr>
            <p:cNvPr id="10" name="TextBox 10"/>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4155465" y="4010394"/>
            <a:ext cx="9679118" cy="4948927"/>
            <a:chOff x="0" y="0"/>
            <a:chExt cx="836041" cy="427467"/>
          </a:xfrm>
        </p:grpSpPr>
        <p:sp>
          <p:nvSpPr>
            <p:cNvPr id="12" name="Freeform 12"/>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3" name="TextBox 13"/>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rot="-2570167">
            <a:off x="13588866" y="-457285"/>
            <a:ext cx="6331387" cy="4427994"/>
            <a:chOff x="0" y="0"/>
            <a:chExt cx="787469" cy="550734"/>
          </a:xfrm>
        </p:grpSpPr>
        <p:sp>
          <p:nvSpPr>
            <p:cNvPr id="15" name="Freeform 15"/>
            <p:cNvSpPr/>
            <p:nvPr/>
          </p:nvSpPr>
          <p:spPr>
            <a:xfrm>
              <a:off x="0" y="0"/>
              <a:ext cx="787469" cy="550734"/>
            </a:xfrm>
            <a:custGeom>
              <a:avLst/>
              <a:gdLst/>
              <a:ahLst/>
              <a:cxnLst/>
              <a:rect l="l" t="t" r="r" b="b"/>
              <a:pathLst>
                <a:path w="787469" h="550734">
                  <a:moveTo>
                    <a:pt x="47765" y="0"/>
                  </a:moveTo>
                  <a:lnTo>
                    <a:pt x="739704" y="0"/>
                  </a:lnTo>
                  <a:cubicBezTo>
                    <a:pt x="766084" y="0"/>
                    <a:pt x="787469" y="21385"/>
                    <a:pt x="787469" y="47765"/>
                  </a:cubicBezTo>
                  <a:lnTo>
                    <a:pt x="787469" y="502969"/>
                  </a:lnTo>
                  <a:cubicBezTo>
                    <a:pt x="787469" y="529349"/>
                    <a:pt x="766084" y="550734"/>
                    <a:pt x="739704" y="550734"/>
                  </a:cubicBezTo>
                  <a:lnTo>
                    <a:pt x="47765" y="550734"/>
                  </a:lnTo>
                  <a:cubicBezTo>
                    <a:pt x="21385" y="550734"/>
                    <a:pt x="0" y="529349"/>
                    <a:pt x="0" y="502969"/>
                  </a:cubicBezTo>
                  <a:lnTo>
                    <a:pt x="0" y="47765"/>
                  </a:lnTo>
                  <a:cubicBezTo>
                    <a:pt x="0" y="21385"/>
                    <a:pt x="21385" y="0"/>
                    <a:pt x="47765" y="0"/>
                  </a:cubicBezTo>
                  <a:close/>
                </a:path>
              </a:pathLst>
            </a:custGeom>
            <a:solidFill>
              <a:srgbClr val="4D6BA7"/>
            </a:solidFill>
          </p:spPr>
          <p:txBody>
            <a:bodyPr/>
            <a:lstStyle/>
            <a:p>
              <a:endParaRPr lang="es-ES"/>
            </a:p>
          </p:txBody>
        </p:sp>
        <p:sp>
          <p:nvSpPr>
            <p:cNvPr id="16" name="TextBox 16"/>
            <p:cNvSpPr txBox="1"/>
            <p:nvPr/>
          </p:nvSpPr>
          <p:spPr>
            <a:xfrm>
              <a:off x="0" y="-38100"/>
              <a:ext cx="787469" cy="588834"/>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rot="-2570167">
            <a:off x="12529921" y="9302160"/>
            <a:ext cx="3281763" cy="4043454"/>
            <a:chOff x="0" y="0"/>
            <a:chExt cx="408171" cy="502906"/>
          </a:xfrm>
        </p:grpSpPr>
        <p:sp>
          <p:nvSpPr>
            <p:cNvPr id="18" name="Freeform 18"/>
            <p:cNvSpPr/>
            <p:nvPr/>
          </p:nvSpPr>
          <p:spPr>
            <a:xfrm>
              <a:off x="0" y="0"/>
              <a:ext cx="408171" cy="502906"/>
            </a:xfrm>
            <a:custGeom>
              <a:avLst/>
              <a:gdLst/>
              <a:ahLst/>
              <a:cxnLst/>
              <a:rect l="l" t="t" r="r" b="b"/>
              <a:pathLst>
                <a:path w="408171" h="502906">
                  <a:moveTo>
                    <a:pt x="92151" y="0"/>
                  </a:moveTo>
                  <a:lnTo>
                    <a:pt x="316019" y="0"/>
                  </a:lnTo>
                  <a:cubicBezTo>
                    <a:pt x="366913" y="0"/>
                    <a:pt x="408171" y="41258"/>
                    <a:pt x="408171" y="92151"/>
                  </a:cubicBezTo>
                  <a:lnTo>
                    <a:pt x="408171" y="410755"/>
                  </a:lnTo>
                  <a:cubicBezTo>
                    <a:pt x="408171" y="461649"/>
                    <a:pt x="366913" y="502906"/>
                    <a:pt x="316019" y="502906"/>
                  </a:cubicBezTo>
                  <a:lnTo>
                    <a:pt x="92151" y="502906"/>
                  </a:lnTo>
                  <a:cubicBezTo>
                    <a:pt x="41258" y="502906"/>
                    <a:pt x="0" y="461649"/>
                    <a:pt x="0" y="410755"/>
                  </a:cubicBezTo>
                  <a:lnTo>
                    <a:pt x="0" y="92151"/>
                  </a:lnTo>
                  <a:cubicBezTo>
                    <a:pt x="0" y="41258"/>
                    <a:pt x="41258" y="0"/>
                    <a:pt x="92151" y="0"/>
                  </a:cubicBezTo>
                  <a:close/>
                </a:path>
              </a:pathLst>
            </a:custGeom>
            <a:solidFill>
              <a:srgbClr val="4D6BA7"/>
            </a:solidFill>
          </p:spPr>
          <p:txBody>
            <a:bodyPr/>
            <a:lstStyle/>
            <a:p>
              <a:endParaRPr lang="es-ES"/>
            </a:p>
          </p:txBody>
        </p:sp>
        <p:sp>
          <p:nvSpPr>
            <p:cNvPr id="19" name="TextBox 19"/>
            <p:cNvSpPr txBox="1"/>
            <p:nvPr/>
          </p:nvSpPr>
          <p:spPr>
            <a:xfrm>
              <a:off x="0" y="-38100"/>
              <a:ext cx="408171" cy="541006"/>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2004365" y="789156"/>
            <a:ext cx="10923483" cy="4743450"/>
          </a:xfrm>
          <a:prstGeom prst="rect">
            <a:avLst/>
          </a:prstGeom>
        </p:spPr>
        <p:txBody>
          <a:bodyPr lIns="0" tIns="0" rIns="0" bIns="0" rtlCol="0" anchor="t">
            <a:spAutoFit/>
          </a:bodyPr>
          <a:lstStyle/>
          <a:p>
            <a:pPr algn="ctr">
              <a:lnSpc>
                <a:spcPts val="12599"/>
              </a:lnSpc>
              <a:spcBef>
                <a:spcPct val="0"/>
              </a:spcBef>
            </a:pPr>
            <a:r>
              <a:rPr lang="en-US" sz="9000">
                <a:solidFill>
                  <a:srgbClr val="203660"/>
                </a:solidFill>
                <a:latin typeface="Bantayog"/>
                <a:ea typeface="Bantayog"/>
                <a:cs typeface="Bantayog"/>
                <a:sym typeface="Bantayog"/>
              </a:rPr>
              <a:t>SMART GRIDS: CONTROL DE REDES ELÉCTRICAS </a:t>
            </a:r>
          </a:p>
        </p:txBody>
      </p:sp>
      <p:sp>
        <p:nvSpPr>
          <p:cNvPr id="21" name="TextBox 21"/>
          <p:cNvSpPr txBox="1"/>
          <p:nvPr/>
        </p:nvSpPr>
        <p:spPr>
          <a:xfrm>
            <a:off x="2004365" y="5361156"/>
            <a:ext cx="10923483" cy="314325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CON INTELIGENCIA ARTIFICIAL</a:t>
            </a:r>
          </a:p>
        </p:txBody>
      </p:sp>
      <p:sp>
        <p:nvSpPr>
          <p:cNvPr id="22" name="TextBox 22"/>
          <p:cNvSpPr txBox="1"/>
          <p:nvPr/>
        </p:nvSpPr>
        <p:spPr>
          <a:xfrm>
            <a:off x="3329759" y="9153525"/>
            <a:ext cx="8272695" cy="863600"/>
          </a:xfrm>
          <a:prstGeom prst="rect">
            <a:avLst/>
          </a:prstGeom>
        </p:spPr>
        <p:txBody>
          <a:bodyPr lIns="0" tIns="0" rIns="0" bIns="0" rtlCol="0" anchor="t">
            <a:spAutoFit/>
          </a:bodyPr>
          <a:lstStyle/>
          <a:p>
            <a:pPr algn="ctr">
              <a:lnSpc>
                <a:spcPts val="7000"/>
              </a:lnSpc>
              <a:spcBef>
                <a:spcPct val="0"/>
              </a:spcBef>
            </a:pPr>
            <a:r>
              <a:rPr lang="en-US" sz="5000" dirty="0">
                <a:solidFill>
                  <a:srgbClr val="4D6BA7"/>
                </a:solidFill>
                <a:latin typeface="Bantayog"/>
                <a:ea typeface="Bantayog"/>
                <a:cs typeface="Bantayog"/>
                <a:sym typeface="Bantayog"/>
              </a:rPr>
              <a:t>POR DANIEL LÓPEZ RAMOS</a:t>
            </a:r>
          </a:p>
        </p:txBody>
      </p:sp>
      <p:sp>
        <p:nvSpPr>
          <p:cNvPr id="23" name="TextBox 23"/>
          <p:cNvSpPr txBox="1"/>
          <p:nvPr/>
        </p:nvSpPr>
        <p:spPr>
          <a:xfrm>
            <a:off x="17259300" y="9258300"/>
            <a:ext cx="1028700" cy="1028700"/>
          </a:xfrm>
          <a:prstGeom prst="rect">
            <a:avLst/>
          </a:prstGeom>
        </p:spPr>
        <p:txBody>
          <a:bodyPr lIns="0" tIns="0" rIns="0" bIns="0" rtlCol="0" anchor="t">
            <a:spAutoFit/>
          </a:bodyPr>
          <a:lstStyle/>
          <a:p>
            <a:pPr algn="ctr">
              <a:lnSpc>
                <a:spcPts val="8399"/>
              </a:lnSpc>
              <a:spcBef>
                <a:spcPct val="0"/>
              </a:spcBef>
            </a:pPr>
            <a:r>
              <a:rPr lang="en-US" sz="5999">
                <a:solidFill>
                  <a:srgbClr val="4D6BA7"/>
                </a:solidFill>
                <a:latin typeface="Bantayog"/>
                <a:ea typeface="Bantayog"/>
                <a:cs typeface="Bantayog"/>
                <a:sym typeface="Bantayog"/>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41088" y="8354648"/>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681614" y="7330785"/>
            <a:ext cx="14432104" cy="2558246"/>
            <a:chOff x="0" y="0"/>
            <a:chExt cx="19242805" cy="3410995"/>
          </a:xfrm>
        </p:grpSpPr>
        <p:sp>
          <p:nvSpPr>
            <p:cNvPr id="15" name="AutoShape 15"/>
            <p:cNvSpPr/>
            <p:nvPr/>
          </p:nvSpPr>
          <p:spPr>
            <a:xfrm>
              <a:off x="2134743" y="2109496"/>
              <a:ext cx="2598459" cy="0"/>
            </a:xfrm>
            <a:prstGeom prst="line">
              <a:avLst/>
            </a:prstGeom>
            <a:ln w="254000" cap="flat">
              <a:solidFill>
                <a:srgbClr val="4D6BA7"/>
              </a:solidFill>
              <a:prstDash val="solid"/>
              <a:headEnd type="none" w="sm" len="sm"/>
              <a:tailEnd type="triangle" w="lg" len="med"/>
            </a:ln>
          </p:spPr>
          <p:txBody>
            <a:bodyPr/>
            <a:lstStyle/>
            <a:p>
              <a:endParaRPr lang="es-ES"/>
            </a:p>
          </p:txBody>
        </p:sp>
        <p:sp>
          <p:nvSpPr>
            <p:cNvPr id="16" name="TextBox 16"/>
            <p:cNvSpPr txBox="1"/>
            <p:nvPr/>
          </p:nvSpPr>
          <p:spPr>
            <a:xfrm>
              <a:off x="0" y="-114300"/>
              <a:ext cx="6867945" cy="1223434"/>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UNIDIRECCIONAL</a:t>
              </a:r>
            </a:p>
          </p:txBody>
        </p:sp>
        <p:grpSp>
          <p:nvGrpSpPr>
            <p:cNvPr id="17" name="Group 17"/>
            <p:cNvGrpSpPr/>
            <p:nvPr/>
          </p:nvGrpSpPr>
          <p:grpSpPr>
            <a:xfrm>
              <a:off x="8942328" y="1261621"/>
              <a:ext cx="1949749" cy="1949749"/>
              <a:chOff x="0" y="0"/>
              <a:chExt cx="736600" cy="736600"/>
            </a:xfrm>
          </p:grpSpPr>
          <p:sp>
            <p:nvSpPr>
              <p:cNvPr id="18" name="Freeform 18"/>
              <p:cNvSpPr/>
              <p:nvPr/>
            </p:nvSpPr>
            <p:spPr>
              <a:xfrm>
                <a:off x="0" y="0"/>
                <a:ext cx="736600" cy="736600"/>
              </a:xfrm>
              <a:custGeom>
                <a:avLst/>
                <a:gdLst/>
                <a:ahLst/>
                <a:cxnLst/>
                <a:rect l="l" t="t" r="r" b="b"/>
                <a:pathLst>
                  <a:path w="736600" h="736600">
                    <a:moveTo>
                      <a:pt x="403917" y="1726"/>
                    </a:moveTo>
                    <a:lnTo>
                      <a:pt x="415649" y="58853"/>
                    </a:lnTo>
                    <a:cubicBezTo>
                      <a:pt x="438357" y="62325"/>
                      <a:pt x="460614" y="68279"/>
                      <a:pt x="482015" y="76631"/>
                    </a:cubicBezTo>
                    <a:lnTo>
                      <a:pt x="520737" y="33030"/>
                    </a:lnTo>
                    <a:cubicBezTo>
                      <a:pt x="542404" y="42874"/>
                      <a:pt x="563067" y="54809"/>
                      <a:pt x="582433" y="68642"/>
                    </a:cubicBezTo>
                    <a:lnTo>
                      <a:pt x="564034" y="123985"/>
                    </a:lnTo>
                    <a:cubicBezTo>
                      <a:pt x="581961" y="138346"/>
                      <a:pt x="598253" y="154633"/>
                      <a:pt x="612616" y="172565"/>
                    </a:cubicBezTo>
                    <a:lnTo>
                      <a:pt x="667950" y="154159"/>
                    </a:lnTo>
                    <a:cubicBezTo>
                      <a:pt x="681791" y="173526"/>
                      <a:pt x="693720" y="194192"/>
                      <a:pt x="703572" y="215859"/>
                    </a:cubicBezTo>
                    <a:lnTo>
                      <a:pt x="659969" y="254582"/>
                    </a:lnTo>
                    <a:cubicBezTo>
                      <a:pt x="668315" y="275985"/>
                      <a:pt x="674277" y="298239"/>
                      <a:pt x="677752" y="320940"/>
                    </a:cubicBezTo>
                    <a:lnTo>
                      <a:pt x="734873" y="332680"/>
                    </a:lnTo>
                    <a:cubicBezTo>
                      <a:pt x="737175" y="356371"/>
                      <a:pt x="737175" y="380229"/>
                      <a:pt x="734873" y="403920"/>
                    </a:cubicBezTo>
                    <a:lnTo>
                      <a:pt x="677752" y="415646"/>
                    </a:lnTo>
                    <a:cubicBezTo>
                      <a:pt x="674277" y="438361"/>
                      <a:pt x="668315" y="460615"/>
                      <a:pt x="659969" y="482018"/>
                    </a:cubicBezTo>
                    <a:lnTo>
                      <a:pt x="703572" y="520741"/>
                    </a:lnTo>
                    <a:cubicBezTo>
                      <a:pt x="693720" y="542408"/>
                      <a:pt x="681791" y="563060"/>
                      <a:pt x="667950" y="582427"/>
                    </a:cubicBezTo>
                    <a:lnTo>
                      <a:pt x="612616" y="564035"/>
                    </a:lnTo>
                    <a:cubicBezTo>
                      <a:pt x="598253" y="581953"/>
                      <a:pt x="581961" y="598254"/>
                      <a:pt x="564034" y="612616"/>
                    </a:cubicBezTo>
                    <a:lnTo>
                      <a:pt x="582433" y="667945"/>
                    </a:lnTo>
                    <a:cubicBezTo>
                      <a:pt x="563067" y="681791"/>
                      <a:pt x="542404" y="693712"/>
                      <a:pt x="520737" y="703571"/>
                    </a:cubicBezTo>
                    <a:lnTo>
                      <a:pt x="482015" y="659968"/>
                    </a:lnTo>
                    <a:cubicBezTo>
                      <a:pt x="460614" y="668307"/>
                      <a:pt x="438357" y="674275"/>
                      <a:pt x="415649" y="677747"/>
                    </a:cubicBezTo>
                    <a:lnTo>
                      <a:pt x="403917" y="734874"/>
                    </a:lnTo>
                    <a:cubicBezTo>
                      <a:pt x="380227" y="737175"/>
                      <a:pt x="356368" y="737175"/>
                      <a:pt x="332676" y="734874"/>
                    </a:cubicBezTo>
                    <a:lnTo>
                      <a:pt x="320944" y="677747"/>
                    </a:lnTo>
                    <a:cubicBezTo>
                      <a:pt x="298235" y="674275"/>
                      <a:pt x="275981" y="668307"/>
                      <a:pt x="254579" y="659968"/>
                    </a:cubicBezTo>
                    <a:lnTo>
                      <a:pt x="215849" y="703571"/>
                    </a:lnTo>
                    <a:cubicBezTo>
                      <a:pt x="194194" y="693712"/>
                      <a:pt x="173529" y="681791"/>
                      <a:pt x="154161" y="667945"/>
                    </a:cubicBezTo>
                    <a:lnTo>
                      <a:pt x="172568" y="612616"/>
                    </a:lnTo>
                    <a:cubicBezTo>
                      <a:pt x="154635" y="598254"/>
                      <a:pt x="138335" y="581953"/>
                      <a:pt x="123972" y="564035"/>
                    </a:cubicBezTo>
                    <a:lnTo>
                      <a:pt x="68643" y="582427"/>
                    </a:lnTo>
                    <a:cubicBezTo>
                      <a:pt x="54810" y="563060"/>
                      <a:pt x="42874" y="542408"/>
                      <a:pt x="33016" y="520741"/>
                    </a:cubicBezTo>
                    <a:lnTo>
                      <a:pt x="76619" y="482018"/>
                    </a:lnTo>
                    <a:cubicBezTo>
                      <a:pt x="68280" y="460615"/>
                      <a:pt x="62312" y="438361"/>
                      <a:pt x="58840" y="415646"/>
                    </a:cubicBezTo>
                    <a:lnTo>
                      <a:pt x="1726" y="403920"/>
                    </a:lnTo>
                    <a:cubicBezTo>
                      <a:pt x="-575" y="380229"/>
                      <a:pt x="-575" y="356371"/>
                      <a:pt x="1726" y="332680"/>
                    </a:cubicBezTo>
                    <a:lnTo>
                      <a:pt x="58840" y="320940"/>
                    </a:lnTo>
                    <a:cubicBezTo>
                      <a:pt x="62312" y="298239"/>
                      <a:pt x="68280" y="275985"/>
                      <a:pt x="76619" y="254582"/>
                    </a:cubicBezTo>
                    <a:lnTo>
                      <a:pt x="33016" y="215859"/>
                    </a:lnTo>
                    <a:cubicBezTo>
                      <a:pt x="42874" y="194192"/>
                      <a:pt x="54810" y="173526"/>
                      <a:pt x="68643" y="154159"/>
                    </a:cubicBezTo>
                    <a:lnTo>
                      <a:pt x="123972" y="172565"/>
                    </a:lnTo>
                    <a:cubicBezTo>
                      <a:pt x="138335" y="154633"/>
                      <a:pt x="154635" y="138346"/>
                      <a:pt x="172568" y="123985"/>
                    </a:cubicBezTo>
                    <a:lnTo>
                      <a:pt x="154161" y="68642"/>
                    </a:lnTo>
                    <a:cubicBezTo>
                      <a:pt x="173529" y="54809"/>
                      <a:pt x="194194" y="42874"/>
                      <a:pt x="215849" y="33030"/>
                    </a:cubicBezTo>
                    <a:lnTo>
                      <a:pt x="254579" y="76631"/>
                    </a:lnTo>
                    <a:cubicBezTo>
                      <a:pt x="275981" y="68279"/>
                      <a:pt x="298235" y="62325"/>
                      <a:pt x="320944" y="58853"/>
                    </a:cubicBezTo>
                    <a:lnTo>
                      <a:pt x="332676" y="1726"/>
                    </a:lnTo>
                    <a:cubicBezTo>
                      <a:pt x="356368" y="-575"/>
                      <a:pt x="380227" y="-575"/>
                      <a:pt x="403917" y="1726"/>
                    </a:cubicBezTo>
                    <a:close/>
                    <a:moveTo>
                      <a:pt x="368297" y="138124"/>
                    </a:moveTo>
                    <a:cubicBezTo>
                      <a:pt x="241256" y="138124"/>
                      <a:pt x="138125" y="241266"/>
                      <a:pt x="138125" y="368294"/>
                    </a:cubicBezTo>
                    <a:cubicBezTo>
                      <a:pt x="138125" y="495334"/>
                      <a:pt x="241256" y="598476"/>
                      <a:pt x="368297" y="598476"/>
                    </a:cubicBezTo>
                    <a:cubicBezTo>
                      <a:pt x="495334" y="598476"/>
                      <a:pt x="598472" y="495334"/>
                      <a:pt x="598472" y="368294"/>
                    </a:cubicBezTo>
                    <a:cubicBezTo>
                      <a:pt x="598472" y="241266"/>
                      <a:pt x="495334" y="138124"/>
                      <a:pt x="368297" y="138124"/>
                    </a:cubicBezTo>
                    <a:close/>
                  </a:path>
                </a:pathLst>
              </a:custGeom>
              <a:solidFill>
                <a:srgbClr val="4D6BA7"/>
              </a:solidFill>
            </p:spPr>
            <p:txBody>
              <a:bodyPr/>
              <a:lstStyle/>
              <a:p>
                <a:endParaRPr lang="es-ES"/>
              </a:p>
            </p:txBody>
          </p:sp>
          <p:sp>
            <p:nvSpPr>
              <p:cNvPr id="19" name="TextBox 19"/>
              <p:cNvSpPr txBox="1"/>
              <p:nvPr/>
            </p:nvSpPr>
            <p:spPr>
              <a:xfrm>
                <a:off x="146050" y="107950"/>
                <a:ext cx="444500" cy="482600"/>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6483231" y="-114300"/>
              <a:ext cx="6867945" cy="1223434"/>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CONTROL</a:t>
              </a:r>
            </a:p>
          </p:txBody>
        </p:sp>
        <p:sp>
          <p:nvSpPr>
            <p:cNvPr id="21" name="TextBox 21"/>
            <p:cNvSpPr txBox="1"/>
            <p:nvPr/>
          </p:nvSpPr>
          <p:spPr>
            <a:xfrm>
              <a:off x="12374860" y="-114300"/>
              <a:ext cx="6867945" cy="1223434"/>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CENTRALIZADO</a:t>
              </a:r>
            </a:p>
          </p:txBody>
        </p:sp>
        <p:grpSp>
          <p:nvGrpSpPr>
            <p:cNvPr id="22" name="Group 22"/>
            <p:cNvGrpSpPr/>
            <p:nvPr/>
          </p:nvGrpSpPr>
          <p:grpSpPr>
            <a:xfrm>
              <a:off x="15491372" y="2030375"/>
              <a:ext cx="641402" cy="641402"/>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BA7"/>
              </a:solidFill>
            </p:spPr>
            <p:txBody>
              <a:bodyPr/>
              <a:lstStyle/>
              <a:p>
                <a:endParaRPr lang="es-ES"/>
              </a:p>
            </p:txBody>
          </p:sp>
          <p:sp>
            <p:nvSpPr>
              <p:cNvPr id="24" name="TextBox 24"/>
              <p:cNvSpPr txBox="1"/>
              <p:nvPr/>
            </p:nvSpPr>
            <p:spPr>
              <a:xfrm>
                <a:off x="76200" y="38100"/>
                <a:ext cx="660400" cy="698500"/>
              </a:xfrm>
              <a:prstGeom prst="rect">
                <a:avLst/>
              </a:prstGeom>
            </p:spPr>
            <p:txBody>
              <a:bodyPr lIns="41626" tIns="41626" rIns="41626" bIns="41626" rtlCol="0" anchor="ctr"/>
              <a:lstStyle/>
              <a:p>
                <a:pPr algn="ctr">
                  <a:lnSpc>
                    <a:spcPts val="2660"/>
                  </a:lnSpc>
                </a:pPr>
                <a:endParaRPr/>
              </a:p>
            </p:txBody>
          </p:sp>
        </p:grpSp>
        <p:sp>
          <p:nvSpPr>
            <p:cNvPr id="25" name="AutoShape 25"/>
            <p:cNvSpPr/>
            <p:nvPr/>
          </p:nvSpPr>
          <p:spPr>
            <a:xfrm flipV="1">
              <a:off x="14376920" y="2302273"/>
              <a:ext cx="1030083" cy="0"/>
            </a:xfrm>
            <a:prstGeom prst="line">
              <a:avLst/>
            </a:prstGeom>
            <a:ln w="139700" cap="flat">
              <a:solidFill>
                <a:srgbClr val="4D6BA7"/>
              </a:solidFill>
              <a:prstDash val="solid"/>
              <a:headEnd type="none" w="sm" len="sm"/>
              <a:tailEnd type="triangle" w="lg" len="med"/>
            </a:ln>
          </p:spPr>
          <p:txBody>
            <a:bodyPr/>
            <a:lstStyle/>
            <a:p>
              <a:endParaRPr lang="es-ES"/>
            </a:p>
          </p:txBody>
        </p:sp>
        <p:sp>
          <p:nvSpPr>
            <p:cNvPr id="26" name="AutoShape 26"/>
            <p:cNvSpPr/>
            <p:nvPr/>
          </p:nvSpPr>
          <p:spPr>
            <a:xfrm>
              <a:off x="14954468" y="1198443"/>
              <a:ext cx="676126" cy="777126"/>
            </a:xfrm>
            <a:prstGeom prst="line">
              <a:avLst/>
            </a:prstGeom>
            <a:ln w="139700" cap="flat">
              <a:solidFill>
                <a:srgbClr val="4D6BA7"/>
              </a:solidFill>
              <a:prstDash val="solid"/>
              <a:headEnd type="none" w="sm" len="sm"/>
              <a:tailEnd type="triangle" w="lg" len="med"/>
            </a:ln>
          </p:spPr>
          <p:txBody>
            <a:bodyPr/>
            <a:lstStyle/>
            <a:p>
              <a:endParaRPr lang="es-ES"/>
            </a:p>
          </p:txBody>
        </p:sp>
        <p:sp>
          <p:nvSpPr>
            <p:cNvPr id="27" name="AutoShape 27"/>
            <p:cNvSpPr/>
            <p:nvPr/>
          </p:nvSpPr>
          <p:spPr>
            <a:xfrm flipV="1">
              <a:off x="14857209" y="2717538"/>
              <a:ext cx="808204" cy="638652"/>
            </a:xfrm>
            <a:prstGeom prst="line">
              <a:avLst/>
            </a:prstGeom>
            <a:ln w="139700" cap="flat">
              <a:solidFill>
                <a:srgbClr val="4D6BA7"/>
              </a:solidFill>
              <a:prstDash val="solid"/>
              <a:headEnd type="none" w="sm" len="sm"/>
              <a:tailEnd type="triangle" w="lg" len="med"/>
            </a:ln>
          </p:spPr>
          <p:txBody>
            <a:bodyPr/>
            <a:lstStyle/>
            <a:p>
              <a:endParaRPr lang="es-ES"/>
            </a:p>
          </p:txBody>
        </p:sp>
        <p:sp>
          <p:nvSpPr>
            <p:cNvPr id="28" name="AutoShape 28"/>
            <p:cNvSpPr/>
            <p:nvPr/>
          </p:nvSpPr>
          <p:spPr>
            <a:xfrm flipH="1">
              <a:off x="16006196" y="1146921"/>
              <a:ext cx="575438" cy="854367"/>
            </a:xfrm>
            <a:prstGeom prst="line">
              <a:avLst/>
            </a:prstGeom>
            <a:ln w="139700" cap="flat">
              <a:solidFill>
                <a:srgbClr val="4D6BA7"/>
              </a:solidFill>
              <a:prstDash val="solid"/>
              <a:headEnd type="none" w="sm" len="sm"/>
              <a:tailEnd type="triangle" w="lg" len="med"/>
            </a:ln>
          </p:spPr>
          <p:txBody>
            <a:bodyPr/>
            <a:lstStyle/>
            <a:p>
              <a:endParaRPr lang="es-ES"/>
            </a:p>
          </p:txBody>
        </p:sp>
        <p:sp>
          <p:nvSpPr>
            <p:cNvPr id="29" name="AutoShape 29"/>
            <p:cNvSpPr/>
            <p:nvPr/>
          </p:nvSpPr>
          <p:spPr>
            <a:xfrm flipH="1">
              <a:off x="16210662" y="2343480"/>
              <a:ext cx="1030083" cy="0"/>
            </a:xfrm>
            <a:prstGeom prst="line">
              <a:avLst/>
            </a:prstGeom>
            <a:ln w="139700" cap="flat">
              <a:solidFill>
                <a:srgbClr val="4D6BA7"/>
              </a:solidFill>
              <a:prstDash val="solid"/>
              <a:headEnd type="none" w="sm" len="sm"/>
              <a:tailEnd type="triangle" w="lg" len="med"/>
            </a:ln>
          </p:spPr>
          <p:txBody>
            <a:bodyPr/>
            <a:lstStyle/>
            <a:p>
              <a:endParaRPr lang="es-ES"/>
            </a:p>
          </p:txBody>
        </p:sp>
        <p:sp>
          <p:nvSpPr>
            <p:cNvPr id="30" name="AutoShape 30"/>
            <p:cNvSpPr/>
            <p:nvPr/>
          </p:nvSpPr>
          <p:spPr>
            <a:xfrm flipH="1" flipV="1">
              <a:off x="15975289" y="2692847"/>
              <a:ext cx="803756" cy="644241"/>
            </a:xfrm>
            <a:prstGeom prst="line">
              <a:avLst/>
            </a:prstGeom>
            <a:ln w="139700" cap="flat">
              <a:solidFill>
                <a:srgbClr val="4D6BA7"/>
              </a:solidFill>
              <a:prstDash val="solid"/>
              <a:headEnd type="none" w="sm" len="sm"/>
              <a:tailEnd type="triangle" w="lg" len="med"/>
            </a:ln>
          </p:spPr>
          <p:txBody>
            <a:bodyPr/>
            <a:lstStyle/>
            <a:p>
              <a:endParaRPr lang="es-ES"/>
            </a:p>
          </p:txBody>
        </p:sp>
      </p:grpSp>
      <p:sp>
        <p:nvSpPr>
          <p:cNvPr id="31" name="Freeform 31"/>
          <p:cNvSpPr/>
          <p:nvPr/>
        </p:nvSpPr>
        <p:spPr>
          <a:xfrm>
            <a:off x="12228510" y="5383260"/>
            <a:ext cx="3107048" cy="254877"/>
          </a:xfrm>
          <a:custGeom>
            <a:avLst/>
            <a:gdLst/>
            <a:ahLst/>
            <a:cxnLst/>
            <a:rect l="l" t="t" r="r" b="b"/>
            <a:pathLst>
              <a:path w="3107048" h="254877">
                <a:moveTo>
                  <a:pt x="0" y="0"/>
                </a:moveTo>
                <a:quadBezTo>
                  <a:pt x="1553524" y="509753"/>
                  <a:pt x="3107048" y="0"/>
                </a:quadBezTo>
              </a:path>
            </a:pathLst>
          </a:custGeom>
          <a:ln w="38100" cap="flat">
            <a:solidFill>
              <a:srgbClr val="B9B9B9"/>
            </a:solidFill>
            <a:prstDash val="solid"/>
            <a:headEnd type="none" w="sm" len="sm"/>
            <a:tailEnd type="none" w="sm" len="sm"/>
          </a:ln>
        </p:spPr>
        <p:txBody>
          <a:bodyPr/>
          <a:lstStyle/>
          <a:p>
            <a:endParaRPr lang="es-ES"/>
          </a:p>
        </p:txBody>
      </p:sp>
      <p:sp>
        <p:nvSpPr>
          <p:cNvPr id="32" name="Freeform 32"/>
          <p:cNvSpPr/>
          <p:nvPr/>
        </p:nvSpPr>
        <p:spPr>
          <a:xfrm>
            <a:off x="8401577" y="4339061"/>
            <a:ext cx="3277282" cy="1044199"/>
          </a:xfrm>
          <a:custGeom>
            <a:avLst/>
            <a:gdLst/>
            <a:ahLst/>
            <a:cxnLst/>
            <a:rect l="l" t="t" r="r" b="b"/>
            <a:pathLst>
              <a:path w="3277282" h="1044199">
                <a:moveTo>
                  <a:pt x="0" y="0"/>
                </a:moveTo>
                <a:quadBezTo>
                  <a:pt x="1483890" y="1007795"/>
                  <a:pt x="3277282" y="1044199"/>
                </a:quadBezTo>
              </a:path>
            </a:pathLst>
          </a:custGeom>
          <a:ln w="38100" cap="flat">
            <a:solidFill>
              <a:srgbClr val="B9B9B9"/>
            </a:solidFill>
            <a:prstDash val="solid"/>
            <a:headEnd type="none" w="sm" len="sm"/>
            <a:tailEnd type="none" w="sm" len="sm"/>
          </a:ln>
        </p:spPr>
        <p:txBody>
          <a:bodyPr/>
          <a:lstStyle/>
          <a:p>
            <a:endParaRPr lang="es-ES"/>
          </a:p>
        </p:txBody>
      </p:sp>
      <p:sp>
        <p:nvSpPr>
          <p:cNvPr id="33" name="Freeform 33"/>
          <p:cNvSpPr/>
          <p:nvPr/>
        </p:nvSpPr>
        <p:spPr>
          <a:xfrm>
            <a:off x="4626972" y="4339061"/>
            <a:ext cx="2522721" cy="1428145"/>
          </a:xfrm>
          <a:custGeom>
            <a:avLst/>
            <a:gdLst/>
            <a:ahLst/>
            <a:cxnLst/>
            <a:rect l="l" t="t" r="r" b="b"/>
            <a:pathLst>
              <a:path w="2522721" h="1428145">
                <a:moveTo>
                  <a:pt x="0" y="1428145"/>
                </a:moveTo>
                <a:quadBezTo>
                  <a:pt x="1512490" y="1157674"/>
                  <a:pt x="2522722" y="0"/>
                </a:quadBezTo>
              </a:path>
            </a:pathLst>
          </a:custGeom>
          <a:ln w="38100" cap="flat">
            <a:solidFill>
              <a:srgbClr val="B9B9B9"/>
            </a:solidFill>
            <a:prstDash val="solid"/>
            <a:headEnd type="none" w="sm" len="sm"/>
            <a:tailEnd type="none" w="sm" len="sm"/>
          </a:ln>
        </p:spPr>
        <p:txBody>
          <a:bodyPr/>
          <a:lstStyle/>
          <a:p>
            <a:endParaRPr lang="es-ES"/>
          </a:p>
        </p:txBody>
      </p:sp>
      <p:grpSp>
        <p:nvGrpSpPr>
          <p:cNvPr id="34" name="Group 34"/>
          <p:cNvGrpSpPr/>
          <p:nvPr/>
        </p:nvGrpSpPr>
        <p:grpSpPr>
          <a:xfrm>
            <a:off x="8209603" y="4147088"/>
            <a:ext cx="383946" cy="383946"/>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B001"/>
            </a:solidFill>
          </p:spPr>
          <p:txBody>
            <a:bodyPr/>
            <a:lstStyle/>
            <a:p>
              <a:endParaRPr lang="es-ES"/>
            </a:p>
          </p:txBody>
        </p:sp>
        <p:sp>
          <p:nvSpPr>
            <p:cNvPr id="36" name="TextBox 3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7" name="Group 37"/>
          <p:cNvGrpSpPr/>
          <p:nvPr/>
        </p:nvGrpSpPr>
        <p:grpSpPr>
          <a:xfrm>
            <a:off x="12036537" y="5191286"/>
            <a:ext cx="383946" cy="383946"/>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B001"/>
            </a:solidFill>
          </p:spPr>
          <p:txBody>
            <a:bodyPr/>
            <a:lstStyle/>
            <a:p>
              <a:endParaRPr lang="es-ES"/>
            </a:p>
          </p:txBody>
        </p:sp>
        <p:sp>
          <p:nvSpPr>
            <p:cNvPr id="39" name="TextBox 3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40" name="Group 40"/>
          <p:cNvGrpSpPr/>
          <p:nvPr/>
        </p:nvGrpSpPr>
        <p:grpSpPr>
          <a:xfrm>
            <a:off x="3998548" y="5767206"/>
            <a:ext cx="383946" cy="383946"/>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B001"/>
            </a:solidFill>
          </p:spPr>
          <p:txBody>
            <a:bodyPr/>
            <a:lstStyle/>
            <a:p>
              <a:endParaRPr lang="es-ES"/>
            </a:p>
          </p:txBody>
        </p:sp>
        <p:sp>
          <p:nvSpPr>
            <p:cNvPr id="42" name="TextBox 4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3" name="Freeform 43"/>
          <p:cNvSpPr/>
          <p:nvPr/>
        </p:nvSpPr>
        <p:spPr>
          <a:xfrm>
            <a:off x="6253337" y="3526136"/>
            <a:ext cx="3029999" cy="3029999"/>
          </a:xfrm>
          <a:custGeom>
            <a:avLst/>
            <a:gdLst/>
            <a:ahLst/>
            <a:cxnLst/>
            <a:rect l="l" t="t" r="r" b="b"/>
            <a:pathLst>
              <a:path w="3029999" h="3029999">
                <a:moveTo>
                  <a:pt x="0" y="0"/>
                </a:moveTo>
                <a:lnTo>
                  <a:pt x="3029999" y="0"/>
                </a:lnTo>
                <a:lnTo>
                  <a:pt x="3029999" y="3029998"/>
                </a:lnTo>
                <a:lnTo>
                  <a:pt x="0" y="3029998"/>
                </a:lnTo>
                <a:lnTo>
                  <a:pt x="0" y="0"/>
                </a:lnTo>
                <a:close/>
              </a:path>
            </a:pathLst>
          </a:custGeom>
          <a:blipFill>
            <a:blip r:embed="rId3"/>
            <a:stretch>
              <a:fillRect/>
            </a:stretch>
          </a:blipFill>
        </p:spPr>
        <p:txBody>
          <a:bodyPr/>
          <a:lstStyle/>
          <a:p>
            <a:endParaRPr lang="es-ES"/>
          </a:p>
        </p:txBody>
      </p:sp>
      <p:sp>
        <p:nvSpPr>
          <p:cNvPr id="44" name="Freeform 44"/>
          <p:cNvSpPr/>
          <p:nvPr/>
        </p:nvSpPr>
        <p:spPr>
          <a:xfrm>
            <a:off x="782282" y="2778322"/>
            <a:ext cx="3966286" cy="3966286"/>
          </a:xfrm>
          <a:custGeom>
            <a:avLst/>
            <a:gdLst/>
            <a:ahLst/>
            <a:cxnLst/>
            <a:rect l="l" t="t" r="r" b="b"/>
            <a:pathLst>
              <a:path w="3966286" h="3966286">
                <a:moveTo>
                  <a:pt x="0" y="0"/>
                </a:moveTo>
                <a:lnTo>
                  <a:pt x="3966286" y="0"/>
                </a:lnTo>
                <a:lnTo>
                  <a:pt x="3966286" y="3966286"/>
                </a:lnTo>
                <a:lnTo>
                  <a:pt x="0" y="3966286"/>
                </a:lnTo>
                <a:lnTo>
                  <a:pt x="0" y="0"/>
                </a:lnTo>
                <a:close/>
              </a:path>
            </a:pathLst>
          </a:custGeom>
          <a:blipFill>
            <a:blip r:embed="rId4"/>
            <a:stretch>
              <a:fillRect/>
            </a:stretch>
          </a:blipFill>
        </p:spPr>
        <p:txBody>
          <a:bodyPr/>
          <a:lstStyle/>
          <a:p>
            <a:endParaRPr lang="es-ES"/>
          </a:p>
        </p:txBody>
      </p:sp>
      <p:sp>
        <p:nvSpPr>
          <p:cNvPr id="45" name="Freeform 45"/>
          <p:cNvSpPr/>
          <p:nvPr/>
        </p:nvSpPr>
        <p:spPr>
          <a:xfrm>
            <a:off x="11201667" y="5041135"/>
            <a:ext cx="1452142" cy="1452142"/>
          </a:xfrm>
          <a:custGeom>
            <a:avLst/>
            <a:gdLst/>
            <a:ahLst/>
            <a:cxnLst/>
            <a:rect l="l" t="t" r="r" b="b"/>
            <a:pathLst>
              <a:path w="1452142" h="1452142">
                <a:moveTo>
                  <a:pt x="0" y="0"/>
                </a:moveTo>
                <a:lnTo>
                  <a:pt x="1452143" y="0"/>
                </a:lnTo>
                <a:lnTo>
                  <a:pt x="1452143" y="1452142"/>
                </a:lnTo>
                <a:lnTo>
                  <a:pt x="0" y="1452142"/>
                </a:lnTo>
                <a:lnTo>
                  <a:pt x="0" y="0"/>
                </a:lnTo>
                <a:close/>
              </a:path>
            </a:pathLst>
          </a:custGeom>
          <a:blipFill>
            <a:blip r:embed="rId5"/>
            <a:stretch>
              <a:fillRect/>
            </a:stretch>
          </a:blipFill>
        </p:spPr>
        <p:txBody>
          <a:bodyPr/>
          <a:lstStyle/>
          <a:p>
            <a:endParaRPr lang="es-ES"/>
          </a:p>
        </p:txBody>
      </p:sp>
      <p:sp>
        <p:nvSpPr>
          <p:cNvPr id="46" name="Freeform 46"/>
          <p:cNvSpPr/>
          <p:nvPr/>
        </p:nvSpPr>
        <p:spPr>
          <a:xfrm>
            <a:off x="15035060" y="4022619"/>
            <a:ext cx="2470658" cy="2470658"/>
          </a:xfrm>
          <a:custGeom>
            <a:avLst/>
            <a:gdLst/>
            <a:ahLst/>
            <a:cxnLst/>
            <a:rect l="l" t="t" r="r" b="b"/>
            <a:pathLst>
              <a:path w="2470658" h="2470658">
                <a:moveTo>
                  <a:pt x="0" y="0"/>
                </a:moveTo>
                <a:lnTo>
                  <a:pt x="2470658" y="0"/>
                </a:lnTo>
                <a:lnTo>
                  <a:pt x="2470658" y="2470658"/>
                </a:lnTo>
                <a:lnTo>
                  <a:pt x="0" y="2470658"/>
                </a:lnTo>
                <a:lnTo>
                  <a:pt x="0" y="0"/>
                </a:lnTo>
                <a:close/>
              </a:path>
            </a:pathLst>
          </a:custGeom>
          <a:blipFill>
            <a:blip r:embed="rId6"/>
            <a:stretch>
              <a:fillRect/>
            </a:stretch>
          </a:blipFill>
        </p:spPr>
        <p:txBody>
          <a:bodyPr/>
          <a:lstStyle/>
          <a:p>
            <a:endParaRPr lang="es-ES"/>
          </a:p>
        </p:txBody>
      </p:sp>
      <p:sp>
        <p:nvSpPr>
          <p:cNvPr id="47" name="TextBox 47"/>
          <p:cNvSpPr txBox="1"/>
          <p:nvPr/>
        </p:nvSpPr>
        <p:spPr>
          <a:xfrm>
            <a:off x="17259300" y="9258300"/>
            <a:ext cx="1028700" cy="1028700"/>
          </a:xfrm>
          <a:prstGeom prst="rect">
            <a:avLst/>
          </a:prstGeom>
        </p:spPr>
        <p:txBody>
          <a:bodyPr lIns="0" tIns="0" rIns="0" bIns="0" rtlCol="0" anchor="t">
            <a:spAutoFit/>
          </a:bodyPr>
          <a:lstStyle/>
          <a:p>
            <a:pPr algn="ctr">
              <a:lnSpc>
                <a:spcPts val="8399"/>
              </a:lnSpc>
              <a:spcBef>
                <a:spcPct val="0"/>
              </a:spcBef>
            </a:pPr>
            <a:r>
              <a:rPr lang="en-US" sz="5999">
                <a:solidFill>
                  <a:srgbClr val="FFFFFF"/>
                </a:solidFill>
                <a:latin typeface="Bantayog"/>
                <a:ea typeface="Bantayog"/>
                <a:cs typeface="Bantayog"/>
                <a:sym typeface="Bantayog"/>
              </a:rPr>
              <a:t>2</a:t>
            </a:r>
          </a:p>
        </p:txBody>
      </p:sp>
      <p:sp>
        <p:nvSpPr>
          <p:cNvPr id="48" name="TextBox 48"/>
          <p:cNvSpPr txBox="1"/>
          <p:nvPr/>
        </p:nvSpPr>
        <p:spPr>
          <a:xfrm>
            <a:off x="3682259" y="494206"/>
            <a:ext cx="10923483"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MOTIVACIÓN</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fill="hold" nodeType="afterEffect">
                                  <p:stCondLst>
                                    <p:cond delay="0"/>
                                  </p:stCondLst>
                                  <p:childTnLst>
                                    <p:animMotion origin="layout" path="M 0.00052 0.00124 L 0.00052 0.00124 L 0.00911 -0.00154 C 0.01146 -0.00247 0.01371 -0.0037 0.01614 -0.00432 C 0.0184 -0.00509 0.02083 -0.00525 0.02317 -0.00571 C 0.02474 -0.00617 0.0263 -0.00663 0.02786 -0.0071 C 0.03845 -0.01528 0.02777 -0.00772 0.04192 -0.01543 C 0.05052 -0.02022 0.0408 -0.01682 0.05052 -0.0196 C 0.05208 -0.02099 0.05364 -0.02238 0.05521 -0.02376 C 0.05651 -0.02515 0.05764 -0.02685 0.05911 -0.02793 C 0.06553 -0.03302 0.06762 -0.03349 0.07396 -0.03626 C 0.07656 -0.03873 0.09062 -0.05077 0.09271 -0.05432 C 0.10356 -0.07376 0.08906 -0.04846 0.1013 -0.06821 C 0.10286 -0.07099 0.10425 -0.07407 0.10599 -0.07654 C 0.11102 -0.0841 0.10998 -0.0804 0.11536 -0.08626 C 0.12413 -0.09599 0.11762 -0.08997 0.12552 -0.10154 C 0.13802 -0.12022 0.12109 -0.09228 0.13646 -0.11265 C 0.14184 -0.11991 0.14201 -0.12315 0.14583 -0.13071 C 0.14678 -0.13272 0.148 -0.13426 0.14896 -0.13626 C 0.14965 -0.13796 0.14982 -0.14028 0.15052 -0.14182 C 0.15113 -0.14352 0.15208 -0.1446 0.15286 -0.14599 C 0.15338 -0.14738 0.1539 -0.14876 0.15442 -0.15015 C 0.15468 -0.15154 0.15468 -0.15324 0.15521 -0.15432 C 0.15581 -0.15602 0.15677 -0.1571 0.15755 -0.15849 L 0.15833 -0.15988 " pathEditMode="relative" ptsTypes="AAAAAAAAAAAAAAAAAAAAAAAAA">
                                      <p:cBhvr>
                                        <p:cTn id="6" dur="1300" fill="hold"/>
                                        <p:tgtEl>
                                          <p:spTgt spid="40"/>
                                        </p:tgtEl>
                                        <p:attrNameLst>
                                          <p:attrName>ppt_x</p:attrName>
                                          <p:attrName>ppt_y</p:attrName>
                                        </p:attrNameLst>
                                      </p:cBhvr>
                                    </p:animMotion>
                                  </p:childTnLst>
                                </p:cTn>
                              </p:par>
                            </p:childTnLst>
                          </p:cTn>
                        </p:par>
                        <p:par>
                          <p:cTn id="7" fill="hold">
                            <p:stCondLst>
                              <p:cond delay="1300"/>
                            </p:stCondLst>
                            <p:childTnLst>
                              <p:par>
                                <p:cTn id="8" presetID="1" presetClass="entr" presetSubtype="0" fill="hold" nodeType="afterEffect">
                                  <p:stCondLst>
                                    <p:cond delay="0"/>
                                  </p:stCondLst>
                                  <p:childTnLst>
                                    <p:set>
                                      <p:cBhvr>
                                        <p:cTn id="9" dur="1" fill="hold">
                                          <p:stCondLst>
                                            <p:cond delay="0"/>
                                          </p:stCondLst>
                                        </p:cTn>
                                        <p:tgtEl>
                                          <p:spTgt spid="34"/>
                                        </p:tgtEl>
                                        <p:attrNameLst>
                                          <p:attrName>style.visibility</p:attrName>
                                        </p:attrNameLst>
                                      </p:cBhvr>
                                      <p:to>
                                        <p:strVal val="visible"/>
                                      </p:to>
                                    </p:set>
                                  </p:childTnLst>
                                </p:cTn>
                              </p:par>
                            </p:childTnLst>
                          </p:cTn>
                        </p:par>
                        <p:par>
                          <p:cTn id="10" fill="hold">
                            <p:stCondLst>
                              <p:cond delay="1300"/>
                            </p:stCondLst>
                            <p:childTnLst>
                              <p:par>
                                <p:cTn id="11" presetID="0" presetClass="path" presetSubtype="0" repeatCount="indefinite" accel="50000" decel="50000" fill="hold" nodeType="afterEffect">
                                  <p:stCondLst>
                                    <p:cond delay="0"/>
                                  </p:stCondLst>
                                  <p:childTnLst>
                                    <p:animMotion origin="layout" path="M -0.00156 0.00463 L -0.00156 0.00463 C 0.00131 0.00494 0.00434 0.00386 0.00704 0.00586 C 0.01112 0.0091 0.01381 0.01651 0.01797 0.01975 C 0.02032 0.0216 0.02275 0.02299 0.02501 0.02531 C 0.02674 0.02716 0.02804 0.03009 0.02969 0.03225 C 0.03143 0.03472 0.03343 0.03657 0.03516 0.0392 C 0.03664 0.04167 0.03733 0.04568 0.03907 0.04753 C 0.04037 0.04907 0.04218 0.04846 0.04375 0.04892 C 0.05148 0.05494 0.05382 0.0571 0.06093 0.06142 C 0.06319 0.06296 0.06553 0.06466 0.06797 0.06559 C 0.06997 0.06651 0.07213 0.06651 0.07422 0.06697 C 0.07856 0.07037 0.08195 0.0733 0.08672 0.07531 C 0.08846 0.07608 0.09037 0.07623 0.09218 0.0767 C 0.09402 0.07809 0.09575 0.07994 0.09766 0.08086 C 0.09905 0.08164 0.10947 0.08349 0.11016 0.08364 C 0.11224 0.08457 0.11433 0.08518 0.11641 0.08642 C 0.11823 0.0875 0.11988 0.08997 0.12188 0.09059 C 0.1283 0.09275 0.1349 0.09321 0.14141 0.09475 C 0.14428 0.09552 0.14705 0.09691 0.15001 0.09753 C 0.15278 0.0983 0.15573 0.09846 0.1586 0.09892 C 0.16876 0.10077 0.16094 0.10031 0.17188 0.10031 " pathEditMode="relative" ptsTypes="AAAAAAAAAAAAAAAAAAAAAA">
                                      <p:cBhvr>
                                        <p:cTn id="12" dur="1300" fill="hold"/>
                                        <p:tgtEl>
                                          <p:spTgt spid="34"/>
                                        </p:tgtEl>
                                        <p:attrNameLst>
                                          <p:attrName>ppt_x</p:attrName>
                                          <p:attrName>ppt_y</p:attrName>
                                        </p:attrNameLst>
                                      </p:cBhvr>
                                    </p:animMotion>
                                  </p:childTnLst>
                                </p:cTn>
                              </p:par>
                            </p:childTnLst>
                          </p:cTn>
                        </p:par>
                        <p:par>
                          <p:cTn id="13" fill="hold">
                            <p:stCondLst>
                              <p:cond delay="2600"/>
                            </p:stCondLst>
                            <p:childTnLst>
                              <p:par>
                                <p:cTn id="14" presetID="1" presetClass="entr" presetSubtype="0" fill="hold" nodeType="afterEffect">
                                  <p:stCondLst>
                                    <p:cond delay="0"/>
                                  </p:stCondLst>
                                  <p:childTnLst>
                                    <p:set>
                                      <p:cBhvr>
                                        <p:cTn id="15" dur="1" fill="hold">
                                          <p:stCondLst>
                                            <p:cond delay="0"/>
                                          </p:stCondLst>
                                        </p:cTn>
                                        <p:tgtEl>
                                          <p:spTgt spid="37"/>
                                        </p:tgtEl>
                                        <p:attrNameLst>
                                          <p:attrName>style.visibility</p:attrName>
                                        </p:attrNameLst>
                                      </p:cBhvr>
                                      <p:to>
                                        <p:strVal val="visible"/>
                                      </p:to>
                                    </p:set>
                                  </p:childTnLst>
                                </p:cTn>
                              </p:par>
                            </p:childTnLst>
                          </p:cTn>
                        </p:par>
                        <p:par>
                          <p:cTn id="16" fill="hold">
                            <p:stCondLst>
                              <p:cond delay="2600"/>
                            </p:stCondLst>
                            <p:childTnLst>
                              <p:par>
                                <p:cTn id="17" presetID="0" presetClass="path" presetSubtype="0" repeatCount="indefinite" accel="50000" decel="50000" fill="hold" nodeType="afterEffect">
                                  <p:stCondLst>
                                    <p:cond delay="0"/>
                                  </p:stCondLst>
                                  <p:childTnLst>
                                    <p:animMotion origin="layout" path="M 0.00712 0.00155 L 0.00712 0.00155 C 0.01302 0.00324 0.01988 0.00494 0.02587 0.0071 C 0.02795 0.00803 0.03004 0.00895 0.03212 0.00988 C 0.03473 0.01127 0.03724 0.01327 0.03993 0.01405 C 0.04401 0.01559 0.04827 0.0159 0.05243 0.01682 L 0.05782 0.01821 C 0.08273 0.01775 0.11519 0.02315 0.14219 0.01266 C 0.16051 0.00571 0.15113 0.00972 0.16181 0.00016 C 0.16302 -0.00092 0.16441 -0.00139 0.16563 -0.00262 C 0.16702 -0.0037 0.16823 -0.00555 0.16962 -0.00679 C 0.17032 -0.0074 0.17197 -0.00802 0.17197 -0.00802 " pathEditMode="relative" ptsTypes="AAAAAAAAAAAA">
                                      <p:cBhvr>
                                        <p:cTn id="18" dur="1300" fill="hold"/>
                                        <p:tgtEl>
                                          <p:spTgt spid="3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41088" y="8354648"/>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9380129" y="6023013"/>
            <a:ext cx="855209" cy="1227893"/>
          </a:xfrm>
          <a:custGeom>
            <a:avLst/>
            <a:gdLst/>
            <a:ahLst/>
            <a:cxnLst/>
            <a:rect l="l" t="t" r="r" b="b"/>
            <a:pathLst>
              <a:path w="855209" h="1227893">
                <a:moveTo>
                  <a:pt x="0" y="1227893"/>
                </a:moveTo>
                <a:quadBezTo>
                  <a:pt x="818474" y="1125976"/>
                  <a:pt x="855209" y="0"/>
                </a:quadBezTo>
              </a:path>
            </a:pathLst>
          </a:custGeom>
          <a:ln w="38100" cap="flat">
            <a:solidFill>
              <a:srgbClr val="B9B9B9"/>
            </a:solidFill>
            <a:prstDash val="solid"/>
            <a:headEnd type="none" w="sm" len="sm"/>
            <a:tailEnd type="none" w="sm" len="sm"/>
          </a:ln>
        </p:spPr>
        <p:txBody>
          <a:bodyPr/>
          <a:lstStyle/>
          <a:p>
            <a:endParaRPr lang="es-ES"/>
          </a:p>
        </p:txBody>
      </p:sp>
      <p:sp>
        <p:nvSpPr>
          <p:cNvPr id="15" name="Freeform 15"/>
          <p:cNvSpPr/>
          <p:nvPr/>
        </p:nvSpPr>
        <p:spPr>
          <a:xfrm>
            <a:off x="6114358" y="5274604"/>
            <a:ext cx="2658408" cy="1988074"/>
          </a:xfrm>
          <a:custGeom>
            <a:avLst/>
            <a:gdLst/>
            <a:ahLst/>
            <a:cxnLst/>
            <a:rect l="l" t="t" r="r" b="b"/>
            <a:pathLst>
              <a:path w="2658408" h="1988074">
                <a:moveTo>
                  <a:pt x="0" y="0"/>
                </a:moveTo>
                <a:quadBezTo>
                  <a:pt x="746398" y="2141054"/>
                  <a:pt x="2658408" y="1976302"/>
                </a:quadBezTo>
              </a:path>
            </a:pathLst>
          </a:custGeom>
          <a:ln w="38100" cap="flat">
            <a:solidFill>
              <a:srgbClr val="B9B9B9"/>
            </a:solidFill>
            <a:prstDash val="solid"/>
            <a:headEnd type="none" w="sm" len="sm"/>
            <a:tailEnd type="none" w="sm" len="sm"/>
          </a:ln>
        </p:spPr>
        <p:txBody>
          <a:bodyPr/>
          <a:lstStyle/>
          <a:p>
            <a:endParaRPr lang="es-ES"/>
          </a:p>
        </p:txBody>
      </p:sp>
      <p:sp>
        <p:nvSpPr>
          <p:cNvPr id="16" name="Freeform 16"/>
          <p:cNvSpPr/>
          <p:nvPr/>
        </p:nvSpPr>
        <p:spPr>
          <a:xfrm>
            <a:off x="3682259" y="4531034"/>
            <a:ext cx="1151014" cy="747283"/>
          </a:xfrm>
          <a:custGeom>
            <a:avLst/>
            <a:gdLst/>
            <a:ahLst/>
            <a:cxnLst/>
            <a:rect l="l" t="t" r="r" b="b"/>
            <a:pathLst>
              <a:path w="1151014" h="747283">
                <a:moveTo>
                  <a:pt x="0" y="0"/>
                </a:moveTo>
                <a:quadBezTo>
                  <a:pt x="298899" y="799963"/>
                  <a:pt x="1151014" y="743570"/>
                </a:quadBezTo>
              </a:path>
            </a:pathLst>
          </a:custGeom>
          <a:ln w="38100" cap="flat">
            <a:solidFill>
              <a:srgbClr val="B9B9B9"/>
            </a:solidFill>
            <a:prstDash val="solid"/>
            <a:headEnd type="none" w="sm" len="sm"/>
            <a:tailEnd type="none" w="sm" len="sm"/>
          </a:ln>
        </p:spPr>
        <p:txBody>
          <a:bodyPr/>
          <a:lstStyle/>
          <a:p>
            <a:endParaRPr lang="es-ES"/>
          </a:p>
        </p:txBody>
      </p:sp>
      <p:sp>
        <p:nvSpPr>
          <p:cNvPr id="17" name="Freeform 17"/>
          <p:cNvSpPr/>
          <p:nvPr/>
        </p:nvSpPr>
        <p:spPr>
          <a:xfrm>
            <a:off x="9380129" y="5274604"/>
            <a:ext cx="2139147" cy="1998073"/>
          </a:xfrm>
          <a:custGeom>
            <a:avLst/>
            <a:gdLst/>
            <a:ahLst/>
            <a:cxnLst/>
            <a:rect l="l" t="t" r="r" b="b"/>
            <a:pathLst>
              <a:path w="2139147" h="1998073">
                <a:moveTo>
                  <a:pt x="0" y="1976302"/>
                </a:moveTo>
                <a:quadBezTo>
                  <a:pt x="1433625" y="2206638"/>
                  <a:pt x="2139147" y="0"/>
                </a:quadBezTo>
              </a:path>
            </a:pathLst>
          </a:custGeom>
          <a:ln w="38100" cap="flat">
            <a:solidFill>
              <a:srgbClr val="B9B9B9"/>
            </a:solidFill>
            <a:prstDash val="solid"/>
            <a:headEnd type="none" w="sm" len="sm"/>
            <a:tailEnd type="none" w="sm" len="sm"/>
          </a:ln>
        </p:spPr>
        <p:txBody>
          <a:bodyPr/>
          <a:lstStyle/>
          <a:p>
            <a:endParaRPr lang="es-ES"/>
          </a:p>
        </p:txBody>
      </p:sp>
      <p:sp>
        <p:nvSpPr>
          <p:cNvPr id="18" name="Freeform 18"/>
          <p:cNvSpPr/>
          <p:nvPr/>
        </p:nvSpPr>
        <p:spPr>
          <a:xfrm>
            <a:off x="13654787" y="2481975"/>
            <a:ext cx="3063661" cy="3063661"/>
          </a:xfrm>
          <a:custGeom>
            <a:avLst/>
            <a:gdLst/>
            <a:ahLst/>
            <a:cxnLst/>
            <a:rect l="l" t="t" r="r" b="b"/>
            <a:pathLst>
              <a:path w="3063661" h="3063661">
                <a:moveTo>
                  <a:pt x="0" y="0"/>
                </a:moveTo>
                <a:lnTo>
                  <a:pt x="3063661" y="0"/>
                </a:lnTo>
                <a:lnTo>
                  <a:pt x="3063661" y="3063661"/>
                </a:lnTo>
                <a:lnTo>
                  <a:pt x="0" y="3063661"/>
                </a:lnTo>
                <a:lnTo>
                  <a:pt x="0" y="0"/>
                </a:lnTo>
                <a:close/>
              </a:path>
            </a:pathLst>
          </a:custGeom>
          <a:blipFill>
            <a:blip r:embed="rId3"/>
            <a:stretch>
              <a:fillRect/>
            </a:stretch>
          </a:blipFill>
        </p:spPr>
        <p:txBody>
          <a:bodyPr/>
          <a:lstStyle/>
          <a:p>
            <a:endParaRPr lang="es-ES"/>
          </a:p>
        </p:txBody>
      </p:sp>
      <p:sp>
        <p:nvSpPr>
          <p:cNvPr id="19" name="Freeform 19"/>
          <p:cNvSpPr/>
          <p:nvPr/>
        </p:nvSpPr>
        <p:spPr>
          <a:xfrm>
            <a:off x="12770836" y="4995353"/>
            <a:ext cx="2415781" cy="618921"/>
          </a:xfrm>
          <a:custGeom>
            <a:avLst/>
            <a:gdLst/>
            <a:ahLst/>
            <a:cxnLst/>
            <a:rect l="l" t="t" r="r" b="b"/>
            <a:pathLst>
              <a:path w="2415781" h="618921">
                <a:moveTo>
                  <a:pt x="0" y="279251"/>
                </a:moveTo>
                <a:quadBezTo>
                  <a:pt x="1760863" y="1077429"/>
                  <a:pt x="2415781" y="0"/>
                </a:quadBezTo>
              </a:path>
            </a:pathLst>
          </a:custGeom>
          <a:ln w="38100" cap="flat">
            <a:solidFill>
              <a:srgbClr val="B9B9B9"/>
            </a:solidFill>
            <a:prstDash val="solid"/>
            <a:headEnd type="none" w="sm" len="sm"/>
            <a:tailEnd type="none" w="sm" len="sm"/>
          </a:ln>
        </p:spPr>
        <p:txBody>
          <a:bodyPr/>
          <a:lstStyle/>
          <a:p>
            <a:endParaRPr lang="es-ES"/>
          </a:p>
        </p:txBody>
      </p:sp>
      <p:grpSp>
        <p:nvGrpSpPr>
          <p:cNvPr id="20" name="Group 20"/>
          <p:cNvGrpSpPr/>
          <p:nvPr/>
        </p:nvGrpSpPr>
        <p:grpSpPr>
          <a:xfrm>
            <a:off x="14994644" y="4803380"/>
            <a:ext cx="383946" cy="383946"/>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B001"/>
            </a:solidFill>
          </p:spPr>
          <p:txBody>
            <a:bodyPr/>
            <a:lstStyle/>
            <a:p>
              <a:endParaRPr lang="es-ES"/>
            </a:p>
          </p:txBody>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1256444" y="5232747"/>
            <a:ext cx="383946" cy="383946"/>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B001"/>
            </a:solidFill>
          </p:spPr>
          <p:txBody>
            <a:bodyPr/>
            <a:lstStyle/>
            <a:p>
              <a:endParaRPr lang="es-ES"/>
            </a:p>
          </p:txBody>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9322877" y="7018506"/>
            <a:ext cx="383946" cy="383946"/>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B001"/>
            </a:solidFill>
          </p:spPr>
          <p:txBody>
            <a:bodyPr/>
            <a:lstStyle/>
            <a:p>
              <a:endParaRPr lang="es-ES"/>
            </a:p>
          </p:txBody>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3384037" y="4137563"/>
            <a:ext cx="383946" cy="383946"/>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B001"/>
            </a:solidFill>
          </p:spPr>
          <p:txBody>
            <a:bodyPr/>
            <a:lstStyle/>
            <a:p>
              <a:endParaRPr lang="es-ES"/>
            </a:p>
          </p:txBody>
        </p:sp>
        <p:sp>
          <p:nvSpPr>
            <p:cNvPr id="31" name="TextBox 3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6018298" y="5274604"/>
            <a:ext cx="383946" cy="383946"/>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B001"/>
            </a:solidFill>
          </p:spPr>
          <p:txBody>
            <a:bodyPr/>
            <a:lstStyle/>
            <a:p>
              <a:endParaRPr lang="es-ES"/>
            </a:p>
          </p:txBody>
        </p:sp>
        <p:sp>
          <p:nvSpPr>
            <p:cNvPr id="34" name="TextBox 3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5" name="Freeform 35"/>
          <p:cNvSpPr/>
          <p:nvPr/>
        </p:nvSpPr>
        <p:spPr>
          <a:xfrm>
            <a:off x="3998548" y="4666572"/>
            <a:ext cx="3029999" cy="3029999"/>
          </a:xfrm>
          <a:custGeom>
            <a:avLst/>
            <a:gdLst/>
            <a:ahLst/>
            <a:cxnLst/>
            <a:rect l="l" t="t" r="r" b="b"/>
            <a:pathLst>
              <a:path w="3029999" h="3029999">
                <a:moveTo>
                  <a:pt x="0" y="0"/>
                </a:moveTo>
                <a:lnTo>
                  <a:pt x="3029998" y="0"/>
                </a:lnTo>
                <a:lnTo>
                  <a:pt x="3029998" y="3029999"/>
                </a:lnTo>
                <a:lnTo>
                  <a:pt x="0" y="3029999"/>
                </a:lnTo>
                <a:lnTo>
                  <a:pt x="0" y="0"/>
                </a:lnTo>
                <a:close/>
              </a:path>
            </a:pathLst>
          </a:custGeom>
          <a:blipFill>
            <a:blip r:embed="rId4"/>
            <a:stretch>
              <a:fillRect/>
            </a:stretch>
          </a:blipFill>
        </p:spPr>
        <p:txBody>
          <a:bodyPr/>
          <a:lstStyle/>
          <a:p>
            <a:endParaRPr lang="es-ES"/>
          </a:p>
        </p:txBody>
      </p:sp>
      <p:sp>
        <p:nvSpPr>
          <p:cNvPr id="36" name="Freeform 36"/>
          <p:cNvSpPr/>
          <p:nvPr/>
        </p:nvSpPr>
        <p:spPr>
          <a:xfrm>
            <a:off x="1098571" y="1846040"/>
            <a:ext cx="2899976" cy="2899976"/>
          </a:xfrm>
          <a:custGeom>
            <a:avLst/>
            <a:gdLst/>
            <a:ahLst/>
            <a:cxnLst/>
            <a:rect l="l" t="t" r="r" b="b"/>
            <a:pathLst>
              <a:path w="2899976" h="2899976">
                <a:moveTo>
                  <a:pt x="0" y="0"/>
                </a:moveTo>
                <a:lnTo>
                  <a:pt x="2899977" y="0"/>
                </a:lnTo>
                <a:lnTo>
                  <a:pt x="2899977" y="2899976"/>
                </a:lnTo>
                <a:lnTo>
                  <a:pt x="0" y="2899976"/>
                </a:lnTo>
                <a:lnTo>
                  <a:pt x="0" y="0"/>
                </a:lnTo>
                <a:close/>
              </a:path>
            </a:pathLst>
          </a:custGeom>
          <a:blipFill>
            <a:blip r:embed="rId5"/>
            <a:stretch>
              <a:fillRect/>
            </a:stretch>
          </a:blipFill>
        </p:spPr>
        <p:txBody>
          <a:bodyPr/>
          <a:lstStyle/>
          <a:p>
            <a:endParaRPr lang="es-ES"/>
          </a:p>
        </p:txBody>
      </p:sp>
      <p:sp>
        <p:nvSpPr>
          <p:cNvPr id="37" name="Freeform 37"/>
          <p:cNvSpPr/>
          <p:nvPr/>
        </p:nvSpPr>
        <p:spPr>
          <a:xfrm>
            <a:off x="8306626" y="7018506"/>
            <a:ext cx="1452142" cy="1452142"/>
          </a:xfrm>
          <a:custGeom>
            <a:avLst/>
            <a:gdLst/>
            <a:ahLst/>
            <a:cxnLst/>
            <a:rect l="l" t="t" r="r" b="b"/>
            <a:pathLst>
              <a:path w="1452142" h="1452142">
                <a:moveTo>
                  <a:pt x="0" y="0"/>
                </a:moveTo>
                <a:lnTo>
                  <a:pt x="1452142" y="0"/>
                </a:lnTo>
                <a:lnTo>
                  <a:pt x="1452142" y="1452143"/>
                </a:lnTo>
                <a:lnTo>
                  <a:pt x="0" y="1452143"/>
                </a:lnTo>
                <a:lnTo>
                  <a:pt x="0" y="0"/>
                </a:lnTo>
                <a:close/>
              </a:path>
            </a:pathLst>
          </a:custGeom>
          <a:blipFill>
            <a:blip r:embed="rId6"/>
            <a:stretch>
              <a:fillRect/>
            </a:stretch>
          </a:blipFill>
        </p:spPr>
        <p:txBody>
          <a:bodyPr/>
          <a:lstStyle/>
          <a:p>
            <a:endParaRPr lang="es-ES"/>
          </a:p>
        </p:txBody>
      </p:sp>
      <p:grpSp>
        <p:nvGrpSpPr>
          <p:cNvPr id="38" name="Group 38"/>
          <p:cNvGrpSpPr/>
          <p:nvPr/>
        </p:nvGrpSpPr>
        <p:grpSpPr>
          <a:xfrm>
            <a:off x="7803081" y="1846040"/>
            <a:ext cx="2681839" cy="4335532"/>
            <a:chOff x="0" y="0"/>
            <a:chExt cx="3575785" cy="5780709"/>
          </a:xfrm>
        </p:grpSpPr>
        <p:sp>
          <p:nvSpPr>
            <p:cNvPr id="39" name="Freeform 39"/>
            <p:cNvSpPr/>
            <p:nvPr/>
          </p:nvSpPr>
          <p:spPr>
            <a:xfrm>
              <a:off x="0" y="2486498"/>
              <a:ext cx="3294211" cy="3294211"/>
            </a:xfrm>
            <a:custGeom>
              <a:avLst/>
              <a:gdLst/>
              <a:ahLst/>
              <a:cxnLst/>
              <a:rect l="l" t="t" r="r" b="b"/>
              <a:pathLst>
                <a:path w="3294211" h="3294211">
                  <a:moveTo>
                    <a:pt x="0" y="0"/>
                  </a:moveTo>
                  <a:lnTo>
                    <a:pt x="3294211" y="0"/>
                  </a:lnTo>
                  <a:lnTo>
                    <a:pt x="3294211" y="3294211"/>
                  </a:lnTo>
                  <a:lnTo>
                    <a:pt x="0" y="3294211"/>
                  </a:lnTo>
                  <a:lnTo>
                    <a:pt x="0" y="0"/>
                  </a:lnTo>
                  <a:close/>
                </a:path>
              </a:pathLst>
            </a:custGeom>
            <a:blipFill>
              <a:blip r:embed="rId7"/>
              <a:stretch>
                <a:fillRect/>
              </a:stretch>
            </a:blipFill>
          </p:spPr>
          <p:txBody>
            <a:bodyPr/>
            <a:lstStyle/>
            <a:p>
              <a:endParaRPr lang="es-ES"/>
            </a:p>
          </p:txBody>
        </p:sp>
        <p:sp>
          <p:nvSpPr>
            <p:cNvPr id="40" name="Freeform 40"/>
            <p:cNvSpPr/>
            <p:nvPr/>
          </p:nvSpPr>
          <p:spPr>
            <a:xfrm>
              <a:off x="540365" y="0"/>
              <a:ext cx="3035420" cy="3035420"/>
            </a:xfrm>
            <a:custGeom>
              <a:avLst/>
              <a:gdLst/>
              <a:ahLst/>
              <a:cxnLst/>
              <a:rect l="l" t="t" r="r" b="b"/>
              <a:pathLst>
                <a:path w="3035420" h="3035420">
                  <a:moveTo>
                    <a:pt x="0" y="0"/>
                  </a:moveTo>
                  <a:lnTo>
                    <a:pt x="3035420" y="0"/>
                  </a:lnTo>
                  <a:lnTo>
                    <a:pt x="3035420" y="3035420"/>
                  </a:lnTo>
                  <a:lnTo>
                    <a:pt x="0" y="3035420"/>
                  </a:lnTo>
                  <a:lnTo>
                    <a:pt x="0" y="0"/>
                  </a:lnTo>
                  <a:close/>
                </a:path>
              </a:pathLst>
            </a:custGeom>
            <a:blipFill>
              <a:blip r:embed="rId8"/>
              <a:stretch>
                <a:fillRect/>
              </a:stretch>
            </a:blipFill>
          </p:spPr>
          <p:txBody>
            <a:bodyPr/>
            <a:lstStyle/>
            <a:p>
              <a:endParaRPr lang="es-ES"/>
            </a:p>
          </p:txBody>
        </p:sp>
      </p:grpSp>
      <p:sp>
        <p:nvSpPr>
          <p:cNvPr id="41" name="Freeform 41"/>
          <p:cNvSpPr/>
          <p:nvPr/>
        </p:nvSpPr>
        <p:spPr>
          <a:xfrm>
            <a:off x="10624788" y="4666572"/>
            <a:ext cx="3029999" cy="3029999"/>
          </a:xfrm>
          <a:custGeom>
            <a:avLst/>
            <a:gdLst/>
            <a:ahLst/>
            <a:cxnLst/>
            <a:rect l="l" t="t" r="r" b="b"/>
            <a:pathLst>
              <a:path w="3029999" h="3029999">
                <a:moveTo>
                  <a:pt x="0" y="0"/>
                </a:moveTo>
                <a:lnTo>
                  <a:pt x="3029999" y="0"/>
                </a:lnTo>
                <a:lnTo>
                  <a:pt x="3029999" y="3029999"/>
                </a:lnTo>
                <a:lnTo>
                  <a:pt x="0" y="3029999"/>
                </a:lnTo>
                <a:lnTo>
                  <a:pt x="0" y="0"/>
                </a:lnTo>
                <a:close/>
              </a:path>
            </a:pathLst>
          </a:custGeom>
          <a:blipFill>
            <a:blip r:embed="rId4"/>
            <a:stretch>
              <a:fillRect/>
            </a:stretch>
          </a:blipFill>
        </p:spPr>
        <p:txBody>
          <a:bodyPr/>
          <a:lstStyle/>
          <a:p>
            <a:endParaRPr lang="es-ES"/>
          </a:p>
        </p:txBody>
      </p:sp>
      <p:sp>
        <p:nvSpPr>
          <p:cNvPr id="42" name="TextBox 42"/>
          <p:cNvSpPr txBox="1"/>
          <p:nvPr/>
        </p:nvSpPr>
        <p:spPr>
          <a:xfrm>
            <a:off x="17259300" y="9258300"/>
            <a:ext cx="1028700" cy="1028700"/>
          </a:xfrm>
          <a:prstGeom prst="rect">
            <a:avLst/>
          </a:prstGeom>
        </p:spPr>
        <p:txBody>
          <a:bodyPr lIns="0" tIns="0" rIns="0" bIns="0" rtlCol="0" anchor="t">
            <a:spAutoFit/>
          </a:bodyPr>
          <a:lstStyle/>
          <a:p>
            <a:pPr algn="ctr">
              <a:lnSpc>
                <a:spcPts val="8399"/>
              </a:lnSpc>
              <a:spcBef>
                <a:spcPct val="0"/>
              </a:spcBef>
            </a:pPr>
            <a:r>
              <a:rPr lang="en-US" sz="5999">
                <a:solidFill>
                  <a:srgbClr val="FFFFFF"/>
                </a:solidFill>
                <a:latin typeface="Bantayog"/>
                <a:ea typeface="Bantayog"/>
                <a:cs typeface="Bantayog"/>
                <a:sym typeface="Bantayog"/>
              </a:rPr>
              <a:t>3</a:t>
            </a:r>
          </a:p>
        </p:txBody>
      </p:sp>
      <p:grpSp>
        <p:nvGrpSpPr>
          <p:cNvPr id="44" name="Group 44"/>
          <p:cNvGrpSpPr/>
          <p:nvPr/>
        </p:nvGrpSpPr>
        <p:grpSpPr>
          <a:xfrm>
            <a:off x="1688818" y="7968999"/>
            <a:ext cx="12155072" cy="2161202"/>
            <a:chOff x="0" y="-114300"/>
            <a:chExt cx="16206763" cy="2881603"/>
          </a:xfrm>
        </p:grpSpPr>
        <p:sp>
          <p:nvSpPr>
            <p:cNvPr id="45" name="AutoShape 45"/>
            <p:cNvSpPr/>
            <p:nvPr/>
          </p:nvSpPr>
          <p:spPr>
            <a:xfrm>
              <a:off x="1913843" y="2003263"/>
              <a:ext cx="3209955" cy="0"/>
            </a:xfrm>
            <a:prstGeom prst="line">
              <a:avLst/>
            </a:prstGeom>
            <a:ln w="190500" cap="flat">
              <a:solidFill>
                <a:srgbClr val="4D6BA7"/>
              </a:solidFill>
              <a:prstDash val="solid"/>
              <a:headEnd type="triangle" w="lg" len="med"/>
              <a:tailEnd type="triangle" w="lg" len="med"/>
            </a:ln>
          </p:spPr>
          <p:txBody>
            <a:bodyPr/>
            <a:lstStyle/>
            <a:p>
              <a:endParaRPr lang="es-ES" dirty="0"/>
            </a:p>
          </p:txBody>
        </p:sp>
        <p:sp>
          <p:nvSpPr>
            <p:cNvPr id="46" name="Freeform 46"/>
            <p:cNvSpPr/>
            <p:nvPr/>
          </p:nvSpPr>
          <p:spPr>
            <a:xfrm>
              <a:off x="14105432" y="1672938"/>
              <a:ext cx="1340069" cy="1010362"/>
            </a:xfrm>
            <a:custGeom>
              <a:avLst/>
              <a:gdLst/>
              <a:ahLst/>
              <a:cxnLst/>
              <a:rect l="l" t="t" r="r" b="b"/>
              <a:pathLst>
                <a:path w="1340069" h="1010362">
                  <a:moveTo>
                    <a:pt x="0" y="1010362"/>
                  </a:moveTo>
                  <a:quadBezTo>
                    <a:pt x="453397" y="-654910"/>
                    <a:pt x="1340070" y="424508"/>
                  </a:quadBezTo>
                </a:path>
              </a:pathLst>
            </a:custGeom>
            <a:ln w="105299" cap="flat">
              <a:solidFill>
                <a:srgbClr val="4D6BA7"/>
              </a:solidFill>
              <a:prstDash val="solid"/>
              <a:headEnd type="none" w="sm" len="sm"/>
              <a:tailEnd type="none" w="sm" len="sm"/>
            </a:ln>
          </p:spPr>
          <p:txBody>
            <a:bodyPr/>
            <a:lstStyle/>
            <a:p>
              <a:endParaRPr lang="es-ES"/>
            </a:p>
          </p:txBody>
        </p:sp>
        <p:sp>
          <p:nvSpPr>
            <p:cNvPr id="47" name="Freeform 47"/>
            <p:cNvSpPr/>
            <p:nvPr/>
          </p:nvSpPr>
          <p:spPr>
            <a:xfrm>
              <a:off x="14892083" y="2061119"/>
              <a:ext cx="652261" cy="479119"/>
            </a:xfrm>
            <a:custGeom>
              <a:avLst/>
              <a:gdLst/>
              <a:ahLst/>
              <a:cxnLst/>
              <a:rect l="l" t="t" r="r" b="b"/>
              <a:pathLst>
                <a:path w="652261" h="479119">
                  <a:moveTo>
                    <a:pt x="525242" y="0"/>
                  </a:moveTo>
                  <a:quadBezTo>
                    <a:pt x="940097" y="517094"/>
                    <a:pt x="0" y="476109"/>
                  </a:quadBezTo>
                </a:path>
              </a:pathLst>
            </a:custGeom>
            <a:ln w="105299" cap="flat">
              <a:solidFill>
                <a:srgbClr val="4D6BA7"/>
              </a:solidFill>
              <a:prstDash val="solid"/>
              <a:headEnd type="none" w="sm" len="sm"/>
              <a:tailEnd type="none" w="sm" len="sm"/>
            </a:ln>
          </p:spPr>
          <p:txBody>
            <a:bodyPr/>
            <a:lstStyle/>
            <a:p>
              <a:endParaRPr lang="es-ES"/>
            </a:p>
          </p:txBody>
        </p:sp>
        <p:sp>
          <p:nvSpPr>
            <p:cNvPr id="48" name="Freeform 48"/>
            <p:cNvSpPr/>
            <p:nvPr/>
          </p:nvSpPr>
          <p:spPr>
            <a:xfrm>
              <a:off x="13847391" y="1324356"/>
              <a:ext cx="1127509" cy="1213326"/>
            </a:xfrm>
            <a:custGeom>
              <a:avLst/>
              <a:gdLst/>
              <a:ahLst/>
              <a:cxnLst/>
              <a:rect l="l" t="t" r="r" b="b"/>
              <a:pathLst>
                <a:path w="1127509" h="1213326">
                  <a:moveTo>
                    <a:pt x="1127509" y="1213326"/>
                  </a:moveTo>
                  <a:quadBezTo>
                    <a:pt x="-592067" y="1065825"/>
                    <a:pt x="310901" y="0"/>
                  </a:quadBezTo>
                </a:path>
              </a:pathLst>
            </a:custGeom>
            <a:ln w="105299" cap="flat">
              <a:solidFill>
                <a:srgbClr val="4D6BA7"/>
              </a:solidFill>
              <a:prstDash val="solid"/>
              <a:headEnd type="none" w="sm" len="sm"/>
              <a:tailEnd type="none" w="sm" len="sm"/>
            </a:ln>
          </p:spPr>
          <p:txBody>
            <a:bodyPr/>
            <a:lstStyle/>
            <a:p>
              <a:endParaRPr lang="es-ES"/>
            </a:p>
          </p:txBody>
        </p:sp>
        <p:sp>
          <p:nvSpPr>
            <p:cNvPr id="49" name="Freeform 49"/>
            <p:cNvSpPr/>
            <p:nvPr/>
          </p:nvSpPr>
          <p:spPr>
            <a:xfrm>
              <a:off x="14149517" y="1247776"/>
              <a:ext cx="532633" cy="813343"/>
            </a:xfrm>
            <a:custGeom>
              <a:avLst/>
              <a:gdLst/>
              <a:ahLst/>
              <a:cxnLst/>
              <a:rect l="l" t="t" r="r" b="b"/>
              <a:pathLst>
                <a:path w="532633" h="813343">
                  <a:moveTo>
                    <a:pt x="0" y="85355"/>
                  </a:moveTo>
                  <a:quadBezTo>
                    <a:pt x="564607" y="-263484"/>
                    <a:pt x="530713" y="813343"/>
                  </a:quadBezTo>
                </a:path>
              </a:pathLst>
            </a:custGeom>
            <a:ln w="105299" cap="flat">
              <a:solidFill>
                <a:srgbClr val="4D6BA7"/>
              </a:solidFill>
              <a:prstDash val="solid"/>
              <a:headEnd type="none" w="sm" len="sm"/>
              <a:tailEnd type="none" w="sm" len="sm"/>
            </a:ln>
          </p:spPr>
          <p:txBody>
            <a:bodyPr/>
            <a:lstStyle/>
            <a:p>
              <a:endParaRPr lang="es-ES"/>
            </a:p>
          </p:txBody>
        </p:sp>
        <p:sp>
          <p:nvSpPr>
            <p:cNvPr id="50" name="Freeform 50"/>
            <p:cNvSpPr/>
            <p:nvPr/>
          </p:nvSpPr>
          <p:spPr>
            <a:xfrm>
              <a:off x="14678791" y="1413085"/>
              <a:ext cx="859181" cy="1354218"/>
            </a:xfrm>
            <a:custGeom>
              <a:avLst/>
              <a:gdLst/>
              <a:ahLst/>
              <a:cxnLst/>
              <a:rect l="l" t="t" r="r" b="b"/>
              <a:pathLst>
                <a:path w="859181" h="1354218">
                  <a:moveTo>
                    <a:pt x="1439" y="319145"/>
                  </a:moveTo>
                  <a:quadBezTo>
                    <a:pt x="-35160" y="2538159"/>
                    <a:pt x="859182" y="0"/>
                  </a:quadBezTo>
                </a:path>
              </a:pathLst>
            </a:custGeom>
            <a:ln w="105299" cap="flat">
              <a:solidFill>
                <a:srgbClr val="4D6BA7"/>
              </a:solidFill>
              <a:prstDash val="solid"/>
              <a:headEnd type="none" w="sm" len="sm"/>
              <a:tailEnd type="none" w="sm" len="sm"/>
            </a:ln>
          </p:spPr>
          <p:txBody>
            <a:bodyPr/>
            <a:lstStyle/>
            <a:p>
              <a:endParaRPr lang="es-ES"/>
            </a:p>
          </p:txBody>
        </p:sp>
        <p:sp>
          <p:nvSpPr>
            <p:cNvPr id="51" name="TextBox 51"/>
            <p:cNvSpPr txBox="1"/>
            <p:nvPr/>
          </p:nvSpPr>
          <p:spPr>
            <a:xfrm>
              <a:off x="13268764" y="-114300"/>
              <a:ext cx="2937999" cy="1223434"/>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CAOS</a:t>
              </a:r>
            </a:p>
          </p:txBody>
        </p:sp>
        <p:grpSp>
          <p:nvGrpSpPr>
            <p:cNvPr id="52" name="Group 52"/>
            <p:cNvGrpSpPr/>
            <p:nvPr/>
          </p:nvGrpSpPr>
          <p:grpSpPr>
            <a:xfrm>
              <a:off x="7400243" y="2015200"/>
              <a:ext cx="854181" cy="658229"/>
              <a:chOff x="-318168" y="0"/>
              <a:chExt cx="1054768" cy="812800"/>
            </a:xfrm>
          </p:grpSpPr>
          <p:sp>
            <p:nvSpPr>
              <p:cNvPr id="53" name="Freeform 53"/>
              <p:cNvSpPr/>
              <p:nvPr/>
            </p:nvSpPr>
            <p:spPr>
              <a:xfrm>
                <a:off x="-318168"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BA7"/>
              </a:solidFill>
            </p:spPr>
            <p:txBody>
              <a:bodyPr/>
              <a:lstStyle/>
              <a:p>
                <a:endParaRPr lang="es-ES"/>
              </a:p>
            </p:txBody>
          </p:sp>
          <p:sp>
            <p:nvSpPr>
              <p:cNvPr id="54" name="TextBox 54"/>
              <p:cNvSpPr txBox="1"/>
              <p:nvPr/>
            </p:nvSpPr>
            <p:spPr>
              <a:xfrm>
                <a:off x="76200" y="38100"/>
                <a:ext cx="660400" cy="698500"/>
              </a:xfrm>
              <a:prstGeom prst="rect">
                <a:avLst/>
              </a:prstGeom>
            </p:spPr>
            <p:txBody>
              <a:bodyPr lIns="73524" tIns="73524" rIns="73524" bIns="73524" rtlCol="0" anchor="ctr"/>
              <a:lstStyle/>
              <a:p>
                <a:pPr algn="ctr">
                  <a:lnSpc>
                    <a:spcPts val="2659"/>
                  </a:lnSpc>
                </a:pPr>
                <a:endParaRPr/>
              </a:p>
            </p:txBody>
          </p:sp>
        </p:grpSp>
        <p:grpSp>
          <p:nvGrpSpPr>
            <p:cNvPr id="55" name="Group 55"/>
            <p:cNvGrpSpPr/>
            <p:nvPr/>
          </p:nvGrpSpPr>
          <p:grpSpPr>
            <a:xfrm>
              <a:off x="11626061" y="2015200"/>
              <a:ext cx="801210" cy="658229"/>
              <a:chOff x="76200" y="0"/>
              <a:chExt cx="989358" cy="812800"/>
            </a:xfrm>
          </p:grpSpPr>
          <p:sp>
            <p:nvSpPr>
              <p:cNvPr id="56" name="Freeform 56"/>
              <p:cNvSpPr/>
              <p:nvPr/>
            </p:nvSpPr>
            <p:spPr>
              <a:xfrm>
                <a:off x="252758"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BA7"/>
              </a:solidFill>
            </p:spPr>
            <p:txBody>
              <a:bodyPr/>
              <a:lstStyle/>
              <a:p>
                <a:endParaRPr lang="es-ES"/>
              </a:p>
            </p:txBody>
          </p:sp>
          <p:sp>
            <p:nvSpPr>
              <p:cNvPr id="57" name="TextBox 57"/>
              <p:cNvSpPr txBox="1"/>
              <p:nvPr/>
            </p:nvSpPr>
            <p:spPr>
              <a:xfrm>
                <a:off x="76200" y="38100"/>
                <a:ext cx="660400" cy="698500"/>
              </a:xfrm>
              <a:prstGeom prst="rect">
                <a:avLst/>
              </a:prstGeom>
            </p:spPr>
            <p:txBody>
              <a:bodyPr lIns="73524" tIns="73524" rIns="73524" bIns="73524" rtlCol="0" anchor="ctr"/>
              <a:lstStyle/>
              <a:p>
                <a:pPr algn="ctr">
                  <a:lnSpc>
                    <a:spcPts val="2659"/>
                  </a:lnSpc>
                </a:pPr>
                <a:endParaRPr/>
              </a:p>
            </p:txBody>
          </p:sp>
        </p:grpSp>
        <p:grpSp>
          <p:nvGrpSpPr>
            <p:cNvPr id="58" name="Group 58"/>
            <p:cNvGrpSpPr/>
            <p:nvPr/>
          </p:nvGrpSpPr>
          <p:grpSpPr>
            <a:xfrm>
              <a:off x="9535335" y="1939406"/>
              <a:ext cx="809817" cy="809817"/>
              <a:chOff x="0" y="0"/>
              <a:chExt cx="812800" cy="812800"/>
            </a:xfrm>
          </p:grpSpPr>
          <p:sp>
            <p:nvSpPr>
              <p:cNvPr id="59" name="Freeform 5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BA7"/>
              </a:solidFill>
            </p:spPr>
            <p:txBody>
              <a:bodyPr/>
              <a:lstStyle/>
              <a:p>
                <a:endParaRPr lang="es-ES"/>
              </a:p>
            </p:txBody>
          </p:sp>
          <p:sp>
            <p:nvSpPr>
              <p:cNvPr id="60" name="TextBox 60"/>
              <p:cNvSpPr txBox="1"/>
              <p:nvPr/>
            </p:nvSpPr>
            <p:spPr>
              <a:xfrm>
                <a:off x="76200" y="38100"/>
                <a:ext cx="660400" cy="698500"/>
              </a:xfrm>
              <a:prstGeom prst="rect">
                <a:avLst/>
              </a:prstGeom>
            </p:spPr>
            <p:txBody>
              <a:bodyPr lIns="73524" tIns="73524" rIns="73524" bIns="73524" rtlCol="0" anchor="ctr"/>
              <a:lstStyle/>
              <a:p>
                <a:pPr algn="ctr">
                  <a:lnSpc>
                    <a:spcPts val="2659"/>
                  </a:lnSpc>
                </a:pPr>
                <a:endParaRPr/>
              </a:p>
            </p:txBody>
          </p:sp>
        </p:grpSp>
        <p:sp>
          <p:nvSpPr>
            <p:cNvPr id="62" name="AutoShape 62"/>
            <p:cNvSpPr/>
            <p:nvPr/>
          </p:nvSpPr>
          <p:spPr>
            <a:xfrm>
              <a:off x="10442763" y="2363366"/>
              <a:ext cx="1183299" cy="0"/>
            </a:xfrm>
            <a:prstGeom prst="line">
              <a:avLst/>
            </a:prstGeom>
            <a:ln w="114073" cap="flat">
              <a:solidFill>
                <a:srgbClr val="4D6BA7"/>
              </a:solidFill>
              <a:prstDash val="solid"/>
              <a:headEnd type="triangle" w="lg" len="med"/>
              <a:tailEnd type="triangle" w="lg" len="med"/>
            </a:ln>
          </p:spPr>
          <p:txBody>
            <a:bodyPr/>
            <a:lstStyle/>
            <a:p>
              <a:endParaRPr lang="es-ES"/>
            </a:p>
          </p:txBody>
        </p:sp>
        <p:sp>
          <p:nvSpPr>
            <p:cNvPr id="63" name="TextBox 63"/>
            <p:cNvSpPr txBox="1"/>
            <p:nvPr/>
          </p:nvSpPr>
          <p:spPr>
            <a:xfrm>
              <a:off x="0" y="-65245"/>
              <a:ext cx="6867945" cy="1223434"/>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BIDIRECCIONAL</a:t>
              </a:r>
            </a:p>
          </p:txBody>
        </p:sp>
        <p:sp>
          <p:nvSpPr>
            <p:cNvPr id="64" name="TextBox 64"/>
            <p:cNvSpPr txBox="1"/>
            <p:nvPr/>
          </p:nvSpPr>
          <p:spPr>
            <a:xfrm>
              <a:off x="7384847" y="676214"/>
              <a:ext cx="5110792" cy="1223434"/>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DISTRIBUIDO</a:t>
              </a:r>
            </a:p>
          </p:txBody>
        </p:sp>
      </p:grpSp>
      <p:sp>
        <p:nvSpPr>
          <p:cNvPr id="65" name="AutoShape 62">
            <a:extLst>
              <a:ext uri="{FF2B5EF4-FFF2-40B4-BE49-F238E27FC236}">
                <a16:creationId xmlns:a16="http://schemas.microsoft.com/office/drawing/2014/main" id="{8274893D-E1D7-81D4-7DF5-E315B81AF5C7}"/>
              </a:ext>
            </a:extLst>
          </p:cNvPr>
          <p:cNvSpPr/>
          <p:nvPr/>
        </p:nvSpPr>
        <p:spPr>
          <a:xfrm>
            <a:off x="7848600" y="9827248"/>
            <a:ext cx="887474" cy="0"/>
          </a:xfrm>
          <a:prstGeom prst="line">
            <a:avLst/>
          </a:prstGeom>
          <a:ln w="114073" cap="flat">
            <a:solidFill>
              <a:srgbClr val="4D6BA7"/>
            </a:solidFill>
            <a:prstDash val="solid"/>
            <a:headEnd type="triangle" w="lg" len="med"/>
            <a:tailEnd type="triangle" w="lg" len="med"/>
          </a:ln>
        </p:spPr>
        <p:txBody>
          <a:bodyPr/>
          <a:lstStyle/>
          <a:p>
            <a:endParaRPr lang="es-ES"/>
          </a:p>
        </p:txBody>
      </p:sp>
      <p:sp>
        <p:nvSpPr>
          <p:cNvPr id="61" name="TextBox 48">
            <a:extLst>
              <a:ext uri="{FF2B5EF4-FFF2-40B4-BE49-F238E27FC236}">
                <a16:creationId xmlns:a16="http://schemas.microsoft.com/office/drawing/2014/main" id="{651CD473-2D7D-DE1A-4E14-210ADCB4BA4D}"/>
              </a:ext>
            </a:extLst>
          </p:cNvPr>
          <p:cNvSpPr txBox="1"/>
          <p:nvPr/>
        </p:nvSpPr>
        <p:spPr>
          <a:xfrm>
            <a:off x="3682259" y="494206"/>
            <a:ext cx="10923483"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MOTIVACIÓN</a:t>
            </a: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fill="hold" nodeType="afterEffect">
                                  <p:stCondLst>
                                    <p:cond delay="0"/>
                                  </p:stCondLst>
                                  <p:childTnLst>
                                    <p:animMotion origin="layout" path="M 0.00443 0.01389 L 0.00443 0.01389 C 0.00582 0.02022 0.00999 0.04059 0.01224 0.04723 C 0.01346 0.05077 0.01554 0.0534 0.01693 0.05679 C 0.01867 0.06127 0.01979 0.06636 0.02162 0.07068 C 0.02448 0.07794 0.02726 0.08349 0.03177 0.08735 C 0.03273 0.08827 0.03386 0.08827 0.0349 0.08889 C 0.03672 0.08966 0.03854 0.09074 0.04037 0.09167 C 0.04966 0.09105 0.05903 0.09013 0.06849 0.09013 " pathEditMode="relative" ptsTypes="AAAAAAAAA">
                                      <p:cBhvr>
                                        <p:cTn id="6" dur="1300" fill="hold"/>
                                        <p:tgtEl>
                                          <p:spTgt spid="29"/>
                                        </p:tgtEl>
                                        <p:attrNameLst>
                                          <p:attrName>ppt_x</p:attrName>
                                          <p:attrName>ppt_y</p:attrName>
                                        </p:attrNameLst>
                                      </p:cBhvr>
                                    </p:animMotion>
                                  </p:childTnLst>
                                </p:cTn>
                              </p:par>
                            </p:childTnLst>
                          </p:cTn>
                        </p:par>
                        <p:par>
                          <p:cTn id="7" fill="hold">
                            <p:stCondLst>
                              <p:cond delay="1300"/>
                            </p:stCondLst>
                            <p:childTnLst>
                              <p:par>
                                <p:cTn id="8" presetID="1" presetClass="entr" presetSubtype="0" fill="hold" nodeType="afterEffect">
                                  <p:stCondLst>
                                    <p:cond delay="0"/>
                                  </p:stCondLst>
                                  <p:childTnLst>
                                    <p:set>
                                      <p:cBhvr>
                                        <p:cTn id="9" dur="1" fill="hold">
                                          <p:stCondLst>
                                            <p:cond delay="0"/>
                                          </p:stCondLst>
                                        </p:cTn>
                                        <p:tgtEl>
                                          <p:spTgt spid="20"/>
                                        </p:tgtEl>
                                        <p:attrNameLst>
                                          <p:attrName>style.visibility</p:attrName>
                                        </p:attrNameLst>
                                      </p:cBhvr>
                                      <p:to>
                                        <p:strVal val="visible"/>
                                      </p:to>
                                    </p:set>
                                  </p:childTnLst>
                                </p:cTn>
                              </p:par>
                            </p:childTnLst>
                          </p:cTn>
                        </p:par>
                        <p:par>
                          <p:cTn id="10" fill="hold">
                            <p:stCondLst>
                              <p:cond delay="1300"/>
                            </p:stCondLst>
                            <p:childTnLst>
                              <p:par>
                                <p:cTn id="11" presetID="0" presetClass="path" presetSubtype="0" repeatCount="indefinite" accel="50000" decel="50000" fill="hold" nodeType="afterEffect">
                                  <p:stCondLst>
                                    <p:cond delay="0"/>
                                  </p:stCondLst>
                                  <p:childTnLst>
                                    <p:animMotion origin="layout" path="M -0.00694 0.01435 L -0.00694 0.01435 C -0.00911 0.01898 -0.0112 0.02345 -0.01328 0.02824 C -0.01458 0.03133 -0.01545 0.03518 -0.0171 0.03796 C -0.01866 0.04043 -0.02092 0.0412 -0.02265 0.04352 C -0.02465 0.04629 -0.02552 0.05262 -0.02804 0.05324 C -0.03515 0.05494 -0.03177 0.05401 -0.03828 0.05602 C -0.03984 0.05694 -0.04132 0.05864 -0.04297 0.05879 C -0.0737 0.05972 -0.07014 0.06003 -0.08984 0.05463 L -0.09609 0.04907 C -0.09713 0.04815 -0.09818 0.04737 -0.09922 0.04629 C -0.10078 0.04444 -0.10225 0.04228 -0.1039 0.04074 C -0.1059 0.03858 -0.10824 0.03765 -0.11015 0.03518 C -0.11432 0.02947 -0.11198 0.03148 -0.1171 0.02963 C -0.11866 0.02824 -0.12022 0.02654 -0.12179 0.02546 C -0.12604 0.02253 -0.13073 0.0216 -0.13515 0.01991 C -0.13594 0.01944 -0.13672 0.01898 -0.13741 0.01852 " pathEditMode="relative" ptsTypes="AAAAAAAAAAAAAAAAA">
                                      <p:cBhvr>
                                        <p:cTn id="12" dur="1300" fill="hold"/>
                                        <p:tgtEl>
                                          <p:spTgt spid="20"/>
                                        </p:tgtEl>
                                        <p:attrNameLst>
                                          <p:attrName>ppt_x</p:attrName>
                                          <p:attrName>ppt_y</p:attrName>
                                        </p:attrNameLst>
                                      </p:cBhvr>
                                    </p:animMotion>
                                  </p:childTnLst>
                                </p:cTn>
                              </p:par>
                              <p:par>
                                <p:cTn id="13" presetID="1"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0" presetClass="path" presetSubtype="0" repeatCount="indefinite" accel="50000" decel="50000" fill="hold" nodeType="withEffect">
                                  <p:stCondLst>
                                    <p:cond delay="0"/>
                                  </p:stCondLst>
                                  <p:childTnLst>
                                    <p:animMotion origin="layout" path="M 0.00183 0.01173 L 0.00183 0.01173 C 0.00408 0.01805 0.0066 0.02453 0.00877 0.03102 C 0.01528 0.05 0.01016 0.03811 0.01815 0.05879 C 0.02092 0.06589 0.02787 0.08225 0.03151 0.09074 C 0.03308 0.09444 0.0349 0.09784 0.0362 0.10185 C 0.03724 0.10509 0.03802 0.10864 0.03933 0.11157 C 0.04705 0.12994 0.03933 0.10632 0.04714 0.12685 C 0.04809 0.12947 0.04844 0.13271 0.0494 0.13518 C 0.05235 0.14244 0.05382 0.14259 0.05808 0.14629 C 0.05912 0.14815 0.05999 0.15031 0.0612 0.15185 C 0.0625 0.1537 0.06841 0.15941 0.06971 0.16018 C 0.07414 0.16296 0.07848 0.16605 0.08308 0.16713 C 0.08924 0.16867 0.09549 0.17068 0.10183 0.17129 C 0.10721 0.17191 0.11276 0.17222 0.11815 0.17268 C 0.12882 0.17515 0.12231 0.17407 0.13776 0.17407 " pathEditMode="relative" ptsTypes="AAAAAAAAAAAAAAAA">
                                      <p:cBhvr>
                                        <p:cTn id="16" dur="1300" fill="hold"/>
                                        <p:tgtEl>
                                          <p:spTgt spid="32"/>
                                        </p:tgtEl>
                                        <p:attrNameLst>
                                          <p:attrName>ppt_x</p:attrName>
                                          <p:attrName>ppt_y</p:attrName>
                                        </p:attrNameLst>
                                      </p:cBhvr>
                                    </p:animMotion>
                                  </p:childTnLst>
                                </p:cTn>
                              </p:par>
                            </p:childTnLst>
                          </p:cTn>
                        </p:par>
                        <p:par>
                          <p:cTn id="17" fill="hold">
                            <p:stCondLst>
                              <p:cond delay="2600"/>
                            </p:stCondLst>
                            <p:childTnLst>
                              <p:par>
                                <p:cTn id="18" presetID="1" presetClass="entr" presetSubtype="0" fill="hold" nodeType="after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childTnLst>
                          </p:cTn>
                        </p:par>
                        <p:par>
                          <p:cTn id="20" fill="hold">
                            <p:stCondLst>
                              <p:cond delay="2600"/>
                            </p:stCondLst>
                            <p:childTnLst>
                              <p:par>
                                <p:cTn id="21" presetID="0" presetClass="path" presetSubtype="0" repeatCount="indefinite" accel="50000" decel="50000" fill="hold" nodeType="afterEffect">
                                  <p:stCondLst>
                                    <p:cond delay="0"/>
                                  </p:stCondLst>
                                  <p:childTnLst>
                                    <p:animMotion origin="layout" path="M -0.00269 0.01158 L -0.00269 0.01158 C -0.00234 0.01945 -0.00104 0.03087 -0.00269 0.03936 C -0.00338 0.04321 -0.00486 0.04661 -0.00581 0.05047 C -0.0066 0.05386 -0.00833 0.06528 -0.00972 0.06991 C -0.01476 0.08704 -0.0138 0.08241 -0.01831 0.09491 C -0.0191 0.09707 -0.0197 0.0997 -0.02066 0.10186 C -0.02179 0.10433 -0.02335 0.10618 -0.02456 0.1088 C -0.02509 0.11004 -0.02743 0.11775 -0.02847 0.11991 C -0.02986 0.12284 -0.0316 0.12531 -0.03316 0.12825 C -0.03576 0.13334 -0.03689 0.13781 -0.04019 0.14213 C -0.04158 0.14383 -0.04331 0.14476 -0.04488 0.1463 C -0.04722 0.14846 -0.04939 0.15139 -0.05191 0.15325 C -0.05382 0.15463 -0.05607 0.15494 -0.05816 0.15602 C -0.07205 0.1625 -0.05755 0.15602 -0.06675 0.16019 C -0.07127 0.16467 -0.07404 0.16868 -0.07925 0.16991 C -0.08515 0.1713 -0.09722 0.17269 -0.09722 0.17269 C -0.10529 0.17624 -0.10139 0.17439 -0.10885 0.17825 " pathEditMode="relative" ptsTypes="AAAAAAAAAAAAAAAAAA">
                                      <p:cBhvr>
                                        <p:cTn id="22" dur="1300" fill="hold"/>
                                        <p:tgtEl>
                                          <p:spTgt spid="23"/>
                                        </p:tgtEl>
                                        <p:attrNameLst>
                                          <p:attrName>ppt_x</p:attrName>
                                          <p:attrName>ppt_y</p:attrName>
                                        </p:attrNameLst>
                                      </p:cBhvr>
                                    </p:animMotion>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0" presetClass="path" presetSubtype="0" repeatCount="indefinite" accel="50000" decel="50000" fill="hold" nodeType="withEffect">
                                  <p:stCondLst>
                                    <p:cond delay="0"/>
                                  </p:stCondLst>
                                  <p:childTnLst>
                                    <p:animMotion origin="layout" path="M 0.00078 -0.00371 L 0.00078 -0.00371 C 0.0033 -0.00664 0.00582 -0.00973 0.00851 -0.0122 C 0.00999 -0.01343 0.01189 -0.01312 0.0132 -0.01497 C 0.01589 -0.01837 0.01754 -0.02408 0.02023 -0.02732 L 0.02257 -0.0301 C 0.027 -0.04059 0.02344 -0.03025 0.0257 -0.04399 C 0.02604 -0.04599 0.02691 -0.04769 0.02726 -0.04954 C 0.02795 -0.05278 0.02839 -0.05602 0.02882 -0.05942 C 0.02917 -0.06158 0.02917 -0.06405 0.0296 -0.06621 C 0.03264 -0.08025 0.03212 -0.07362 0.03507 -0.08442 C 0.03551 -0.08565 0.03568 -0.08704 0.03585 -0.08843 C 0.03681 -0.09522 0.03663 -0.09414 0.03663 -0.09954 " pathEditMode="relative" ptsTypes="AAAAAAAAAAAAA">
                                      <p:cBhvr>
                                        <p:cTn id="26" dur="1300" fill="hold"/>
                                        <p:tgtEl>
                                          <p:spTgt spid="2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41088" y="8354648"/>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17259300" y="9258300"/>
            <a:ext cx="1028700" cy="1028700"/>
          </a:xfrm>
          <a:prstGeom prst="rect">
            <a:avLst/>
          </a:prstGeom>
        </p:spPr>
        <p:txBody>
          <a:bodyPr lIns="0" tIns="0" rIns="0" bIns="0" rtlCol="0" anchor="t">
            <a:spAutoFit/>
          </a:bodyPr>
          <a:lstStyle/>
          <a:p>
            <a:pPr algn="ctr">
              <a:lnSpc>
                <a:spcPts val="8399"/>
              </a:lnSpc>
              <a:spcBef>
                <a:spcPct val="0"/>
              </a:spcBef>
            </a:pPr>
            <a:r>
              <a:rPr lang="en-US" sz="5999">
                <a:solidFill>
                  <a:srgbClr val="FFFFFF"/>
                </a:solidFill>
                <a:latin typeface="Bantayog"/>
                <a:ea typeface="Bantayog"/>
                <a:cs typeface="Bantayog"/>
                <a:sym typeface="Bantayog"/>
              </a:rPr>
              <a:t>3</a:t>
            </a:r>
          </a:p>
        </p:txBody>
      </p:sp>
      <p:sp>
        <p:nvSpPr>
          <p:cNvPr id="39" name="Freeform 39"/>
          <p:cNvSpPr/>
          <p:nvPr/>
        </p:nvSpPr>
        <p:spPr>
          <a:xfrm>
            <a:off x="9380129" y="6023013"/>
            <a:ext cx="855209" cy="1227893"/>
          </a:xfrm>
          <a:custGeom>
            <a:avLst/>
            <a:gdLst/>
            <a:ahLst/>
            <a:cxnLst/>
            <a:rect l="l" t="t" r="r" b="b"/>
            <a:pathLst>
              <a:path w="855209" h="1227893">
                <a:moveTo>
                  <a:pt x="0" y="1227893"/>
                </a:moveTo>
                <a:quadBezTo>
                  <a:pt x="818474" y="1125976"/>
                  <a:pt x="855209" y="0"/>
                </a:quadBezTo>
              </a:path>
            </a:pathLst>
          </a:custGeom>
          <a:ln w="38100" cap="flat">
            <a:solidFill>
              <a:srgbClr val="B9B9B9"/>
            </a:solidFill>
            <a:prstDash val="solid"/>
            <a:headEnd type="none" w="sm" len="sm"/>
            <a:tailEnd type="none" w="sm" len="sm"/>
          </a:ln>
        </p:spPr>
        <p:txBody>
          <a:bodyPr/>
          <a:lstStyle/>
          <a:p>
            <a:endParaRPr lang="es-ES"/>
          </a:p>
        </p:txBody>
      </p:sp>
      <p:sp>
        <p:nvSpPr>
          <p:cNvPr id="40" name="Freeform 40"/>
          <p:cNvSpPr/>
          <p:nvPr/>
        </p:nvSpPr>
        <p:spPr>
          <a:xfrm>
            <a:off x="6114358" y="5274604"/>
            <a:ext cx="2658408" cy="1988074"/>
          </a:xfrm>
          <a:custGeom>
            <a:avLst/>
            <a:gdLst/>
            <a:ahLst/>
            <a:cxnLst/>
            <a:rect l="l" t="t" r="r" b="b"/>
            <a:pathLst>
              <a:path w="2658408" h="1988074">
                <a:moveTo>
                  <a:pt x="0" y="0"/>
                </a:moveTo>
                <a:quadBezTo>
                  <a:pt x="746398" y="2141054"/>
                  <a:pt x="2658408" y="1976302"/>
                </a:quadBezTo>
              </a:path>
            </a:pathLst>
          </a:custGeom>
          <a:ln w="38100" cap="flat">
            <a:solidFill>
              <a:srgbClr val="B9B9B9"/>
            </a:solidFill>
            <a:prstDash val="solid"/>
            <a:headEnd type="none" w="sm" len="sm"/>
            <a:tailEnd type="none" w="sm" len="sm"/>
          </a:ln>
        </p:spPr>
        <p:txBody>
          <a:bodyPr/>
          <a:lstStyle/>
          <a:p>
            <a:endParaRPr lang="es-ES"/>
          </a:p>
        </p:txBody>
      </p:sp>
      <p:sp>
        <p:nvSpPr>
          <p:cNvPr id="41" name="Freeform 41"/>
          <p:cNvSpPr/>
          <p:nvPr/>
        </p:nvSpPr>
        <p:spPr>
          <a:xfrm>
            <a:off x="3682259" y="4531034"/>
            <a:ext cx="1151014" cy="747283"/>
          </a:xfrm>
          <a:custGeom>
            <a:avLst/>
            <a:gdLst/>
            <a:ahLst/>
            <a:cxnLst/>
            <a:rect l="l" t="t" r="r" b="b"/>
            <a:pathLst>
              <a:path w="1151014" h="747283">
                <a:moveTo>
                  <a:pt x="0" y="0"/>
                </a:moveTo>
                <a:quadBezTo>
                  <a:pt x="298899" y="799963"/>
                  <a:pt x="1151014" y="743570"/>
                </a:quadBezTo>
              </a:path>
            </a:pathLst>
          </a:custGeom>
          <a:ln w="38100" cap="flat">
            <a:solidFill>
              <a:srgbClr val="B9B9B9"/>
            </a:solidFill>
            <a:prstDash val="solid"/>
            <a:headEnd type="none" w="sm" len="sm"/>
            <a:tailEnd type="none" w="sm" len="sm"/>
          </a:ln>
        </p:spPr>
        <p:txBody>
          <a:bodyPr/>
          <a:lstStyle/>
          <a:p>
            <a:endParaRPr lang="es-ES"/>
          </a:p>
        </p:txBody>
      </p:sp>
      <p:sp>
        <p:nvSpPr>
          <p:cNvPr id="42" name="Freeform 42"/>
          <p:cNvSpPr/>
          <p:nvPr/>
        </p:nvSpPr>
        <p:spPr>
          <a:xfrm>
            <a:off x="9380129" y="5274604"/>
            <a:ext cx="2139147" cy="1998073"/>
          </a:xfrm>
          <a:custGeom>
            <a:avLst/>
            <a:gdLst/>
            <a:ahLst/>
            <a:cxnLst/>
            <a:rect l="l" t="t" r="r" b="b"/>
            <a:pathLst>
              <a:path w="2139147" h="1998073">
                <a:moveTo>
                  <a:pt x="0" y="1976302"/>
                </a:moveTo>
                <a:quadBezTo>
                  <a:pt x="1433625" y="2206638"/>
                  <a:pt x="2139147" y="0"/>
                </a:quadBezTo>
              </a:path>
            </a:pathLst>
          </a:custGeom>
          <a:ln w="38100" cap="flat">
            <a:solidFill>
              <a:srgbClr val="B9B9B9"/>
            </a:solidFill>
            <a:prstDash val="solid"/>
            <a:headEnd type="none" w="sm" len="sm"/>
            <a:tailEnd type="none" w="sm" len="sm"/>
          </a:ln>
        </p:spPr>
        <p:txBody>
          <a:bodyPr/>
          <a:lstStyle/>
          <a:p>
            <a:endParaRPr lang="es-ES"/>
          </a:p>
        </p:txBody>
      </p:sp>
      <p:sp>
        <p:nvSpPr>
          <p:cNvPr id="43" name="Freeform 43"/>
          <p:cNvSpPr/>
          <p:nvPr/>
        </p:nvSpPr>
        <p:spPr>
          <a:xfrm>
            <a:off x="13654787" y="2481975"/>
            <a:ext cx="3063661" cy="3063661"/>
          </a:xfrm>
          <a:custGeom>
            <a:avLst/>
            <a:gdLst/>
            <a:ahLst/>
            <a:cxnLst/>
            <a:rect l="l" t="t" r="r" b="b"/>
            <a:pathLst>
              <a:path w="3063661" h="3063661">
                <a:moveTo>
                  <a:pt x="0" y="0"/>
                </a:moveTo>
                <a:lnTo>
                  <a:pt x="3063661" y="0"/>
                </a:lnTo>
                <a:lnTo>
                  <a:pt x="3063661" y="3063661"/>
                </a:lnTo>
                <a:lnTo>
                  <a:pt x="0" y="3063661"/>
                </a:lnTo>
                <a:lnTo>
                  <a:pt x="0" y="0"/>
                </a:lnTo>
                <a:close/>
              </a:path>
            </a:pathLst>
          </a:custGeom>
          <a:blipFill>
            <a:blip r:embed="rId3"/>
            <a:stretch>
              <a:fillRect/>
            </a:stretch>
          </a:blipFill>
        </p:spPr>
        <p:txBody>
          <a:bodyPr/>
          <a:lstStyle/>
          <a:p>
            <a:endParaRPr lang="es-ES"/>
          </a:p>
        </p:txBody>
      </p:sp>
      <p:sp>
        <p:nvSpPr>
          <p:cNvPr id="44" name="Freeform 44"/>
          <p:cNvSpPr/>
          <p:nvPr/>
        </p:nvSpPr>
        <p:spPr>
          <a:xfrm>
            <a:off x="12770836" y="4995353"/>
            <a:ext cx="2415781" cy="618921"/>
          </a:xfrm>
          <a:custGeom>
            <a:avLst/>
            <a:gdLst/>
            <a:ahLst/>
            <a:cxnLst/>
            <a:rect l="l" t="t" r="r" b="b"/>
            <a:pathLst>
              <a:path w="2415781" h="618921">
                <a:moveTo>
                  <a:pt x="0" y="279251"/>
                </a:moveTo>
                <a:quadBezTo>
                  <a:pt x="1760863" y="1077429"/>
                  <a:pt x="2415781" y="0"/>
                </a:quadBezTo>
              </a:path>
            </a:pathLst>
          </a:custGeom>
          <a:ln w="38100" cap="flat">
            <a:solidFill>
              <a:srgbClr val="B9B9B9"/>
            </a:solidFill>
            <a:prstDash val="solid"/>
            <a:headEnd type="none" w="sm" len="sm"/>
            <a:tailEnd type="none" w="sm" len="sm"/>
          </a:ln>
        </p:spPr>
        <p:txBody>
          <a:bodyPr/>
          <a:lstStyle/>
          <a:p>
            <a:endParaRPr lang="es-ES"/>
          </a:p>
        </p:txBody>
      </p:sp>
      <p:grpSp>
        <p:nvGrpSpPr>
          <p:cNvPr id="45" name="Group 45"/>
          <p:cNvGrpSpPr/>
          <p:nvPr/>
        </p:nvGrpSpPr>
        <p:grpSpPr>
          <a:xfrm>
            <a:off x="10043365" y="5989598"/>
            <a:ext cx="383946" cy="383946"/>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B001"/>
            </a:solidFill>
          </p:spPr>
          <p:txBody>
            <a:bodyPr/>
            <a:lstStyle/>
            <a:p>
              <a:endParaRPr lang="es-ES"/>
            </a:p>
          </p:txBody>
        </p:sp>
        <p:sp>
          <p:nvSpPr>
            <p:cNvPr id="47" name="TextBox 4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8" name="Freeform 48"/>
          <p:cNvSpPr/>
          <p:nvPr/>
        </p:nvSpPr>
        <p:spPr>
          <a:xfrm>
            <a:off x="3998548" y="4666572"/>
            <a:ext cx="3029999" cy="3029999"/>
          </a:xfrm>
          <a:custGeom>
            <a:avLst/>
            <a:gdLst/>
            <a:ahLst/>
            <a:cxnLst/>
            <a:rect l="l" t="t" r="r" b="b"/>
            <a:pathLst>
              <a:path w="3029999" h="3029999">
                <a:moveTo>
                  <a:pt x="0" y="0"/>
                </a:moveTo>
                <a:lnTo>
                  <a:pt x="3029998" y="0"/>
                </a:lnTo>
                <a:lnTo>
                  <a:pt x="3029998" y="3029999"/>
                </a:lnTo>
                <a:lnTo>
                  <a:pt x="0" y="3029999"/>
                </a:lnTo>
                <a:lnTo>
                  <a:pt x="0" y="0"/>
                </a:lnTo>
                <a:close/>
              </a:path>
            </a:pathLst>
          </a:custGeom>
          <a:blipFill>
            <a:blip r:embed="rId4"/>
            <a:stretch>
              <a:fillRect/>
            </a:stretch>
          </a:blipFill>
        </p:spPr>
        <p:txBody>
          <a:bodyPr/>
          <a:lstStyle/>
          <a:p>
            <a:endParaRPr lang="es-ES"/>
          </a:p>
        </p:txBody>
      </p:sp>
      <p:sp>
        <p:nvSpPr>
          <p:cNvPr id="49" name="Freeform 49"/>
          <p:cNvSpPr/>
          <p:nvPr/>
        </p:nvSpPr>
        <p:spPr>
          <a:xfrm>
            <a:off x="1098571" y="1846040"/>
            <a:ext cx="2899976" cy="2899976"/>
          </a:xfrm>
          <a:custGeom>
            <a:avLst/>
            <a:gdLst/>
            <a:ahLst/>
            <a:cxnLst/>
            <a:rect l="l" t="t" r="r" b="b"/>
            <a:pathLst>
              <a:path w="2899976" h="2899976">
                <a:moveTo>
                  <a:pt x="0" y="0"/>
                </a:moveTo>
                <a:lnTo>
                  <a:pt x="2899977" y="0"/>
                </a:lnTo>
                <a:lnTo>
                  <a:pt x="2899977" y="2899976"/>
                </a:lnTo>
                <a:lnTo>
                  <a:pt x="0" y="2899976"/>
                </a:lnTo>
                <a:lnTo>
                  <a:pt x="0" y="0"/>
                </a:lnTo>
                <a:close/>
              </a:path>
            </a:pathLst>
          </a:custGeom>
          <a:blipFill>
            <a:blip r:embed="rId5"/>
            <a:stretch>
              <a:fillRect/>
            </a:stretch>
          </a:blipFill>
        </p:spPr>
        <p:txBody>
          <a:bodyPr/>
          <a:lstStyle/>
          <a:p>
            <a:endParaRPr lang="es-ES"/>
          </a:p>
        </p:txBody>
      </p:sp>
      <p:sp>
        <p:nvSpPr>
          <p:cNvPr id="50" name="Freeform 50"/>
          <p:cNvSpPr/>
          <p:nvPr/>
        </p:nvSpPr>
        <p:spPr>
          <a:xfrm>
            <a:off x="8306626" y="7018506"/>
            <a:ext cx="1452142" cy="1452142"/>
          </a:xfrm>
          <a:custGeom>
            <a:avLst/>
            <a:gdLst/>
            <a:ahLst/>
            <a:cxnLst/>
            <a:rect l="l" t="t" r="r" b="b"/>
            <a:pathLst>
              <a:path w="1452142" h="1452142">
                <a:moveTo>
                  <a:pt x="0" y="0"/>
                </a:moveTo>
                <a:lnTo>
                  <a:pt x="1452142" y="0"/>
                </a:lnTo>
                <a:lnTo>
                  <a:pt x="1452142" y="1452143"/>
                </a:lnTo>
                <a:lnTo>
                  <a:pt x="0" y="1452143"/>
                </a:lnTo>
                <a:lnTo>
                  <a:pt x="0" y="0"/>
                </a:lnTo>
                <a:close/>
              </a:path>
            </a:pathLst>
          </a:custGeom>
          <a:blipFill>
            <a:blip r:embed="rId6"/>
            <a:stretch>
              <a:fillRect/>
            </a:stretch>
          </a:blipFill>
        </p:spPr>
        <p:txBody>
          <a:bodyPr/>
          <a:lstStyle/>
          <a:p>
            <a:endParaRPr lang="es-ES"/>
          </a:p>
        </p:txBody>
      </p:sp>
      <p:grpSp>
        <p:nvGrpSpPr>
          <p:cNvPr id="51" name="Group 51"/>
          <p:cNvGrpSpPr/>
          <p:nvPr/>
        </p:nvGrpSpPr>
        <p:grpSpPr>
          <a:xfrm>
            <a:off x="7803081" y="1846040"/>
            <a:ext cx="2681839" cy="4335532"/>
            <a:chOff x="0" y="0"/>
            <a:chExt cx="3575785" cy="5780709"/>
          </a:xfrm>
        </p:grpSpPr>
        <p:sp>
          <p:nvSpPr>
            <p:cNvPr id="52" name="Freeform 52"/>
            <p:cNvSpPr/>
            <p:nvPr/>
          </p:nvSpPr>
          <p:spPr>
            <a:xfrm>
              <a:off x="0" y="2486498"/>
              <a:ext cx="3294211" cy="3294211"/>
            </a:xfrm>
            <a:custGeom>
              <a:avLst/>
              <a:gdLst/>
              <a:ahLst/>
              <a:cxnLst/>
              <a:rect l="l" t="t" r="r" b="b"/>
              <a:pathLst>
                <a:path w="3294211" h="3294211">
                  <a:moveTo>
                    <a:pt x="0" y="0"/>
                  </a:moveTo>
                  <a:lnTo>
                    <a:pt x="3294211" y="0"/>
                  </a:lnTo>
                  <a:lnTo>
                    <a:pt x="3294211" y="3294211"/>
                  </a:lnTo>
                  <a:lnTo>
                    <a:pt x="0" y="3294211"/>
                  </a:lnTo>
                  <a:lnTo>
                    <a:pt x="0" y="0"/>
                  </a:lnTo>
                  <a:close/>
                </a:path>
              </a:pathLst>
            </a:custGeom>
            <a:blipFill>
              <a:blip r:embed="rId7"/>
              <a:stretch>
                <a:fillRect/>
              </a:stretch>
            </a:blipFill>
          </p:spPr>
          <p:txBody>
            <a:bodyPr/>
            <a:lstStyle/>
            <a:p>
              <a:endParaRPr lang="es-ES"/>
            </a:p>
          </p:txBody>
        </p:sp>
        <p:sp>
          <p:nvSpPr>
            <p:cNvPr id="53" name="Freeform 53"/>
            <p:cNvSpPr/>
            <p:nvPr/>
          </p:nvSpPr>
          <p:spPr>
            <a:xfrm>
              <a:off x="540365" y="0"/>
              <a:ext cx="3035420" cy="3035420"/>
            </a:xfrm>
            <a:custGeom>
              <a:avLst/>
              <a:gdLst/>
              <a:ahLst/>
              <a:cxnLst/>
              <a:rect l="l" t="t" r="r" b="b"/>
              <a:pathLst>
                <a:path w="3035420" h="3035420">
                  <a:moveTo>
                    <a:pt x="0" y="0"/>
                  </a:moveTo>
                  <a:lnTo>
                    <a:pt x="3035420" y="0"/>
                  </a:lnTo>
                  <a:lnTo>
                    <a:pt x="3035420" y="3035420"/>
                  </a:lnTo>
                  <a:lnTo>
                    <a:pt x="0" y="3035420"/>
                  </a:lnTo>
                  <a:lnTo>
                    <a:pt x="0" y="0"/>
                  </a:lnTo>
                  <a:close/>
                </a:path>
              </a:pathLst>
            </a:custGeom>
            <a:blipFill>
              <a:blip r:embed="rId8"/>
              <a:stretch>
                <a:fillRect/>
              </a:stretch>
            </a:blipFill>
          </p:spPr>
          <p:txBody>
            <a:bodyPr/>
            <a:lstStyle/>
            <a:p>
              <a:endParaRPr lang="es-ES"/>
            </a:p>
          </p:txBody>
        </p:sp>
      </p:grpSp>
      <p:sp>
        <p:nvSpPr>
          <p:cNvPr id="54" name="Freeform 54"/>
          <p:cNvSpPr/>
          <p:nvPr/>
        </p:nvSpPr>
        <p:spPr>
          <a:xfrm>
            <a:off x="10624788" y="4666572"/>
            <a:ext cx="3029999" cy="3029999"/>
          </a:xfrm>
          <a:custGeom>
            <a:avLst/>
            <a:gdLst/>
            <a:ahLst/>
            <a:cxnLst/>
            <a:rect l="l" t="t" r="r" b="b"/>
            <a:pathLst>
              <a:path w="3029999" h="3029999">
                <a:moveTo>
                  <a:pt x="0" y="0"/>
                </a:moveTo>
                <a:lnTo>
                  <a:pt x="3029999" y="0"/>
                </a:lnTo>
                <a:lnTo>
                  <a:pt x="3029999" y="3029999"/>
                </a:lnTo>
                <a:lnTo>
                  <a:pt x="0" y="3029999"/>
                </a:lnTo>
                <a:lnTo>
                  <a:pt x="0" y="0"/>
                </a:lnTo>
                <a:close/>
              </a:path>
            </a:pathLst>
          </a:custGeom>
          <a:blipFill>
            <a:blip r:embed="rId4"/>
            <a:stretch>
              <a:fillRect/>
            </a:stretch>
          </a:blipFill>
        </p:spPr>
        <p:txBody>
          <a:bodyPr/>
          <a:lstStyle/>
          <a:p>
            <a:endParaRPr lang="es-ES"/>
          </a:p>
        </p:txBody>
      </p:sp>
      <p:grpSp>
        <p:nvGrpSpPr>
          <p:cNvPr id="55" name="Group 55"/>
          <p:cNvGrpSpPr/>
          <p:nvPr/>
        </p:nvGrpSpPr>
        <p:grpSpPr>
          <a:xfrm>
            <a:off x="8388820" y="7058932"/>
            <a:ext cx="383946" cy="383946"/>
            <a:chOff x="0" y="0"/>
            <a:chExt cx="812800" cy="812800"/>
          </a:xfrm>
        </p:grpSpPr>
        <p:sp>
          <p:nvSpPr>
            <p:cNvPr id="56" name="Freeform 5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B001"/>
            </a:solidFill>
          </p:spPr>
          <p:txBody>
            <a:bodyPr/>
            <a:lstStyle/>
            <a:p>
              <a:endParaRPr lang="es-ES"/>
            </a:p>
          </p:txBody>
        </p:sp>
        <p:sp>
          <p:nvSpPr>
            <p:cNvPr id="57" name="TextBox 5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8" name="Group 58"/>
          <p:cNvGrpSpPr/>
          <p:nvPr/>
        </p:nvGrpSpPr>
        <p:grpSpPr>
          <a:xfrm>
            <a:off x="9322877" y="7058932"/>
            <a:ext cx="383946" cy="383946"/>
            <a:chOff x="0" y="0"/>
            <a:chExt cx="812800" cy="812800"/>
          </a:xfrm>
        </p:grpSpPr>
        <p:sp>
          <p:nvSpPr>
            <p:cNvPr id="59" name="Freeform 5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B001"/>
            </a:solidFill>
          </p:spPr>
          <p:txBody>
            <a:bodyPr/>
            <a:lstStyle/>
            <a:p>
              <a:endParaRPr lang="es-ES"/>
            </a:p>
          </p:txBody>
        </p:sp>
        <p:sp>
          <p:nvSpPr>
            <p:cNvPr id="60" name="TextBox 6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1" name="Group 44">
            <a:extLst>
              <a:ext uri="{FF2B5EF4-FFF2-40B4-BE49-F238E27FC236}">
                <a16:creationId xmlns:a16="http://schemas.microsoft.com/office/drawing/2014/main" id="{360C62F3-C3EC-CC43-C1B4-E7514893E955}"/>
              </a:ext>
            </a:extLst>
          </p:cNvPr>
          <p:cNvGrpSpPr/>
          <p:nvPr/>
        </p:nvGrpSpPr>
        <p:grpSpPr>
          <a:xfrm>
            <a:off x="1688818" y="7968999"/>
            <a:ext cx="12155072" cy="2161202"/>
            <a:chOff x="0" y="-114300"/>
            <a:chExt cx="16206763" cy="2881603"/>
          </a:xfrm>
        </p:grpSpPr>
        <p:sp>
          <p:nvSpPr>
            <p:cNvPr id="62" name="AutoShape 45">
              <a:extLst>
                <a:ext uri="{FF2B5EF4-FFF2-40B4-BE49-F238E27FC236}">
                  <a16:creationId xmlns:a16="http://schemas.microsoft.com/office/drawing/2014/main" id="{D189FD1C-A7A7-145D-9836-E3481AFDF3F3}"/>
                </a:ext>
              </a:extLst>
            </p:cNvPr>
            <p:cNvSpPr/>
            <p:nvPr/>
          </p:nvSpPr>
          <p:spPr>
            <a:xfrm>
              <a:off x="1913843" y="2003263"/>
              <a:ext cx="3209955" cy="0"/>
            </a:xfrm>
            <a:prstGeom prst="line">
              <a:avLst/>
            </a:prstGeom>
            <a:ln w="190500" cap="flat">
              <a:solidFill>
                <a:srgbClr val="4D6BA7"/>
              </a:solidFill>
              <a:prstDash val="solid"/>
              <a:headEnd type="triangle" w="lg" len="med"/>
              <a:tailEnd type="triangle" w="lg" len="med"/>
            </a:ln>
          </p:spPr>
          <p:txBody>
            <a:bodyPr/>
            <a:lstStyle/>
            <a:p>
              <a:endParaRPr lang="es-ES" dirty="0"/>
            </a:p>
          </p:txBody>
        </p:sp>
        <p:sp>
          <p:nvSpPr>
            <p:cNvPr id="63" name="Freeform 46">
              <a:extLst>
                <a:ext uri="{FF2B5EF4-FFF2-40B4-BE49-F238E27FC236}">
                  <a16:creationId xmlns:a16="http://schemas.microsoft.com/office/drawing/2014/main" id="{8C965BBB-D8BA-74F5-620D-621F9CB6677E}"/>
                </a:ext>
              </a:extLst>
            </p:cNvPr>
            <p:cNvSpPr/>
            <p:nvPr/>
          </p:nvSpPr>
          <p:spPr>
            <a:xfrm>
              <a:off x="14105432" y="1672938"/>
              <a:ext cx="1340069" cy="1010362"/>
            </a:xfrm>
            <a:custGeom>
              <a:avLst/>
              <a:gdLst/>
              <a:ahLst/>
              <a:cxnLst/>
              <a:rect l="l" t="t" r="r" b="b"/>
              <a:pathLst>
                <a:path w="1340069" h="1010362">
                  <a:moveTo>
                    <a:pt x="0" y="1010362"/>
                  </a:moveTo>
                  <a:quadBezTo>
                    <a:pt x="453397" y="-654910"/>
                    <a:pt x="1340070" y="424508"/>
                  </a:quadBezTo>
                </a:path>
              </a:pathLst>
            </a:custGeom>
            <a:ln w="105299" cap="flat">
              <a:solidFill>
                <a:srgbClr val="4D6BA7"/>
              </a:solidFill>
              <a:prstDash val="solid"/>
              <a:headEnd type="none" w="sm" len="sm"/>
              <a:tailEnd type="none" w="sm" len="sm"/>
            </a:ln>
          </p:spPr>
          <p:txBody>
            <a:bodyPr/>
            <a:lstStyle/>
            <a:p>
              <a:endParaRPr lang="es-ES"/>
            </a:p>
          </p:txBody>
        </p:sp>
        <p:sp>
          <p:nvSpPr>
            <p:cNvPr id="64" name="Freeform 47">
              <a:extLst>
                <a:ext uri="{FF2B5EF4-FFF2-40B4-BE49-F238E27FC236}">
                  <a16:creationId xmlns:a16="http://schemas.microsoft.com/office/drawing/2014/main" id="{6F9F41D8-716B-EEEC-C461-0A88E4EAAD42}"/>
                </a:ext>
              </a:extLst>
            </p:cNvPr>
            <p:cNvSpPr/>
            <p:nvPr/>
          </p:nvSpPr>
          <p:spPr>
            <a:xfrm>
              <a:off x="14892083" y="2061119"/>
              <a:ext cx="652261" cy="479119"/>
            </a:xfrm>
            <a:custGeom>
              <a:avLst/>
              <a:gdLst/>
              <a:ahLst/>
              <a:cxnLst/>
              <a:rect l="l" t="t" r="r" b="b"/>
              <a:pathLst>
                <a:path w="652261" h="479119">
                  <a:moveTo>
                    <a:pt x="525242" y="0"/>
                  </a:moveTo>
                  <a:quadBezTo>
                    <a:pt x="940097" y="517094"/>
                    <a:pt x="0" y="476109"/>
                  </a:quadBezTo>
                </a:path>
              </a:pathLst>
            </a:custGeom>
            <a:ln w="105299" cap="flat">
              <a:solidFill>
                <a:srgbClr val="4D6BA7"/>
              </a:solidFill>
              <a:prstDash val="solid"/>
              <a:headEnd type="none" w="sm" len="sm"/>
              <a:tailEnd type="none" w="sm" len="sm"/>
            </a:ln>
          </p:spPr>
          <p:txBody>
            <a:bodyPr/>
            <a:lstStyle/>
            <a:p>
              <a:endParaRPr lang="es-ES"/>
            </a:p>
          </p:txBody>
        </p:sp>
        <p:sp>
          <p:nvSpPr>
            <p:cNvPr id="65" name="Freeform 48">
              <a:extLst>
                <a:ext uri="{FF2B5EF4-FFF2-40B4-BE49-F238E27FC236}">
                  <a16:creationId xmlns:a16="http://schemas.microsoft.com/office/drawing/2014/main" id="{8C0F58E3-3F2E-7695-6CC0-132617676616}"/>
                </a:ext>
              </a:extLst>
            </p:cNvPr>
            <p:cNvSpPr/>
            <p:nvPr/>
          </p:nvSpPr>
          <p:spPr>
            <a:xfrm>
              <a:off x="13847391" y="1324356"/>
              <a:ext cx="1127509" cy="1213326"/>
            </a:xfrm>
            <a:custGeom>
              <a:avLst/>
              <a:gdLst/>
              <a:ahLst/>
              <a:cxnLst/>
              <a:rect l="l" t="t" r="r" b="b"/>
              <a:pathLst>
                <a:path w="1127509" h="1213326">
                  <a:moveTo>
                    <a:pt x="1127509" y="1213326"/>
                  </a:moveTo>
                  <a:quadBezTo>
                    <a:pt x="-592067" y="1065825"/>
                    <a:pt x="310901" y="0"/>
                  </a:quadBezTo>
                </a:path>
              </a:pathLst>
            </a:custGeom>
            <a:ln w="105299" cap="flat">
              <a:solidFill>
                <a:srgbClr val="4D6BA7"/>
              </a:solidFill>
              <a:prstDash val="solid"/>
              <a:headEnd type="none" w="sm" len="sm"/>
              <a:tailEnd type="none" w="sm" len="sm"/>
            </a:ln>
          </p:spPr>
          <p:txBody>
            <a:bodyPr/>
            <a:lstStyle/>
            <a:p>
              <a:endParaRPr lang="es-ES"/>
            </a:p>
          </p:txBody>
        </p:sp>
        <p:sp>
          <p:nvSpPr>
            <p:cNvPr id="66" name="Freeform 49">
              <a:extLst>
                <a:ext uri="{FF2B5EF4-FFF2-40B4-BE49-F238E27FC236}">
                  <a16:creationId xmlns:a16="http://schemas.microsoft.com/office/drawing/2014/main" id="{655D77F4-828C-4705-EE1C-DDDA411E2181}"/>
                </a:ext>
              </a:extLst>
            </p:cNvPr>
            <p:cNvSpPr/>
            <p:nvPr/>
          </p:nvSpPr>
          <p:spPr>
            <a:xfrm>
              <a:off x="14149517" y="1247776"/>
              <a:ext cx="532633" cy="813343"/>
            </a:xfrm>
            <a:custGeom>
              <a:avLst/>
              <a:gdLst/>
              <a:ahLst/>
              <a:cxnLst/>
              <a:rect l="l" t="t" r="r" b="b"/>
              <a:pathLst>
                <a:path w="532633" h="813343">
                  <a:moveTo>
                    <a:pt x="0" y="85355"/>
                  </a:moveTo>
                  <a:quadBezTo>
                    <a:pt x="564607" y="-263484"/>
                    <a:pt x="530713" y="813343"/>
                  </a:quadBezTo>
                </a:path>
              </a:pathLst>
            </a:custGeom>
            <a:ln w="105299" cap="flat">
              <a:solidFill>
                <a:srgbClr val="4D6BA7"/>
              </a:solidFill>
              <a:prstDash val="solid"/>
              <a:headEnd type="none" w="sm" len="sm"/>
              <a:tailEnd type="none" w="sm" len="sm"/>
            </a:ln>
          </p:spPr>
          <p:txBody>
            <a:bodyPr/>
            <a:lstStyle/>
            <a:p>
              <a:endParaRPr lang="es-ES"/>
            </a:p>
          </p:txBody>
        </p:sp>
        <p:sp>
          <p:nvSpPr>
            <p:cNvPr id="67" name="Freeform 50">
              <a:extLst>
                <a:ext uri="{FF2B5EF4-FFF2-40B4-BE49-F238E27FC236}">
                  <a16:creationId xmlns:a16="http://schemas.microsoft.com/office/drawing/2014/main" id="{C0DCF958-1648-62B6-0C1D-F24C17FBF8B2}"/>
                </a:ext>
              </a:extLst>
            </p:cNvPr>
            <p:cNvSpPr/>
            <p:nvPr/>
          </p:nvSpPr>
          <p:spPr>
            <a:xfrm>
              <a:off x="14678791" y="1413085"/>
              <a:ext cx="859181" cy="1354218"/>
            </a:xfrm>
            <a:custGeom>
              <a:avLst/>
              <a:gdLst/>
              <a:ahLst/>
              <a:cxnLst/>
              <a:rect l="l" t="t" r="r" b="b"/>
              <a:pathLst>
                <a:path w="859181" h="1354218">
                  <a:moveTo>
                    <a:pt x="1439" y="319145"/>
                  </a:moveTo>
                  <a:quadBezTo>
                    <a:pt x="-35160" y="2538159"/>
                    <a:pt x="859182" y="0"/>
                  </a:quadBezTo>
                </a:path>
              </a:pathLst>
            </a:custGeom>
            <a:ln w="105299" cap="flat">
              <a:solidFill>
                <a:srgbClr val="4D6BA7"/>
              </a:solidFill>
              <a:prstDash val="solid"/>
              <a:headEnd type="none" w="sm" len="sm"/>
              <a:tailEnd type="none" w="sm" len="sm"/>
            </a:ln>
          </p:spPr>
          <p:txBody>
            <a:bodyPr/>
            <a:lstStyle/>
            <a:p>
              <a:endParaRPr lang="es-ES"/>
            </a:p>
          </p:txBody>
        </p:sp>
        <p:sp>
          <p:nvSpPr>
            <p:cNvPr id="68" name="TextBox 51">
              <a:extLst>
                <a:ext uri="{FF2B5EF4-FFF2-40B4-BE49-F238E27FC236}">
                  <a16:creationId xmlns:a16="http://schemas.microsoft.com/office/drawing/2014/main" id="{801151DC-8061-44B2-47BB-79F4C5843749}"/>
                </a:ext>
              </a:extLst>
            </p:cNvPr>
            <p:cNvSpPr txBox="1"/>
            <p:nvPr/>
          </p:nvSpPr>
          <p:spPr>
            <a:xfrm>
              <a:off x="13268764" y="-114300"/>
              <a:ext cx="2937999" cy="1223434"/>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CAOS</a:t>
              </a:r>
            </a:p>
          </p:txBody>
        </p:sp>
        <p:grpSp>
          <p:nvGrpSpPr>
            <p:cNvPr id="69" name="Group 52">
              <a:extLst>
                <a:ext uri="{FF2B5EF4-FFF2-40B4-BE49-F238E27FC236}">
                  <a16:creationId xmlns:a16="http://schemas.microsoft.com/office/drawing/2014/main" id="{A44B16D4-9BEC-18EE-22DE-9190B0EE9969}"/>
                </a:ext>
              </a:extLst>
            </p:cNvPr>
            <p:cNvGrpSpPr/>
            <p:nvPr/>
          </p:nvGrpSpPr>
          <p:grpSpPr>
            <a:xfrm>
              <a:off x="7400243" y="2015200"/>
              <a:ext cx="854181" cy="658229"/>
              <a:chOff x="-318168" y="0"/>
              <a:chExt cx="1054768" cy="812800"/>
            </a:xfrm>
          </p:grpSpPr>
          <p:sp>
            <p:nvSpPr>
              <p:cNvPr id="79" name="Freeform 53">
                <a:extLst>
                  <a:ext uri="{FF2B5EF4-FFF2-40B4-BE49-F238E27FC236}">
                    <a16:creationId xmlns:a16="http://schemas.microsoft.com/office/drawing/2014/main" id="{6DC02A0E-7DEB-96D5-F986-D6ED92B1B2BC}"/>
                  </a:ext>
                </a:extLst>
              </p:cNvPr>
              <p:cNvSpPr/>
              <p:nvPr/>
            </p:nvSpPr>
            <p:spPr>
              <a:xfrm>
                <a:off x="-318168"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BA7"/>
              </a:solidFill>
            </p:spPr>
            <p:txBody>
              <a:bodyPr/>
              <a:lstStyle/>
              <a:p>
                <a:endParaRPr lang="es-ES"/>
              </a:p>
            </p:txBody>
          </p:sp>
          <p:sp>
            <p:nvSpPr>
              <p:cNvPr id="80" name="TextBox 54">
                <a:extLst>
                  <a:ext uri="{FF2B5EF4-FFF2-40B4-BE49-F238E27FC236}">
                    <a16:creationId xmlns:a16="http://schemas.microsoft.com/office/drawing/2014/main" id="{A78EC440-988E-3148-42BF-00C75BE6E2B8}"/>
                  </a:ext>
                </a:extLst>
              </p:cNvPr>
              <p:cNvSpPr txBox="1"/>
              <p:nvPr/>
            </p:nvSpPr>
            <p:spPr>
              <a:xfrm>
                <a:off x="76200" y="38100"/>
                <a:ext cx="660400" cy="698500"/>
              </a:xfrm>
              <a:prstGeom prst="rect">
                <a:avLst/>
              </a:prstGeom>
            </p:spPr>
            <p:txBody>
              <a:bodyPr lIns="73524" tIns="73524" rIns="73524" bIns="73524" rtlCol="0" anchor="ctr"/>
              <a:lstStyle/>
              <a:p>
                <a:pPr algn="ctr">
                  <a:lnSpc>
                    <a:spcPts val="2659"/>
                  </a:lnSpc>
                </a:pPr>
                <a:endParaRPr/>
              </a:p>
            </p:txBody>
          </p:sp>
        </p:grpSp>
        <p:grpSp>
          <p:nvGrpSpPr>
            <p:cNvPr id="70" name="Group 55">
              <a:extLst>
                <a:ext uri="{FF2B5EF4-FFF2-40B4-BE49-F238E27FC236}">
                  <a16:creationId xmlns:a16="http://schemas.microsoft.com/office/drawing/2014/main" id="{2A979823-B246-99E8-10A6-E42D6B03A0D5}"/>
                </a:ext>
              </a:extLst>
            </p:cNvPr>
            <p:cNvGrpSpPr/>
            <p:nvPr/>
          </p:nvGrpSpPr>
          <p:grpSpPr>
            <a:xfrm>
              <a:off x="11626061" y="2015200"/>
              <a:ext cx="801210" cy="658229"/>
              <a:chOff x="76200" y="0"/>
              <a:chExt cx="989358" cy="812800"/>
            </a:xfrm>
          </p:grpSpPr>
          <p:sp>
            <p:nvSpPr>
              <p:cNvPr id="77" name="Freeform 56">
                <a:extLst>
                  <a:ext uri="{FF2B5EF4-FFF2-40B4-BE49-F238E27FC236}">
                    <a16:creationId xmlns:a16="http://schemas.microsoft.com/office/drawing/2014/main" id="{E196A84A-582D-9B87-AD93-F211D5DA9B79}"/>
                  </a:ext>
                </a:extLst>
              </p:cNvPr>
              <p:cNvSpPr/>
              <p:nvPr/>
            </p:nvSpPr>
            <p:spPr>
              <a:xfrm>
                <a:off x="252758"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BA7"/>
              </a:solidFill>
            </p:spPr>
            <p:txBody>
              <a:bodyPr/>
              <a:lstStyle/>
              <a:p>
                <a:endParaRPr lang="es-ES"/>
              </a:p>
            </p:txBody>
          </p:sp>
          <p:sp>
            <p:nvSpPr>
              <p:cNvPr id="78" name="TextBox 57">
                <a:extLst>
                  <a:ext uri="{FF2B5EF4-FFF2-40B4-BE49-F238E27FC236}">
                    <a16:creationId xmlns:a16="http://schemas.microsoft.com/office/drawing/2014/main" id="{CC2ABDCE-CBFE-385F-EDEE-D007B766AE3A}"/>
                  </a:ext>
                </a:extLst>
              </p:cNvPr>
              <p:cNvSpPr txBox="1"/>
              <p:nvPr/>
            </p:nvSpPr>
            <p:spPr>
              <a:xfrm>
                <a:off x="76200" y="38100"/>
                <a:ext cx="660400" cy="698500"/>
              </a:xfrm>
              <a:prstGeom prst="rect">
                <a:avLst/>
              </a:prstGeom>
            </p:spPr>
            <p:txBody>
              <a:bodyPr lIns="73524" tIns="73524" rIns="73524" bIns="73524" rtlCol="0" anchor="ctr"/>
              <a:lstStyle/>
              <a:p>
                <a:pPr algn="ctr">
                  <a:lnSpc>
                    <a:spcPts val="2659"/>
                  </a:lnSpc>
                </a:pPr>
                <a:endParaRPr/>
              </a:p>
            </p:txBody>
          </p:sp>
        </p:grpSp>
        <p:grpSp>
          <p:nvGrpSpPr>
            <p:cNvPr id="71" name="Group 58">
              <a:extLst>
                <a:ext uri="{FF2B5EF4-FFF2-40B4-BE49-F238E27FC236}">
                  <a16:creationId xmlns:a16="http://schemas.microsoft.com/office/drawing/2014/main" id="{33CEEAF0-1C44-6D61-889F-12F7D30F1137}"/>
                </a:ext>
              </a:extLst>
            </p:cNvPr>
            <p:cNvGrpSpPr/>
            <p:nvPr/>
          </p:nvGrpSpPr>
          <p:grpSpPr>
            <a:xfrm>
              <a:off x="9535335" y="1939406"/>
              <a:ext cx="809817" cy="809817"/>
              <a:chOff x="0" y="0"/>
              <a:chExt cx="812800" cy="812800"/>
            </a:xfrm>
          </p:grpSpPr>
          <p:sp>
            <p:nvSpPr>
              <p:cNvPr id="75" name="Freeform 59">
                <a:extLst>
                  <a:ext uri="{FF2B5EF4-FFF2-40B4-BE49-F238E27FC236}">
                    <a16:creationId xmlns:a16="http://schemas.microsoft.com/office/drawing/2014/main" id="{9E7F3A6B-383B-E99C-B2EB-1A5657C1683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6BA7"/>
              </a:solidFill>
            </p:spPr>
            <p:txBody>
              <a:bodyPr/>
              <a:lstStyle/>
              <a:p>
                <a:endParaRPr lang="es-ES"/>
              </a:p>
            </p:txBody>
          </p:sp>
          <p:sp>
            <p:nvSpPr>
              <p:cNvPr id="76" name="TextBox 60">
                <a:extLst>
                  <a:ext uri="{FF2B5EF4-FFF2-40B4-BE49-F238E27FC236}">
                    <a16:creationId xmlns:a16="http://schemas.microsoft.com/office/drawing/2014/main" id="{BDEA6EED-5203-B586-8112-438B91E5A58D}"/>
                  </a:ext>
                </a:extLst>
              </p:cNvPr>
              <p:cNvSpPr txBox="1"/>
              <p:nvPr/>
            </p:nvSpPr>
            <p:spPr>
              <a:xfrm>
                <a:off x="76200" y="38100"/>
                <a:ext cx="660400" cy="698500"/>
              </a:xfrm>
              <a:prstGeom prst="rect">
                <a:avLst/>
              </a:prstGeom>
            </p:spPr>
            <p:txBody>
              <a:bodyPr lIns="73524" tIns="73524" rIns="73524" bIns="73524" rtlCol="0" anchor="ctr"/>
              <a:lstStyle/>
              <a:p>
                <a:pPr algn="ctr">
                  <a:lnSpc>
                    <a:spcPts val="2659"/>
                  </a:lnSpc>
                </a:pPr>
                <a:endParaRPr/>
              </a:p>
            </p:txBody>
          </p:sp>
        </p:grpSp>
        <p:sp>
          <p:nvSpPr>
            <p:cNvPr id="72" name="AutoShape 62">
              <a:extLst>
                <a:ext uri="{FF2B5EF4-FFF2-40B4-BE49-F238E27FC236}">
                  <a16:creationId xmlns:a16="http://schemas.microsoft.com/office/drawing/2014/main" id="{DE8ABBE1-EDDF-FCE7-0D79-89C87BECA00D}"/>
                </a:ext>
              </a:extLst>
            </p:cNvPr>
            <p:cNvSpPr/>
            <p:nvPr/>
          </p:nvSpPr>
          <p:spPr>
            <a:xfrm>
              <a:off x="10442763" y="2363366"/>
              <a:ext cx="1183299" cy="0"/>
            </a:xfrm>
            <a:prstGeom prst="line">
              <a:avLst/>
            </a:prstGeom>
            <a:ln w="114073" cap="flat">
              <a:solidFill>
                <a:srgbClr val="4D6BA7"/>
              </a:solidFill>
              <a:prstDash val="solid"/>
              <a:headEnd type="triangle" w="lg" len="med"/>
              <a:tailEnd type="triangle" w="lg" len="med"/>
            </a:ln>
          </p:spPr>
          <p:txBody>
            <a:bodyPr/>
            <a:lstStyle/>
            <a:p>
              <a:endParaRPr lang="es-ES"/>
            </a:p>
          </p:txBody>
        </p:sp>
        <p:sp>
          <p:nvSpPr>
            <p:cNvPr id="73" name="TextBox 63">
              <a:extLst>
                <a:ext uri="{FF2B5EF4-FFF2-40B4-BE49-F238E27FC236}">
                  <a16:creationId xmlns:a16="http://schemas.microsoft.com/office/drawing/2014/main" id="{34040EB2-8B38-0AC8-6182-9DBBD035D102}"/>
                </a:ext>
              </a:extLst>
            </p:cNvPr>
            <p:cNvSpPr txBox="1"/>
            <p:nvPr/>
          </p:nvSpPr>
          <p:spPr>
            <a:xfrm>
              <a:off x="0" y="-65245"/>
              <a:ext cx="6867945" cy="1223434"/>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BIDIRECCIONAL</a:t>
              </a:r>
            </a:p>
          </p:txBody>
        </p:sp>
        <p:sp>
          <p:nvSpPr>
            <p:cNvPr id="74" name="TextBox 64">
              <a:extLst>
                <a:ext uri="{FF2B5EF4-FFF2-40B4-BE49-F238E27FC236}">
                  <a16:creationId xmlns:a16="http://schemas.microsoft.com/office/drawing/2014/main" id="{7EC0EC94-AC16-CF4A-8DE2-A697114B6709}"/>
                </a:ext>
              </a:extLst>
            </p:cNvPr>
            <p:cNvSpPr txBox="1"/>
            <p:nvPr/>
          </p:nvSpPr>
          <p:spPr>
            <a:xfrm>
              <a:off x="7384847" y="676214"/>
              <a:ext cx="5110792" cy="1223434"/>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DISTRIBUIDO</a:t>
              </a:r>
            </a:p>
          </p:txBody>
        </p:sp>
      </p:grpSp>
      <p:sp>
        <p:nvSpPr>
          <p:cNvPr id="81" name="AutoShape 62">
            <a:extLst>
              <a:ext uri="{FF2B5EF4-FFF2-40B4-BE49-F238E27FC236}">
                <a16:creationId xmlns:a16="http://schemas.microsoft.com/office/drawing/2014/main" id="{BA7C2BAD-61A7-CCAD-2824-913A91B44CA6}"/>
              </a:ext>
            </a:extLst>
          </p:cNvPr>
          <p:cNvSpPr/>
          <p:nvPr/>
        </p:nvSpPr>
        <p:spPr>
          <a:xfrm>
            <a:off x="7848600" y="9827248"/>
            <a:ext cx="887474" cy="0"/>
          </a:xfrm>
          <a:prstGeom prst="line">
            <a:avLst/>
          </a:prstGeom>
          <a:ln w="114073" cap="flat">
            <a:solidFill>
              <a:srgbClr val="4D6BA7"/>
            </a:solidFill>
            <a:prstDash val="solid"/>
            <a:headEnd type="triangle" w="lg" len="med"/>
            <a:tailEnd type="triangle" w="lg" len="med"/>
          </a:ln>
        </p:spPr>
        <p:txBody>
          <a:bodyPr/>
          <a:lstStyle/>
          <a:p>
            <a:endParaRPr lang="es-ES"/>
          </a:p>
        </p:txBody>
      </p:sp>
      <p:sp>
        <p:nvSpPr>
          <p:cNvPr id="14" name="TextBox 48">
            <a:extLst>
              <a:ext uri="{FF2B5EF4-FFF2-40B4-BE49-F238E27FC236}">
                <a16:creationId xmlns:a16="http://schemas.microsoft.com/office/drawing/2014/main" id="{341AC6D7-5DA7-830D-F64C-4EC77EA376FE}"/>
              </a:ext>
            </a:extLst>
          </p:cNvPr>
          <p:cNvSpPr txBox="1"/>
          <p:nvPr/>
        </p:nvSpPr>
        <p:spPr>
          <a:xfrm>
            <a:off x="3682259" y="494206"/>
            <a:ext cx="10923483"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MOTIVACIÓN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par>
                          <p:cTn id="7" fill="hold">
                            <p:stCondLst>
                              <p:cond delay="0"/>
                            </p:stCondLst>
                            <p:childTnLst>
                              <p:par>
                                <p:cTn id="8" presetID="0" presetClass="path" presetSubtype="0" repeatCount="indefinite" accel="50000" decel="50000" fill="hold" nodeType="afterEffect">
                                  <p:stCondLst>
                                    <p:cond delay="0"/>
                                  </p:stCondLst>
                                  <p:childTnLst>
                                    <p:animMotion origin="layout" path="M -0.00183 0.00463 L -0.00183 0.00463 C -0.00157 0.01064 -0.00079 0.01651 -0.00105 0.02268 C -0.00183 0.04259 -0.00244 0.03935 -0.00495 0.05185 C -0.00556 0.05447 -0.00565 0.05756 -0.00651 0.06018 C -0.00704 0.06157 -0.00816 0.06172 -0.00886 0.06296 C -0.00981 0.0645 -0.01025 0.06697 -0.0112 0.06851 C -0.01207 0.06975 -0.01346 0.0699 -0.01433 0.07129 C -0.01711 0.07546 -0.01867 0.08302 -0.02214 0.08518 C -0.02292 0.08564 -0.02379 0.0858 -0.02448 0.08657 C -0.02613 0.08811 -0.02744 0.09105 -0.02917 0.09213 L -0.03386 0.0949 L -0.0362 0.09629 C -0.03724 0.09737 -0.04731 0.11018 -0.04948 0.11018 L -0.05026 0.11018 " pathEditMode="relative" ptsTypes="AAAAAAAAAAAAAAA">
                                      <p:cBhvr>
                                        <p:cTn id="9" dur="1300" fill="hold"/>
                                        <p:tgtEl>
                                          <p:spTgt spid="45"/>
                                        </p:tgtEl>
                                        <p:attrNameLst>
                                          <p:attrName>ppt_x</p:attrName>
                                          <p:attrName>ppt_y</p:attrName>
                                        </p:attrNameLst>
                                      </p:cBhvr>
                                    </p:animMotion>
                                  </p:childTnLst>
                                </p:cTn>
                              </p:par>
                            </p:childTnLst>
                          </p:cTn>
                        </p:par>
                        <p:par>
                          <p:cTn id="10" fill="hold">
                            <p:stCondLst>
                              <p:cond delay="1300"/>
                            </p:stCondLst>
                            <p:childTnLst>
                              <p:par>
                                <p:cTn id="11" presetID="1" presetClass="entr" presetSubtype="0" fill="hold" nodeType="after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0" presetClass="path" presetSubtype="0" repeatCount="indefinite" accel="50000" decel="50000" fill="hold" nodeType="withEffect">
                                  <p:stCondLst>
                                    <p:cond delay="0"/>
                                  </p:stCondLst>
                                  <p:childTnLst>
                                    <p:animMotion origin="layout" path="M -0.00156 0.01189 L -0.00156 0.01189 C 0.00313 0.01065 0.01762 0.00757 0.02422 0.00494 C 0.02769 0.0034 0.03038 0.00093 0.0336 -0.002 C 0.0349 -0.00339 0.03611 -0.00509 0.03742 -0.00617 C 0.03872 -0.0074 0.04002 -0.00802 0.04141 -0.00895 C 0.04419 -0.01311 0.04731 -0.01682 0.04992 -0.02145 C 0.0513 -0.02376 0.05252 -0.02623 0.05391 -0.02839 C 0.06146 -0.04043 0.06736 -0.04552 0.07179 -0.06311 C 0.07283 -0.06728 0.07379 -0.0716 0.07492 -0.07561 C 0.07665 -0.08132 0.07865 -0.08672 0.08047 -0.09228 C 0.08151 -0.09552 0.08255 -0.09876 0.0836 -0.102 C 0.0849 -0.10617 0.08637 -0.11018 0.08742 -0.1145 C 0.08846 -0.11867 0.0895 -0.12299 0.09054 -0.127 C 0.0921 -0.13271 0.09419 -0.1378 0.09523 -0.14367 C 0.0961 -0.1483 0.09775 -0.15787 0.09922 -0.16172 C 0.1 -0.16404 0.10139 -0.16527 0.10235 -0.16728 C 0.10304 -0.16898 0.1033 -0.17114 0.10391 -0.17284 C 0.10434 -0.17438 0.10495 -0.17561 0.10547 -0.177 " pathEditMode="relative" ptsTypes="AAAAAAAAAAAAAAAAAAA">
                                      <p:cBhvr>
                                        <p:cTn id="14" dur="1300" fill="hold"/>
                                        <p:tgtEl>
                                          <p:spTgt spid="58"/>
                                        </p:tgtEl>
                                        <p:attrNameLst>
                                          <p:attrName>ppt_x</p:attrName>
                                          <p:attrName>ppt_y</p:attrName>
                                        </p:attrNameLst>
                                      </p:cBhvr>
                                    </p:animMotion>
                                  </p:childTnLst>
                                </p:cTn>
                              </p:par>
                              <p:par>
                                <p:cTn id="15" presetID="1" presetClass="entr" presetSubtype="0" fill="hold"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par>
                                <p:cTn id="17" presetID="0" presetClass="path" presetSubtype="0" repeatCount="indefinite" accel="50000" decel="50000" fill="hold" nodeType="withEffect">
                                  <p:stCondLst>
                                    <p:cond delay="0"/>
                                  </p:stCondLst>
                                  <p:childTnLst>
                                    <p:animMotion origin="layout" path="M 0.00738 -0.00061 L 0.00738 -0.00061 L -0.0184 -0.00339 C -0.02013 -0.0037 -0.02812 -0.0074 -0.02864 -0.00771 C -0.03177 -0.00926 -0.03472 -0.01219 -0.03802 -0.01327 L -0.0427 -0.0145 C -0.04531 -0.01635 -0.04774 -0.01898 -0.05052 -0.02006 C -0.05156 -0.02068 -0.0526 -0.02083 -0.05364 -0.0216 C -0.0552 -0.02268 -0.05668 -0.02453 -0.05833 -0.02561 C -0.05928 -0.02638 -0.06041 -0.02654 -0.06145 -0.02716 C -0.06224 -0.02747 -0.06302 -0.02808 -0.06371 -0.02839 C -0.0651 -0.03024 -0.06632 -0.0324 -0.0677 -0.03395 C -0.07257 -0.03981 -0.06944 -0.03302 -0.07465 -0.04228 C -0.07586 -0.04444 -0.07665 -0.04722 -0.07777 -0.04938 C -0.07847 -0.05046 -0.07942 -0.05108 -0.0802 -0.05216 C -0.08593 -0.05972 -0.08194 -0.05571 -0.08715 -0.06049 C -0.08802 -0.06234 -0.08862 -0.06419 -0.08958 -0.06605 C -0.09123 -0.06929 -0.09357 -0.07191 -0.09496 -0.07561 C -0.096 -0.07839 -0.09704 -0.08132 -0.09809 -0.08395 C -0.09913 -0.08642 -0.10026 -0.08858 -0.10121 -0.09105 C -0.10399 -0.09784 -0.10642 -0.10493 -0.10902 -0.11172 C -0.11007 -0.1145 -0.11102 -0.11743 -0.11215 -0.12006 C -0.11866 -0.13503 -0.11579 -0.12855 -0.12083 -0.1395 C -0.12187 -0.14197 -0.12317 -0.14382 -0.12395 -0.1466 C -0.12448 -0.14845 -0.12482 -0.15046 -0.12552 -0.15216 C -0.12612 -0.1537 -0.12717 -0.15463 -0.12777 -0.15617 C -0.13203 -0.16635 -0.12803 -0.16064 -0.13246 -0.16605 C -0.13281 -0.16728 -0.1329 -0.16882 -0.13333 -0.17006 C -0.13394 -0.17222 -0.13515 -0.17361 -0.13559 -0.17561 C -0.13619 -0.17824 -0.13611 -0.18132 -0.13645 -0.18395 C -0.13663 -0.18549 -0.13715 -0.18811 -0.13715 -0.18811 " pathEditMode="relative" ptsTypes="AAAAAAAAAAAAAAAAAAAAAAAAAAAAAAA">
                                      <p:cBhvr>
                                        <p:cTn id="18" dur="1300" fill="hold"/>
                                        <p:tgtEl>
                                          <p:spTgt spid="5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643017" y="3178175"/>
            <a:ext cx="15264444" cy="6859088"/>
            <a:chOff x="349972" y="1081748"/>
            <a:chExt cx="20352592" cy="9145451"/>
          </a:xfrm>
        </p:grpSpPr>
        <p:sp>
          <p:nvSpPr>
            <p:cNvPr id="15" name="TextBox 15"/>
            <p:cNvSpPr txBox="1"/>
            <p:nvPr/>
          </p:nvSpPr>
          <p:spPr>
            <a:xfrm>
              <a:off x="7365303" y="1081748"/>
              <a:ext cx="5764752" cy="2518834"/>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SISTEMA DIGITALIZADO</a:t>
              </a:r>
            </a:p>
          </p:txBody>
        </p:sp>
        <p:sp>
          <p:nvSpPr>
            <p:cNvPr id="16" name="AutoShape 16"/>
            <p:cNvSpPr/>
            <p:nvPr/>
          </p:nvSpPr>
          <p:spPr>
            <a:xfrm>
              <a:off x="10351283" y="3752436"/>
              <a:ext cx="0" cy="1937367"/>
            </a:xfrm>
            <a:prstGeom prst="line">
              <a:avLst/>
            </a:prstGeom>
            <a:ln w="254000" cap="flat">
              <a:solidFill>
                <a:srgbClr val="4D6BA7"/>
              </a:solidFill>
              <a:prstDash val="solid"/>
              <a:headEnd type="none" w="sm" len="sm"/>
              <a:tailEnd type="triangle" w="lg" len="med"/>
            </a:ln>
          </p:spPr>
          <p:txBody>
            <a:bodyPr/>
            <a:lstStyle/>
            <a:p>
              <a:endParaRPr lang="es-ES"/>
            </a:p>
          </p:txBody>
        </p:sp>
        <p:sp>
          <p:nvSpPr>
            <p:cNvPr id="17" name="TextBox 17"/>
            <p:cNvSpPr txBox="1"/>
            <p:nvPr/>
          </p:nvSpPr>
          <p:spPr>
            <a:xfrm>
              <a:off x="7424579" y="5775354"/>
              <a:ext cx="5764752" cy="2518833"/>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CONTADORES INTELIGENTES</a:t>
              </a:r>
            </a:p>
          </p:txBody>
        </p:sp>
        <p:sp>
          <p:nvSpPr>
            <p:cNvPr id="18" name="TextBox 18"/>
            <p:cNvSpPr txBox="1"/>
            <p:nvPr/>
          </p:nvSpPr>
          <p:spPr>
            <a:xfrm>
              <a:off x="349972" y="3140719"/>
              <a:ext cx="4617221" cy="1223433"/>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SENSORES</a:t>
              </a:r>
            </a:p>
          </p:txBody>
        </p:sp>
        <p:sp>
          <p:nvSpPr>
            <p:cNvPr id="19" name="TextBox 19"/>
            <p:cNvSpPr txBox="1"/>
            <p:nvPr/>
          </p:nvSpPr>
          <p:spPr>
            <a:xfrm>
              <a:off x="14937812" y="2589983"/>
              <a:ext cx="5764752" cy="25188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SISTEMAS DISTRIBUIDOS</a:t>
              </a:r>
            </a:p>
          </p:txBody>
        </p:sp>
        <p:sp>
          <p:nvSpPr>
            <p:cNvPr id="20" name="AutoShape 20"/>
            <p:cNvSpPr/>
            <p:nvPr/>
          </p:nvSpPr>
          <p:spPr>
            <a:xfrm>
              <a:off x="13309053" y="2473481"/>
              <a:ext cx="1801752" cy="1076955"/>
            </a:xfrm>
            <a:prstGeom prst="line">
              <a:avLst/>
            </a:prstGeom>
            <a:ln w="254000" cap="flat">
              <a:solidFill>
                <a:srgbClr val="4D6BA7"/>
              </a:solidFill>
              <a:prstDash val="solid"/>
              <a:headEnd type="none" w="sm" len="sm"/>
              <a:tailEnd type="triangle" w="lg" len="med"/>
            </a:ln>
          </p:spPr>
          <p:txBody>
            <a:bodyPr/>
            <a:lstStyle/>
            <a:p>
              <a:endParaRPr lang="es-ES"/>
            </a:p>
          </p:txBody>
        </p:sp>
        <p:sp>
          <p:nvSpPr>
            <p:cNvPr id="21" name="AutoShape 21"/>
            <p:cNvSpPr/>
            <p:nvPr/>
          </p:nvSpPr>
          <p:spPr>
            <a:xfrm flipH="1">
              <a:off x="5265371" y="2335861"/>
              <a:ext cx="1801753" cy="1352195"/>
            </a:xfrm>
            <a:prstGeom prst="line">
              <a:avLst/>
            </a:prstGeom>
            <a:ln w="254000" cap="flat">
              <a:solidFill>
                <a:srgbClr val="4D6BA7"/>
              </a:solidFill>
              <a:prstDash val="solid"/>
              <a:headEnd type="none" w="sm" len="sm"/>
              <a:tailEnd type="triangle" w="lg" len="med"/>
            </a:ln>
          </p:spPr>
          <p:txBody>
            <a:bodyPr/>
            <a:lstStyle/>
            <a:p>
              <a:endParaRPr lang="es-ES"/>
            </a:p>
          </p:txBody>
        </p:sp>
        <p:sp>
          <p:nvSpPr>
            <p:cNvPr id="22" name="Freeform 22"/>
            <p:cNvSpPr/>
            <p:nvPr/>
          </p:nvSpPr>
          <p:spPr>
            <a:xfrm>
              <a:off x="1329937" y="4470344"/>
              <a:ext cx="2657291" cy="2657289"/>
            </a:xfrm>
            <a:custGeom>
              <a:avLst/>
              <a:gdLst/>
              <a:ahLst/>
              <a:cxnLst/>
              <a:rect l="l" t="t" r="r" b="b"/>
              <a:pathLst>
                <a:path w="2657290" h="2657290">
                  <a:moveTo>
                    <a:pt x="0" y="0"/>
                  </a:moveTo>
                  <a:lnTo>
                    <a:pt x="2657290" y="0"/>
                  </a:lnTo>
                  <a:lnTo>
                    <a:pt x="2657290" y="2657290"/>
                  </a:lnTo>
                  <a:lnTo>
                    <a:pt x="0" y="2657290"/>
                  </a:lnTo>
                  <a:lnTo>
                    <a:pt x="0" y="0"/>
                  </a:lnTo>
                  <a:close/>
                </a:path>
              </a:pathLst>
            </a:custGeom>
            <a:blipFill>
              <a:blip r:embed="rId3"/>
              <a:stretch>
                <a:fillRect/>
              </a:stretch>
            </a:blipFill>
          </p:spPr>
          <p:txBody>
            <a:bodyPr/>
            <a:lstStyle/>
            <a:p>
              <a:endParaRPr lang="es-ES"/>
            </a:p>
          </p:txBody>
        </p:sp>
        <p:sp>
          <p:nvSpPr>
            <p:cNvPr id="23" name="Freeform 23"/>
            <p:cNvSpPr/>
            <p:nvPr/>
          </p:nvSpPr>
          <p:spPr>
            <a:xfrm>
              <a:off x="9442553" y="8450367"/>
              <a:ext cx="1870273" cy="1776832"/>
            </a:xfrm>
            <a:custGeom>
              <a:avLst/>
              <a:gdLst/>
              <a:ahLst/>
              <a:cxnLst/>
              <a:rect l="l" t="t" r="r" b="b"/>
              <a:pathLst>
                <a:path w="2240381" h="2240381">
                  <a:moveTo>
                    <a:pt x="0" y="0"/>
                  </a:moveTo>
                  <a:lnTo>
                    <a:pt x="2240381" y="0"/>
                  </a:lnTo>
                  <a:lnTo>
                    <a:pt x="2240381" y="2240381"/>
                  </a:lnTo>
                  <a:lnTo>
                    <a:pt x="0" y="2240381"/>
                  </a:lnTo>
                  <a:lnTo>
                    <a:pt x="0" y="0"/>
                  </a:lnTo>
                  <a:close/>
                </a:path>
              </a:pathLst>
            </a:custGeom>
            <a:blipFill>
              <a:blip r:embed="rId4"/>
              <a:stretch>
                <a:fillRect/>
              </a:stretch>
            </a:blipFill>
          </p:spPr>
          <p:txBody>
            <a:bodyPr/>
            <a:lstStyle/>
            <a:p>
              <a:endParaRPr lang="es-ES" dirty="0"/>
            </a:p>
          </p:txBody>
        </p:sp>
        <p:sp>
          <p:nvSpPr>
            <p:cNvPr id="24" name="Freeform 24"/>
            <p:cNvSpPr/>
            <p:nvPr/>
          </p:nvSpPr>
          <p:spPr>
            <a:xfrm>
              <a:off x="16651360" y="5210416"/>
              <a:ext cx="2337658" cy="2337658"/>
            </a:xfrm>
            <a:custGeom>
              <a:avLst/>
              <a:gdLst/>
              <a:ahLst/>
              <a:cxnLst/>
              <a:rect l="l" t="t" r="r" b="b"/>
              <a:pathLst>
                <a:path w="2337658" h="2337658">
                  <a:moveTo>
                    <a:pt x="0" y="0"/>
                  </a:moveTo>
                  <a:lnTo>
                    <a:pt x="2337657" y="0"/>
                  </a:lnTo>
                  <a:lnTo>
                    <a:pt x="2337657" y="2337658"/>
                  </a:lnTo>
                  <a:lnTo>
                    <a:pt x="0" y="2337658"/>
                  </a:lnTo>
                  <a:lnTo>
                    <a:pt x="0" y="0"/>
                  </a:lnTo>
                  <a:close/>
                </a:path>
              </a:pathLst>
            </a:custGeom>
            <a:blipFill>
              <a:blip r:embed="rId5"/>
              <a:stretch>
                <a:fillRect/>
              </a:stretch>
            </a:blipFill>
          </p:spPr>
          <p:txBody>
            <a:bodyPr/>
            <a:lstStyle/>
            <a:p>
              <a:endParaRPr lang="es-ES"/>
            </a:p>
          </p:txBody>
        </p:sp>
      </p:grpSp>
      <p:sp>
        <p:nvSpPr>
          <p:cNvPr id="25" name="TextBox 25"/>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4</a:t>
            </a:r>
          </a:p>
        </p:txBody>
      </p:sp>
      <p:sp>
        <p:nvSpPr>
          <p:cNvPr id="26" name="TextBox 26"/>
          <p:cNvSpPr txBox="1"/>
          <p:nvPr/>
        </p:nvSpPr>
        <p:spPr>
          <a:xfrm>
            <a:off x="2054395" y="494348"/>
            <a:ext cx="14023805" cy="1479700"/>
          </a:xfrm>
          <a:prstGeom prst="rect">
            <a:avLst/>
          </a:prstGeom>
        </p:spPr>
        <p:txBody>
          <a:bodyPr wrap="square"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DEFINICIÓN DEL PROBLEMA</a:t>
            </a:r>
          </a:p>
        </p:txBody>
      </p:sp>
      <p:sp>
        <p:nvSpPr>
          <p:cNvPr id="27" name="TextBox 16">
            <a:extLst>
              <a:ext uri="{FF2B5EF4-FFF2-40B4-BE49-F238E27FC236}">
                <a16:creationId xmlns:a16="http://schemas.microsoft.com/office/drawing/2014/main" id="{677920D8-B87E-BA38-43ED-6B931CC47B45}"/>
              </a:ext>
            </a:extLst>
          </p:cNvPr>
          <p:cNvSpPr txBox="1"/>
          <p:nvPr/>
        </p:nvSpPr>
        <p:spPr>
          <a:xfrm>
            <a:off x="2973186" y="2187038"/>
            <a:ext cx="12341628" cy="904287"/>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SMART GRIDS</a:t>
            </a:r>
          </a:p>
        </p:txBody>
      </p:sp>
    </p:spTree>
  </p:cSld>
  <p:clrMapOvr>
    <a:masterClrMapping/>
  </p:clrMapOvr>
  <p:transition spd="med">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3832393" y="4152900"/>
            <a:ext cx="4664032" cy="4145569"/>
            <a:chOff x="0" y="0"/>
            <a:chExt cx="6218709" cy="5527425"/>
          </a:xfrm>
        </p:grpSpPr>
        <p:sp>
          <p:nvSpPr>
            <p:cNvPr id="15" name="Freeform 15"/>
            <p:cNvSpPr/>
            <p:nvPr/>
          </p:nvSpPr>
          <p:spPr>
            <a:xfrm>
              <a:off x="1491376" y="2291469"/>
              <a:ext cx="3235956" cy="3235956"/>
            </a:xfrm>
            <a:custGeom>
              <a:avLst/>
              <a:gdLst/>
              <a:ahLst/>
              <a:cxnLst/>
              <a:rect l="l" t="t" r="r" b="b"/>
              <a:pathLst>
                <a:path w="3235956" h="3235956">
                  <a:moveTo>
                    <a:pt x="0" y="0"/>
                  </a:moveTo>
                  <a:lnTo>
                    <a:pt x="3235957" y="0"/>
                  </a:lnTo>
                  <a:lnTo>
                    <a:pt x="3235957" y="3235956"/>
                  </a:lnTo>
                  <a:lnTo>
                    <a:pt x="0" y="3235956"/>
                  </a:lnTo>
                  <a:lnTo>
                    <a:pt x="0" y="0"/>
                  </a:lnTo>
                  <a:close/>
                </a:path>
              </a:pathLst>
            </a:custGeom>
            <a:blipFill>
              <a:blip r:embed="rId3"/>
              <a:stretch>
                <a:fillRect/>
              </a:stretch>
            </a:blipFill>
          </p:spPr>
          <p:txBody>
            <a:bodyPr/>
            <a:lstStyle/>
            <a:p>
              <a:endParaRPr lang="es-ES"/>
            </a:p>
          </p:txBody>
        </p:sp>
        <p:sp>
          <p:nvSpPr>
            <p:cNvPr id="16" name="TextBox 16"/>
            <p:cNvSpPr txBox="1"/>
            <p:nvPr/>
          </p:nvSpPr>
          <p:spPr>
            <a:xfrm>
              <a:off x="0" y="-114300"/>
              <a:ext cx="6218709"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CLASIFICACIÓN</a:t>
              </a:r>
            </a:p>
          </p:txBody>
        </p:sp>
      </p:grpSp>
      <p:grpSp>
        <p:nvGrpSpPr>
          <p:cNvPr id="18" name="Group 18"/>
          <p:cNvGrpSpPr/>
          <p:nvPr/>
        </p:nvGrpSpPr>
        <p:grpSpPr>
          <a:xfrm>
            <a:off x="9424886" y="3420083"/>
            <a:ext cx="5457217" cy="545721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E7FF"/>
            </a:solidFill>
            <a:ln w="38100" cap="sq">
              <a:solidFill>
                <a:srgbClr val="4D6BA7"/>
              </a:solidFill>
              <a:prstDash val="solid"/>
              <a:miter/>
            </a:ln>
          </p:spPr>
          <p:txBody>
            <a:bodyPr/>
            <a:lstStyle/>
            <a:p>
              <a:endParaRPr lang="es-ES"/>
            </a:p>
          </p:txBody>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9791575" y="4076700"/>
            <a:ext cx="4664032" cy="917575"/>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REGRESIÓN</a:t>
            </a:r>
          </a:p>
        </p:txBody>
      </p:sp>
      <p:sp>
        <p:nvSpPr>
          <p:cNvPr id="22" name="Freeform 22"/>
          <p:cNvSpPr/>
          <p:nvPr/>
        </p:nvSpPr>
        <p:spPr>
          <a:xfrm>
            <a:off x="10910107" y="5881026"/>
            <a:ext cx="2426967" cy="2426967"/>
          </a:xfrm>
          <a:custGeom>
            <a:avLst/>
            <a:gdLst/>
            <a:ahLst/>
            <a:cxnLst/>
            <a:rect l="l" t="t" r="r" b="b"/>
            <a:pathLst>
              <a:path w="3235956" h="3235956">
                <a:moveTo>
                  <a:pt x="0" y="0"/>
                </a:moveTo>
                <a:lnTo>
                  <a:pt x="3235957" y="0"/>
                </a:lnTo>
                <a:lnTo>
                  <a:pt x="3235957" y="3235956"/>
                </a:lnTo>
                <a:lnTo>
                  <a:pt x="0" y="3235956"/>
                </a:lnTo>
                <a:lnTo>
                  <a:pt x="0" y="0"/>
                </a:lnTo>
                <a:close/>
              </a:path>
            </a:pathLst>
          </a:custGeom>
          <a:blipFill>
            <a:blip r:embed="rId4"/>
            <a:stretch>
              <a:fillRect/>
            </a:stretch>
          </a:blipFill>
        </p:spPr>
        <p:txBody>
          <a:bodyPr/>
          <a:lstStyle/>
          <a:p>
            <a:endParaRPr lang="es-ES"/>
          </a:p>
        </p:txBody>
      </p:sp>
      <p:sp>
        <p:nvSpPr>
          <p:cNvPr id="23" name="TextBox 23"/>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5</a:t>
            </a:r>
          </a:p>
        </p:txBody>
      </p:sp>
      <p:sp>
        <p:nvSpPr>
          <p:cNvPr id="17" name="TextBox 26">
            <a:extLst>
              <a:ext uri="{FF2B5EF4-FFF2-40B4-BE49-F238E27FC236}">
                <a16:creationId xmlns:a16="http://schemas.microsoft.com/office/drawing/2014/main" id="{8CECEA28-BD13-BC0F-9328-057C58D4C74D}"/>
              </a:ext>
            </a:extLst>
          </p:cNvPr>
          <p:cNvSpPr txBox="1"/>
          <p:nvPr/>
        </p:nvSpPr>
        <p:spPr>
          <a:xfrm>
            <a:off x="2054395" y="494348"/>
            <a:ext cx="14023805" cy="1479700"/>
          </a:xfrm>
          <a:prstGeom prst="rect">
            <a:avLst/>
          </a:prstGeom>
        </p:spPr>
        <p:txBody>
          <a:bodyPr wrap="square"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DEFINICIÓN DEL PROBLEMA</a:t>
            </a:r>
          </a:p>
        </p:txBody>
      </p:sp>
      <p:sp>
        <p:nvSpPr>
          <p:cNvPr id="25" name="TextBox 16">
            <a:extLst>
              <a:ext uri="{FF2B5EF4-FFF2-40B4-BE49-F238E27FC236}">
                <a16:creationId xmlns:a16="http://schemas.microsoft.com/office/drawing/2014/main" id="{A3B644AA-D3C2-3B2E-CCA6-48DE038976B8}"/>
              </a:ext>
            </a:extLst>
          </p:cNvPr>
          <p:cNvSpPr txBox="1"/>
          <p:nvPr/>
        </p:nvSpPr>
        <p:spPr>
          <a:xfrm>
            <a:off x="2973186" y="2187038"/>
            <a:ext cx="12341628" cy="904287"/>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APRENDIZAJE SUPERVISADO</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 calcmode="lin" valueType="num">
                                      <p:cBhvr>
                                        <p:cTn id="9" dur="500" fill="hold"/>
                                        <p:tgtEl>
                                          <p:spTgt spid="18"/>
                                        </p:tgtEl>
                                        <p:attrNameLst>
                                          <p:attrName>style.rotation</p:attrName>
                                        </p:attrNameLst>
                                      </p:cBhvr>
                                      <p:tavLst>
                                        <p:tav tm="0">
                                          <p:val>
                                            <p:fltVal val="360"/>
                                          </p:val>
                                        </p:tav>
                                        <p:tav tm="100000">
                                          <p:val>
                                            <p:fltVal val="0"/>
                                          </p:val>
                                        </p:tav>
                                      </p:tavLst>
                                    </p:anim>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2629164" y="3642101"/>
            <a:ext cx="13029672" cy="4701799"/>
            <a:chOff x="0" y="0"/>
            <a:chExt cx="17372896" cy="6269065"/>
          </a:xfrm>
        </p:grpSpPr>
        <p:sp>
          <p:nvSpPr>
            <p:cNvPr id="15" name="Freeform 15"/>
            <p:cNvSpPr/>
            <p:nvPr/>
          </p:nvSpPr>
          <p:spPr>
            <a:xfrm>
              <a:off x="13411311" y="3016896"/>
              <a:ext cx="3252169" cy="3252169"/>
            </a:xfrm>
            <a:custGeom>
              <a:avLst/>
              <a:gdLst/>
              <a:ahLst/>
              <a:cxnLst/>
              <a:rect l="l" t="t" r="r" b="b"/>
              <a:pathLst>
                <a:path w="3252169" h="3252169">
                  <a:moveTo>
                    <a:pt x="0" y="0"/>
                  </a:moveTo>
                  <a:lnTo>
                    <a:pt x="3252169" y="0"/>
                  </a:lnTo>
                  <a:lnTo>
                    <a:pt x="3252169" y="3252169"/>
                  </a:lnTo>
                  <a:lnTo>
                    <a:pt x="0" y="3252169"/>
                  </a:lnTo>
                  <a:lnTo>
                    <a:pt x="0" y="0"/>
                  </a:lnTo>
                  <a:close/>
                </a:path>
              </a:pathLst>
            </a:custGeom>
            <a:blipFill>
              <a:blip r:embed="rId3"/>
              <a:stretch>
                <a:fillRect/>
              </a:stretch>
            </a:blipFill>
          </p:spPr>
          <p:txBody>
            <a:bodyPr/>
            <a:lstStyle/>
            <a:p>
              <a:endParaRPr lang="es-ES"/>
            </a:p>
          </p:txBody>
        </p:sp>
        <p:sp>
          <p:nvSpPr>
            <p:cNvPr id="16" name="Freeform 16"/>
            <p:cNvSpPr/>
            <p:nvPr/>
          </p:nvSpPr>
          <p:spPr>
            <a:xfrm>
              <a:off x="7060363" y="3016896"/>
              <a:ext cx="3252169" cy="3252169"/>
            </a:xfrm>
            <a:custGeom>
              <a:avLst/>
              <a:gdLst/>
              <a:ahLst/>
              <a:cxnLst/>
              <a:rect l="l" t="t" r="r" b="b"/>
              <a:pathLst>
                <a:path w="3252169" h="3252169">
                  <a:moveTo>
                    <a:pt x="0" y="0"/>
                  </a:moveTo>
                  <a:lnTo>
                    <a:pt x="3252169" y="0"/>
                  </a:lnTo>
                  <a:lnTo>
                    <a:pt x="3252169" y="3252169"/>
                  </a:lnTo>
                  <a:lnTo>
                    <a:pt x="0" y="3252169"/>
                  </a:lnTo>
                  <a:lnTo>
                    <a:pt x="0" y="0"/>
                  </a:lnTo>
                  <a:close/>
                </a:path>
              </a:pathLst>
            </a:custGeom>
            <a:blipFill>
              <a:blip r:embed="rId4"/>
              <a:stretch>
                <a:fillRect/>
              </a:stretch>
            </a:blipFill>
          </p:spPr>
          <p:txBody>
            <a:bodyPr/>
            <a:lstStyle/>
            <a:p>
              <a:endParaRPr lang="es-ES"/>
            </a:p>
          </p:txBody>
        </p:sp>
        <p:sp>
          <p:nvSpPr>
            <p:cNvPr id="17" name="TextBox 17"/>
            <p:cNvSpPr txBox="1"/>
            <p:nvPr/>
          </p:nvSpPr>
          <p:spPr>
            <a:xfrm>
              <a:off x="0" y="-114300"/>
              <a:ext cx="4078624" cy="2518833"/>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RANDOM FOREST</a:t>
              </a:r>
            </a:p>
          </p:txBody>
        </p:sp>
        <p:sp>
          <p:nvSpPr>
            <p:cNvPr id="18" name="TextBox 18"/>
            <p:cNvSpPr txBox="1"/>
            <p:nvPr/>
          </p:nvSpPr>
          <p:spPr>
            <a:xfrm>
              <a:off x="6647136" y="533400"/>
              <a:ext cx="4078624"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XGBOOST</a:t>
              </a:r>
            </a:p>
          </p:txBody>
        </p:sp>
        <p:sp>
          <p:nvSpPr>
            <p:cNvPr id="19" name="TextBox 19"/>
            <p:cNvSpPr txBox="1"/>
            <p:nvPr/>
          </p:nvSpPr>
          <p:spPr>
            <a:xfrm>
              <a:off x="12701895" y="-114300"/>
              <a:ext cx="4671000" cy="25188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RED NEURONAL</a:t>
              </a:r>
            </a:p>
          </p:txBody>
        </p:sp>
        <p:sp>
          <p:nvSpPr>
            <p:cNvPr id="20" name="Freeform 20"/>
            <p:cNvSpPr/>
            <p:nvPr/>
          </p:nvSpPr>
          <p:spPr>
            <a:xfrm>
              <a:off x="413227" y="3016896"/>
              <a:ext cx="3252169" cy="3252169"/>
            </a:xfrm>
            <a:custGeom>
              <a:avLst/>
              <a:gdLst/>
              <a:ahLst/>
              <a:cxnLst/>
              <a:rect l="l" t="t" r="r" b="b"/>
              <a:pathLst>
                <a:path w="3252169" h="3252169">
                  <a:moveTo>
                    <a:pt x="0" y="0"/>
                  </a:moveTo>
                  <a:lnTo>
                    <a:pt x="3252170" y="0"/>
                  </a:lnTo>
                  <a:lnTo>
                    <a:pt x="3252170" y="3252169"/>
                  </a:lnTo>
                  <a:lnTo>
                    <a:pt x="0" y="3252169"/>
                  </a:lnTo>
                  <a:lnTo>
                    <a:pt x="0" y="0"/>
                  </a:lnTo>
                  <a:close/>
                </a:path>
              </a:pathLst>
            </a:custGeom>
            <a:blipFill>
              <a:blip r:embed="rId5"/>
              <a:stretch>
                <a:fillRect/>
              </a:stretch>
            </a:blipFill>
          </p:spPr>
          <p:txBody>
            <a:bodyPr/>
            <a:lstStyle/>
            <a:p>
              <a:endParaRPr lang="es-ES"/>
            </a:p>
          </p:txBody>
        </p:sp>
      </p:grpSp>
      <p:sp>
        <p:nvSpPr>
          <p:cNvPr id="21" name="TextBox 21"/>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6</a:t>
            </a:r>
          </a:p>
        </p:txBody>
      </p:sp>
      <p:sp>
        <p:nvSpPr>
          <p:cNvPr id="23" name="TextBox 26">
            <a:extLst>
              <a:ext uri="{FF2B5EF4-FFF2-40B4-BE49-F238E27FC236}">
                <a16:creationId xmlns:a16="http://schemas.microsoft.com/office/drawing/2014/main" id="{F545FABB-92B7-679B-84F4-37E04067453A}"/>
              </a:ext>
            </a:extLst>
          </p:cNvPr>
          <p:cNvSpPr txBox="1"/>
          <p:nvPr/>
        </p:nvSpPr>
        <p:spPr>
          <a:xfrm>
            <a:off x="2054395" y="494348"/>
            <a:ext cx="14023805" cy="1479700"/>
          </a:xfrm>
          <a:prstGeom prst="rect">
            <a:avLst/>
          </a:prstGeom>
        </p:spPr>
        <p:txBody>
          <a:bodyPr wrap="square"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DEFINICIÓN DEL PROBLEMA</a:t>
            </a:r>
          </a:p>
        </p:txBody>
      </p:sp>
      <p:sp>
        <p:nvSpPr>
          <p:cNvPr id="24" name="TextBox 16">
            <a:extLst>
              <a:ext uri="{FF2B5EF4-FFF2-40B4-BE49-F238E27FC236}">
                <a16:creationId xmlns:a16="http://schemas.microsoft.com/office/drawing/2014/main" id="{FCD97C35-FADB-EF73-C19E-FA37366071AB}"/>
              </a:ext>
            </a:extLst>
          </p:cNvPr>
          <p:cNvSpPr txBox="1"/>
          <p:nvPr/>
        </p:nvSpPr>
        <p:spPr>
          <a:xfrm>
            <a:off x="2973186" y="2187038"/>
            <a:ext cx="12341628" cy="904287"/>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MODELOS UTILIZADOS</a:t>
            </a:r>
          </a:p>
        </p:txBody>
      </p:sp>
    </p:spTree>
  </p:cSld>
  <p:clrMapOvr>
    <a:masterClrMapping/>
  </p:clrMapOvr>
  <p:transition spd="med">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dirty="0"/>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7</a:t>
            </a:r>
          </a:p>
        </p:txBody>
      </p:sp>
      <p:grpSp>
        <p:nvGrpSpPr>
          <p:cNvPr id="52" name="Grupo 51">
            <a:extLst>
              <a:ext uri="{FF2B5EF4-FFF2-40B4-BE49-F238E27FC236}">
                <a16:creationId xmlns:a16="http://schemas.microsoft.com/office/drawing/2014/main" id="{E50FC087-ACC3-C85F-C97A-8F76D7DF5B73}"/>
              </a:ext>
            </a:extLst>
          </p:cNvPr>
          <p:cNvGrpSpPr/>
          <p:nvPr/>
        </p:nvGrpSpPr>
        <p:grpSpPr>
          <a:xfrm>
            <a:off x="8325776" y="6036536"/>
            <a:ext cx="6934201" cy="2676245"/>
            <a:chOff x="333159" y="2601417"/>
            <a:chExt cx="6934201" cy="2676245"/>
          </a:xfrm>
        </p:grpSpPr>
        <p:grpSp>
          <p:nvGrpSpPr>
            <p:cNvPr id="17" name="Group 17"/>
            <p:cNvGrpSpPr/>
            <p:nvPr/>
          </p:nvGrpSpPr>
          <p:grpSpPr>
            <a:xfrm>
              <a:off x="333159" y="2601417"/>
              <a:ext cx="6934201" cy="2676245"/>
              <a:chOff x="0" y="-38100"/>
              <a:chExt cx="1826292" cy="704855"/>
            </a:xfrm>
          </p:grpSpPr>
          <p:sp>
            <p:nvSpPr>
              <p:cNvPr id="18" name="Freeform 18"/>
              <p:cNvSpPr/>
              <p:nvPr/>
            </p:nvSpPr>
            <p:spPr>
              <a:xfrm>
                <a:off x="0" y="0"/>
                <a:ext cx="1826292" cy="666755"/>
              </a:xfrm>
              <a:custGeom>
                <a:avLst/>
                <a:gdLst/>
                <a:ahLst/>
                <a:cxnLst/>
                <a:rect l="l" t="t" r="r" b="b"/>
                <a:pathLst>
                  <a:path w="1538203" h="347059">
                    <a:moveTo>
                      <a:pt x="43744" y="0"/>
                    </a:moveTo>
                    <a:lnTo>
                      <a:pt x="1494458" y="0"/>
                    </a:lnTo>
                    <a:cubicBezTo>
                      <a:pt x="1506060" y="0"/>
                      <a:pt x="1517187" y="4609"/>
                      <a:pt x="1525390" y="12812"/>
                    </a:cubicBezTo>
                    <a:cubicBezTo>
                      <a:pt x="1533594" y="21016"/>
                      <a:pt x="1538203" y="32143"/>
                      <a:pt x="1538203" y="43744"/>
                    </a:cubicBezTo>
                    <a:lnTo>
                      <a:pt x="1538203" y="303314"/>
                    </a:lnTo>
                    <a:cubicBezTo>
                      <a:pt x="1538203" y="314916"/>
                      <a:pt x="1533594" y="326043"/>
                      <a:pt x="1525390" y="334246"/>
                    </a:cubicBezTo>
                    <a:cubicBezTo>
                      <a:pt x="1517187" y="342450"/>
                      <a:pt x="1506060" y="347059"/>
                      <a:pt x="1494458" y="347059"/>
                    </a:cubicBezTo>
                    <a:lnTo>
                      <a:pt x="43744" y="347059"/>
                    </a:lnTo>
                    <a:cubicBezTo>
                      <a:pt x="32143" y="347059"/>
                      <a:pt x="21016" y="342450"/>
                      <a:pt x="12812" y="334246"/>
                    </a:cubicBezTo>
                    <a:cubicBezTo>
                      <a:pt x="4609" y="326043"/>
                      <a:pt x="0" y="314916"/>
                      <a:pt x="0" y="303314"/>
                    </a:cubicBezTo>
                    <a:lnTo>
                      <a:pt x="0" y="43744"/>
                    </a:lnTo>
                    <a:cubicBezTo>
                      <a:pt x="0" y="32143"/>
                      <a:pt x="4609" y="21016"/>
                      <a:pt x="12812" y="12812"/>
                    </a:cubicBezTo>
                    <a:cubicBezTo>
                      <a:pt x="21016" y="4609"/>
                      <a:pt x="32143" y="0"/>
                      <a:pt x="43744" y="0"/>
                    </a:cubicBezTo>
                    <a:close/>
                  </a:path>
                </a:pathLst>
              </a:custGeom>
              <a:solidFill>
                <a:srgbClr val="4D6BA7"/>
              </a:solidFill>
            </p:spPr>
            <p:txBody>
              <a:bodyPr/>
              <a:lstStyle/>
              <a:p>
                <a:endParaRPr lang="es-ES"/>
              </a:p>
            </p:txBody>
          </p:sp>
          <p:sp>
            <p:nvSpPr>
              <p:cNvPr id="19" name="TextBox 19"/>
              <p:cNvSpPr txBox="1"/>
              <p:nvPr/>
            </p:nvSpPr>
            <p:spPr>
              <a:xfrm>
                <a:off x="0" y="-38100"/>
                <a:ext cx="1573503" cy="666755"/>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441287" y="2892553"/>
              <a:ext cx="6673672" cy="2154436"/>
            </a:xfrm>
            <a:prstGeom prst="rect">
              <a:avLst/>
            </a:prstGeom>
          </p:spPr>
          <p:txBody>
            <a:bodyPr wrap="square" lIns="0" tIns="0" rIns="0" bIns="0" rtlCol="0" anchor="t">
              <a:spAutoFit/>
            </a:bodyPr>
            <a:lstStyle/>
            <a:p>
              <a:pPr algn="ctr">
                <a:lnSpc>
                  <a:spcPts val="5600"/>
                </a:lnSpc>
                <a:spcBef>
                  <a:spcPct val="0"/>
                </a:spcBef>
              </a:pPr>
              <a:r>
                <a:rPr lang="en-US" sz="5000" dirty="0">
                  <a:solidFill>
                    <a:srgbClr val="FFFFFF"/>
                  </a:solidFill>
                  <a:latin typeface="Bantayog"/>
                  <a:ea typeface="Bantayog"/>
                  <a:cs typeface="Bantayog"/>
                  <a:sym typeface="Bantayog"/>
                </a:rPr>
                <a:t>RESOLUCIÓN DE LA INESTABILIDAD ACTUAL DEL SISTEMA ELÉCTRICO</a:t>
              </a:r>
            </a:p>
          </p:txBody>
        </p:sp>
      </p:grpSp>
      <p:sp>
        <p:nvSpPr>
          <p:cNvPr id="51" name="TextBox 15">
            <a:extLst>
              <a:ext uri="{FF2B5EF4-FFF2-40B4-BE49-F238E27FC236}">
                <a16:creationId xmlns:a16="http://schemas.microsoft.com/office/drawing/2014/main" id="{15301673-4E1F-846B-68F5-E88146118CDE}"/>
              </a:ext>
            </a:extLst>
          </p:cNvPr>
          <p:cNvSpPr txBox="1"/>
          <p:nvPr/>
        </p:nvSpPr>
        <p:spPr>
          <a:xfrm>
            <a:off x="6307551" y="494348"/>
            <a:ext cx="567289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OBJETIVOS</a:t>
            </a:r>
          </a:p>
        </p:txBody>
      </p:sp>
      <p:grpSp>
        <p:nvGrpSpPr>
          <p:cNvPr id="41" name="Grupo 40">
            <a:extLst>
              <a:ext uri="{FF2B5EF4-FFF2-40B4-BE49-F238E27FC236}">
                <a16:creationId xmlns:a16="http://schemas.microsoft.com/office/drawing/2014/main" id="{E1181BC4-FC73-2830-E16A-10427B159D65}"/>
              </a:ext>
            </a:extLst>
          </p:cNvPr>
          <p:cNvGrpSpPr/>
          <p:nvPr/>
        </p:nvGrpSpPr>
        <p:grpSpPr>
          <a:xfrm>
            <a:off x="1856019" y="2542958"/>
            <a:ext cx="6934201" cy="2676245"/>
            <a:chOff x="333159" y="2601417"/>
            <a:chExt cx="6934201" cy="2676245"/>
          </a:xfrm>
        </p:grpSpPr>
        <p:grpSp>
          <p:nvGrpSpPr>
            <p:cNvPr id="46" name="Group 17">
              <a:extLst>
                <a:ext uri="{FF2B5EF4-FFF2-40B4-BE49-F238E27FC236}">
                  <a16:creationId xmlns:a16="http://schemas.microsoft.com/office/drawing/2014/main" id="{E83A0EFC-DA2B-186D-105C-CC4CD5A86BD5}"/>
                </a:ext>
              </a:extLst>
            </p:cNvPr>
            <p:cNvGrpSpPr/>
            <p:nvPr/>
          </p:nvGrpSpPr>
          <p:grpSpPr>
            <a:xfrm>
              <a:off x="333159" y="2601417"/>
              <a:ext cx="6934201" cy="2676245"/>
              <a:chOff x="0" y="-38100"/>
              <a:chExt cx="1826292" cy="704855"/>
            </a:xfrm>
          </p:grpSpPr>
          <p:sp>
            <p:nvSpPr>
              <p:cNvPr id="48" name="Freeform 18">
                <a:extLst>
                  <a:ext uri="{FF2B5EF4-FFF2-40B4-BE49-F238E27FC236}">
                    <a16:creationId xmlns:a16="http://schemas.microsoft.com/office/drawing/2014/main" id="{1B36EF2A-4D0A-C86C-4615-ABDAD8F7D62F}"/>
                  </a:ext>
                </a:extLst>
              </p:cNvPr>
              <p:cNvSpPr/>
              <p:nvPr/>
            </p:nvSpPr>
            <p:spPr>
              <a:xfrm>
                <a:off x="0" y="0"/>
                <a:ext cx="1826292" cy="666755"/>
              </a:xfrm>
              <a:custGeom>
                <a:avLst/>
                <a:gdLst/>
                <a:ahLst/>
                <a:cxnLst/>
                <a:rect l="l" t="t" r="r" b="b"/>
                <a:pathLst>
                  <a:path w="1538203" h="347059">
                    <a:moveTo>
                      <a:pt x="43744" y="0"/>
                    </a:moveTo>
                    <a:lnTo>
                      <a:pt x="1494458" y="0"/>
                    </a:lnTo>
                    <a:cubicBezTo>
                      <a:pt x="1506060" y="0"/>
                      <a:pt x="1517187" y="4609"/>
                      <a:pt x="1525390" y="12812"/>
                    </a:cubicBezTo>
                    <a:cubicBezTo>
                      <a:pt x="1533594" y="21016"/>
                      <a:pt x="1538203" y="32143"/>
                      <a:pt x="1538203" y="43744"/>
                    </a:cubicBezTo>
                    <a:lnTo>
                      <a:pt x="1538203" y="303314"/>
                    </a:lnTo>
                    <a:cubicBezTo>
                      <a:pt x="1538203" y="314916"/>
                      <a:pt x="1533594" y="326043"/>
                      <a:pt x="1525390" y="334246"/>
                    </a:cubicBezTo>
                    <a:cubicBezTo>
                      <a:pt x="1517187" y="342450"/>
                      <a:pt x="1506060" y="347059"/>
                      <a:pt x="1494458" y="347059"/>
                    </a:cubicBezTo>
                    <a:lnTo>
                      <a:pt x="43744" y="347059"/>
                    </a:lnTo>
                    <a:cubicBezTo>
                      <a:pt x="32143" y="347059"/>
                      <a:pt x="21016" y="342450"/>
                      <a:pt x="12812" y="334246"/>
                    </a:cubicBezTo>
                    <a:cubicBezTo>
                      <a:pt x="4609" y="326043"/>
                      <a:pt x="0" y="314916"/>
                      <a:pt x="0" y="303314"/>
                    </a:cubicBezTo>
                    <a:lnTo>
                      <a:pt x="0" y="43744"/>
                    </a:lnTo>
                    <a:cubicBezTo>
                      <a:pt x="0" y="32143"/>
                      <a:pt x="4609" y="21016"/>
                      <a:pt x="12812" y="12812"/>
                    </a:cubicBezTo>
                    <a:cubicBezTo>
                      <a:pt x="21016" y="4609"/>
                      <a:pt x="32143" y="0"/>
                      <a:pt x="43744" y="0"/>
                    </a:cubicBezTo>
                    <a:close/>
                  </a:path>
                </a:pathLst>
              </a:custGeom>
              <a:solidFill>
                <a:srgbClr val="4D6BA7"/>
              </a:solidFill>
            </p:spPr>
            <p:txBody>
              <a:bodyPr/>
              <a:lstStyle/>
              <a:p>
                <a:endParaRPr lang="es-ES" dirty="0"/>
              </a:p>
            </p:txBody>
          </p:sp>
          <p:sp>
            <p:nvSpPr>
              <p:cNvPr id="49" name="TextBox 19">
                <a:extLst>
                  <a:ext uri="{FF2B5EF4-FFF2-40B4-BE49-F238E27FC236}">
                    <a16:creationId xmlns:a16="http://schemas.microsoft.com/office/drawing/2014/main" id="{5A51E74D-7DA5-21FD-26DF-F6D6F8154518}"/>
                  </a:ext>
                </a:extLst>
              </p:cNvPr>
              <p:cNvSpPr txBox="1"/>
              <p:nvPr/>
            </p:nvSpPr>
            <p:spPr>
              <a:xfrm>
                <a:off x="0" y="-38100"/>
                <a:ext cx="1573503" cy="666755"/>
              </a:xfrm>
              <a:prstGeom prst="rect">
                <a:avLst/>
              </a:prstGeom>
            </p:spPr>
            <p:txBody>
              <a:bodyPr lIns="50800" tIns="50800" rIns="50800" bIns="50800" rtlCol="0" anchor="ctr"/>
              <a:lstStyle/>
              <a:p>
                <a:pPr algn="ctr">
                  <a:lnSpc>
                    <a:spcPts val="2659"/>
                  </a:lnSpc>
                </a:pPr>
                <a:endParaRPr/>
              </a:p>
            </p:txBody>
          </p:sp>
        </p:grpSp>
        <p:sp>
          <p:nvSpPr>
            <p:cNvPr id="47" name="TextBox 20">
              <a:extLst>
                <a:ext uri="{FF2B5EF4-FFF2-40B4-BE49-F238E27FC236}">
                  <a16:creationId xmlns:a16="http://schemas.microsoft.com/office/drawing/2014/main" id="{350B5A16-A992-EF9F-DF61-08B6317A55F9}"/>
                </a:ext>
              </a:extLst>
            </p:cNvPr>
            <p:cNvSpPr txBox="1"/>
            <p:nvPr/>
          </p:nvSpPr>
          <p:spPr>
            <a:xfrm>
              <a:off x="463423" y="3283423"/>
              <a:ext cx="6673672" cy="1436291"/>
            </a:xfrm>
            <a:prstGeom prst="rect">
              <a:avLst/>
            </a:prstGeom>
          </p:spPr>
          <p:txBody>
            <a:bodyPr wrap="square" lIns="0" tIns="0" rIns="0" bIns="0" rtlCol="0" anchor="t">
              <a:spAutoFit/>
            </a:bodyPr>
            <a:lstStyle/>
            <a:p>
              <a:pPr algn="ctr">
                <a:lnSpc>
                  <a:spcPts val="5600"/>
                </a:lnSpc>
                <a:spcBef>
                  <a:spcPct val="0"/>
                </a:spcBef>
              </a:pPr>
              <a:r>
                <a:rPr lang="en-US" sz="5000" dirty="0">
                  <a:solidFill>
                    <a:srgbClr val="FFFFFF"/>
                  </a:solidFill>
                  <a:latin typeface="Bantayog"/>
                  <a:ea typeface="Bantayog"/>
                  <a:cs typeface="Bantayog"/>
                  <a:sym typeface="Bantayog"/>
                </a:rPr>
                <a:t>ANÁLISIS Y TRATAMIENTO DE DATOS</a:t>
              </a:r>
            </a:p>
          </p:txBody>
        </p:sp>
      </p:grpSp>
    </p:spTree>
  </p:cSld>
  <p:clrMapOvr>
    <a:masterClrMapping/>
  </p:clrMapOvr>
  <p:transition spd="med">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a:extLst>
            <a:ext uri="{FF2B5EF4-FFF2-40B4-BE49-F238E27FC236}">
              <a16:creationId xmlns:a16="http://schemas.microsoft.com/office/drawing/2014/main" id="{FD5CEE01-ECB6-6F4A-064B-801E9F605D4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3C9676C-9410-0BF6-E8F7-9C95203710F1}"/>
              </a:ext>
            </a:extLst>
          </p:cNvPr>
          <p:cNvGrpSpPr/>
          <p:nvPr/>
        </p:nvGrpSpPr>
        <p:grpSpPr>
          <a:xfrm rot="-2570167">
            <a:off x="-1135601" y="-3063714"/>
            <a:ext cx="5983240" cy="3369636"/>
            <a:chOff x="0" y="0"/>
            <a:chExt cx="744168" cy="419100"/>
          </a:xfrm>
        </p:grpSpPr>
        <p:sp>
          <p:nvSpPr>
            <p:cNvPr id="3" name="Freeform 3">
              <a:extLst>
                <a:ext uri="{FF2B5EF4-FFF2-40B4-BE49-F238E27FC236}">
                  <a16:creationId xmlns:a16="http://schemas.microsoft.com/office/drawing/2014/main" id="{3685E70D-935B-F6F6-026D-A3F139AEB4E7}"/>
                </a:ext>
              </a:extLst>
            </p:cNvPr>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a:extLst>
                <a:ext uri="{FF2B5EF4-FFF2-40B4-BE49-F238E27FC236}">
                  <a16:creationId xmlns:a16="http://schemas.microsoft.com/office/drawing/2014/main" id="{23E640F8-C87F-9F42-4D96-698DD6E3097E}"/>
                </a:ext>
              </a:extLst>
            </p:cNvPr>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a:extLst>
              <a:ext uri="{FF2B5EF4-FFF2-40B4-BE49-F238E27FC236}">
                <a16:creationId xmlns:a16="http://schemas.microsoft.com/office/drawing/2014/main" id="{9118CCAB-F0EE-28D5-D243-CE387583ED15}"/>
              </a:ext>
            </a:extLst>
          </p:cNvPr>
          <p:cNvGrpSpPr/>
          <p:nvPr/>
        </p:nvGrpSpPr>
        <p:grpSpPr>
          <a:xfrm rot="-2570167">
            <a:off x="-4609279" y="8628547"/>
            <a:ext cx="6252050" cy="3864704"/>
            <a:chOff x="0" y="0"/>
            <a:chExt cx="744168" cy="460007"/>
          </a:xfrm>
        </p:grpSpPr>
        <p:sp>
          <p:nvSpPr>
            <p:cNvPr id="6" name="Freeform 6">
              <a:extLst>
                <a:ext uri="{FF2B5EF4-FFF2-40B4-BE49-F238E27FC236}">
                  <a16:creationId xmlns:a16="http://schemas.microsoft.com/office/drawing/2014/main" id="{1E22FB3E-D28A-01AD-C76E-DA8C4ADEA842}"/>
                </a:ext>
              </a:extLst>
            </p:cNvPr>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a:extLst>
                <a:ext uri="{FF2B5EF4-FFF2-40B4-BE49-F238E27FC236}">
                  <a16:creationId xmlns:a16="http://schemas.microsoft.com/office/drawing/2014/main" id="{60F827E0-7B4A-B699-033B-7374453CF4F9}"/>
                </a:ext>
              </a:extLst>
            </p:cNvPr>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CD10E229-321D-03EC-7F13-EC900E5B49A4}"/>
              </a:ext>
            </a:extLst>
          </p:cNvPr>
          <p:cNvGrpSpPr/>
          <p:nvPr/>
        </p:nvGrpSpPr>
        <p:grpSpPr>
          <a:xfrm rot="-2570167">
            <a:off x="16189262" y="-3106762"/>
            <a:ext cx="9679118" cy="4948927"/>
            <a:chOff x="0" y="0"/>
            <a:chExt cx="836041" cy="427467"/>
          </a:xfrm>
        </p:grpSpPr>
        <p:sp>
          <p:nvSpPr>
            <p:cNvPr id="9" name="Freeform 9">
              <a:extLst>
                <a:ext uri="{FF2B5EF4-FFF2-40B4-BE49-F238E27FC236}">
                  <a16:creationId xmlns:a16="http://schemas.microsoft.com/office/drawing/2014/main" id="{48D6B7D2-62B9-CD11-4E81-22DBD91A4075}"/>
                </a:ext>
              </a:extLst>
            </p:cNvPr>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a:extLst>
                <a:ext uri="{FF2B5EF4-FFF2-40B4-BE49-F238E27FC236}">
                  <a16:creationId xmlns:a16="http://schemas.microsoft.com/office/drawing/2014/main" id="{4000D07D-8BF4-82F2-EE18-89638C72BD58}"/>
                </a:ext>
              </a:extLst>
            </p:cNvPr>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11BD9B9C-BE28-D6B7-9BC9-4C566BDE1DE5}"/>
              </a:ext>
            </a:extLst>
          </p:cNvPr>
          <p:cNvGrpSpPr/>
          <p:nvPr/>
        </p:nvGrpSpPr>
        <p:grpSpPr>
          <a:xfrm rot="-2570167">
            <a:off x="12379941" y="9017924"/>
            <a:ext cx="7467555" cy="4043454"/>
            <a:chOff x="0" y="0"/>
            <a:chExt cx="928780" cy="502906"/>
          </a:xfrm>
        </p:grpSpPr>
        <p:sp>
          <p:nvSpPr>
            <p:cNvPr id="12" name="Freeform 12">
              <a:extLst>
                <a:ext uri="{FF2B5EF4-FFF2-40B4-BE49-F238E27FC236}">
                  <a16:creationId xmlns:a16="http://schemas.microsoft.com/office/drawing/2014/main" id="{49D02565-851B-1A56-1B6F-CAF729B94A93}"/>
                </a:ext>
              </a:extLst>
            </p:cNvPr>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a:extLst>
                <a:ext uri="{FF2B5EF4-FFF2-40B4-BE49-F238E27FC236}">
                  <a16:creationId xmlns:a16="http://schemas.microsoft.com/office/drawing/2014/main" id="{31313887-BA94-66DD-2A3A-229F86AE59A1}"/>
                </a:ext>
              </a:extLst>
            </p:cNvPr>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a:extLst>
              <a:ext uri="{FF2B5EF4-FFF2-40B4-BE49-F238E27FC236}">
                <a16:creationId xmlns:a16="http://schemas.microsoft.com/office/drawing/2014/main" id="{6523E0B9-08B2-B532-D27A-F18584A0C1FF}"/>
              </a:ext>
            </a:extLst>
          </p:cNvPr>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8</a:t>
            </a:r>
          </a:p>
        </p:txBody>
      </p:sp>
      <p:sp>
        <p:nvSpPr>
          <p:cNvPr id="21" name="TextBox 16">
            <a:extLst>
              <a:ext uri="{FF2B5EF4-FFF2-40B4-BE49-F238E27FC236}">
                <a16:creationId xmlns:a16="http://schemas.microsoft.com/office/drawing/2014/main" id="{9BAC8464-C50D-494A-8EBE-97A0F6E47CEA}"/>
              </a:ext>
            </a:extLst>
          </p:cNvPr>
          <p:cNvSpPr txBox="1"/>
          <p:nvPr/>
        </p:nvSpPr>
        <p:spPr>
          <a:xfrm>
            <a:off x="2470647" y="494348"/>
            <a:ext cx="13346707" cy="2436564"/>
          </a:xfrm>
          <a:prstGeom prst="rect">
            <a:avLst/>
          </a:prstGeom>
        </p:spPr>
        <p:txBody>
          <a:bodyPr wrap="square" lIns="0" tIns="0" rIns="0" bIns="0" rtlCol="0" anchor="t">
            <a:spAutoFit/>
          </a:bodyPr>
          <a:lstStyle/>
          <a:p>
            <a:pPr algn="ctr">
              <a:lnSpc>
                <a:spcPts val="9500"/>
              </a:lnSpc>
              <a:spcBef>
                <a:spcPct val="0"/>
              </a:spcBef>
            </a:pPr>
            <a:r>
              <a:rPr lang="en-US" sz="9000" dirty="0">
                <a:solidFill>
                  <a:srgbClr val="203660"/>
                </a:solidFill>
                <a:latin typeface="Bantayog"/>
                <a:ea typeface="Bantayog"/>
                <a:cs typeface="Bantayog"/>
                <a:sym typeface="Bantayog"/>
              </a:rPr>
              <a:t>RESUMEN DE LA PLANIFICACIÓN</a:t>
            </a:r>
          </a:p>
        </p:txBody>
      </p:sp>
      <p:graphicFrame>
        <p:nvGraphicFramePr>
          <p:cNvPr id="37" name="Tabla 36">
            <a:extLst>
              <a:ext uri="{FF2B5EF4-FFF2-40B4-BE49-F238E27FC236}">
                <a16:creationId xmlns:a16="http://schemas.microsoft.com/office/drawing/2014/main" id="{78660A0E-358E-F0F8-F554-ED310FE6EA88}"/>
              </a:ext>
            </a:extLst>
          </p:cNvPr>
          <p:cNvGraphicFramePr>
            <a:graphicFrameLocks noGrp="1"/>
          </p:cNvGraphicFramePr>
          <p:nvPr>
            <p:extLst>
              <p:ext uri="{D42A27DB-BD31-4B8C-83A1-F6EECF244321}">
                <p14:modId xmlns:p14="http://schemas.microsoft.com/office/powerpoint/2010/main" val="503795589"/>
              </p:ext>
            </p:extLst>
          </p:nvPr>
        </p:nvGraphicFramePr>
        <p:xfrm>
          <a:off x="1610956" y="2930912"/>
          <a:ext cx="13443789" cy="6314150"/>
        </p:xfrm>
        <a:graphic>
          <a:graphicData uri="http://schemas.openxmlformats.org/drawingml/2006/table">
            <a:tbl>
              <a:tblPr firstRow="1" bandRow="1">
                <a:tableStyleId>{5C22544A-7EE6-4342-B048-85BDC9FD1C3A}</a:tableStyleId>
              </a:tblPr>
              <a:tblGrid>
                <a:gridCol w="3290869">
                  <a:extLst>
                    <a:ext uri="{9D8B030D-6E8A-4147-A177-3AD203B41FA5}">
                      <a16:colId xmlns:a16="http://schemas.microsoft.com/office/drawing/2014/main" val="3001324792"/>
                    </a:ext>
                  </a:extLst>
                </a:gridCol>
                <a:gridCol w="1087813">
                  <a:extLst>
                    <a:ext uri="{9D8B030D-6E8A-4147-A177-3AD203B41FA5}">
                      <a16:colId xmlns:a16="http://schemas.microsoft.com/office/drawing/2014/main" val="4281792008"/>
                    </a:ext>
                  </a:extLst>
                </a:gridCol>
                <a:gridCol w="1087813">
                  <a:extLst>
                    <a:ext uri="{9D8B030D-6E8A-4147-A177-3AD203B41FA5}">
                      <a16:colId xmlns:a16="http://schemas.microsoft.com/office/drawing/2014/main" val="286987020"/>
                    </a:ext>
                  </a:extLst>
                </a:gridCol>
                <a:gridCol w="1087813">
                  <a:extLst>
                    <a:ext uri="{9D8B030D-6E8A-4147-A177-3AD203B41FA5}">
                      <a16:colId xmlns:a16="http://schemas.microsoft.com/office/drawing/2014/main" val="154849624"/>
                    </a:ext>
                  </a:extLst>
                </a:gridCol>
                <a:gridCol w="1087813">
                  <a:extLst>
                    <a:ext uri="{9D8B030D-6E8A-4147-A177-3AD203B41FA5}">
                      <a16:colId xmlns:a16="http://schemas.microsoft.com/office/drawing/2014/main" val="1784149471"/>
                    </a:ext>
                  </a:extLst>
                </a:gridCol>
                <a:gridCol w="1087813">
                  <a:extLst>
                    <a:ext uri="{9D8B030D-6E8A-4147-A177-3AD203B41FA5}">
                      <a16:colId xmlns:a16="http://schemas.microsoft.com/office/drawing/2014/main" val="3879580221"/>
                    </a:ext>
                  </a:extLst>
                </a:gridCol>
                <a:gridCol w="1160334">
                  <a:extLst>
                    <a:ext uri="{9D8B030D-6E8A-4147-A177-3AD203B41FA5}">
                      <a16:colId xmlns:a16="http://schemas.microsoft.com/office/drawing/2014/main" val="242796434"/>
                    </a:ext>
                  </a:extLst>
                </a:gridCol>
                <a:gridCol w="1232855">
                  <a:extLst>
                    <a:ext uri="{9D8B030D-6E8A-4147-A177-3AD203B41FA5}">
                      <a16:colId xmlns:a16="http://schemas.microsoft.com/office/drawing/2014/main" val="1793822494"/>
                    </a:ext>
                  </a:extLst>
                </a:gridCol>
                <a:gridCol w="1160334">
                  <a:extLst>
                    <a:ext uri="{9D8B030D-6E8A-4147-A177-3AD203B41FA5}">
                      <a16:colId xmlns:a16="http://schemas.microsoft.com/office/drawing/2014/main" val="3849287960"/>
                    </a:ext>
                  </a:extLst>
                </a:gridCol>
                <a:gridCol w="1160332">
                  <a:extLst>
                    <a:ext uri="{9D8B030D-6E8A-4147-A177-3AD203B41FA5}">
                      <a16:colId xmlns:a16="http://schemas.microsoft.com/office/drawing/2014/main" val="2579310723"/>
                    </a:ext>
                  </a:extLst>
                </a:gridCol>
              </a:tblGrid>
              <a:tr h="814894">
                <a:tc rowSpan="2">
                  <a:txBody>
                    <a:bodyPr/>
                    <a:lstStyle/>
                    <a:p>
                      <a:pPr algn="ctr"/>
                      <a:endParaRPr lang="es-ES" sz="3200" dirty="0">
                        <a:solidFill>
                          <a:schemeClr val="bg1"/>
                        </a:solidFill>
                        <a:latin typeface="Bantayog" panose="020B0604020202020204" charset="0"/>
                      </a:endParaRPr>
                    </a:p>
                  </a:txBody>
                  <a:tcPr anchor="ctr">
                    <a:lnL w="12700" cap="flat" cmpd="sng" algn="ctr">
                      <a:solidFill>
                        <a:srgbClr val="4D6BA7"/>
                      </a:solidFill>
                      <a:prstDash val="solid"/>
                      <a:round/>
                      <a:headEnd type="none" w="med" len="med"/>
                      <a:tailEnd type="none" w="med" len="med"/>
                    </a:lnL>
                    <a:lnR w="12700" cap="flat" cmpd="sng" algn="ctr">
                      <a:solidFill>
                        <a:srgbClr val="4D6BA7"/>
                      </a:solidFill>
                      <a:prstDash val="solid"/>
                      <a:round/>
                      <a:headEnd type="none" w="med" len="med"/>
                      <a:tailEnd type="none" w="med" len="med"/>
                    </a:lnR>
                    <a:lnT w="12700" cap="flat" cmpd="sng" algn="ctr">
                      <a:solidFill>
                        <a:srgbClr val="4D6BA7"/>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tc gridSpan="4">
                  <a:txBody>
                    <a:bodyPr/>
                    <a:lstStyle/>
                    <a:p>
                      <a:pPr algn="ctr"/>
                      <a:r>
                        <a:rPr lang="es-ES" sz="3200" dirty="0">
                          <a:solidFill>
                            <a:schemeClr val="bg1"/>
                          </a:solidFill>
                          <a:latin typeface="Bantayog" panose="020B0604020202020204" charset="0"/>
                        </a:rPr>
                        <a:t>2025</a:t>
                      </a:r>
                    </a:p>
                  </a:txBody>
                  <a:tcPr anchor="ctr">
                    <a:lnL w="12700" cap="flat" cmpd="sng" algn="ctr">
                      <a:solidFill>
                        <a:srgbClr val="4D6BA7"/>
                      </a:solidFill>
                      <a:prstDash val="solid"/>
                      <a:round/>
                      <a:headEnd type="none" w="med" len="med"/>
                      <a:tailEnd type="none" w="med" len="med"/>
                    </a:lnL>
                    <a:lnR w="12700" cap="flat" cmpd="sng" algn="ctr">
                      <a:solidFill>
                        <a:srgbClr val="4D6BA7"/>
                      </a:solidFill>
                      <a:prstDash val="solid"/>
                      <a:round/>
                      <a:headEnd type="none" w="med" len="med"/>
                      <a:tailEnd type="none" w="med" len="med"/>
                    </a:lnR>
                    <a:lnT w="12700" cap="flat" cmpd="sng" algn="ctr">
                      <a:solidFill>
                        <a:srgbClr val="4D6BA7"/>
                      </a:solidFill>
                      <a:prstDash val="solid"/>
                      <a:round/>
                      <a:headEnd type="none" w="med" len="med"/>
                      <a:tailEnd type="none" w="med" len="med"/>
                    </a:lnT>
                    <a:lnB w="12700" cap="flat" cmpd="sng" algn="ctr">
                      <a:solidFill>
                        <a:srgbClr val="4D6BA7"/>
                      </a:solidFill>
                      <a:prstDash val="solid"/>
                      <a:round/>
                      <a:headEnd type="none" w="med" len="med"/>
                      <a:tailEnd type="none" w="med" len="med"/>
                    </a:lnB>
                    <a:solidFill>
                      <a:srgbClr val="203660"/>
                    </a:solidFill>
                  </a:tcPr>
                </a:tc>
                <a:tc hMerge="1">
                  <a:txBody>
                    <a:bodyPr/>
                    <a:lstStyle/>
                    <a:p>
                      <a:endParaRPr lang="es-ES" dirty="0"/>
                    </a:p>
                  </a:txBody>
                  <a:tcPr>
                    <a:solidFill>
                      <a:srgbClr val="203660"/>
                    </a:solidFill>
                  </a:tcPr>
                </a:tc>
                <a:tc hMerge="1">
                  <a:txBody>
                    <a:bodyPr/>
                    <a:lstStyle/>
                    <a:p>
                      <a:endParaRPr lang="es-ES" dirty="0"/>
                    </a:p>
                  </a:txBody>
                  <a:tcPr>
                    <a:solidFill>
                      <a:srgbClr val="203660"/>
                    </a:solidFill>
                  </a:tcPr>
                </a:tc>
                <a:tc hMerge="1">
                  <a:txBody>
                    <a:bodyPr/>
                    <a:lstStyle/>
                    <a:p>
                      <a:endParaRPr lang="es-ES" dirty="0"/>
                    </a:p>
                  </a:txBody>
                  <a:tcPr>
                    <a:solidFill>
                      <a:srgbClr val="203660"/>
                    </a:solidFill>
                  </a:tcPr>
                </a:tc>
                <a:tc gridSpan="5">
                  <a:txBody>
                    <a:bodyPr/>
                    <a:lstStyle/>
                    <a:p>
                      <a:pPr algn="ctr"/>
                      <a:r>
                        <a:rPr lang="es-ES" sz="3200" dirty="0">
                          <a:solidFill>
                            <a:schemeClr val="bg1"/>
                          </a:solidFill>
                          <a:latin typeface="Bantayog" panose="020B0604020202020204" charset="0"/>
                        </a:rPr>
                        <a:t>2026</a:t>
                      </a:r>
                    </a:p>
                  </a:txBody>
                  <a:tcPr anchor="ctr">
                    <a:lnL w="12700" cap="flat" cmpd="sng" algn="ctr">
                      <a:solidFill>
                        <a:srgbClr val="4D6BA7"/>
                      </a:solidFill>
                      <a:prstDash val="solid"/>
                      <a:round/>
                      <a:headEnd type="none" w="med" len="med"/>
                      <a:tailEnd type="none" w="med" len="med"/>
                    </a:lnL>
                    <a:lnR w="12700" cap="flat" cmpd="sng" algn="ctr">
                      <a:solidFill>
                        <a:srgbClr val="4D6BA7"/>
                      </a:solidFill>
                      <a:prstDash val="solid"/>
                      <a:round/>
                      <a:headEnd type="none" w="med" len="med"/>
                      <a:tailEnd type="none" w="med" len="med"/>
                    </a:lnR>
                    <a:lnT w="12700" cap="flat" cmpd="sng" algn="ctr">
                      <a:solidFill>
                        <a:srgbClr val="4D6BA7"/>
                      </a:solidFill>
                      <a:prstDash val="solid"/>
                      <a:round/>
                      <a:headEnd type="none" w="med" len="med"/>
                      <a:tailEnd type="none" w="med" len="med"/>
                    </a:lnT>
                    <a:lnB w="12700" cap="flat" cmpd="sng" algn="ctr">
                      <a:solidFill>
                        <a:srgbClr val="4D6BA7"/>
                      </a:solidFill>
                      <a:prstDash val="solid"/>
                      <a:round/>
                      <a:headEnd type="none" w="med" len="med"/>
                      <a:tailEnd type="none" w="med" len="med"/>
                    </a:lnB>
                    <a:solidFill>
                      <a:srgbClr val="203660"/>
                    </a:solidFill>
                  </a:tcPr>
                </a:tc>
                <a:tc hMerge="1">
                  <a:txBody>
                    <a:bodyPr/>
                    <a:lstStyle/>
                    <a:p>
                      <a:endParaRPr lang="es-ES" dirty="0"/>
                    </a:p>
                  </a:txBody>
                  <a:tcPr>
                    <a:solidFill>
                      <a:srgbClr val="203660"/>
                    </a:solidFill>
                  </a:tcPr>
                </a:tc>
                <a:tc hMerge="1">
                  <a:txBody>
                    <a:bodyPr/>
                    <a:lstStyle/>
                    <a:p>
                      <a:endParaRPr lang="es-ES" dirty="0"/>
                    </a:p>
                  </a:txBody>
                  <a:tcPr>
                    <a:solidFill>
                      <a:srgbClr val="203660"/>
                    </a:solidFill>
                  </a:tcPr>
                </a:tc>
                <a:tc hMerge="1">
                  <a:txBody>
                    <a:bodyPr/>
                    <a:lstStyle/>
                    <a:p>
                      <a:endParaRPr lang="es-ES" dirty="0"/>
                    </a:p>
                  </a:txBody>
                  <a:tcPr>
                    <a:solidFill>
                      <a:srgbClr val="203660"/>
                    </a:solidFill>
                  </a:tcPr>
                </a:tc>
                <a:tc hMerge="1">
                  <a:txBody>
                    <a:bodyPr/>
                    <a:lstStyle/>
                    <a:p>
                      <a:endParaRPr lang="es-ES" dirty="0"/>
                    </a:p>
                  </a:txBody>
                  <a:tcPr>
                    <a:solidFill>
                      <a:srgbClr val="203660"/>
                    </a:solidFill>
                  </a:tcPr>
                </a:tc>
                <a:extLst>
                  <a:ext uri="{0D108BD9-81ED-4DB2-BD59-A6C34878D82A}">
                    <a16:rowId xmlns:a16="http://schemas.microsoft.com/office/drawing/2014/main" val="1077334622"/>
                  </a:ext>
                </a:extLst>
              </a:tr>
              <a:tr h="694673">
                <a:tc vMerge="1">
                  <a:txBody>
                    <a:bodyPr/>
                    <a:lstStyle/>
                    <a:p>
                      <a:endParaRPr lang="es-ES" dirty="0"/>
                    </a:p>
                  </a:txBody>
                  <a:tcPr>
                    <a:lnT w="12700" cap="flat" cmpd="sng" algn="ctr">
                      <a:solidFill>
                        <a:srgbClr val="DBE7FF"/>
                      </a:solidFill>
                      <a:prstDash val="solid"/>
                      <a:round/>
                      <a:headEnd type="none" w="med" len="med"/>
                      <a:tailEnd type="none" w="med" len="med"/>
                    </a:lnT>
                    <a:solidFill>
                      <a:srgbClr val="203660"/>
                    </a:solidFill>
                  </a:tcPr>
                </a:tc>
                <a:tc>
                  <a:txBody>
                    <a:bodyPr/>
                    <a:lstStyle/>
                    <a:p>
                      <a:pPr algn="ctr"/>
                      <a:r>
                        <a:rPr lang="es-ES" sz="3200" dirty="0">
                          <a:solidFill>
                            <a:schemeClr val="bg1"/>
                          </a:solidFill>
                          <a:latin typeface="Bantayog" panose="020B0604020202020204" charset="0"/>
                        </a:rPr>
                        <a:t>SEP</a:t>
                      </a:r>
                    </a:p>
                  </a:txBody>
                  <a:tcPr anchor="ctr">
                    <a:lnL w="12700" cap="flat" cmpd="sng" algn="ctr">
                      <a:solidFill>
                        <a:srgbClr val="4D6BA7"/>
                      </a:solidFill>
                      <a:prstDash val="solid"/>
                      <a:round/>
                      <a:headEnd type="none" w="med" len="med"/>
                      <a:tailEnd type="none" w="med" len="med"/>
                    </a:lnL>
                    <a:lnR w="12700" cap="flat" cmpd="sng" algn="ctr">
                      <a:solidFill>
                        <a:srgbClr val="4D6BA7"/>
                      </a:solidFill>
                      <a:prstDash val="solid"/>
                      <a:round/>
                      <a:headEnd type="none" w="med" len="med"/>
                      <a:tailEnd type="none" w="med" len="med"/>
                    </a:lnR>
                    <a:lnT w="12700" cap="flat" cmpd="sng" algn="ctr">
                      <a:solidFill>
                        <a:srgbClr val="4D6BA7"/>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tc>
                  <a:txBody>
                    <a:bodyPr/>
                    <a:lstStyle/>
                    <a:p>
                      <a:pPr algn="ctr"/>
                      <a:r>
                        <a:rPr lang="es-ES" sz="3200" dirty="0">
                          <a:solidFill>
                            <a:schemeClr val="bg1"/>
                          </a:solidFill>
                          <a:latin typeface="Bantayog" panose="020B0604020202020204" charset="0"/>
                        </a:rPr>
                        <a:t>OCT</a:t>
                      </a:r>
                    </a:p>
                  </a:txBody>
                  <a:tcPr anchor="ctr">
                    <a:lnL w="12700" cap="flat" cmpd="sng" algn="ctr">
                      <a:solidFill>
                        <a:srgbClr val="4D6BA7"/>
                      </a:solidFill>
                      <a:prstDash val="solid"/>
                      <a:round/>
                      <a:headEnd type="none" w="med" len="med"/>
                      <a:tailEnd type="none" w="med" len="med"/>
                    </a:lnL>
                    <a:lnR w="12700" cap="flat" cmpd="sng" algn="ctr">
                      <a:solidFill>
                        <a:srgbClr val="4D6BA7"/>
                      </a:solidFill>
                      <a:prstDash val="solid"/>
                      <a:round/>
                      <a:headEnd type="none" w="med" len="med"/>
                      <a:tailEnd type="none" w="med" len="med"/>
                    </a:lnR>
                    <a:lnT w="12700" cap="flat" cmpd="sng" algn="ctr">
                      <a:solidFill>
                        <a:srgbClr val="4D6BA7"/>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tc>
                  <a:txBody>
                    <a:bodyPr/>
                    <a:lstStyle/>
                    <a:p>
                      <a:pPr algn="ctr"/>
                      <a:r>
                        <a:rPr lang="es-ES" sz="3200" dirty="0">
                          <a:solidFill>
                            <a:schemeClr val="bg1"/>
                          </a:solidFill>
                          <a:latin typeface="Bantayog" panose="020B0604020202020204" charset="0"/>
                        </a:rPr>
                        <a:t>NOV</a:t>
                      </a:r>
                    </a:p>
                  </a:txBody>
                  <a:tcPr anchor="ctr">
                    <a:lnL w="12700" cap="flat" cmpd="sng" algn="ctr">
                      <a:solidFill>
                        <a:srgbClr val="4D6BA7"/>
                      </a:solidFill>
                      <a:prstDash val="solid"/>
                      <a:round/>
                      <a:headEnd type="none" w="med" len="med"/>
                      <a:tailEnd type="none" w="med" len="med"/>
                    </a:lnL>
                    <a:lnR w="12700" cap="flat" cmpd="sng" algn="ctr">
                      <a:solidFill>
                        <a:srgbClr val="4D6BA7"/>
                      </a:solidFill>
                      <a:prstDash val="solid"/>
                      <a:round/>
                      <a:headEnd type="none" w="med" len="med"/>
                      <a:tailEnd type="none" w="med" len="med"/>
                    </a:lnR>
                    <a:lnT w="12700" cap="flat" cmpd="sng" algn="ctr">
                      <a:solidFill>
                        <a:srgbClr val="4D6BA7"/>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tc>
                  <a:txBody>
                    <a:bodyPr/>
                    <a:lstStyle/>
                    <a:p>
                      <a:pPr algn="ctr"/>
                      <a:r>
                        <a:rPr lang="es-ES" sz="3200" dirty="0">
                          <a:solidFill>
                            <a:schemeClr val="bg1"/>
                          </a:solidFill>
                          <a:latin typeface="Bantayog" panose="020B0604020202020204" charset="0"/>
                        </a:rPr>
                        <a:t>DIC</a:t>
                      </a:r>
                    </a:p>
                  </a:txBody>
                  <a:tcPr anchor="ctr">
                    <a:lnL w="12700" cap="flat" cmpd="sng" algn="ctr">
                      <a:solidFill>
                        <a:srgbClr val="4D6BA7"/>
                      </a:solidFill>
                      <a:prstDash val="solid"/>
                      <a:round/>
                      <a:headEnd type="none" w="med" len="med"/>
                      <a:tailEnd type="none" w="med" len="med"/>
                    </a:lnL>
                    <a:lnR w="12700" cap="flat" cmpd="sng" algn="ctr">
                      <a:solidFill>
                        <a:srgbClr val="4D6BA7"/>
                      </a:solidFill>
                      <a:prstDash val="solid"/>
                      <a:round/>
                      <a:headEnd type="none" w="med" len="med"/>
                      <a:tailEnd type="none" w="med" len="med"/>
                    </a:lnR>
                    <a:lnT w="12700" cap="flat" cmpd="sng" algn="ctr">
                      <a:solidFill>
                        <a:srgbClr val="4D6BA7"/>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tc>
                  <a:txBody>
                    <a:bodyPr/>
                    <a:lstStyle/>
                    <a:p>
                      <a:pPr algn="ctr"/>
                      <a:r>
                        <a:rPr lang="es-ES" sz="3200" dirty="0">
                          <a:solidFill>
                            <a:schemeClr val="bg1"/>
                          </a:solidFill>
                          <a:latin typeface="Bantayog" panose="020B0604020202020204" charset="0"/>
                        </a:rPr>
                        <a:t>ENE</a:t>
                      </a:r>
                    </a:p>
                  </a:txBody>
                  <a:tcPr anchor="ctr">
                    <a:lnL w="12700" cap="flat" cmpd="sng" algn="ctr">
                      <a:solidFill>
                        <a:srgbClr val="4D6BA7"/>
                      </a:solidFill>
                      <a:prstDash val="solid"/>
                      <a:round/>
                      <a:headEnd type="none" w="med" len="med"/>
                      <a:tailEnd type="none" w="med" len="med"/>
                    </a:lnL>
                    <a:lnR w="12700" cap="flat" cmpd="sng" algn="ctr">
                      <a:solidFill>
                        <a:srgbClr val="4D6BA7"/>
                      </a:solidFill>
                      <a:prstDash val="solid"/>
                      <a:round/>
                      <a:headEnd type="none" w="med" len="med"/>
                      <a:tailEnd type="none" w="med" len="med"/>
                    </a:lnR>
                    <a:lnT w="12700" cap="flat" cmpd="sng" algn="ctr">
                      <a:solidFill>
                        <a:srgbClr val="4D6BA7"/>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tc>
                  <a:txBody>
                    <a:bodyPr/>
                    <a:lstStyle/>
                    <a:p>
                      <a:pPr algn="ctr"/>
                      <a:r>
                        <a:rPr lang="es-ES" sz="3200" dirty="0">
                          <a:solidFill>
                            <a:schemeClr val="bg1"/>
                          </a:solidFill>
                          <a:latin typeface="Bantayog" panose="020B0604020202020204" charset="0"/>
                        </a:rPr>
                        <a:t>FEB</a:t>
                      </a:r>
                    </a:p>
                  </a:txBody>
                  <a:tcPr anchor="ctr">
                    <a:lnL w="12700" cap="flat" cmpd="sng" algn="ctr">
                      <a:solidFill>
                        <a:srgbClr val="4D6BA7"/>
                      </a:solidFill>
                      <a:prstDash val="solid"/>
                      <a:round/>
                      <a:headEnd type="none" w="med" len="med"/>
                      <a:tailEnd type="none" w="med" len="med"/>
                    </a:lnL>
                    <a:lnR w="12700" cap="flat" cmpd="sng" algn="ctr">
                      <a:solidFill>
                        <a:srgbClr val="4D6BA7"/>
                      </a:solidFill>
                      <a:prstDash val="solid"/>
                      <a:round/>
                      <a:headEnd type="none" w="med" len="med"/>
                      <a:tailEnd type="none" w="med" len="med"/>
                    </a:lnR>
                    <a:lnT w="12700" cap="flat" cmpd="sng" algn="ctr">
                      <a:solidFill>
                        <a:srgbClr val="4D6BA7"/>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tc>
                  <a:txBody>
                    <a:bodyPr/>
                    <a:lstStyle/>
                    <a:p>
                      <a:pPr algn="ctr"/>
                      <a:r>
                        <a:rPr lang="es-ES" sz="3200" dirty="0">
                          <a:solidFill>
                            <a:schemeClr val="bg1"/>
                          </a:solidFill>
                          <a:latin typeface="Bantayog" panose="020B0604020202020204" charset="0"/>
                        </a:rPr>
                        <a:t>MAR</a:t>
                      </a:r>
                    </a:p>
                  </a:txBody>
                  <a:tcPr anchor="ctr">
                    <a:lnL w="12700" cap="flat" cmpd="sng" algn="ctr">
                      <a:solidFill>
                        <a:srgbClr val="4D6BA7"/>
                      </a:solidFill>
                      <a:prstDash val="solid"/>
                      <a:round/>
                      <a:headEnd type="none" w="med" len="med"/>
                      <a:tailEnd type="none" w="med" len="med"/>
                    </a:lnL>
                    <a:lnR w="12700" cap="flat" cmpd="sng" algn="ctr">
                      <a:solidFill>
                        <a:srgbClr val="4D6BA7"/>
                      </a:solidFill>
                      <a:prstDash val="solid"/>
                      <a:round/>
                      <a:headEnd type="none" w="med" len="med"/>
                      <a:tailEnd type="none" w="med" len="med"/>
                    </a:lnR>
                    <a:lnT w="12700" cap="flat" cmpd="sng" algn="ctr">
                      <a:solidFill>
                        <a:srgbClr val="4D6BA7"/>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tc>
                  <a:txBody>
                    <a:bodyPr/>
                    <a:lstStyle/>
                    <a:p>
                      <a:pPr algn="ctr"/>
                      <a:r>
                        <a:rPr lang="es-ES" sz="3200" dirty="0">
                          <a:solidFill>
                            <a:schemeClr val="bg1"/>
                          </a:solidFill>
                          <a:latin typeface="Bantayog" panose="020B0604020202020204" charset="0"/>
                        </a:rPr>
                        <a:t>ABR</a:t>
                      </a:r>
                    </a:p>
                  </a:txBody>
                  <a:tcPr anchor="ctr">
                    <a:lnL w="12700" cap="flat" cmpd="sng" algn="ctr">
                      <a:solidFill>
                        <a:srgbClr val="4D6BA7"/>
                      </a:solidFill>
                      <a:prstDash val="solid"/>
                      <a:round/>
                      <a:headEnd type="none" w="med" len="med"/>
                      <a:tailEnd type="none" w="med" len="med"/>
                    </a:lnL>
                    <a:lnR w="12700" cap="flat" cmpd="sng" algn="ctr">
                      <a:solidFill>
                        <a:srgbClr val="4D6BA7"/>
                      </a:solidFill>
                      <a:prstDash val="solid"/>
                      <a:round/>
                      <a:headEnd type="none" w="med" len="med"/>
                      <a:tailEnd type="none" w="med" len="med"/>
                    </a:lnR>
                    <a:lnT w="12700" cap="flat" cmpd="sng" algn="ctr">
                      <a:solidFill>
                        <a:srgbClr val="4D6BA7"/>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tc>
                  <a:txBody>
                    <a:bodyPr/>
                    <a:lstStyle/>
                    <a:p>
                      <a:pPr algn="ctr"/>
                      <a:r>
                        <a:rPr lang="es-ES" sz="3200" dirty="0">
                          <a:solidFill>
                            <a:schemeClr val="bg1"/>
                          </a:solidFill>
                          <a:latin typeface="Bantayog" panose="020B0604020202020204" charset="0"/>
                        </a:rPr>
                        <a:t>MAY</a:t>
                      </a:r>
                    </a:p>
                  </a:txBody>
                  <a:tcPr anchor="ctr">
                    <a:lnL w="12700" cap="flat" cmpd="sng" algn="ctr">
                      <a:solidFill>
                        <a:srgbClr val="4D6BA7"/>
                      </a:solidFill>
                      <a:prstDash val="solid"/>
                      <a:round/>
                      <a:headEnd type="none" w="med" len="med"/>
                      <a:tailEnd type="none" w="med" len="med"/>
                    </a:lnL>
                    <a:lnR w="12700" cap="flat" cmpd="sng" algn="ctr">
                      <a:solidFill>
                        <a:srgbClr val="4D6BA7"/>
                      </a:solidFill>
                      <a:prstDash val="solid"/>
                      <a:round/>
                      <a:headEnd type="none" w="med" len="med"/>
                      <a:tailEnd type="none" w="med" len="med"/>
                    </a:lnR>
                    <a:lnT w="12700" cap="flat" cmpd="sng" algn="ctr">
                      <a:solidFill>
                        <a:srgbClr val="4D6BA7"/>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extLst>
                  <a:ext uri="{0D108BD9-81ED-4DB2-BD59-A6C34878D82A}">
                    <a16:rowId xmlns:a16="http://schemas.microsoft.com/office/drawing/2014/main" val="2243276885"/>
                  </a:ext>
                </a:extLst>
              </a:tr>
              <a:tr h="998482">
                <a:tc>
                  <a:txBody>
                    <a:bodyPr/>
                    <a:lstStyle/>
                    <a:p>
                      <a:pPr algn="ctr"/>
                      <a:r>
                        <a:rPr lang="es-ES" sz="3200" dirty="0">
                          <a:solidFill>
                            <a:schemeClr val="bg1"/>
                          </a:solidFill>
                          <a:latin typeface="Bantayog" panose="020B0604020202020204" charset="0"/>
                        </a:rPr>
                        <a:t>FASE DE INVESTIGACIÓN</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extLst>
                  <a:ext uri="{0D108BD9-81ED-4DB2-BD59-A6C34878D82A}">
                    <a16:rowId xmlns:a16="http://schemas.microsoft.com/office/drawing/2014/main" val="3801325972"/>
                  </a:ext>
                </a:extLst>
              </a:tr>
              <a:tr h="909510">
                <a:tc>
                  <a:txBody>
                    <a:bodyPr/>
                    <a:lstStyle/>
                    <a:p>
                      <a:pPr algn="ctr"/>
                      <a:r>
                        <a:rPr lang="es-ES" sz="3200" dirty="0">
                          <a:solidFill>
                            <a:schemeClr val="bg1"/>
                          </a:solidFill>
                          <a:latin typeface="Bantayog" panose="020B0604020202020204" charset="0"/>
                        </a:rPr>
                        <a:t>FASE DE ANÁLISIS</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extLst>
                  <a:ext uri="{0D108BD9-81ED-4DB2-BD59-A6C34878D82A}">
                    <a16:rowId xmlns:a16="http://schemas.microsoft.com/office/drawing/2014/main" val="3650231048"/>
                  </a:ext>
                </a:extLst>
              </a:tr>
              <a:tr h="998482">
                <a:tc>
                  <a:txBody>
                    <a:bodyPr/>
                    <a:lstStyle/>
                    <a:p>
                      <a:pPr algn="ctr"/>
                      <a:r>
                        <a:rPr lang="es-ES" sz="3200" dirty="0">
                          <a:solidFill>
                            <a:schemeClr val="bg1"/>
                          </a:solidFill>
                          <a:latin typeface="Bantayog" panose="020B0604020202020204" charset="0"/>
                        </a:rPr>
                        <a:t>FASE DE DESARROLLO</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extLst>
                  <a:ext uri="{0D108BD9-81ED-4DB2-BD59-A6C34878D82A}">
                    <a16:rowId xmlns:a16="http://schemas.microsoft.com/office/drawing/2014/main" val="2959211076"/>
                  </a:ext>
                </a:extLst>
              </a:tr>
              <a:tr h="998482">
                <a:tc>
                  <a:txBody>
                    <a:bodyPr/>
                    <a:lstStyle/>
                    <a:p>
                      <a:pPr algn="ctr"/>
                      <a:r>
                        <a:rPr lang="es-ES" sz="3200" dirty="0">
                          <a:solidFill>
                            <a:schemeClr val="bg1"/>
                          </a:solidFill>
                          <a:latin typeface="Bantayog" panose="020B0604020202020204" charset="0"/>
                        </a:rPr>
                        <a:t>FASE DE EVALUACIÓN</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extLst>
                  <a:ext uri="{0D108BD9-81ED-4DB2-BD59-A6C34878D82A}">
                    <a16:rowId xmlns:a16="http://schemas.microsoft.com/office/drawing/2014/main" val="445588476"/>
                  </a:ext>
                </a:extLst>
              </a:tr>
              <a:tr h="694673">
                <a:tc>
                  <a:txBody>
                    <a:bodyPr/>
                    <a:lstStyle/>
                    <a:p>
                      <a:pPr algn="ctr"/>
                      <a:r>
                        <a:rPr lang="es-ES" sz="3200" dirty="0">
                          <a:solidFill>
                            <a:schemeClr val="bg1"/>
                          </a:solidFill>
                          <a:latin typeface="Bantayog" panose="020B0604020202020204" charset="0"/>
                        </a:rPr>
                        <a:t>FASE DE CIERRE</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DBE7FF"/>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endParaRPr lang="es-ES" sz="3200" dirty="0">
                        <a:solidFill>
                          <a:schemeClr val="bg1"/>
                        </a:solidFill>
                        <a:latin typeface="Bantayog" panose="020B0604020202020204" charset="0"/>
                      </a:endParaRP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extLst>
                  <a:ext uri="{0D108BD9-81ED-4DB2-BD59-A6C34878D82A}">
                    <a16:rowId xmlns:a16="http://schemas.microsoft.com/office/drawing/2014/main" val="1930925159"/>
                  </a:ext>
                </a:extLst>
              </a:tr>
            </a:tbl>
          </a:graphicData>
        </a:graphic>
      </p:graphicFrame>
    </p:spTree>
    <p:extLst>
      <p:ext uri="{BB962C8B-B14F-4D97-AF65-F5344CB8AC3E}">
        <p14:creationId xmlns:p14="http://schemas.microsoft.com/office/powerpoint/2010/main" val="598615561"/>
      </p:ext>
    </p:extLst>
  </p:cSld>
  <p:clrMapOvr>
    <a:masterClrMapping/>
  </p:clrMapOvr>
  <p:transition spd="med">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a:extLst>
            <a:ext uri="{FF2B5EF4-FFF2-40B4-BE49-F238E27FC236}">
              <a16:creationId xmlns:a16="http://schemas.microsoft.com/office/drawing/2014/main" id="{C4970E9B-9962-FAA1-ACE9-E6589FBBAB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E02D37-5132-F898-5569-83430B750431}"/>
              </a:ext>
            </a:extLst>
          </p:cNvPr>
          <p:cNvGrpSpPr/>
          <p:nvPr/>
        </p:nvGrpSpPr>
        <p:grpSpPr>
          <a:xfrm rot="-2570167">
            <a:off x="-1135601" y="-3063714"/>
            <a:ext cx="5983240" cy="3369636"/>
            <a:chOff x="0" y="0"/>
            <a:chExt cx="744168" cy="419100"/>
          </a:xfrm>
        </p:grpSpPr>
        <p:sp>
          <p:nvSpPr>
            <p:cNvPr id="3" name="Freeform 3">
              <a:extLst>
                <a:ext uri="{FF2B5EF4-FFF2-40B4-BE49-F238E27FC236}">
                  <a16:creationId xmlns:a16="http://schemas.microsoft.com/office/drawing/2014/main" id="{EEA2C51F-576B-3562-213B-5576FD6FE787}"/>
                </a:ext>
              </a:extLst>
            </p:cNvPr>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a:extLst>
                <a:ext uri="{FF2B5EF4-FFF2-40B4-BE49-F238E27FC236}">
                  <a16:creationId xmlns:a16="http://schemas.microsoft.com/office/drawing/2014/main" id="{231D1862-2251-8342-5E35-D085343E92BA}"/>
                </a:ext>
              </a:extLst>
            </p:cNvPr>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a:extLst>
              <a:ext uri="{FF2B5EF4-FFF2-40B4-BE49-F238E27FC236}">
                <a16:creationId xmlns:a16="http://schemas.microsoft.com/office/drawing/2014/main" id="{A1B9C176-D131-B6E3-ECAA-AC14006802B2}"/>
              </a:ext>
            </a:extLst>
          </p:cNvPr>
          <p:cNvGrpSpPr/>
          <p:nvPr/>
        </p:nvGrpSpPr>
        <p:grpSpPr>
          <a:xfrm rot="-2570167">
            <a:off x="-4609279" y="8628547"/>
            <a:ext cx="6252050" cy="3864704"/>
            <a:chOff x="0" y="0"/>
            <a:chExt cx="744168" cy="460007"/>
          </a:xfrm>
        </p:grpSpPr>
        <p:sp>
          <p:nvSpPr>
            <p:cNvPr id="6" name="Freeform 6">
              <a:extLst>
                <a:ext uri="{FF2B5EF4-FFF2-40B4-BE49-F238E27FC236}">
                  <a16:creationId xmlns:a16="http://schemas.microsoft.com/office/drawing/2014/main" id="{B2696986-BA02-582D-65C8-D399AFF7DCA6}"/>
                </a:ext>
              </a:extLst>
            </p:cNvPr>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a:extLst>
                <a:ext uri="{FF2B5EF4-FFF2-40B4-BE49-F238E27FC236}">
                  <a16:creationId xmlns:a16="http://schemas.microsoft.com/office/drawing/2014/main" id="{392681B4-50FA-4640-A01F-CFA9265A005A}"/>
                </a:ext>
              </a:extLst>
            </p:cNvPr>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4C80A963-2777-18F3-DE0B-DA5913D6F89D}"/>
              </a:ext>
            </a:extLst>
          </p:cNvPr>
          <p:cNvGrpSpPr/>
          <p:nvPr/>
        </p:nvGrpSpPr>
        <p:grpSpPr>
          <a:xfrm rot="-2570167">
            <a:off x="16189262" y="-3106762"/>
            <a:ext cx="9679118" cy="4948927"/>
            <a:chOff x="0" y="0"/>
            <a:chExt cx="836041" cy="427467"/>
          </a:xfrm>
        </p:grpSpPr>
        <p:sp>
          <p:nvSpPr>
            <p:cNvPr id="9" name="Freeform 9">
              <a:extLst>
                <a:ext uri="{FF2B5EF4-FFF2-40B4-BE49-F238E27FC236}">
                  <a16:creationId xmlns:a16="http://schemas.microsoft.com/office/drawing/2014/main" id="{F1E02A38-2002-D059-9421-941B546BA97C}"/>
                </a:ext>
              </a:extLst>
            </p:cNvPr>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a:extLst>
                <a:ext uri="{FF2B5EF4-FFF2-40B4-BE49-F238E27FC236}">
                  <a16:creationId xmlns:a16="http://schemas.microsoft.com/office/drawing/2014/main" id="{AC07CF85-3504-E09F-7B3F-C4E86914A435}"/>
                </a:ext>
              </a:extLst>
            </p:cNvPr>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723378EC-CD5C-01E8-CCF3-8FD920A8E34C}"/>
              </a:ext>
            </a:extLst>
          </p:cNvPr>
          <p:cNvGrpSpPr/>
          <p:nvPr/>
        </p:nvGrpSpPr>
        <p:grpSpPr>
          <a:xfrm rot="-2570167">
            <a:off x="12379941" y="9017924"/>
            <a:ext cx="7467555" cy="4043454"/>
            <a:chOff x="0" y="0"/>
            <a:chExt cx="928780" cy="502906"/>
          </a:xfrm>
        </p:grpSpPr>
        <p:sp>
          <p:nvSpPr>
            <p:cNvPr id="12" name="Freeform 12">
              <a:extLst>
                <a:ext uri="{FF2B5EF4-FFF2-40B4-BE49-F238E27FC236}">
                  <a16:creationId xmlns:a16="http://schemas.microsoft.com/office/drawing/2014/main" id="{B77D74EC-0949-0EFF-B050-EC6A8565746F}"/>
                </a:ext>
              </a:extLst>
            </p:cNvPr>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a:extLst>
                <a:ext uri="{FF2B5EF4-FFF2-40B4-BE49-F238E27FC236}">
                  <a16:creationId xmlns:a16="http://schemas.microsoft.com/office/drawing/2014/main" id="{ED1B90E2-4139-61FE-C031-9DCC4B5DC64C}"/>
                </a:ext>
              </a:extLst>
            </p:cNvPr>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a:extLst>
              <a:ext uri="{FF2B5EF4-FFF2-40B4-BE49-F238E27FC236}">
                <a16:creationId xmlns:a16="http://schemas.microsoft.com/office/drawing/2014/main" id="{67F1483F-5DED-BE83-ED8C-CF9FC30EF23F}"/>
              </a:ext>
            </a:extLst>
          </p:cNvPr>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9</a:t>
            </a:r>
          </a:p>
        </p:txBody>
      </p:sp>
      <p:sp>
        <p:nvSpPr>
          <p:cNvPr id="21" name="TextBox 16">
            <a:extLst>
              <a:ext uri="{FF2B5EF4-FFF2-40B4-BE49-F238E27FC236}">
                <a16:creationId xmlns:a16="http://schemas.microsoft.com/office/drawing/2014/main" id="{F32CE3A3-4E8E-069F-FBCF-A55DCB47312C}"/>
              </a:ext>
            </a:extLst>
          </p:cNvPr>
          <p:cNvSpPr txBox="1"/>
          <p:nvPr/>
        </p:nvSpPr>
        <p:spPr>
          <a:xfrm>
            <a:off x="2470647" y="494348"/>
            <a:ext cx="13346707" cy="2436564"/>
          </a:xfrm>
          <a:prstGeom prst="rect">
            <a:avLst/>
          </a:prstGeom>
        </p:spPr>
        <p:txBody>
          <a:bodyPr wrap="square" lIns="0" tIns="0" rIns="0" bIns="0" rtlCol="0" anchor="t">
            <a:spAutoFit/>
          </a:bodyPr>
          <a:lstStyle/>
          <a:p>
            <a:pPr algn="ctr">
              <a:lnSpc>
                <a:spcPts val="9500"/>
              </a:lnSpc>
              <a:spcBef>
                <a:spcPct val="0"/>
              </a:spcBef>
            </a:pPr>
            <a:r>
              <a:rPr lang="en-US" sz="9000" dirty="0">
                <a:solidFill>
                  <a:srgbClr val="203660"/>
                </a:solidFill>
                <a:latin typeface="Bantayog"/>
                <a:ea typeface="Bantayog"/>
                <a:cs typeface="Bantayog"/>
                <a:sym typeface="Bantayog"/>
              </a:rPr>
              <a:t>RESUMEN DE LA PLANIFICACIÓN</a:t>
            </a:r>
          </a:p>
        </p:txBody>
      </p:sp>
      <p:graphicFrame>
        <p:nvGraphicFramePr>
          <p:cNvPr id="37" name="Tabla 36">
            <a:extLst>
              <a:ext uri="{FF2B5EF4-FFF2-40B4-BE49-F238E27FC236}">
                <a16:creationId xmlns:a16="http://schemas.microsoft.com/office/drawing/2014/main" id="{9CC14130-29B9-A394-B241-5D701C92CCFA}"/>
              </a:ext>
            </a:extLst>
          </p:cNvPr>
          <p:cNvGraphicFramePr>
            <a:graphicFrameLocks noGrp="1"/>
          </p:cNvGraphicFramePr>
          <p:nvPr>
            <p:extLst>
              <p:ext uri="{D42A27DB-BD31-4B8C-83A1-F6EECF244321}">
                <p14:modId xmlns:p14="http://schemas.microsoft.com/office/powerpoint/2010/main" val="2074777911"/>
              </p:ext>
            </p:extLst>
          </p:nvPr>
        </p:nvGraphicFramePr>
        <p:xfrm>
          <a:off x="3436942" y="2930912"/>
          <a:ext cx="10152920" cy="7162132"/>
        </p:xfrm>
        <a:graphic>
          <a:graphicData uri="http://schemas.openxmlformats.org/drawingml/2006/table">
            <a:tbl>
              <a:tblPr firstRow="1" bandRow="1">
                <a:tableStyleId>{5C22544A-7EE6-4342-B048-85BDC9FD1C3A}</a:tableStyleId>
              </a:tblPr>
              <a:tblGrid>
                <a:gridCol w="4953000">
                  <a:extLst>
                    <a:ext uri="{9D8B030D-6E8A-4147-A177-3AD203B41FA5}">
                      <a16:colId xmlns:a16="http://schemas.microsoft.com/office/drawing/2014/main" val="4281792008"/>
                    </a:ext>
                  </a:extLst>
                </a:gridCol>
                <a:gridCol w="5199920">
                  <a:extLst>
                    <a:ext uri="{9D8B030D-6E8A-4147-A177-3AD203B41FA5}">
                      <a16:colId xmlns:a16="http://schemas.microsoft.com/office/drawing/2014/main" val="3879580221"/>
                    </a:ext>
                  </a:extLst>
                </a:gridCol>
              </a:tblGrid>
              <a:tr h="814894">
                <a:tc>
                  <a:txBody>
                    <a:bodyPr/>
                    <a:lstStyle/>
                    <a:p>
                      <a:pPr algn="ctr"/>
                      <a:r>
                        <a:rPr lang="es-ES" sz="3200" dirty="0">
                          <a:solidFill>
                            <a:schemeClr val="bg1"/>
                          </a:solidFill>
                          <a:latin typeface="Bantayog" panose="020B0604020202020204" charset="0"/>
                        </a:rPr>
                        <a:t>CONCEPTO</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tc>
                  <a:txBody>
                    <a:bodyPr/>
                    <a:lstStyle/>
                    <a:p>
                      <a:pPr algn="ctr"/>
                      <a:r>
                        <a:rPr lang="es-ES" sz="3200" dirty="0">
                          <a:solidFill>
                            <a:schemeClr val="bg1"/>
                          </a:solidFill>
                          <a:latin typeface="Bantayog" panose="020B0604020202020204" charset="0"/>
                        </a:rPr>
                        <a:t>IMPORTE (€)</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extLst>
                  <a:ext uri="{0D108BD9-81ED-4DB2-BD59-A6C34878D82A}">
                    <a16:rowId xmlns:a16="http://schemas.microsoft.com/office/drawing/2014/main" val="1077334622"/>
                  </a:ext>
                </a:extLst>
              </a:tr>
              <a:tr h="628074">
                <a:tc>
                  <a:txBody>
                    <a:bodyPr/>
                    <a:lstStyle/>
                    <a:p>
                      <a:pPr algn="ctr"/>
                      <a:r>
                        <a:rPr lang="es-ES" sz="3200" dirty="0">
                          <a:solidFill>
                            <a:schemeClr val="bg1"/>
                          </a:solidFill>
                          <a:latin typeface="Bantayog" panose="020B0604020202020204" charset="0"/>
                        </a:rPr>
                        <a:t>CAPEX</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r>
                        <a:rPr lang="es-ES" sz="3200" dirty="0">
                          <a:solidFill>
                            <a:schemeClr val="bg1"/>
                          </a:solidFill>
                          <a:latin typeface="Bantayog" panose="020B0604020202020204" charset="0"/>
                        </a:rPr>
                        <a:t>216,67</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extLst>
                  <a:ext uri="{0D108BD9-81ED-4DB2-BD59-A6C34878D82A}">
                    <a16:rowId xmlns:a16="http://schemas.microsoft.com/office/drawing/2014/main" val="2243276885"/>
                  </a:ext>
                </a:extLst>
              </a:tr>
              <a:tr h="838200">
                <a:tc>
                  <a:txBody>
                    <a:bodyPr/>
                    <a:lstStyle/>
                    <a:p>
                      <a:pPr algn="ctr"/>
                      <a:r>
                        <a:rPr lang="es-ES" sz="3200" dirty="0">
                          <a:solidFill>
                            <a:schemeClr val="bg1"/>
                          </a:solidFill>
                          <a:latin typeface="Bantayog" panose="020B0604020202020204" charset="0"/>
                        </a:rPr>
                        <a:t>OPEX</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r>
                        <a:rPr lang="es-ES" sz="3200" dirty="0">
                          <a:solidFill>
                            <a:schemeClr val="bg1"/>
                          </a:solidFill>
                          <a:latin typeface="Bantayog" panose="020B0604020202020204" charset="0"/>
                        </a:rPr>
                        <a:t>11.690,60</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extLst>
                  <a:ext uri="{0D108BD9-81ED-4DB2-BD59-A6C34878D82A}">
                    <a16:rowId xmlns:a16="http://schemas.microsoft.com/office/drawing/2014/main" val="713341226"/>
                  </a:ext>
                </a:extLst>
              </a:tr>
              <a:tr h="762000">
                <a:tc>
                  <a:txBody>
                    <a:bodyPr/>
                    <a:lstStyle/>
                    <a:p>
                      <a:pPr algn="ctr"/>
                      <a:r>
                        <a:rPr lang="es-ES" sz="3200" dirty="0">
                          <a:solidFill>
                            <a:schemeClr val="bg1"/>
                          </a:solidFill>
                          <a:latin typeface="Bantayog" panose="020B0604020202020204" charset="0"/>
                        </a:rPr>
                        <a:t>COSTE BASE</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r>
                        <a:rPr lang="es-ES" sz="3200" dirty="0">
                          <a:solidFill>
                            <a:schemeClr val="bg1"/>
                          </a:solidFill>
                          <a:latin typeface="Bantayog" panose="020B0604020202020204" charset="0"/>
                        </a:rPr>
                        <a:t>11.907,27</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extLst>
                  <a:ext uri="{0D108BD9-81ED-4DB2-BD59-A6C34878D82A}">
                    <a16:rowId xmlns:a16="http://schemas.microsoft.com/office/drawing/2014/main" val="3638898032"/>
                  </a:ext>
                </a:extLst>
              </a:tr>
              <a:tr h="661788">
                <a:tc>
                  <a:txBody>
                    <a:bodyPr/>
                    <a:lstStyle/>
                    <a:p>
                      <a:pPr algn="ctr"/>
                      <a:r>
                        <a:rPr lang="es-ES" sz="3200" dirty="0">
                          <a:solidFill>
                            <a:schemeClr val="bg1"/>
                          </a:solidFill>
                          <a:latin typeface="Bantayog" panose="020B0604020202020204" charset="0"/>
                        </a:rPr>
                        <a:t>MARGEN DE CONTINGENCIA (10%)</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r>
                        <a:rPr lang="es-ES" sz="3200" dirty="0">
                          <a:solidFill>
                            <a:schemeClr val="bg1"/>
                          </a:solidFill>
                          <a:latin typeface="Bantayog" panose="020B0604020202020204" charset="0"/>
                        </a:rPr>
                        <a:t>1.190,73</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extLst>
                  <a:ext uri="{0D108BD9-81ED-4DB2-BD59-A6C34878D82A}">
                    <a16:rowId xmlns:a16="http://schemas.microsoft.com/office/drawing/2014/main" val="2165970074"/>
                  </a:ext>
                </a:extLst>
              </a:tr>
              <a:tr h="661788">
                <a:tc>
                  <a:txBody>
                    <a:bodyPr/>
                    <a:lstStyle/>
                    <a:p>
                      <a:pPr algn="ctr"/>
                      <a:r>
                        <a:rPr lang="es-ES" sz="3200" dirty="0">
                          <a:solidFill>
                            <a:schemeClr val="bg1"/>
                          </a:solidFill>
                          <a:latin typeface="Bantayog" panose="020B0604020202020204" charset="0"/>
                        </a:rPr>
                        <a:t>BENEFICIO (15%)</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r>
                        <a:rPr lang="es-ES" sz="3200" dirty="0">
                          <a:solidFill>
                            <a:schemeClr val="bg1"/>
                          </a:solidFill>
                          <a:latin typeface="Bantayog" panose="020B0604020202020204" charset="0"/>
                        </a:rPr>
                        <a:t>1.786,09</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extLst>
                  <a:ext uri="{0D108BD9-81ED-4DB2-BD59-A6C34878D82A}">
                    <a16:rowId xmlns:a16="http://schemas.microsoft.com/office/drawing/2014/main" val="2576543979"/>
                  </a:ext>
                </a:extLst>
              </a:tr>
              <a:tr h="661788">
                <a:tc>
                  <a:txBody>
                    <a:bodyPr/>
                    <a:lstStyle/>
                    <a:p>
                      <a:pPr algn="ctr"/>
                      <a:r>
                        <a:rPr lang="es-ES" sz="3200" dirty="0">
                          <a:solidFill>
                            <a:schemeClr val="bg1"/>
                          </a:solidFill>
                          <a:latin typeface="Bantayog" panose="020B0604020202020204" charset="0"/>
                        </a:rPr>
                        <a:t>SUBTOTAL SIN IVA</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r>
                        <a:rPr lang="es-ES" sz="3200" dirty="0">
                          <a:solidFill>
                            <a:schemeClr val="bg1"/>
                          </a:solidFill>
                          <a:latin typeface="Bantayog" panose="020B0604020202020204" charset="0"/>
                        </a:rPr>
                        <a:t>14.884, 09</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extLst>
                  <a:ext uri="{0D108BD9-81ED-4DB2-BD59-A6C34878D82A}">
                    <a16:rowId xmlns:a16="http://schemas.microsoft.com/office/drawing/2014/main" val="244584975"/>
                  </a:ext>
                </a:extLst>
              </a:tr>
              <a:tr h="661788">
                <a:tc>
                  <a:txBody>
                    <a:bodyPr/>
                    <a:lstStyle/>
                    <a:p>
                      <a:pPr algn="ctr"/>
                      <a:r>
                        <a:rPr lang="es-ES" sz="3200" dirty="0">
                          <a:solidFill>
                            <a:schemeClr val="bg1"/>
                          </a:solidFill>
                          <a:latin typeface="Bantayog" panose="020B0604020202020204" charset="0"/>
                        </a:rPr>
                        <a:t>IVA (21%)</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tc>
                  <a:txBody>
                    <a:bodyPr/>
                    <a:lstStyle/>
                    <a:p>
                      <a:pPr algn="ctr"/>
                      <a:r>
                        <a:rPr lang="es-ES" sz="3200" dirty="0">
                          <a:solidFill>
                            <a:schemeClr val="bg1"/>
                          </a:solidFill>
                          <a:latin typeface="Bantayog" panose="020B0604020202020204" charset="0"/>
                        </a:rPr>
                        <a:t>3.125,66</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4D6BA7"/>
                    </a:solidFill>
                  </a:tcPr>
                </a:tc>
                <a:extLst>
                  <a:ext uri="{0D108BD9-81ED-4DB2-BD59-A6C34878D82A}">
                    <a16:rowId xmlns:a16="http://schemas.microsoft.com/office/drawing/2014/main" val="1042352288"/>
                  </a:ext>
                </a:extLst>
              </a:tr>
              <a:tr h="661788">
                <a:tc>
                  <a:txBody>
                    <a:bodyPr/>
                    <a:lstStyle/>
                    <a:p>
                      <a:pPr algn="ctr"/>
                      <a:r>
                        <a:rPr lang="es-ES" sz="3200" dirty="0">
                          <a:solidFill>
                            <a:schemeClr val="bg1"/>
                          </a:solidFill>
                          <a:latin typeface="Bantayog" panose="020B0604020202020204" charset="0"/>
                        </a:rPr>
                        <a:t>PRESUPUESTO FINAL ESTIMADO</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tc>
                  <a:txBody>
                    <a:bodyPr/>
                    <a:lstStyle/>
                    <a:p>
                      <a:pPr algn="ctr"/>
                      <a:r>
                        <a:rPr lang="es-ES" sz="3200" dirty="0">
                          <a:solidFill>
                            <a:schemeClr val="bg1"/>
                          </a:solidFill>
                          <a:latin typeface="Bantayog" panose="020B0604020202020204" charset="0"/>
                        </a:rPr>
                        <a:t>18.009,75</a:t>
                      </a:r>
                    </a:p>
                  </a:txBody>
                  <a:tcPr anchor="ctr">
                    <a:lnL w="12700" cap="flat" cmpd="sng" algn="ctr">
                      <a:solidFill>
                        <a:srgbClr val="203660"/>
                      </a:solidFill>
                      <a:prstDash val="solid"/>
                      <a:round/>
                      <a:headEnd type="none" w="med" len="med"/>
                      <a:tailEnd type="none" w="med" len="med"/>
                    </a:lnL>
                    <a:lnR w="12700" cap="flat" cmpd="sng" algn="ctr">
                      <a:solidFill>
                        <a:srgbClr val="203660"/>
                      </a:solidFill>
                      <a:prstDash val="solid"/>
                      <a:round/>
                      <a:headEnd type="none" w="med" len="med"/>
                      <a:tailEnd type="none" w="med" len="med"/>
                    </a:lnR>
                    <a:lnT w="12700" cap="flat" cmpd="sng" algn="ctr">
                      <a:solidFill>
                        <a:srgbClr val="203660"/>
                      </a:solidFill>
                      <a:prstDash val="solid"/>
                      <a:round/>
                      <a:headEnd type="none" w="med" len="med"/>
                      <a:tailEnd type="none" w="med" len="med"/>
                    </a:lnT>
                    <a:lnB w="12700" cap="flat" cmpd="sng" algn="ctr">
                      <a:solidFill>
                        <a:srgbClr val="203660"/>
                      </a:solidFill>
                      <a:prstDash val="solid"/>
                      <a:round/>
                      <a:headEnd type="none" w="med" len="med"/>
                      <a:tailEnd type="none" w="med" len="med"/>
                    </a:lnB>
                    <a:solidFill>
                      <a:srgbClr val="203660"/>
                    </a:solidFill>
                  </a:tcPr>
                </a:tc>
                <a:extLst>
                  <a:ext uri="{0D108BD9-81ED-4DB2-BD59-A6C34878D82A}">
                    <a16:rowId xmlns:a16="http://schemas.microsoft.com/office/drawing/2014/main" val="2752384730"/>
                  </a:ext>
                </a:extLst>
              </a:tr>
            </a:tbl>
          </a:graphicData>
        </a:graphic>
      </p:graphicFrame>
    </p:spTree>
    <p:extLst>
      <p:ext uri="{BB962C8B-B14F-4D97-AF65-F5344CB8AC3E}">
        <p14:creationId xmlns:p14="http://schemas.microsoft.com/office/powerpoint/2010/main" val="2724387733"/>
      </p:ext>
    </p:extLst>
  </p:cSld>
  <p:clrMapOvr>
    <a:masterClrMapping/>
  </p:clrMapOvr>
  <p:transition spd="med">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7078678" y="2597658"/>
            <a:ext cx="2195789" cy="2545842"/>
          </a:xfrm>
          <a:custGeom>
            <a:avLst/>
            <a:gdLst/>
            <a:ahLst/>
            <a:cxnLst/>
            <a:rect l="l" t="t" r="r" b="b"/>
            <a:pathLst>
              <a:path w="2195789" h="2545842">
                <a:moveTo>
                  <a:pt x="0" y="0"/>
                </a:moveTo>
                <a:lnTo>
                  <a:pt x="2195789" y="0"/>
                </a:lnTo>
                <a:lnTo>
                  <a:pt x="2195789" y="2545842"/>
                </a:lnTo>
                <a:lnTo>
                  <a:pt x="0" y="2545842"/>
                </a:lnTo>
                <a:lnTo>
                  <a:pt x="0" y="0"/>
                </a:lnTo>
                <a:close/>
              </a:path>
            </a:pathLst>
          </a:custGeom>
          <a:blipFill>
            <a:blip r:embed="rId3"/>
            <a:stretch>
              <a:fillRect/>
            </a:stretch>
          </a:blipFill>
        </p:spPr>
        <p:txBody>
          <a:bodyPr/>
          <a:lstStyle/>
          <a:p>
            <a:endParaRPr lang="es-ES"/>
          </a:p>
        </p:txBody>
      </p:sp>
      <p:sp>
        <p:nvSpPr>
          <p:cNvPr id="15" name="Freeform 15"/>
          <p:cNvSpPr/>
          <p:nvPr/>
        </p:nvSpPr>
        <p:spPr>
          <a:xfrm>
            <a:off x="10563645" y="2638763"/>
            <a:ext cx="5657427" cy="2545842"/>
          </a:xfrm>
          <a:custGeom>
            <a:avLst/>
            <a:gdLst/>
            <a:ahLst/>
            <a:cxnLst/>
            <a:rect l="l" t="t" r="r" b="b"/>
            <a:pathLst>
              <a:path w="5657427" h="2545842">
                <a:moveTo>
                  <a:pt x="0" y="0"/>
                </a:moveTo>
                <a:lnTo>
                  <a:pt x="5657427" y="0"/>
                </a:lnTo>
                <a:lnTo>
                  <a:pt x="5657427" y="2545842"/>
                </a:lnTo>
                <a:lnTo>
                  <a:pt x="0" y="2545842"/>
                </a:lnTo>
                <a:lnTo>
                  <a:pt x="0" y="0"/>
                </a:lnTo>
                <a:close/>
              </a:path>
            </a:pathLst>
          </a:custGeom>
          <a:blipFill>
            <a:blip r:embed="rId4"/>
            <a:stretch>
              <a:fillRect/>
            </a:stretch>
          </a:blipFill>
        </p:spPr>
        <p:txBody>
          <a:bodyPr/>
          <a:lstStyle/>
          <a:p>
            <a:endParaRPr lang="es-ES"/>
          </a:p>
        </p:txBody>
      </p:sp>
      <p:sp>
        <p:nvSpPr>
          <p:cNvPr id="16" name="Freeform 16"/>
          <p:cNvSpPr/>
          <p:nvPr/>
        </p:nvSpPr>
        <p:spPr>
          <a:xfrm>
            <a:off x="1028700" y="5670528"/>
            <a:ext cx="6556037" cy="2545842"/>
          </a:xfrm>
          <a:custGeom>
            <a:avLst/>
            <a:gdLst/>
            <a:ahLst/>
            <a:cxnLst/>
            <a:rect l="l" t="t" r="r" b="b"/>
            <a:pathLst>
              <a:path w="7315200" h="2953512">
                <a:moveTo>
                  <a:pt x="0" y="0"/>
                </a:moveTo>
                <a:lnTo>
                  <a:pt x="7315200" y="0"/>
                </a:lnTo>
                <a:lnTo>
                  <a:pt x="7315200" y="2953512"/>
                </a:lnTo>
                <a:lnTo>
                  <a:pt x="0" y="29535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ES"/>
          </a:p>
        </p:txBody>
      </p:sp>
      <p:sp>
        <p:nvSpPr>
          <p:cNvPr id="19" name="Freeform 19"/>
          <p:cNvSpPr/>
          <p:nvPr/>
        </p:nvSpPr>
        <p:spPr>
          <a:xfrm>
            <a:off x="2760739" y="2765223"/>
            <a:ext cx="2198265" cy="2198265"/>
          </a:xfrm>
          <a:custGeom>
            <a:avLst/>
            <a:gdLst/>
            <a:ahLst/>
            <a:cxnLst/>
            <a:rect l="l" t="t" r="r" b="b"/>
            <a:pathLst>
              <a:path w="2198265" h="2198265">
                <a:moveTo>
                  <a:pt x="0" y="0"/>
                </a:moveTo>
                <a:lnTo>
                  <a:pt x="2198265" y="0"/>
                </a:lnTo>
                <a:lnTo>
                  <a:pt x="2198265" y="2198265"/>
                </a:lnTo>
                <a:lnTo>
                  <a:pt x="0" y="2198265"/>
                </a:lnTo>
                <a:lnTo>
                  <a:pt x="0" y="0"/>
                </a:lnTo>
                <a:close/>
              </a:path>
            </a:pathLst>
          </a:custGeom>
          <a:blipFill>
            <a:blip r:embed="rId6"/>
            <a:stretch>
              <a:fillRect/>
            </a:stretch>
          </a:blipFill>
        </p:spPr>
        <p:txBody>
          <a:bodyPr/>
          <a:lstStyle/>
          <a:p>
            <a:endParaRPr lang="es-ES"/>
          </a:p>
        </p:txBody>
      </p:sp>
      <p:sp>
        <p:nvSpPr>
          <p:cNvPr id="20" name="TextBox 20"/>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10</a:t>
            </a:r>
          </a:p>
        </p:txBody>
      </p:sp>
      <p:sp>
        <p:nvSpPr>
          <p:cNvPr id="21" name="TextBox 21"/>
          <p:cNvSpPr txBox="1"/>
          <p:nvPr/>
        </p:nvSpPr>
        <p:spPr>
          <a:xfrm>
            <a:off x="2819400" y="494348"/>
            <a:ext cx="12578408" cy="1479700"/>
          </a:xfrm>
          <a:prstGeom prst="rect">
            <a:avLst/>
          </a:prstGeom>
        </p:spPr>
        <p:txBody>
          <a:bodyPr wrap="square"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DISEÑO Y ARQUITECTURA</a:t>
            </a:r>
          </a:p>
        </p:txBody>
      </p:sp>
      <p:sp>
        <p:nvSpPr>
          <p:cNvPr id="22" name="Freeform 14">
            <a:extLst>
              <a:ext uri="{FF2B5EF4-FFF2-40B4-BE49-F238E27FC236}">
                <a16:creationId xmlns:a16="http://schemas.microsoft.com/office/drawing/2014/main" id="{F698C77E-8DAD-F021-2A99-39D3CB68A5BA}"/>
              </a:ext>
            </a:extLst>
          </p:cNvPr>
          <p:cNvSpPr/>
          <p:nvPr/>
        </p:nvSpPr>
        <p:spPr>
          <a:xfrm>
            <a:off x="8827550" y="5785971"/>
            <a:ext cx="3472191" cy="1889431"/>
          </a:xfrm>
          <a:custGeom>
            <a:avLst/>
            <a:gdLst/>
            <a:ahLst/>
            <a:cxnLst/>
            <a:rect l="l" t="t" r="r" b="b"/>
            <a:pathLst>
              <a:path w="5475460" h="2956748">
                <a:moveTo>
                  <a:pt x="0" y="0"/>
                </a:moveTo>
                <a:lnTo>
                  <a:pt x="5475460" y="0"/>
                </a:lnTo>
                <a:lnTo>
                  <a:pt x="5475460" y="2956748"/>
                </a:lnTo>
                <a:lnTo>
                  <a:pt x="0" y="2956748"/>
                </a:lnTo>
                <a:lnTo>
                  <a:pt x="0" y="0"/>
                </a:lnTo>
                <a:close/>
              </a:path>
            </a:pathLst>
          </a:custGeom>
          <a:blipFill>
            <a:blip r:embed="rId7"/>
            <a:stretch>
              <a:fillRect/>
            </a:stretch>
          </a:blipFill>
        </p:spPr>
        <p:txBody>
          <a:bodyPr/>
          <a:lstStyle/>
          <a:p>
            <a:endParaRPr lang="es-ES"/>
          </a:p>
        </p:txBody>
      </p:sp>
      <p:sp>
        <p:nvSpPr>
          <p:cNvPr id="23" name="Freeform 15">
            <a:extLst>
              <a:ext uri="{FF2B5EF4-FFF2-40B4-BE49-F238E27FC236}">
                <a16:creationId xmlns:a16="http://schemas.microsoft.com/office/drawing/2014/main" id="{B0D672A5-90AC-99B6-FCF0-729374B7E7E4}"/>
              </a:ext>
            </a:extLst>
          </p:cNvPr>
          <p:cNvSpPr/>
          <p:nvPr/>
        </p:nvSpPr>
        <p:spPr>
          <a:xfrm>
            <a:off x="13702823" y="6395607"/>
            <a:ext cx="1919301" cy="2220414"/>
          </a:xfrm>
          <a:custGeom>
            <a:avLst/>
            <a:gdLst/>
            <a:ahLst/>
            <a:cxnLst/>
            <a:rect l="l" t="t" r="r" b="b"/>
            <a:pathLst>
              <a:path w="3049717" h="3270474">
                <a:moveTo>
                  <a:pt x="0" y="0"/>
                </a:moveTo>
                <a:lnTo>
                  <a:pt x="3049717" y="0"/>
                </a:lnTo>
                <a:lnTo>
                  <a:pt x="3049717" y="3270475"/>
                </a:lnTo>
                <a:lnTo>
                  <a:pt x="0" y="3270475"/>
                </a:lnTo>
                <a:lnTo>
                  <a:pt x="0" y="0"/>
                </a:lnTo>
                <a:close/>
              </a:path>
            </a:pathLst>
          </a:custGeom>
          <a:blipFill>
            <a:blip r:embed="rId8"/>
            <a:stretch>
              <a:fillRect/>
            </a:stretch>
          </a:blipFill>
        </p:spPr>
        <p:txBody>
          <a:bodyPr/>
          <a:lstStyle/>
          <a:p>
            <a:endParaRPr lang="es-ES"/>
          </a:p>
        </p:txBody>
      </p:sp>
      <p:sp>
        <p:nvSpPr>
          <p:cNvPr id="24" name="Freeform 16">
            <a:extLst>
              <a:ext uri="{FF2B5EF4-FFF2-40B4-BE49-F238E27FC236}">
                <a16:creationId xmlns:a16="http://schemas.microsoft.com/office/drawing/2014/main" id="{118DCA43-CCBC-F453-7284-F0A39AE71B9E}"/>
              </a:ext>
            </a:extLst>
          </p:cNvPr>
          <p:cNvSpPr/>
          <p:nvPr/>
        </p:nvSpPr>
        <p:spPr>
          <a:xfrm>
            <a:off x="5195292" y="8379944"/>
            <a:ext cx="4765684" cy="1371600"/>
          </a:xfrm>
          <a:custGeom>
            <a:avLst/>
            <a:gdLst/>
            <a:ahLst/>
            <a:cxnLst/>
            <a:rect l="l" t="t" r="r" b="b"/>
            <a:pathLst>
              <a:path w="7397767" h="2145353">
                <a:moveTo>
                  <a:pt x="0" y="0"/>
                </a:moveTo>
                <a:lnTo>
                  <a:pt x="7397768" y="0"/>
                </a:lnTo>
                <a:lnTo>
                  <a:pt x="7397768" y="2145353"/>
                </a:lnTo>
                <a:lnTo>
                  <a:pt x="0" y="2145353"/>
                </a:lnTo>
                <a:lnTo>
                  <a:pt x="0" y="0"/>
                </a:lnTo>
                <a:close/>
              </a:path>
            </a:pathLst>
          </a:custGeom>
          <a:blipFill>
            <a:blip r:embed="rId9"/>
            <a:stretch>
              <a:fillRect/>
            </a:stretch>
          </a:blipFill>
        </p:spPr>
        <p:txBody>
          <a:bodyPr/>
          <a:lstStyle/>
          <a:p>
            <a:endParaRPr lang="es-ES"/>
          </a:p>
        </p:txBody>
      </p:sp>
    </p:spTree>
  </p:cSld>
  <p:clrMapOvr>
    <a:masterClrMapping/>
  </p:clrMapOvr>
  <p:transition spd="med">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4201477" y="1879833"/>
            <a:ext cx="11596092" cy="8407167"/>
          </a:xfrm>
          <a:custGeom>
            <a:avLst/>
            <a:gdLst/>
            <a:ahLst/>
            <a:cxnLst/>
            <a:rect l="l" t="t" r="r" b="b"/>
            <a:pathLst>
              <a:path w="11596092" h="8407167">
                <a:moveTo>
                  <a:pt x="0" y="0"/>
                </a:moveTo>
                <a:lnTo>
                  <a:pt x="11596092" y="0"/>
                </a:lnTo>
                <a:lnTo>
                  <a:pt x="11596092" y="8407167"/>
                </a:lnTo>
                <a:lnTo>
                  <a:pt x="0" y="8407167"/>
                </a:lnTo>
                <a:lnTo>
                  <a:pt x="0" y="0"/>
                </a:lnTo>
                <a:close/>
              </a:path>
            </a:pathLst>
          </a:custGeom>
          <a:blipFill>
            <a:blip r:embed="rId3"/>
            <a:stretch>
              <a:fillRect/>
            </a:stretch>
          </a:blipFill>
        </p:spPr>
        <p:txBody>
          <a:bodyPr/>
          <a:lstStyle/>
          <a:p>
            <a:endParaRPr lang="es-ES"/>
          </a:p>
        </p:txBody>
      </p:sp>
      <p:sp>
        <p:nvSpPr>
          <p:cNvPr id="15" name="TextBox 15"/>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11</a:t>
            </a:r>
          </a:p>
        </p:txBody>
      </p:sp>
      <p:sp>
        <p:nvSpPr>
          <p:cNvPr id="16" name="TextBox 16"/>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SOLUCIÓN AL PROBLEMA</a:t>
            </a:r>
          </a:p>
        </p:txBody>
      </p:sp>
      <p:grpSp>
        <p:nvGrpSpPr>
          <p:cNvPr id="21" name="Grupo 20">
            <a:extLst>
              <a:ext uri="{FF2B5EF4-FFF2-40B4-BE49-F238E27FC236}">
                <a16:creationId xmlns:a16="http://schemas.microsoft.com/office/drawing/2014/main" id="{2121814D-C161-BC53-67AF-04DC53780BB5}"/>
              </a:ext>
            </a:extLst>
          </p:cNvPr>
          <p:cNvGrpSpPr/>
          <p:nvPr/>
        </p:nvGrpSpPr>
        <p:grpSpPr>
          <a:xfrm>
            <a:off x="941163" y="2444007"/>
            <a:ext cx="3234700" cy="5574090"/>
            <a:chOff x="941163" y="2444007"/>
            <a:chExt cx="3234700" cy="5574090"/>
          </a:xfrm>
        </p:grpSpPr>
        <p:sp>
          <p:nvSpPr>
            <p:cNvPr id="19" name="TextBox 19"/>
            <p:cNvSpPr txBox="1"/>
            <p:nvPr/>
          </p:nvSpPr>
          <p:spPr>
            <a:xfrm>
              <a:off x="941163" y="2444007"/>
              <a:ext cx="3058968" cy="3832225"/>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DATOS DE UN DÍA CADA 5 MINUTOS</a:t>
              </a:r>
            </a:p>
          </p:txBody>
        </p:sp>
        <p:sp>
          <p:nvSpPr>
            <p:cNvPr id="20" name="Freeform 28">
              <a:extLst>
                <a:ext uri="{FF2B5EF4-FFF2-40B4-BE49-F238E27FC236}">
                  <a16:creationId xmlns:a16="http://schemas.microsoft.com/office/drawing/2014/main" id="{37037910-450D-113C-309B-5F1015AEE58B}"/>
                </a:ext>
              </a:extLst>
            </p:cNvPr>
            <p:cNvSpPr/>
            <p:nvPr/>
          </p:nvSpPr>
          <p:spPr>
            <a:xfrm rot="16200000" flipV="1">
              <a:off x="2495185" y="6337418"/>
              <a:ext cx="1675924" cy="1685433"/>
            </a:xfrm>
            <a:custGeom>
              <a:avLst/>
              <a:gdLst/>
              <a:ahLst/>
              <a:cxnLst/>
              <a:rect l="l" t="t" r="r" b="b"/>
              <a:pathLst>
                <a:path w="2052290" h="2317890">
                  <a:moveTo>
                    <a:pt x="0" y="0"/>
                  </a:moveTo>
                  <a:lnTo>
                    <a:pt x="0" y="2013090"/>
                  </a:lnTo>
                  <a:cubicBezTo>
                    <a:pt x="0" y="2181426"/>
                    <a:pt x="136463" y="2317890"/>
                    <a:pt x="304800" y="2317890"/>
                  </a:cubicBezTo>
                  <a:lnTo>
                    <a:pt x="2052290" y="2317890"/>
                  </a:lnTo>
                </a:path>
              </a:pathLst>
            </a:custGeom>
            <a:ln w="254000" cap="flat">
              <a:solidFill>
                <a:srgbClr val="4D6BA7"/>
              </a:solidFill>
              <a:prstDash val="solid"/>
              <a:headEnd type="none" w="sm" len="sm"/>
              <a:tailEnd type="triangle" w="lg" len="med"/>
            </a:ln>
          </p:spPr>
          <p:txBody>
            <a:bodyPr/>
            <a:lstStyle/>
            <a:p>
              <a:endParaRPr lang="es-ES" dirty="0"/>
            </a:p>
          </p:txBody>
        </p:sp>
      </p:gr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p:tgtEl>
                                          <p:spTgt spid="21"/>
                                        </p:tgtEl>
                                        <p:attrNameLst>
                                          <p:attrName>ppt_y</p:attrName>
                                        </p:attrNameLst>
                                      </p:cBhvr>
                                      <p:tavLst>
                                        <p:tav tm="0">
                                          <p:val>
                                            <p:strVal val="#ppt_y+#ppt_h*1.125000"/>
                                          </p:val>
                                        </p:tav>
                                        <p:tav tm="100000">
                                          <p:val>
                                            <p:strVal val="#ppt_y"/>
                                          </p:val>
                                        </p:tav>
                                      </p:tavLst>
                                    </p:anim>
                                    <p:animEffect transition="in" filter="wipe(up)">
                                      <p:cBhvr>
                                        <p:cTn id="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2085975"/>
          </a:xfrm>
          <a:prstGeom prst="rect">
            <a:avLst/>
          </a:prstGeom>
        </p:spPr>
        <p:txBody>
          <a:bodyPr lIns="0" tIns="0" rIns="0" bIns="0" rtlCol="0" anchor="t">
            <a:spAutoFit/>
          </a:bodyPr>
          <a:lstStyle/>
          <a:p>
            <a:pPr algn="ctr">
              <a:lnSpc>
                <a:spcPts val="8399"/>
              </a:lnSpc>
            </a:pPr>
            <a:r>
              <a:rPr lang="en-US" sz="5999" dirty="0">
                <a:solidFill>
                  <a:srgbClr val="FFFFFF"/>
                </a:solidFill>
                <a:latin typeface="Bantayog"/>
                <a:ea typeface="Bantayog"/>
                <a:cs typeface="Bantayog"/>
                <a:sym typeface="Bantayog"/>
              </a:rPr>
              <a:t>12</a:t>
            </a:r>
          </a:p>
          <a:p>
            <a:pPr algn="ctr">
              <a:lnSpc>
                <a:spcPts val="8399"/>
              </a:lnSpc>
              <a:spcBef>
                <a:spcPct val="0"/>
              </a:spcBef>
            </a:pPr>
            <a:endParaRPr lang="en-US" sz="5999" dirty="0">
              <a:solidFill>
                <a:srgbClr val="FFFFFF"/>
              </a:solidFill>
              <a:latin typeface="Bantayog"/>
              <a:ea typeface="Bantayog"/>
              <a:cs typeface="Bantayog"/>
              <a:sym typeface="Bantayog"/>
            </a:endParaRPr>
          </a:p>
        </p:txBody>
      </p:sp>
      <p:grpSp>
        <p:nvGrpSpPr>
          <p:cNvPr id="16" name="Group 16"/>
          <p:cNvGrpSpPr/>
          <p:nvPr/>
        </p:nvGrpSpPr>
        <p:grpSpPr>
          <a:xfrm>
            <a:off x="4136715" y="4307732"/>
            <a:ext cx="7017986" cy="4594833"/>
            <a:chOff x="0" y="0"/>
            <a:chExt cx="9357315" cy="6126444"/>
          </a:xfrm>
        </p:grpSpPr>
        <p:sp>
          <p:nvSpPr>
            <p:cNvPr id="17" name="AutoShape 17"/>
            <p:cNvSpPr/>
            <p:nvPr/>
          </p:nvSpPr>
          <p:spPr>
            <a:xfrm>
              <a:off x="0" y="127000"/>
              <a:ext cx="2598459" cy="0"/>
            </a:xfrm>
            <a:prstGeom prst="line">
              <a:avLst/>
            </a:prstGeom>
            <a:ln w="254000" cap="flat">
              <a:solidFill>
                <a:srgbClr val="4D6BA7"/>
              </a:solidFill>
              <a:prstDash val="solid"/>
              <a:headEnd type="none" w="sm" len="sm"/>
              <a:tailEnd type="triangle" w="lg" len="med"/>
            </a:ln>
          </p:spPr>
          <p:txBody>
            <a:bodyPr/>
            <a:lstStyle/>
            <a:p>
              <a:endParaRPr lang="es-ES"/>
            </a:p>
          </p:txBody>
        </p:sp>
        <p:sp>
          <p:nvSpPr>
            <p:cNvPr id="18" name="AutoShape 18"/>
            <p:cNvSpPr/>
            <p:nvPr/>
          </p:nvSpPr>
          <p:spPr>
            <a:xfrm>
              <a:off x="9230315" y="2654585"/>
              <a:ext cx="0" cy="1787820"/>
            </a:xfrm>
            <a:prstGeom prst="line">
              <a:avLst/>
            </a:prstGeom>
            <a:ln w="254000" cap="flat">
              <a:solidFill>
                <a:srgbClr val="4D6BA7"/>
              </a:solidFill>
              <a:prstDash val="solid"/>
              <a:headEnd type="none" w="sm" len="sm"/>
              <a:tailEnd type="triangle" w="lg" len="med"/>
            </a:ln>
          </p:spPr>
          <p:txBody>
            <a:bodyPr/>
            <a:lstStyle/>
            <a:p>
              <a:endParaRPr lang="es-ES"/>
            </a:p>
          </p:txBody>
        </p:sp>
        <p:sp>
          <p:nvSpPr>
            <p:cNvPr id="19" name="AutoShape 19"/>
            <p:cNvSpPr/>
            <p:nvPr/>
          </p:nvSpPr>
          <p:spPr>
            <a:xfrm flipH="1">
              <a:off x="2012597" y="5999444"/>
              <a:ext cx="1787820" cy="0"/>
            </a:xfrm>
            <a:prstGeom prst="line">
              <a:avLst/>
            </a:prstGeom>
            <a:ln w="254000" cap="flat">
              <a:solidFill>
                <a:srgbClr val="4D6BA7"/>
              </a:solidFill>
              <a:prstDash val="solid"/>
              <a:headEnd type="none" w="sm" len="sm"/>
              <a:tailEnd type="triangle" w="lg" len="med"/>
            </a:ln>
          </p:spPr>
          <p:txBody>
            <a:bodyPr/>
            <a:lstStyle/>
            <a:p>
              <a:endParaRPr lang="es-ES"/>
            </a:p>
          </p:txBody>
        </p:sp>
      </p:grpSp>
      <p:sp>
        <p:nvSpPr>
          <p:cNvPr id="20" name="TextBox 20"/>
          <p:cNvSpPr txBox="1"/>
          <p:nvPr/>
        </p:nvSpPr>
        <p:spPr>
          <a:xfrm>
            <a:off x="1951269" y="7791315"/>
            <a:ext cx="3593112" cy="1917700"/>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105.120 MUESTRAS</a:t>
            </a:r>
          </a:p>
        </p:txBody>
      </p:sp>
      <p:sp>
        <p:nvSpPr>
          <p:cNvPr id="21" name="TextBox 21"/>
          <p:cNvSpPr txBox="1"/>
          <p:nvPr/>
        </p:nvSpPr>
        <p:spPr>
          <a:xfrm>
            <a:off x="6987028" y="7791315"/>
            <a:ext cx="8335346" cy="1917700"/>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DATOS DE UN AÑO CADA 5 MINUTOS</a:t>
            </a:r>
          </a:p>
        </p:txBody>
      </p:sp>
      <p:sp>
        <p:nvSpPr>
          <p:cNvPr id="22" name="TextBox 22"/>
          <p:cNvSpPr txBox="1"/>
          <p:nvPr/>
        </p:nvSpPr>
        <p:spPr>
          <a:xfrm>
            <a:off x="9433674" y="2099419"/>
            <a:ext cx="3058968" cy="946150"/>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SCRIPTS</a:t>
            </a:r>
          </a:p>
        </p:txBody>
      </p:sp>
      <p:grpSp>
        <p:nvGrpSpPr>
          <p:cNvPr id="23" name="Group 23"/>
          <p:cNvGrpSpPr/>
          <p:nvPr/>
        </p:nvGrpSpPr>
        <p:grpSpPr>
          <a:xfrm>
            <a:off x="6329444" y="3150021"/>
            <a:ext cx="9267428" cy="2858565"/>
            <a:chOff x="0" y="0"/>
            <a:chExt cx="12356571" cy="3811420"/>
          </a:xfrm>
        </p:grpSpPr>
        <p:grpSp>
          <p:nvGrpSpPr>
            <p:cNvPr id="24" name="Group 24"/>
            <p:cNvGrpSpPr/>
            <p:nvPr/>
          </p:nvGrpSpPr>
          <p:grpSpPr>
            <a:xfrm>
              <a:off x="0" y="0"/>
              <a:ext cx="12356571" cy="3811420"/>
              <a:chOff x="0" y="0"/>
              <a:chExt cx="2440804" cy="752873"/>
            </a:xfrm>
          </p:grpSpPr>
          <p:sp>
            <p:nvSpPr>
              <p:cNvPr id="25" name="Freeform 25"/>
              <p:cNvSpPr/>
              <p:nvPr/>
            </p:nvSpPr>
            <p:spPr>
              <a:xfrm>
                <a:off x="0" y="0"/>
                <a:ext cx="2440804" cy="752873"/>
              </a:xfrm>
              <a:custGeom>
                <a:avLst/>
                <a:gdLst/>
                <a:ahLst/>
                <a:cxnLst/>
                <a:rect l="l" t="t" r="r" b="b"/>
                <a:pathLst>
                  <a:path w="2440804" h="752873">
                    <a:moveTo>
                      <a:pt x="27568" y="0"/>
                    </a:moveTo>
                    <a:lnTo>
                      <a:pt x="2413236" y="0"/>
                    </a:lnTo>
                    <a:cubicBezTo>
                      <a:pt x="2420548" y="0"/>
                      <a:pt x="2427560" y="2904"/>
                      <a:pt x="2432730" y="8074"/>
                    </a:cubicBezTo>
                    <a:cubicBezTo>
                      <a:pt x="2437900" y="13244"/>
                      <a:pt x="2440804" y="20256"/>
                      <a:pt x="2440804" y="27568"/>
                    </a:cubicBezTo>
                    <a:lnTo>
                      <a:pt x="2440804" y="725305"/>
                    </a:lnTo>
                    <a:cubicBezTo>
                      <a:pt x="2440804" y="732617"/>
                      <a:pt x="2437900" y="739629"/>
                      <a:pt x="2432730" y="744799"/>
                    </a:cubicBezTo>
                    <a:cubicBezTo>
                      <a:pt x="2427560" y="749969"/>
                      <a:pt x="2420548" y="752873"/>
                      <a:pt x="2413236" y="752873"/>
                    </a:cubicBezTo>
                    <a:lnTo>
                      <a:pt x="27568" y="752873"/>
                    </a:lnTo>
                    <a:cubicBezTo>
                      <a:pt x="12343" y="752873"/>
                      <a:pt x="0" y="740531"/>
                      <a:pt x="0" y="725305"/>
                    </a:cubicBezTo>
                    <a:lnTo>
                      <a:pt x="0" y="27568"/>
                    </a:lnTo>
                    <a:cubicBezTo>
                      <a:pt x="0" y="20256"/>
                      <a:pt x="2904" y="13244"/>
                      <a:pt x="8074" y="8074"/>
                    </a:cubicBezTo>
                    <a:cubicBezTo>
                      <a:pt x="13244" y="2904"/>
                      <a:pt x="20256" y="0"/>
                      <a:pt x="27568" y="0"/>
                    </a:cubicBezTo>
                    <a:close/>
                  </a:path>
                </a:pathLst>
              </a:custGeom>
              <a:solidFill>
                <a:srgbClr val="DBE7FF"/>
              </a:solidFill>
              <a:ln w="38100" cap="rnd">
                <a:solidFill>
                  <a:srgbClr val="4D6BA7"/>
                </a:solidFill>
                <a:prstDash val="solid"/>
                <a:round/>
              </a:ln>
            </p:spPr>
            <p:txBody>
              <a:bodyPr/>
              <a:lstStyle/>
              <a:p>
                <a:endParaRPr lang="es-ES"/>
              </a:p>
            </p:txBody>
          </p:sp>
          <p:sp>
            <p:nvSpPr>
              <p:cNvPr id="26" name="TextBox 26"/>
              <p:cNvSpPr txBox="1"/>
              <p:nvPr/>
            </p:nvSpPr>
            <p:spPr>
              <a:xfrm>
                <a:off x="0" y="-38100"/>
                <a:ext cx="2440804" cy="790973"/>
              </a:xfrm>
              <a:prstGeom prst="rect">
                <a:avLst/>
              </a:prstGeom>
            </p:spPr>
            <p:txBody>
              <a:bodyPr lIns="50800" tIns="50800" rIns="50800" bIns="50800" rtlCol="0" anchor="ctr"/>
              <a:lstStyle/>
              <a:p>
                <a:pPr algn="ctr">
                  <a:lnSpc>
                    <a:spcPts val="2659"/>
                  </a:lnSpc>
                </a:pPr>
                <a:endParaRPr/>
              </a:p>
            </p:txBody>
          </p:sp>
        </p:grpSp>
        <p:sp>
          <p:nvSpPr>
            <p:cNvPr id="27" name="Freeform 27"/>
            <p:cNvSpPr/>
            <p:nvPr/>
          </p:nvSpPr>
          <p:spPr>
            <a:xfrm>
              <a:off x="4077425" y="686014"/>
              <a:ext cx="8279146" cy="2439391"/>
            </a:xfrm>
            <a:custGeom>
              <a:avLst/>
              <a:gdLst/>
              <a:ahLst/>
              <a:cxnLst/>
              <a:rect l="l" t="t" r="r" b="b"/>
              <a:pathLst>
                <a:path w="8279146" h="2439391">
                  <a:moveTo>
                    <a:pt x="0" y="0"/>
                  </a:moveTo>
                  <a:lnTo>
                    <a:pt x="8279146" y="0"/>
                  </a:lnTo>
                  <a:lnTo>
                    <a:pt x="8279146" y="2439392"/>
                  </a:lnTo>
                  <a:lnTo>
                    <a:pt x="0" y="2439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ES"/>
            </a:p>
          </p:txBody>
        </p:sp>
        <p:sp>
          <p:nvSpPr>
            <p:cNvPr id="28" name="Freeform 28"/>
            <p:cNvSpPr/>
            <p:nvPr/>
          </p:nvSpPr>
          <p:spPr>
            <a:xfrm>
              <a:off x="441407" y="440200"/>
              <a:ext cx="2931020" cy="2931020"/>
            </a:xfrm>
            <a:custGeom>
              <a:avLst/>
              <a:gdLst/>
              <a:ahLst/>
              <a:cxnLst/>
              <a:rect l="l" t="t" r="r" b="b"/>
              <a:pathLst>
                <a:path w="2931020" h="2931020">
                  <a:moveTo>
                    <a:pt x="0" y="0"/>
                  </a:moveTo>
                  <a:lnTo>
                    <a:pt x="2931020" y="0"/>
                  </a:lnTo>
                  <a:lnTo>
                    <a:pt x="2931020" y="2931020"/>
                  </a:lnTo>
                  <a:lnTo>
                    <a:pt x="0" y="2931020"/>
                  </a:lnTo>
                  <a:lnTo>
                    <a:pt x="0" y="0"/>
                  </a:lnTo>
                  <a:close/>
                </a:path>
              </a:pathLst>
            </a:custGeom>
            <a:blipFill>
              <a:blip r:embed="rId4"/>
              <a:stretch>
                <a:fillRect/>
              </a:stretch>
            </a:blipFill>
          </p:spPr>
          <p:txBody>
            <a:bodyPr/>
            <a:lstStyle/>
            <a:p>
              <a:endParaRPr lang="es-ES"/>
            </a:p>
          </p:txBody>
        </p:sp>
      </p:grpSp>
      <p:sp>
        <p:nvSpPr>
          <p:cNvPr id="30" name="TextBox 19">
            <a:extLst>
              <a:ext uri="{FF2B5EF4-FFF2-40B4-BE49-F238E27FC236}">
                <a16:creationId xmlns:a16="http://schemas.microsoft.com/office/drawing/2014/main" id="{E304450E-1575-C41C-BBC5-6C91D88F176B}"/>
              </a:ext>
            </a:extLst>
          </p:cNvPr>
          <p:cNvSpPr txBox="1"/>
          <p:nvPr/>
        </p:nvSpPr>
        <p:spPr>
          <a:xfrm>
            <a:off x="941163" y="2444007"/>
            <a:ext cx="3058968" cy="3832225"/>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DATOS DE UN DÍA CADA 5 MINUTOS</a:t>
            </a:r>
          </a:p>
        </p:txBody>
      </p:sp>
      <p:grpSp>
        <p:nvGrpSpPr>
          <p:cNvPr id="32" name="Grupo 31">
            <a:extLst>
              <a:ext uri="{FF2B5EF4-FFF2-40B4-BE49-F238E27FC236}">
                <a16:creationId xmlns:a16="http://schemas.microsoft.com/office/drawing/2014/main" id="{10E059B6-C394-68A8-C95A-35B09C222933}"/>
              </a:ext>
            </a:extLst>
          </p:cNvPr>
          <p:cNvGrpSpPr/>
          <p:nvPr/>
        </p:nvGrpSpPr>
        <p:grpSpPr>
          <a:xfrm rot="20858962">
            <a:off x="7749476" y="2917071"/>
            <a:ext cx="6328156" cy="3179803"/>
            <a:chOff x="8699709" y="3349070"/>
            <a:chExt cx="6328156" cy="3179803"/>
          </a:xfrm>
        </p:grpSpPr>
        <p:sp>
          <p:nvSpPr>
            <p:cNvPr id="31" name="Freeform 50">
              <a:extLst>
                <a:ext uri="{FF2B5EF4-FFF2-40B4-BE49-F238E27FC236}">
                  <a16:creationId xmlns:a16="http://schemas.microsoft.com/office/drawing/2014/main" id="{1293A517-466F-EAB6-4864-2B96B186F4BE}"/>
                </a:ext>
              </a:extLst>
            </p:cNvPr>
            <p:cNvSpPr/>
            <p:nvPr/>
          </p:nvSpPr>
          <p:spPr>
            <a:xfrm>
              <a:off x="8699709" y="3493127"/>
              <a:ext cx="6328156" cy="3035746"/>
            </a:xfrm>
            <a:custGeom>
              <a:avLst/>
              <a:gdLst/>
              <a:ahLst/>
              <a:cxnLst/>
              <a:rect l="l" t="t" r="r" b="b"/>
              <a:pathLst>
                <a:path w="346713" h="133321">
                  <a:moveTo>
                    <a:pt x="66661" y="0"/>
                  </a:moveTo>
                  <a:lnTo>
                    <a:pt x="280053" y="0"/>
                  </a:lnTo>
                  <a:cubicBezTo>
                    <a:pt x="297732" y="0"/>
                    <a:pt x="314687" y="7023"/>
                    <a:pt x="327189" y="19524"/>
                  </a:cubicBezTo>
                  <a:cubicBezTo>
                    <a:pt x="339690" y="32026"/>
                    <a:pt x="346713" y="48981"/>
                    <a:pt x="346713" y="66661"/>
                  </a:cubicBezTo>
                  <a:lnTo>
                    <a:pt x="346713" y="66661"/>
                  </a:lnTo>
                  <a:cubicBezTo>
                    <a:pt x="346713" y="103476"/>
                    <a:pt x="316868" y="133321"/>
                    <a:pt x="280053" y="133321"/>
                  </a:cubicBezTo>
                  <a:lnTo>
                    <a:pt x="66661" y="133321"/>
                  </a:lnTo>
                  <a:cubicBezTo>
                    <a:pt x="29845" y="133321"/>
                    <a:pt x="0" y="103476"/>
                    <a:pt x="0" y="66661"/>
                  </a:cubicBezTo>
                  <a:lnTo>
                    <a:pt x="0" y="66661"/>
                  </a:lnTo>
                  <a:cubicBezTo>
                    <a:pt x="0" y="29845"/>
                    <a:pt x="29845" y="0"/>
                    <a:pt x="66661" y="0"/>
                  </a:cubicBezTo>
                  <a:close/>
                </a:path>
              </a:pathLst>
            </a:custGeom>
            <a:solidFill>
              <a:srgbClr val="FFFFFF"/>
            </a:solidFill>
          </p:spPr>
          <p:txBody>
            <a:bodyPr/>
            <a:lstStyle/>
            <a:p>
              <a:endParaRPr lang="es-ES"/>
            </a:p>
          </p:txBody>
        </p:sp>
        <p:sp>
          <p:nvSpPr>
            <p:cNvPr id="29" name="TextBox 31">
              <a:extLst>
                <a:ext uri="{FF2B5EF4-FFF2-40B4-BE49-F238E27FC236}">
                  <a16:creationId xmlns:a16="http://schemas.microsoft.com/office/drawing/2014/main" id="{0573392F-CB64-B612-E5A2-6C09F8D410C8}"/>
                </a:ext>
              </a:extLst>
            </p:cNvPr>
            <p:cNvSpPr txBox="1"/>
            <p:nvPr/>
          </p:nvSpPr>
          <p:spPr>
            <a:xfrm>
              <a:off x="9156193" y="3349070"/>
              <a:ext cx="5465184" cy="3095527"/>
            </a:xfrm>
            <a:prstGeom prst="rect">
              <a:avLst/>
            </a:prstGeom>
          </p:spPr>
          <p:txBody>
            <a:bodyPr wrap="square"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PROCESO HEREDADO</a:t>
              </a:r>
            </a:p>
          </p:txBody>
        </p:sp>
      </p:grpSp>
      <p:sp>
        <p:nvSpPr>
          <p:cNvPr id="34" name="TextBox 16">
            <a:extLst>
              <a:ext uri="{FF2B5EF4-FFF2-40B4-BE49-F238E27FC236}">
                <a16:creationId xmlns:a16="http://schemas.microsoft.com/office/drawing/2014/main" id="{6C411BEC-BF5C-F3E9-B45A-216DED7EF7C6}"/>
              </a:ext>
            </a:extLst>
          </p:cNvPr>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SOLUCIÓN AL PROBLEMA</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 calcmode="lin" valueType="num">
                                      <p:cBhvr>
                                        <p:cTn id="9" dur="500" fill="hold"/>
                                        <p:tgtEl>
                                          <p:spTgt spid="32"/>
                                        </p:tgtEl>
                                        <p:attrNameLst>
                                          <p:attrName>style.rotation</p:attrName>
                                        </p:attrNameLst>
                                      </p:cBhvr>
                                      <p:tavLst>
                                        <p:tav tm="0">
                                          <p:val>
                                            <p:fltVal val="360"/>
                                          </p:val>
                                        </p:tav>
                                        <p:tav tm="100000">
                                          <p:val>
                                            <p:fltVal val="0"/>
                                          </p:val>
                                        </p:tav>
                                      </p:tavLst>
                                    </p:anim>
                                    <p:animEffect transition="in" filter="fade">
                                      <p:cBhvr>
                                        <p:cTn id="1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13</a:t>
            </a:r>
          </a:p>
        </p:txBody>
      </p:sp>
      <p:grpSp>
        <p:nvGrpSpPr>
          <p:cNvPr id="16" name="Group 16"/>
          <p:cNvGrpSpPr/>
          <p:nvPr/>
        </p:nvGrpSpPr>
        <p:grpSpPr>
          <a:xfrm>
            <a:off x="595580" y="3431571"/>
            <a:ext cx="17096841" cy="2860675"/>
            <a:chOff x="0" y="-114300"/>
            <a:chExt cx="22795787" cy="3814233"/>
          </a:xfrm>
        </p:grpSpPr>
        <p:sp>
          <p:nvSpPr>
            <p:cNvPr id="17" name="Freeform 17"/>
            <p:cNvSpPr/>
            <p:nvPr/>
          </p:nvSpPr>
          <p:spPr>
            <a:xfrm>
              <a:off x="6413262" y="1849967"/>
              <a:ext cx="1778000" cy="0"/>
            </a:xfrm>
            <a:custGeom>
              <a:avLst/>
              <a:gdLst/>
              <a:ahLst/>
              <a:cxnLst/>
              <a:rect l="l" t="t" r="r" b="b"/>
              <a:pathLst>
                <a:path w="1778000">
                  <a:moveTo>
                    <a:pt x="0" y="0"/>
                  </a:moveTo>
                  <a:lnTo>
                    <a:pt x="1778001" y="0"/>
                  </a:lnTo>
                </a:path>
              </a:pathLst>
            </a:custGeom>
            <a:ln w="254000" cap="flat">
              <a:solidFill>
                <a:srgbClr val="4D6BA7"/>
              </a:solidFill>
              <a:prstDash val="solid"/>
              <a:headEnd type="none" w="sm" len="sm"/>
              <a:tailEnd type="triangle" w="lg" len="med"/>
            </a:ln>
          </p:spPr>
          <p:txBody>
            <a:bodyPr/>
            <a:lstStyle/>
            <a:p>
              <a:endParaRPr lang="es-ES" dirty="0"/>
            </a:p>
          </p:txBody>
        </p:sp>
        <p:sp>
          <p:nvSpPr>
            <p:cNvPr id="18" name="TextBox 18"/>
            <p:cNvSpPr txBox="1"/>
            <p:nvPr/>
          </p:nvSpPr>
          <p:spPr>
            <a:xfrm>
              <a:off x="0" y="-114300"/>
              <a:ext cx="6413262" cy="38142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INYECCIÓN DE POTENCIA POR GENERADORES</a:t>
              </a:r>
            </a:p>
          </p:txBody>
        </p:sp>
        <p:sp>
          <p:nvSpPr>
            <p:cNvPr id="19" name="TextBox 19"/>
            <p:cNvSpPr txBox="1"/>
            <p:nvPr/>
          </p:nvSpPr>
          <p:spPr>
            <a:xfrm>
              <a:off x="8191262" y="-114300"/>
              <a:ext cx="6413262" cy="38142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ALTERA TENSIONES DE LOS NUDOS</a:t>
              </a:r>
            </a:p>
          </p:txBody>
        </p:sp>
        <p:sp>
          <p:nvSpPr>
            <p:cNvPr id="20" name="TextBox 20"/>
            <p:cNvSpPr txBox="1"/>
            <p:nvPr/>
          </p:nvSpPr>
          <p:spPr>
            <a:xfrm>
              <a:off x="16382525" y="-114300"/>
              <a:ext cx="6413262" cy="38142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ALTERA PÉRDIDAS DE LA RED</a:t>
              </a:r>
            </a:p>
          </p:txBody>
        </p:sp>
      </p:grpSp>
      <p:grpSp>
        <p:nvGrpSpPr>
          <p:cNvPr id="22" name="Group 22"/>
          <p:cNvGrpSpPr/>
          <p:nvPr/>
        </p:nvGrpSpPr>
        <p:grpSpPr>
          <a:xfrm>
            <a:off x="2932445" y="6225659"/>
            <a:ext cx="11147817" cy="3831382"/>
            <a:chOff x="0" y="0"/>
            <a:chExt cx="14863755" cy="5108510"/>
          </a:xfrm>
        </p:grpSpPr>
        <p:sp>
          <p:nvSpPr>
            <p:cNvPr id="23" name="Freeform 23"/>
            <p:cNvSpPr/>
            <p:nvPr/>
          </p:nvSpPr>
          <p:spPr>
            <a:xfrm>
              <a:off x="90811" y="88783"/>
              <a:ext cx="8191262" cy="2094594"/>
            </a:xfrm>
            <a:custGeom>
              <a:avLst/>
              <a:gdLst/>
              <a:ahLst/>
              <a:cxnLst/>
              <a:rect l="l" t="t" r="r" b="b"/>
              <a:pathLst>
                <a:path w="8191262" h="2094594">
                  <a:moveTo>
                    <a:pt x="8191262" y="0"/>
                  </a:moveTo>
                  <a:quadBezTo>
                    <a:pt x="4095631" y="4189188"/>
                    <a:pt x="0" y="0"/>
                  </a:quadBezTo>
                </a:path>
              </a:pathLst>
            </a:custGeom>
            <a:ln w="254000" cap="flat">
              <a:solidFill>
                <a:srgbClr val="4D6BA7"/>
              </a:solidFill>
              <a:prstDash val="solid"/>
              <a:headEnd type="triangle" w="lg" len="med"/>
              <a:tailEnd type="triangle" w="lg" len="med"/>
            </a:ln>
          </p:spPr>
          <p:txBody>
            <a:bodyPr/>
            <a:lstStyle/>
            <a:p>
              <a:endParaRPr lang="es-ES"/>
            </a:p>
          </p:txBody>
        </p:sp>
        <p:sp>
          <p:nvSpPr>
            <p:cNvPr id="24" name="Freeform 24"/>
            <p:cNvSpPr/>
            <p:nvPr/>
          </p:nvSpPr>
          <p:spPr>
            <a:xfrm>
              <a:off x="544768" y="348187"/>
              <a:ext cx="14177589" cy="3230842"/>
            </a:xfrm>
            <a:custGeom>
              <a:avLst/>
              <a:gdLst/>
              <a:ahLst/>
              <a:cxnLst/>
              <a:rect l="l" t="t" r="r" b="b"/>
              <a:pathLst>
                <a:path w="14177589" h="3230842">
                  <a:moveTo>
                    <a:pt x="14177589" y="0"/>
                  </a:moveTo>
                  <a:quadBezTo>
                    <a:pt x="7024239" y="6329268"/>
                    <a:pt x="0" y="259404"/>
                  </a:quadBezTo>
                </a:path>
              </a:pathLst>
            </a:custGeom>
            <a:ln w="254000" cap="flat">
              <a:solidFill>
                <a:srgbClr val="4D6BA7"/>
              </a:solidFill>
              <a:prstDash val="solid"/>
              <a:headEnd type="triangle" w="lg" len="med"/>
              <a:tailEnd type="none" w="sm" len="sm"/>
            </a:ln>
          </p:spPr>
          <p:txBody>
            <a:bodyPr/>
            <a:lstStyle/>
            <a:p>
              <a:endParaRPr lang="es-ES"/>
            </a:p>
          </p:txBody>
        </p:sp>
        <p:sp>
          <p:nvSpPr>
            <p:cNvPr id="25" name="TextBox 25"/>
            <p:cNvSpPr txBox="1"/>
            <p:nvPr/>
          </p:nvSpPr>
          <p:spPr>
            <a:xfrm>
              <a:off x="1460456" y="3885076"/>
              <a:ext cx="12000802"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DEPENDENCIA DE VARIABLES</a:t>
              </a:r>
            </a:p>
          </p:txBody>
        </p:sp>
      </p:grpSp>
      <p:sp>
        <p:nvSpPr>
          <p:cNvPr id="28" name="Freeform 17">
            <a:extLst>
              <a:ext uri="{FF2B5EF4-FFF2-40B4-BE49-F238E27FC236}">
                <a16:creationId xmlns:a16="http://schemas.microsoft.com/office/drawing/2014/main" id="{923C488D-FE4B-901F-EEF2-40B4501ED210}"/>
              </a:ext>
            </a:extLst>
          </p:cNvPr>
          <p:cNvSpPr/>
          <p:nvPr/>
        </p:nvSpPr>
        <p:spPr>
          <a:xfrm>
            <a:off x="11792878" y="4904771"/>
            <a:ext cx="1333500" cy="0"/>
          </a:xfrm>
          <a:custGeom>
            <a:avLst/>
            <a:gdLst/>
            <a:ahLst/>
            <a:cxnLst/>
            <a:rect l="l" t="t" r="r" b="b"/>
            <a:pathLst>
              <a:path w="1778000">
                <a:moveTo>
                  <a:pt x="0" y="0"/>
                </a:moveTo>
                <a:lnTo>
                  <a:pt x="1778001" y="0"/>
                </a:lnTo>
              </a:path>
            </a:pathLst>
          </a:custGeom>
          <a:ln w="254000" cap="flat">
            <a:solidFill>
              <a:srgbClr val="4D6BA7"/>
            </a:solidFill>
            <a:prstDash val="solid"/>
            <a:headEnd type="none" w="sm" len="sm"/>
            <a:tailEnd type="triangle" w="lg" len="med"/>
          </a:ln>
        </p:spPr>
        <p:txBody>
          <a:bodyPr/>
          <a:lstStyle/>
          <a:p>
            <a:endParaRPr lang="es-ES" dirty="0"/>
          </a:p>
        </p:txBody>
      </p:sp>
      <p:sp>
        <p:nvSpPr>
          <p:cNvPr id="26" name="TextBox 16">
            <a:extLst>
              <a:ext uri="{FF2B5EF4-FFF2-40B4-BE49-F238E27FC236}">
                <a16:creationId xmlns:a16="http://schemas.microsoft.com/office/drawing/2014/main" id="{8E47A5BD-8C12-8766-25C3-08E569BF5756}"/>
              </a:ext>
            </a:extLst>
          </p:cNvPr>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SOLUCIÓN AL PROBLEMA</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p:tgtEl>
                                          <p:spTgt spid="22"/>
                                        </p:tgtEl>
                                        <p:attrNameLst>
                                          <p:attrName>ppt_y</p:attrName>
                                        </p:attrNameLst>
                                      </p:cBhvr>
                                      <p:tavLst>
                                        <p:tav tm="0">
                                          <p:val>
                                            <p:strVal val="#ppt_y+#ppt_h*1.125000"/>
                                          </p:val>
                                        </p:tav>
                                        <p:tav tm="100000">
                                          <p:val>
                                            <p:strVal val="#ppt_y"/>
                                          </p:val>
                                        </p:tav>
                                      </p:tavLst>
                                    </p:anim>
                                    <p:animEffect transition="in" filter="wipe(up)">
                                      <p:cBhvr>
                                        <p:cTn id="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14</a:t>
            </a:r>
          </a:p>
        </p:txBody>
      </p:sp>
      <p:sp>
        <p:nvSpPr>
          <p:cNvPr id="15" name="TextBox 15"/>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SOLUCIÓN AL PROBLEMA</a:t>
            </a:r>
          </a:p>
        </p:txBody>
      </p:sp>
      <p:sp>
        <p:nvSpPr>
          <p:cNvPr id="16" name="TextBox 16"/>
          <p:cNvSpPr txBox="1"/>
          <p:nvPr/>
        </p:nvSpPr>
        <p:spPr>
          <a:xfrm>
            <a:off x="2973186" y="2187038"/>
            <a:ext cx="12341628" cy="946150"/>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ELECTRIC SEQUENTIAL REGRESSOR (ESR)</a:t>
            </a:r>
          </a:p>
        </p:txBody>
      </p:sp>
      <p:grpSp>
        <p:nvGrpSpPr>
          <p:cNvPr id="17" name="Group 17"/>
          <p:cNvGrpSpPr/>
          <p:nvPr/>
        </p:nvGrpSpPr>
        <p:grpSpPr>
          <a:xfrm>
            <a:off x="776287" y="3398102"/>
            <a:ext cx="16735425" cy="4717098"/>
            <a:chOff x="0" y="-192881"/>
            <a:chExt cx="22313900" cy="6289463"/>
          </a:xfrm>
        </p:grpSpPr>
        <p:grpSp>
          <p:nvGrpSpPr>
            <p:cNvPr id="18" name="Group 18"/>
            <p:cNvGrpSpPr/>
            <p:nvPr/>
          </p:nvGrpSpPr>
          <p:grpSpPr>
            <a:xfrm>
              <a:off x="2592648" y="-192881"/>
              <a:ext cx="15834827" cy="6289463"/>
              <a:chOff x="0" y="-38100"/>
              <a:chExt cx="3127867" cy="1242363"/>
            </a:xfrm>
          </p:grpSpPr>
          <p:sp>
            <p:nvSpPr>
              <p:cNvPr id="19" name="Freeform 19"/>
              <p:cNvSpPr/>
              <p:nvPr/>
            </p:nvSpPr>
            <p:spPr>
              <a:xfrm>
                <a:off x="0" y="0"/>
                <a:ext cx="3127867" cy="1204263"/>
              </a:xfrm>
              <a:custGeom>
                <a:avLst/>
                <a:gdLst/>
                <a:ahLst/>
                <a:cxnLst/>
                <a:rect l="l" t="t" r="r" b="b"/>
                <a:pathLst>
                  <a:path w="3127867" h="1204263">
                    <a:moveTo>
                      <a:pt x="35854" y="0"/>
                    </a:moveTo>
                    <a:lnTo>
                      <a:pt x="3092013" y="0"/>
                    </a:lnTo>
                    <a:cubicBezTo>
                      <a:pt x="3111815" y="0"/>
                      <a:pt x="3127867" y="16052"/>
                      <a:pt x="3127867" y="35854"/>
                    </a:cubicBezTo>
                    <a:lnTo>
                      <a:pt x="3127867" y="1168409"/>
                    </a:lnTo>
                    <a:cubicBezTo>
                      <a:pt x="3127867" y="1177918"/>
                      <a:pt x="3124090" y="1187038"/>
                      <a:pt x="3117366" y="1193762"/>
                    </a:cubicBezTo>
                    <a:cubicBezTo>
                      <a:pt x="3110642" y="1200486"/>
                      <a:pt x="3101522" y="1204263"/>
                      <a:pt x="3092013" y="1204263"/>
                    </a:cubicBezTo>
                    <a:lnTo>
                      <a:pt x="35854" y="1204263"/>
                    </a:lnTo>
                    <a:cubicBezTo>
                      <a:pt x="26345" y="1204263"/>
                      <a:pt x="17225" y="1200486"/>
                      <a:pt x="10501" y="1193762"/>
                    </a:cubicBezTo>
                    <a:cubicBezTo>
                      <a:pt x="3777" y="1187038"/>
                      <a:pt x="0" y="1177918"/>
                      <a:pt x="0" y="1168409"/>
                    </a:cubicBezTo>
                    <a:lnTo>
                      <a:pt x="0" y="35854"/>
                    </a:lnTo>
                    <a:cubicBezTo>
                      <a:pt x="0" y="26345"/>
                      <a:pt x="3777" y="17225"/>
                      <a:pt x="10501" y="10501"/>
                    </a:cubicBezTo>
                    <a:cubicBezTo>
                      <a:pt x="17225" y="3777"/>
                      <a:pt x="26345" y="0"/>
                      <a:pt x="35854" y="0"/>
                    </a:cubicBezTo>
                    <a:close/>
                  </a:path>
                </a:pathLst>
              </a:custGeom>
              <a:solidFill>
                <a:srgbClr val="DBE7FF"/>
              </a:solidFill>
              <a:ln w="85725" cap="rnd">
                <a:solidFill>
                  <a:srgbClr val="4D6BA7"/>
                </a:solidFill>
                <a:prstDash val="solid"/>
                <a:round/>
              </a:ln>
            </p:spPr>
            <p:txBody>
              <a:bodyPr/>
              <a:lstStyle/>
              <a:p>
                <a:endParaRPr lang="es-ES"/>
              </a:p>
            </p:txBody>
          </p:sp>
          <p:sp>
            <p:nvSpPr>
              <p:cNvPr id="20" name="TextBox 20"/>
              <p:cNvSpPr txBox="1"/>
              <p:nvPr/>
            </p:nvSpPr>
            <p:spPr>
              <a:xfrm>
                <a:off x="0" y="-38100"/>
                <a:ext cx="3127867" cy="1242363"/>
              </a:xfrm>
              <a:prstGeom prst="rect">
                <a:avLst/>
              </a:prstGeom>
            </p:spPr>
            <p:txBody>
              <a:bodyPr lIns="50800" tIns="50800" rIns="50800" bIns="50800" rtlCol="0" anchor="ctr"/>
              <a:lstStyle/>
              <a:p>
                <a:pPr algn="ctr">
                  <a:lnSpc>
                    <a:spcPts val="2660"/>
                  </a:lnSpc>
                </a:pPr>
                <a:endParaRPr/>
              </a:p>
            </p:txBody>
          </p:sp>
        </p:grpSp>
        <p:grpSp>
          <p:nvGrpSpPr>
            <p:cNvPr id="21" name="Group 21"/>
            <p:cNvGrpSpPr/>
            <p:nvPr/>
          </p:nvGrpSpPr>
          <p:grpSpPr>
            <a:xfrm>
              <a:off x="5898929" y="2906798"/>
              <a:ext cx="4290986" cy="2703598"/>
              <a:chOff x="0" y="0"/>
              <a:chExt cx="847602" cy="534044"/>
            </a:xfrm>
          </p:grpSpPr>
          <p:sp>
            <p:nvSpPr>
              <p:cNvPr id="22" name="Freeform 22"/>
              <p:cNvSpPr/>
              <p:nvPr/>
            </p:nvSpPr>
            <p:spPr>
              <a:xfrm>
                <a:off x="0" y="0"/>
                <a:ext cx="847602" cy="534044"/>
              </a:xfrm>
              <a:custGeom>
                <a:avLst/>
                <a:gdLst/>
                <a:ahLst/>
                <a:cxnLst/>
                <a:rect l="l" t="t" r="r" b="b"/>
                <a:pathLst>
                  <a:path w="847602" h="534044">
                    <a:moveTo>
                      <a:pt x="132310" y="0"/>
                    </a:moveTo>
                    <a:lnTo>
                      <a:pt x="715292" y="0"/>
                    </a:lnTo>
                    <a:cubicBezTo>
                      <a:pt x="750383" y="0"/>
                      <a:pt x="784036" y="13940"/>
                      <a:pt x="808849" y="38753"/>
                    </a:cubicBezTo>
                    <a:cubicBezTo>
                      <a:pt x="833662" y="63566"/>
                      <a:pt x="847602" y="97219"/>
                      <a:pt x="847602" y="132310"/>
                    </a:cubicBezTo>
                    <a:lnTo>
                      <a:pt x="847602" y="401734"/>
                    </a:lnTo>
                    <a:cubicBezTo>
                      <a:pt x="847602" y="436825"/>
                      <a:pt x="833662" y="470478"/>
                      <a:pt x="808849" y="495291"/>
                    </a:cubicBezTo>
                    <a:cubicBezTo>
                      <a:pt x="784036" y="520104"/>
                      <a:pt x="750383" y="534044"/>
                      <a:pt x="715292" y="534044"/>
                    </a:cubicBezTo>
                    <a:lnTo>
                      <a:pt x="132310" y="534044"/>
                    </a:lnTo>
                    <a:cubicBezTo>
                      <a:pt x="97219" y="534044"/>
                      <a:pt x="63566" y="520104"/>
                      <a:pt x="38753" y="495291"/>
                    </a:cubicBezTo>
                    <a:cubicBezTo>
                      <a:pt x="13940" y="470478"/>
                      <a:pt x="0" y="436825"/>
                      <a:pt x="0" y="401734"/>
                    </a:cubicBezTo>
                    <a:lnTo>
                      <a:pt x="0" y="132310"/>
                    </a:lnTo>
                    <a:cubicBezTo>
                      <a:pt x="0" y="97219"/>
                      <a:pt x="13940" y="63566"/>
                      <a:pt x="38753" y="38753"/>
                    </a:cubicBezTo>
                    <a:cubicBezTo>
                      <a:pt x="63566" y="13940"/>
                      <a:pt x="97219" y="0"/>
                      <a:pt x="132310" y="0"/>
                    </a:cubicBezTo>
                    <a:close/>
                  </a:path>
                </a:pathLst>
              </a:custGeom>
              <a:solidFill>
                <a:srgbClr val="4D6BA7"/>
              </a:solidFill>
              <a:ln cap="rnd">
                <a:noFill/>
                <a:prstDash val="solid"/>
                <a:round/>
              </a:ln>
            </p:spPr>
            <p:txBody>
              <a:bodyPr/>
              <a:lstStyle/>
              <a:p>
                <a:endParaRPr lang="es-ES"/>
              </a:p>
            </p:txBody>
          </p:sp>
          <p:sp>
            <p:nvSpPr>
              <p:cNvPr id="23" name="TextBox 23"/>
              <p:cNvSpPr txBox="1"/>
              <p:nvPr/>
            </p:nvSpPr>
            <p:spPr>
              <a:xfrm>
                <a:off x="0" y="-38100"/>
                <a:ext cx="847602" cy="572144"/>
              </a:xfrm>
              <a:prstGeom prst="rect">
                <a:avLst/>
              </a:prstGeom>
            </p:spPr>
            <p:txBody>
              <a:bodyPr lIns="50800" tIns="50800" rIns="50800" bIns="50800" rtlCol="0" anchor="ctr"/>
              <a:lstStyle/>
              <a:p>
                <a:pPr algn="ctr">
                  <a:lnSpc>
                    <a:spcPts val="2660"/>
                  </a:lnSpc>
                </a:pPr>
                <a:endParaRPr/>
              </a:p>
            </p:txBody>
          </p:sp>
        </p:grpSp>
        <p:grpSp>
          <p:nvGrpSpPr>
            <p:cNvPr id="24" name="Group 24"/>
            <p:cNvGrpSpPr/>
            <p:nvPr/>
          </p:nvGrpSpPr>
          <p:grpSpPr>
            <a:xfrm>
              <a:off x="12484447" y="490687"/>
              <a:ext cx="4290986" cy="2703598"/>
              <a:chOff x="0" y="0"/>
              <a:chExt cx="847602" cy="534044"/>
            </a:xfrm>
          </p:grpSpPr>
          <p:sp>
            <p:nvSpPr>
              <p:cNvPr id="25" name="Freeform 25"/>
              <p:cNvSpPr/>
              <p:nvPr/>
            </p:nvSpPr>
            <p:spPr>
              <a:xfrm>
                <a:off x="0" y="0"/>
                <a:ext cx="847602" cy="534044"/>
              </a:xfrm>
              <a:custGeom>
                <a:avLst/>
                <a:gdLst/>
                <a:ahLst/>
                <a:cxnLst/>
                <a:rect l="l" t="t" r="r" b="b"/>
                <a:pathLst>
                  <a:path w="847602" h="534044">
                    <a:moveTo>
                      <a:pt x="132310" y="0"/>
                    </a:moveTo>
                    <a:lnTo>
                      <a:pt x="715292" y="0"/>
                    </a:lnTo>
                    <a:cubicBezTo>
                      <a:pt x="750383" y="0"/>
                      <a:pt x="784036" y="13940"/>
                      <a:pt x="808849" y="38753"/>
                    </a:cubicBezTo>
                    <a:cubicBezTo>
                      <a:pt x="833662" y="63566"/>
                      <a:pt x="847602" y="97219"/>
                      <a:pt x="847602" y="132310"/>
                    </a:cubicBezTo>
                    <a:lnTo>
                      <a:pt x="847602" y="401734"/>
                    </a:lnTo>
                    <a:cubicBezTo>
                      <a:pt x="847602" y="436825"/>
                      <a:pt x="833662" y="470478"/>
                      <a:pt x="808849" y="495291"/>
                    </a:cubicBezTo>
                    <a:cubicBezTo>
                      <a:pt x="784036" y="520104"/>
                      <a:pt x="750383" y="534044"/>
                      <a:pt x="715292" y="534044"/>
                    </a:cubicBezTo>
                    <a:lnTo>
                      <a:pt x="132310" y="534044"/>
                    </a:lnTo>
                    <a:cubicBezTo>
                      <a:pt x="97219" y="534044"/>
                      <a:pt x="63566" y="520104"/>
                      <a:pt x="38753" y="495291"/>
                    </a:cubicBezTo>
                    <a:cubicBezTo>
                      <a:pt x="13940" y="470478"/>
                      <a:pt x="0" y="436825"/>
                      <a:pt x="0" y="401734"/>
                    </a:cubicBezTo>
                    <a:lnTo>
                      <a:pt x="0" y="132310"/>
                    </a:lnTo>
                    <a:cubicBezTo>
                      <a:pt x="0" y="97219"/>
                      <a:pt x="13940" y="63566"/>
                      <a:pt x="38753" y="38753"/>
                    </a:cubicBezTo>
                    <a:cubicBezTo>
                      <a:pt x="63566" y="13940"/>
                      <a:pt x="97219" y="0"/>
                      <a:pt x="132310" y="0"/>
                    </a:cubicBezTo>
                    <a:close/>
                  </a:path>
                </a:pathLst>
              </a:custGeom>
              <a:solidFill>
                <a:srgbClr val="4D6BA7"/>
              </a:solidFill>
              <a:ln cap="rnd">
                <a:noFill/>
                <a:prstDash val="solid"/>
                <a:round/>
              </a:ln>
            </p:spPr>
            <p:txBody>
              <a:bodyPr/>
              <a:lstStyle/>
              <a:p>
                <a:endParaRPr lang="es-ES"/>
              </a:p>
            </p:txBody>
          </p:sp>
          <p:sp>
            <p:nvSpPr>
              <p:cNvPr id="26" name="TextBox 26"/>
              <p:cNvSpPr txBox="1"/>
              <p:nvPr/>
            </p:nvSpPr>
            <p:spPr>
              <a:xfrm>
                <a:off x="0" y="-38100"/>
                <a:ext cx="847602" cy="572144"/>
              </a:xfrm>
              <a:prstGeom prst="rect">
                <a:avLst/>
              </a:prstGeom>
            </p:spPr>
            <p:txBody>
              <a:bodyPr lIns="50800" tIns="50800" rIns="50800" bIns="50800" rtlCol="0" anchor="ctr"/>
              <a:lstStyle/>
              <a:p>
                <a:pPr algn="ctr">
                  <a:lnSpc>
                    <a:spcPts val="2660"/>
                  </a:lnSpc>
                </a:pPr>
                <a:endParaRPr/>
              </a:p>
            </p:txBody>
          </p:sp>
        </p:grpSp>
        <p:sp>
          <p:nvSpPr>
            <p:cNvPr id="27" name="Freeform 27"/>
            <p:cNvSpPr/>
            <p:nvPr/>
          </p:nvSpPr>
          <p:spPr>
            <a:xfrm flipV="1">
              <a:off x="10189915" y="4131645"/>
              <a:ext cx="9194787" cy="126952"/>
            </a:xfrm>
            <a:custGeom>
              <a:avLst/>
              <a:gdLst/>
              <a:ahLst/>
              <a:cxnLst/>
              <a:rect l="l" t="t" r="r" b="b"/>
              <a:pathLst>
                <a:path w="4750955">
                  <a:moveTo>
                    <a:pt x="4750955" y="0"/>
                  </a:moveTo>
                  <a:lnTo>
                    <a:pt x="0" y="0"/>
                  </a:lnTo>
                </a:path>
              </a:pathLst>
            </a:custGeom>
            <a:ln w="254000" cap="flat">
              <a:solidFill>
                <a:srgbClr val="4D6BA7"/>
              </a:solidFill>
              <a:prstDash val="solid"/>
              <a:headEnd type="none" w="sm" len="sm"/>
              <a:tailEnd type="none" w="sm" len="sm"/>
            </a:ln>
          </p:spPr>
          <p:txBody>
            <a:bodyPr/>
            <a:lstStyle/>
            <a:p>
              <a:endParaRPr lang="es-ES"/>
            </a:p>
          </p:txBody>
        </p:sp>
        <p:sp>
          <p:nvSpPr>
            <p:cNvPr id="28" name="Freeform 28"/>
            <p:cNvSpPr/>
            <p:nvPr/>
          </p:nvSpPr>
          <p:spPr>
            <a:xfrm>
              <a:off x="10189914" y="2418501"/>
              <a:ext cx="2294532" cy="1840096"/>
            </a:xfrm>
            <a:custGeom>
              <a:avLst/>
              <a:gdLst/>
              <a:ahLst/>
              <a:cxnLst/>
              <a:rect l="l" t="t" r="r" b="b"/>
              <a:pathLst>
                <a:path w="2294532" h="1840096">
                  <a:moveTo>
                    <a:pt x="2294532" y="0"/>
                  </a:moveTo>
                  <a:lnTo>
                    <a:pt x="1452067" y="0"/>
                  </a:lnTo>
                  <a:cubicBezTo>
                    <a:pt x="1371229" y="0"/>
                    <a:pt x="1293702" y="32112"/>
                    <a:pt x="1236540" y="89273"/>
                  </a:cubicBezTo>
                  <a:cubicBezTo>
                    <a:pt x="1179380" y="146434"/>
                    <a:pt x="1147267" y="223962"/>
                    <a:pt x="1147267" y="304800"/>
                  </a:cubicBezTo>
                  <a:lnTo>
                    <a:pt x="1147267" y="1535296"/>
                  </a:lnTo>
                  <a:cubicBezTo>
                    <a:pt x="1147267" y="1616134"/>
                    <a:pt x="1115154" y="1693661"/>
                    <a:pt x="1057993" y="1750822"/>
                  </a:cubicBezTo>
                  <a:cubicBezTo>
                    <a:pt x="1000832" y="1807983"/>
                    <a:pt x="923305" y="1840096"/>
                    <a:pt x="842467" y="1840096"/>
                  </a:cubicBezTo>
                  <a:lnTo>
                    <a:pt x="0" y="1840096"/>
                  </a:lnTo>
                </a:path>
              </a:pathLst>
            </a:custGeom>
            <a:ln w="254000" cap="flat">
              <a:solidFill>
                <a:srgbClr val="4D6BA7"/>
              </a:solidFill>
              <a:prstDash val="solid"/>
              <a:headEnd type="none" w="sm" len="sm"/>
              <a:tailEnd type="none" w="sm" len="sm"/>
            </a:ln>
          </p:spPr>
          <p:txBody>
            <a:bodyPr/>
            <a:lstStyle/>
            <a:p>
              <a:endParaRPr lang="es-ES"/>
            </a:p>
          </p:txBody>
        </p:sp>
        <p:sp>
          <p:nvSpPr>
            <p:cNvPr id="29" name="Freeform 29"/>
            <p:cNvSpPr/>
            <p:nvPr/>
          </p:nvSpPr>
          <p:spPr>
            <a:xfrm flipV="1">
              <a:off x="16775431" y="1168389"/>
              <a:ext cx="2609271" cy="60959"/>
            </a:xfrm>
            <a:custGeom>
              <a:avLst/>
              <a:gdLst/>
              <a:ahLst/>
              <a:cxnLst/>
              <a:rect l="l" t="t" r="r" b="b"/>
              <a:pathLst>
                <a:path w="1471386">
                  <a:moveTo>
                    <a:pt x="1471386" y="0"/>
                  </a:moveTo>
                  <a:lnTo>
                    <a:pt x="0" y="0"/>
                  </a:lnTo>
                </a:path>
              </a:pathLst>
            </a:custGeom>
            <a:ln w="254000" cap="flat">
              <a:solidFill>
                <a:srgbClr val="4D6BA7"/>
              </a:solidFill>
              <a:prstDash val="solid"/>
              <a:headEnd type="none" w="sm" len="sm"/>
              <a:tailEnd type="none" w="sm" len="sm"/>
            </a:ln>
          </p:spPr>
          <p:txBody>
            <a:bodyPr/>
            <a:lstStyle/>
            <a:p>
              <a:endParaRPr lang="es-ES"/>
            </a:p>
          </p:txBody>
        </p:sp>
        <p:sp>
          <p:nvSpPr>
            <p:cNvPr id="30" name="Freeform 30"/>
            <p:cNvSpPr/>
            <p:nvPr/>
          </p:nvSpPr>
          <p:spPr>
            <a:xfrm>
              <a:off x="16775432" y="2418500"/>
              <a:ext cx="2609269" cy="60959"/>
            </a:xfrm>
            <a:custGeom>
              <a:avLst/>
              <a:gdLst/>
              <a:ahLst/>
              <a:cxnLst/>
              <a:rect l="l" t="t" r="r" b="b"/>
              <a:pathLst>
                <a:path w="1471386">
                  <a:moveTo>
                    <a:pt x="1471386" y="0"/>
                  </a:moveTo>
                  <a:lnTo>
                    <a:pt x="0" y="0"/>
                  </a:lnTo>
                </a:path>
              </a:pathLst>
            </a:custGeom>
            <a:ln w="254000" cap="flat">
              <a:solidFill>
                <a:srgbClr val="4D6BA7"/>
              </a:solidFill>
              <a:prstDash val="solid"/>
              <a:headEnd type="none" w="sm" len="sm"/>
              <a:tailEnd type="none" w="sm" len="sm"/>
            </a:ln>
          </p:spPr>
          <p:txBody>
            <a:bodyPr/>
            <a:lstStyle/>
            <a:p>
              <a:endParaRPr lang="es-ES"/>
            </a:p>
          </p:txBody>
        </p:sp>
        <p:sp>
          <p:nvSpPr>
            <p:cNvPr id="31" name="Freeform 31"/>
            <p:cNvSpPr/>
            <p:nvPr/>
          </p:nvSpPr>
          <p:spPr>
            <a:xfrm>
              <a:off x="1103092" y="1047908"/>
              <a:ext cx="11577859" cy="139177"/>
            </a:xfrm>
            <a:custGeom>
              <a:avLst/>
              <a:gdLst/>
              <a:ahLst/>
              <a:cxnLst/>
              <a:rect l="l" t="t" r="r" b="b"/>
              <a:pathLst>
                <a:path w="5980811">
                  <a:moveTo>
                    <a:pt x="5980811" y="0"/>
                  </a:moveTo>
                  <a:lnTo>
                    <a:pt x="0" y="0"/>
                  </a:lnTo>
                </a:path>
              </a:pathLst>
            </a:custGeom>
            <a:ln w="254000" cap="flat">
              <a:solidFill>
                <a:srgbClr val="4D6BA7"/>
              </a:solidFill>
              <a:prstDash val="solid"/>
              <a:headEnd type="none" w="sm" len="sm"/>
              <a:tailEnd type="none" w="sm" len="sm"/>
            </a:ln>
          </p:spPr>
          <p:txBody>
            <a:bodyPr/>
            <a:lstStyle/>
            <a:p>
              <a:endParaRPr lang="es-ES"/>
            </a:p>
          </p:txBody>
        </p:sp>
        <p:sp>
          <p:nvSpPr>
            <p:cNvPr id="32" name="Freeform 32"/>
            <p:cNvSpPr/>
            <p:nvPr/>
          </p:nvSpPr>
          <p:spPr>
            <a:xfrm flipV="1">
              <a:off x="1103092" y="1623925"/>
              <a:ext cx="11380699" cy="109280"/>
            </a:xfrm>
            <a:custGeom>
              <a:avLst/>
              <a:gdLst/>
              <a:ahLst/>
              <a:cxnLst/>
              <a:rect l="l" t="t" r="r" b="b"/>
              <a:pathLst>
                <a:path w="5980811">
                  <a:moveTo>
                    <a:pt x="5980811" y="0"/>
                  </a:moveTo>
                  <a:lnTo>
                    <a:pt x="0" y="0"/>
                  </a:lnTo>
                </a:path>
              </a:pathLst>
            </a:custGeom>
            <a:ln w="254000" cap="flat">
              <a:solidFill>
                <a:srgbClr val="4D6BA7"/>
              </a:solidFill>
              <a:prstDash val="solid"/>
              <a:headEnd type="none" w="sm" len="sm"/>
              <a:tailEnd type="none" w="sm" len="sm"/>
            </a:ln>
          </p:spPr>
          <p:txBody>
            <a:bodyPr/>
            <a:lstStyle/>
            <a:p>
              <a:endParaRPr lang="es-ES"/>
            </a:p>
          </p:txBody>
        </p:sp>
        <p:sp>
          <p:nvSpPr>
            <p:cNvPr id="37" name="TextBox 37"/>
            <p:cNvSpPr txBox="1"/>
            <p:nvPr/>
          </p:nvSpPr>
          <p:spPr>
            <a:xfrm>
              <a:off x="10987806" y="3562005"/>
              <a:ext cx="630486" cy="1223433"/>
            </a:xfrm>
            <a:prstGeom prst="rect">
              <a:avLst/>
            </a:prstGeom>
          </p:spPr>
          <p:txBody>
            <a:bodyPr lIns="0" tIns="0" rIns="0" bIns="0" rtlCol="0" anchor="t">
              <a:spAutoFit/>
            </a:bodyPr>
            <a:lstStyle/>
            <a:p>
              <a:pPr algn="ctr">
                <a:lnSpc>
                  <a:spcPts val="7699"/>
                </a:lnSpc>
                <a:spcBef>
                  <a:spcPct val="0"/>
                </a:spcBef>
              </a:pPr>
              <a:r>
                <a:rPr lang="en-US" sz="5499" dirty="0">
                  <a:solidFill>
                    <a:srgbClr val="203660"/>
                  </a:solidFill>
                  <a:latin typeface="Bantayog"/>
                  <a:ea typeface="Bantayog"/>
                  <a:cs typeface="Bantayog"/>
                  <a:sym typeface="Bantayog"/>
                </a:rPr>
                <a:t>X</a:t>
              </a:r>
            </a:p>
          </p:txBody>
        </p:sp>
        <p:sp>
          <p:nvSpPr>
            <p:cNvPr id="39" name="TextBox 39"/>
            <p:cNvSpPr txBox="1"/>
            <p:nvPr/>
          </p:nvSpPr>
          <p:spPr>
            <a:xfrm>
              <a:off x="12483790" y="1173619"/>
              <a:ext cx="4291642" cy="1223433"/>
            </a:xfrm>
            <a:prstGeom prst="rect">
              <a:avLst/>
            </a:prstGeom>
          </p:spPr>
          <p:txBody>
            <a:bodyPr lIns="0" tIns="0" rIns="0" bIns="0" rtlCol="0" anchor="t">
              <a:spAutoFit/>
            </a:bodyPr>
            <a:lstStyle/>
            <a:p>
              <a:pPr algn="ctr">
                <a:lnSpc>
                  <a:spcPts val="7699"/>
                </a:lnSpc>
                <a:spcBef>
                  <a:spcPct val="0"/>
                </a:spcBef>
              </a:pPr>
              <a:r>
                <a:rPr lang="en-US" sz="5499">
                  <a:solidFill>
                    <a:srgbClr val="FFFFFF"/>
                  </a:solidFill>
                  <a:latin typeface="Bantayog"/>
                  <a:ea typeface="Bantayog"/>
                  <a:cs typeface="Bantayog"/>
                  <a:sym typeface="Bantayog"/>
                </a:rPr>
                <a:t>MODELO 2</a:t>
              </a:r>
            </a:p>
          </p:txBody>
        </p:sp>
        <p:sp>
          <p:nvSpPr>
            <p:cNvPr id="40" name="TextBox 40"/>
            <p:cNvSpPr txBox="1"/>
            <p:nvPr/>
          </p:nvSpPr>
          <p:spPr>
            <a:xfrm>
              <a:off x="0" y="255022"/>
              <a:ext cx="858823"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P</a:t>
              </a:r>
            </a:p>
          </p:txBody>
        </p:sp>
        <p:sp>
          <p:nvSpPr>
            <p:cNvPr id="41" name="TextBox 41"/>
            <p:cNvSpPr txBox="1"/>
            <p:nvPr/>
          </p:nvSpPr>
          <p:spPr>
            <a:xfrm>
              <a:off x="0" y="1297676"/>
              <a:ext cx="858823"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Q</a:t>
              </a:r>
            </a:p>
          </p:txBody>
        </p:sp>
        <p:sp>
          <p:nvSpPr>
            <p:cNvPr id="42" name="TextBox 42"/>
            <p:cNvSpPr txBox="1"/>
            <p:nvPr/>
          </p:nvSpPr>
          <p:spPr>
            <a:xfrm>
              <a:off x="19844226" y="3494373"/>
              <a:ext cx="858823"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Q</a:t>
              </a:r>
            </a:p>
          </p:txBody>
        </p:sp>
        <p:sp>
          <p:nvSpPr>
            <p:cNvPr id="43" name="TextBox 43"/>
            <p:cNvSpPr txBox="1"/>
            <p:nvPr/>
          </p:nvSpPr>
          <p:spPr>
            <a:xfrm>
              <a:off x="20397585" y="3849564"/>
              <a:ext cx="1916315" cy="900135"/>
            </a:xfrm>
            <a:prstGeom prst="rect">
              <a:avLst/>
            </a:prstGeom>
          </p:spPr>
          <p:txBody>
            <a:bodyPr lIns="0" tIns="0" rIns="0" bIns="0" rtlCol="0" anchor="t">
              <a:spAutoFit/>
            </a:bodyPr>
            <a:lstStyle/>
            <a:p>
              <a:pPr algn="ctr">
                <a:lnSpc>
                  <a:spcPts val="5653"/>
                </a:lnSpc>
                <a:spcBef>
                  <a:spcPct val="0"/>
                </a:spcBef>
              </a:pPr>
              <a:r>
                <a:rPr lang="en-US" sz="4038">
                  <a:solidFill>
                    <a:srgbClr val="4D6BA7"/>
                  </a:solidFill>
                  <a:latin typeface="Bantayog"/>
                  <a:ea typeface="Bantayog"/>
                  <a:cs typeface="Bantayog"/>
                  <a:sym typeface="Bantayog"/>
                </a:rPr>
                <a:t>GEN7</a:t>
              </a:r>
            </a:p>
          </p:txBody>
        </p:sp>
        <p:sp>
          <p:nvSpPr>
            <p:cNvPr id="44" name="TextBox 44"/>
            <p:cNvSpPr txBox="1"/>
            <p:nvPr/>
          </p:nvSpPr>
          <p:spPr>
            <a:xfrm>
              <a:off x="19959504" y="509772"/>
              <a:ext cx="858823"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V</a:t>
              </a:r>
            </a:p>
          </p:txBody>
        </p:sp>
        <p:sp>
          <p:nvSpPr>
            <p:cNvPr id="45" name="TextBox 45"/>
            <p:cNvSpPr txBox="1"/>
            <p:nvPr/>
          </p:nvSpPr>
          <p:spPr>
            <a:xfrm>
              <a:off x="20081189" y="1749634"/>
              <a:ext cx="2148148"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PERD</a:t>
              </a:r>
            </a:p>
          </p:txBody>
        </p:sp>
        <p:sp>
          <p:nvSpPr>
            <p:cNvPr id="38" name="TextBox 38"/>
            <p:cNvSpPr txBox="1"/>
            <p:nvPr/>
          </p:nvSpPr>
          <p:spPr>
            <a:xfrm>
              <a:off x="6056222" y="3673627"/>
              <a:ext cx="3976399" cy="1223433"/>
            </a:xfrm>
            <a:prstGeom prst="rect">
              <a:avLst/>
            </a:prstGeom>
          </p:spPr>
          <p:txBody>
            <a:bodyPr lIns="0" tIns="0" rIns="0" bIns="0" rtlCol="0" anchor="t">
              <a:spAutoFit/>
            </a:bodyPr>
            <a:lstStyle/>
            <a:p>
              <a:pPr algn="ctr">
                <a:lnSpc>
                  <a:spcPts val="7699"/>
                </a:lnSpc>
                <a:spcBef>
                  <a:spcPct val="0"/>
                </a:spcBef>
              </a:pPr>
              <a:r>
                <a:rPr lang="en-US" sz="5499" dirty="0">
                  <a:solidFill>
                    <a:srgbClr val="FFFFFF"/>
                  </a:solidFill>
                  <a:latin typeface="Bantayog"/>
                  <a:ea typeface="Bantayog"/>
                  <a:cs typeface="Bantayog"/>
                  <a:sym typeface="Bantayog"/>
                </a:rPr>
                <a:t>MODELO 1</a:t>
              </a:r>
            </a:p>
          </p:txBody>
        </p:sp>
      </p:grpSp>
      <p:grpSp>
        <p:nvGrpSpPr>
          <p:cNvPr id="46" name="Group 46"/>
          <p:cNvGrpSpPr/>
          <p:nvPr/>
        </p:nvGrpSpPr>
        <p:grpSpPr>
          <a:xfrm>
            <a:off x="3801551" y="8115200"/>
            <a:ext cx="9326448" cy="2099678"/>
            <a:chOff x="0" y="0"/>
            <a:chExt cx="12435265" cy="2799571"/>
          </a:xfrm>
        </p:grpSpPr>
        <p:sp>
          <p:nvSpPr>
            <p:cNvPr id="47" name="Freeform 47"/>
            <p:cNvSpPr/>
            <p:nvPr/>
          </p:nvSpPr>
          <p:spPr>
            <a:xfrm>
              <a:off x="0" y="248696"/>
              <a:ext cx="4723843" cy="2550875"/>
            </a:xfrm>
            <a:custGeom>
              <a:avLst/>
              <a:gdLst/>
              <a:ahLst/>
              <a:cxnLst/>
              <a:rect l="l" t="t" r="r" b="b"/>
              <a:pathLst>
                <a:path w="4723843" h="2550875">
                  <a:moveTo>
                    <a:pt x="0" y="0"/>
                  </a:moveTo>
                  <a:lnTo>
                    <a:pt x="4723843" y="0"/>
                  </a:lnTo>
                  <a:lnTo>
                    <a:pt x="4723843" y="2550875"/>
                  </a:lnTo>
                  <a:lnTo>
                    <a:pt x="0" y="2550875"/>
                  </a:lnTo>
                  <a:lnTo>
                    <a:pt x="0" y="0"/>
                  </a:lnTo>
                  <a:close/>
                </a:path>
              </a:pathLst>
            </a:custGeom>
            <a:blipFill>
              <a:blip r:embed="rId3"/>
              <a:stretch>
                <a:fillRect/>
              </a:stretch>
            </a:blipFill>
          </p:spPr>
          <p:txBody>
            <a:bodyPr/>
            <a:lstStyle/>
            <a:p>
              <a:endParaRPr lang="es-ES"/>
            </a:p>
          </p:txBody>
        </p:sp>
        <p:sp>
          <p:nvSpPr>
            <p:cNvPr id="48" name="TextBox 48"/>
            <p:cNvSpPr txBox="1"/>
            <p:nvPr/>
          </p:nvSpPr>
          <p:spPr>
            <a:xfrm>
              <a:off x="4967735" y="855266"/>
              <a:ext cx="5138993" cy="1223433"/>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COMPATIBLE</a:t>
              </a:r>
            </a:p>
          </p:txBody>
        </p:sp>
        <p:sp>
          <p:nvSpPr>
            <p:cNvPr id="49" name="Freeform 49"/>
            <p:cNvSpPr/>
            <p:nvPr/>
          </p:nvSpPr>
          <p:spPr>
            <a:xfrm>
              <a:off x="10495834" y="0"/>
              <a:ext cx="1812430" cy="1524133"/>
            </a:xfrm>
            <a:custGeom>
              <a:avLst/>
              <a:gdLst/>
              <a:ahLst/>
              <a:cxnLst/>
              <a:rect l="l" t="t" r="r" b="b"/>
              <a:pathLst>
                <a:path w="1812430" h="1524133">
                  <a:moveTo>
                    <a:pt x="1812430" y="0"/>
                  </a:moveTo>
                  <a:lnTo>
                    <a:pt x="1812430" y="1219333"/>
                  </a:lnTo>
                  <a:cubicBezTo>
                    <a:pt x="1812430" y="1387670"/>
                    <a:pt x="1675966" y="1524133"/>
                    <a:pt x="1507630" y="1524133"/>
                  </a:cubicBezTo>
                  <a:lnTo>
                    <a:pt x="0" y="1524133"/>
                  </a:lnTo>
                </a:path>
              </a:pathLst>
            </a:custGeom>
            <a:ln w="254000" cap="flat">
              <a:solidFill>
                <a:srgbClr val="4D6BA7"/>
              </a:solidFill>
              <a:prstDash val="solid"/>
              <a:headEnd type="triangle" w="lg" len="med"/>
              <a:tailEnd type="none" w="sm" len="sm"/>
            </a:ln>
          </p:spPr>
          <p:txBody>
            <a:bodyPr/>
            <a:lstStyle/>
            <a:p>
              <a:endParaRPr lang="es-ES"/>
            </a:p>
          </p:txBody>
        </p:sp>
      </p:grpSp>
      <p:cxnSp>
        <p:nvCxnSpPr>
          <p:cNvPr id="55" name="Conector: angular 54">
            <a:extLst>
              <a:ext uri="{FF2B5EF4-FFF2-40B4-BE49-F238E27FC236}">
                <a16:creationId xmlns:a16="http://schemas.microsoft.com/office/drawing/2014/main" id="{BB858B62-71A0-7ECE-5B2C-259FC2A16E37}"/>
              </a:ext>
            </a:extLst>
          </p:cNvPr>
          <p:cNvCxnSpPr>
            <a:cxnSpLocks/>
          </p:cNvCxnSpPr>
          <p:nvPr/>
        </p:nvCxnSpPr>
        <p:spPr>
          <a:xfrm rot="16200000" flipH="1">
            <a:off x="4207647" y="5190742"/>
            <a:ext cx="1446990" cy="767491"/>
          </a:xfrm>
          <a:prstGeom prst="bentConnector3">
            <a:avLst>
              <a:gd name="adj1" fmla="val 103082"/>
            </a:avLst>
          </a:prstGeom>
          <a:ln w="215900">
            <a:solidFill>
              <a:srgbClr val="4D6BA7"/>
            </a:solidFill>
          </a:ln>
        </p:spPr>
        <p:style>
          <a:lnRef idx="1">
            <a:schemeClr val="accent1"/>
          </a:lnRef>
          <a:fillRef idx="0">
            <a:schemeClr val="accent1"/>
          </a:fillRef>
          <a:effectRef idx="0">
            <a:schemeClr val="accent1"/>
          </a:effectRef>
          <a:fontRef idx="minor">
            <a:schemeClr val="tx1"/>
          </a:fontRef>
        </p:style>
      </p:cxnSp>
      <p:sp>
        <p:nvSpPr>
          <p:cNvPr id="62" name="TextBox 37">
            <a:extLst>
              <a:ext uri="{FF2B5EF4-FFF2-40B4-BE49-F238E27FC236}">
                <a16:creationId xmlns:a16="http://schemas.microsoft.com/office/drawing/2014/main" id="{640B530A-68C8-C617-EF16-A15EF04130C1}"/>
              </a:ext>
            </a:extLst>
          </p:cNvPr>
          <p:cNvSpPr txBox="1"/>
          <p:nvPr/>
        </p:nvSpPr>
        <p:spPr>
          <a:xfrm>
            <a:off x="4322382" y="4314541"/>
            <a:ext cx="472865" cy="917575"/>
          </a:xfrm>
          <a:prstGeom prst="rect">
            <a:avLst/>
          </a:prstGeom>
        </p:spPr>
        <p:txBody>
          <a:bodyPr lIns="0" tIns="0" rIns="0" bIns="0" rtlCol="0" anchor="t">
            <a:spAutoFit/>
          </a:bodyPr>
          <a:lstStyle/>
          <a:p>
            <a:pPr algn="ctr">
              <a:lnSpc>
                <a:spcPts val="7699"/>
              </a:lnSpc>
              <a:spcBef>
                <a:spcPct val="0"/>
              </a:spcBef>
            </a:pPr>
            <a:r>
              <a:rPr lang="en-US" sz="5499" dirty="0">
                <a:solidFill>
                  <a:srgbClr val="203660"/>
                </a:solidFill>
                <a:latin typeface="Bantayog"/>
                <a:ea typeface="Bantayog"/>
                <a:cs typeface="Bantayog"/>
                <a:sym typeface="Bantayog"/>
              </a:rPr>
              <a:t>X</a:t>
            </a:r>
          </a:p>
        </p:txBody>
      </p:sp>
      <p:cxnSp>
        <p:nvCxnSpPr>
          <p:cNvPr id="64" name="Conector: angular 63">
            <a:extLst>
              <a:ext uri="{FF2B5EF4-FFF2-40B4-BE49-F238E27FC236}">
                <a16:creationId xmlns:a16="http://schemas.microsoft.com/office/drawing/2014/main" id="{54BDD8D8-8130-A7F7-81C9-A2980F3CD283}"/>
              </a:ext>
            </a:extLst>
          </p:cNvPr>
          <p:cNvCxnSpPr>
            <a:cxnSpLocks/>
          </p:cNvCxnSpPr>
          <p:nvPr/>
        </p:nvCxnSpPr>
        <p:spPr>
          <a:xfrm rot="16200000" flipH="1">
            <a:off x="3221234" y="4970882"/>
            <a:ext cx="2735407" cy="1359840"/>
          </a:xfrm>
          <a:prstGeom prst="bentConnector3">
            <a:avLst>
              <a:gd name="adj1" fmla="val 96800"/>
            </a:avLst>
          </a:prstGeom>
          <a:ln w="215900">
            <a:solidFill>
              <a:srgbClr val="4D6BA7"/>
            </a:solidFill>
          </a:ln>
        </p:spPr>
        <p:style>
          <a:lnRef idx="1">
            <a:schemeClr val="accent1"/>
          </a:lnRef>
          <a:fillRef idx="0">
            <a:schemeClr val="accent1"/>
          </a:fillRef>
          <a:effectRef idx="0">
            <a:schemeClr val="accent1"/>
          </a:effectRef>
          <a:fontRef idx="minor">
            <a:schemeClr val="tx1"/>
          </a:fontRef>
        </p:style>
      </p:cxnSp>
      <p:sp>
        <p:nvSpPr>
          <p:cNvPr id="69" name="TextBox 37">
            <a:extLst>
              <a:ext uri="{FF2B5EF4-FFF2-40B4-BE49-F238E27FC236}">
                <a16:creationId xmlns:a16="http://schemas.microsoft.com/office/drawing/2014/main" id="{290B17CB-88DF-3149-B31E-E896D43AA64C}"/>
              </a:ext>
            </a:extLst>
          </p:cNvPr>
          <p:cNvSpPr txBox="1"/>
          <p:nvPr/>
        </p:nvSpPr>
        <p:spPr>
          <a:xfrm>
            <a:off x="3699565" y="3810047"/>
            <a:ext cx="472865" cy="917575"/>
          </a:xfrm>
          <a:prstGeom prst="rect">
            <a:avLst/>
          </a:prstGeom>
        </p:spPr>
        <p:txBody>
          <a:bodyPr lIns="0" tIns="0" rIns="0" bIns="0" rtlCol="0" anchor="t">
            <a:spAutoFit/>
          </a:bodyPr>
          <a:lstStyle/>
          <a:p>
            <a:pPr algn="ctr">
              <a:lnSpc>
                <a:spcPts val="7699"/>
              </a:lnSpc>
              <a:spcBef>
                <a:spcPct val="0"/>
              </a:spcBef>
            </a:pPr>
            <a:r>
              <a:rPr lang="en-US" sz="5499" dirty="0">
                <a:solidFill>
                  <a:srgbClr val="203660"/>
                </a:solidFill>
                <a:latin typeface="Bantayog"/>
                <a:ea typeface="Bantayog"/>
                <a:cs typeface="Bantayog"/>
                <a:sym typeface="Bantayog"/>
              </a:rPr>
              <a:t>X</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p:tgtEl>
                                          <p:spTgt spid="46"/>
                                        </p:tgtEl>
                                        <p:attrNameLst>
                                          <p:attrName>ppt_y</p:attrName>
                                        </p:attrNameLst>
                                      </p:cBhvr>
                                      <p:tavLst>
                                        <p:tav tm="0">
                                          <p:val>
                                            <p:strVal val="#ppt_y+#ppt_h*1.125000"/>
                                          </p:val>
                                        </p:tav>
                                        <p:tav tm="100000">
                                          <p:val>
                                            <p:strVal val="#ppt_y"/>
                                          </p:val>
                                        </p:tav>
                                      </p:tavLst>
                                    </p:anim>
                                    <p:animEffect transition="in" filter="wipe(up)">
                                      <p:cBhvr>
                                        <p:cTn id="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15</a:t>
            </a:r>
          </a:p>
        </p:txBody>
      </p:sp>
      <p:sp>
        <p:nvSpPr>
          <p:cNvPr id="16" name="Freeform 16"/>
          <p:cNvSpPr/>
          <p:nvPr/>
        </p:nvSpPr>
        <p:spPr>
          <a:xfrm>
            <a:off x="2942705" y="2287709"/>
            <a:ext cx="1579219" cy="1779627"/>
          </a:xfrm>
          <a:custGeom>
            <a:avLst/>
            <a:gdLst/>
            <a:ahLst/>
            <a:cxnLst/>
            <a:rect l="l" t="t" r="r" b="b"/>
            <a:pathLst>
              <a:path w="2014215" h="2160016">
                <a:moveTo>
                  <a:pt x="0" y="0"/>
                </a:moveTo>
                <a:lnTo>
                  <a:pt x="2014214" y="0"/>
                </a:lnTo>
                <a:lnTo>
                  <a:pt x="2014214" y="2160016"/>
                </a:lnTo>
                <a:lnTo>
                  <a:pt x="0" y="2160016"/>
                </a:lnTo>
                <a:lnTo>
                  <a:pt x="0" y="0"/>
                </a:lnTo>
                <a:close/>
              </a:path>
            </a:pathLst>
          </a:custGeom>
          <a:blipFill>
            <a:blip r:embed="rId3"/>
            <a:stretch>
              <a:fillRect/>
            </a:stretch>
          </a:blipFill>
        </p:spPr>
        <p:txBody>
          <a:bodyPr/>
          <a:lstStyle/>
          <a:p>
            <a:endParaRPr lang="es-ES"/>
          </a:p>
        </p:txBody>
      </p:sp>
      <p:sp>
        <p:nvSpPr>
          <p:cNvPr id="17" name="Freeform 17"/>
          <p:cNvSpPr/>
          <p:nvPr/>
        </p:nvSpPr>
        <p:spPr>
          <a:xfrm>
            <a:off x="13169743" y="2699334"/>
            <a:ext cx="4290142" cy="1199103"/>
          </a:xfrm>
          <a:custGeom>
            <a:avLst/>
            <a:gdLst/>
            <a:ahLst/>
            <a:cxnLst/>
            <a:rect l="l" t="t" r="r" b="b"/>
            <a:pathLst>
              <a:path w="4630309" h="1342790">
                <a:moveTo>
                  <a:pt x="0" y="0"/>
                </a:moveTo>
                <a:lnTo>
                  <a:pt x="4630310" y="0"/>
                </a:lnTo>
                <a:lnTo>
                  <a:pt x="4630310" y="1342790"/>
                </a:lnTo>
                <a:lnTo>
                  <a:pt x="0" y="1342790"/>
                </a:lnTo>
                <a:lnTo>
                  <a:pt x="0" y="0"/>
                </a:lnTo>
                <a:close/>
              </a:path>
            </a:pathLst>
          </a:custGeom>
          <a:blipFill>
            <a:blip r:embed="rId4"/>
            <a:stretch>
              <a:fillRect/>
            </a:stretch>
          </a:blipFill>
        </p:spPr>
        <p:txBody>
          <a:bodyPr/>
          <a:lstStyle/>
          <a:p>
            <a:endParaRPr lang="es-ES"/>
          </a:p>
        </p:txBody>
      </p:sp>
      <p:grpSp>
        <p:nvGrpSpPr>
          <p:cNvPr id="25" name="Grupo 24">
            <a:extLst>
              <a:ext uri="{FF2B5EF4-FFF2-40B4-BE49-F238E27FC236}">
                <a16:creationId xmlns:a16="http://schemas.microsoft.com/office/drawing/2014/main" id="{4EB0B553-2F7A-73FC-B85C-7232D6414DEE}"/>
              </a:ext>
            </a:extLst>
          </p:cNvPr>
          <p:cNvGrpSpPr/>
          <p:nvPr/>
        </p:nvGrpSpPr>
        <p:grpSpPr>
          <a:xfrm>
            <a:off x="978809" y="4582546"/>
            <a:ext cx="16463819" cy="5294927"/>
            <a:chOff x="788309" y="4582546"/>
            <a:chExt cx="16463819" cy="5294927"/>
          </a:xfrm>
        </p:grpSpPr>
        <p:grpSp>
          <p:nvGrpSpPr>
            <p:cNvPr id="19" name="Group 19"/>
            <p:cNvGrpSpPr/>
            <p:nvPr/>
          </p:nvGrpSpPr>
          <p:grpSpPr>
            <a:xfrm>
              <a:off x="788309" y="4582546"/>
              <a:ext cx="16463819" cy="3118811"/>
              <a:chOff x="-9566" y="-193372"/>
              <a:chExt cx="21951758" cy="4158412"/>
            </a:xfrm>
          </p:grpSpPr>
          <p:sp>
            <p:nvSpPr>
              <p:cNvPr id="20" name="TextBox 20"/>
              <p:cNvSpPr txBox="1"/>
              <p:nvPr/>
            </p:nvSpPr>
            <p:spPr>
              <a:xfrm>
                <a:off x="-9566" y="2741607"/>
                <a:ext cx="18686350" cy="1223433"/>
              </a:xfrm>
              <a:prstGeom prst="rect">
                <a:avLst/>
              </a:prstGeom>
            </p:spPr>
            <p:txBody>
              <a:bodyPr lIns="0" tIns="0" rIns="0" bIns="0" rtlCol="0" anchor="t">
                <a:spAutoFit/>
              </a:bodyPr>
              <a:lstStyle/>
              <a:p>
                <a:pPr marL="1187449" lvl="1" indent="-593725" algn="l">
                  <a:lnSpc>
                    <a:spcPts val="7699"/>
                  </a:lnSpc>
                  <a:buFont typeface="Arial"/>
                  <a:buChar char="•"/>
                </a:pPr>
                <a:r>
                  <a:rPr lang="en-US" sz="5499" dirty="0">
                    <a:solidFill>
                      <a:srgbClr val="4D6BA7"/>
                    </a:solidFill>
                    <a:latin typeface="Bantayog"/>
                    <a:ea typeface="Bantayog"/>
                    <a:cs typeface="Bantayog"/>
                    <a:sym typeface="Bantayog"/>
                  </a:rPr>
                  <a:t>NORMALIZACIÓN DE ENTRADAS Y SALIDAS</a:t>
                </a:r>
              </a:p>
            </p:txBody>
          </p:sp>
          <p:sp>
            <p:nvSpPr>
              <p:cNvPr id="21" name="TextBox 21"/>
              <p:cNvSpPr txBox="1"/>
              <p:nvPr/>
            </p:nvSpPr>
            <p:spPr>
              <a:xfrm>
                <a:off x="-9563" y="1309578"/>
                <a:ext cx="21951755" cy="1223433"/>
              </a:xfrm>
              <a:prstGeom prst="rect">
                <a:avLst/>
              </a:prstGeom>
            </p:spPr>
            <p:txBody>
              <a:bodyPr lIns="0" tIns="0" rIns="0" bIns="0" rtlCol="0" anchor="t">
                <a:spAutoFit/>
              </a:bodyPr>
              <a:lstStyle/>
              <a:p>
                <a:pPr marL="1187449" lvl="1" indent="-593725" algn="l">
                  <a:lnSpc>
                    <a:spcPts val="7699"/>
                  </a:lnSpc>
                  <a:buFont typeface="Arial"/>
                  <a:buChar char="•"/>
                </a:pPr>
                <a:r>
                  <a:rPr lang="en-US" sz="5499" dirty="0">
                    <a:solidFill>
                      <a:srgbClr val="4D6BA7"/>
                    </a:solidFill>
                    <a:latin typeface="Bantayog"/>
                    <a:ea typeface="Bantayog"/>
                    <a:cs typeface="Bantayog"/>
                    <a:sym typeface="Bantayog"/>
                  </a:rPr>
                  <a:t>ASIGNACIÓN DE PESOS A LAS VARIABLES OBJETIVO</a:t>
                </a:r>
              </a:p>
            </p:txBody>
          </p:sp>
          <p:sp>
            <p:nvSpPr>
              <p:cNvPr id="22" name="TextBox 22"/>
              <p:cNvSpPr txBox="1"/>
              <p:nvPr/>
            </p:nvSpPr>
            <p:spPr>
              <a:xfrm>
                <a:off x="-9566" y="-193372"/>
                <a:ext cx="21951755" cy="1223433"/>
              </a:xfrm>
              <a:prstGeom prst="rect">
                <a:avLst/>
              </a:prstGeom>
            </p:spPr>
            <p:txBody>
              <a:bodyPr lIns="0" tIns="0" rIns="0" bIns="0" rtlCol="0" anchor="t">
                <a:spAutoFit/>
              </a:bodyPr>
              <a:lstStyle/>
              <a:p>
                <a:pPr marL="1187449" lvl="1" indent="-593725" algn="l">
                  <a:lnSpc>
                    <a:spcPts val="7699"/>
                  </a:lnSpc>
                  <a:buFont typeface="Arial"/>
                  <a:buChar char="•"/>
                </a:pPr>
                <a:r>
                  <a:rPr lang="en-US" sz="5499" dirty="0">
                    <a:solidFill>
                      <a:srgbClr val="4D6BA7"/>
                    </a:solidFill>
                    <a:latin typeface="Bantayog"/>
                    <a:ea typeface="Bantayog"/>
                    <a:cs typeface="Bantayog"/>
                    <a:sym typeface="Bantayog"/>
                  </a:rPr>
                  <a:t>MODELO BASADO EN LÓGICA ESR</a:t>
                </a:r>
              </a:p>
            </p:txBody>
          </p:sp>
        </p:grpSp>
        <p:sp>
          <p:nvSpPr>
            <p:cNvPr id="24" name="TextBox 21">
              <a:extLst>
                <a:ext uri="{FF2B5EF4-FFF2-40B4-BE49-F238E27FC236}">
                  <a16:creationId xmlns:a16="http://schemas.microsoft.com/office/drawing/2014/main" id="{3422E9DB-7E1A-F5B9-EA49-2636857F95DE}"/>
                </a:ext>
              </a:extLst>
            </p:cNvPr>
            <p:cNvSpPr txBox="1"/>
            <p:nvPr/>
          </p:nvSpPr>
          <p:spPr>
            <a:xfrm>
              <a:off x="788310" y="7988348"/>
              <a:ext cx="16463817" cy="1889125"/>
            </a:xfrm>
            <a:prstGeom prst="rect">
              <a:avLst/>
            </a:prstGeom>
          </p:spPr>
          <p:txBody>
            <a:bodyPr lIns="0" tIns="0" rIns="0" bIns="0" rtlCol="0" anchor="t">
              <a:spAutoFit/>
            </a:bodyPr>
            <a:lstStyle/>
            <a:p>
              <a:pPr marL="1187449" lvl="1" indent="-593725" algn="l">
                <a:lnSpc>
                  <a:spcPts val="7699"/>
                </a:lnSpc>
                <a:buFont typeface="Arial"/>
                <a:buChar char="•"/>
              </a:pPr>
              <a:r>
                <a:rPr lang="en-US" sz="5499" dirty="0">
                  <a:solidFill>
                    <a:srgbClr val="4D6BA7"/>
                  </a:solidFill>
                  <a:latin typeface="Bantayog"/>
                  <a:ea typeface="Bantayog"/>
                  <a:cs typeface="Bantayog"/>
                  <a:sym typeface="Bantayog"/>
                </a:rPr>
                <a:t>IMPLEMENTA ESTRATEGIAS DE OPTIMIZACIÓN (DROPOUT Y BATCH NORMALIZATION)</a:t>
              </a:r>
            </a:p>
          </p:txBody>
        </p:sp>
      </p:grpSp>
      <p:sp>
        <p:nvSpPr>
          <p:cNvPr id="18" name="TextBox 15">
            <a:extLst>
              <a:ext uri="{FF2B5EF4-FFF2-40B4-BE49-F238E27FC236}">
                <a16:creationId xmlns:a16="http://schemas.microsoft.com/office/drawing/2014/main" id="{4723ADE4-FCEA-E9C8-E06B-2E9C949BCCA9}"/>
              </a:ext>
            </a:extLst>
          </p:cNvPr>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SOLUCIÓN AL PROBLEMA</a:t>
            </a:r>
          </a:p>
        </p:txBody>
      </p:sp>
      <p:sp>
        <p:nvSpPr>
          <p:cNvPr id="26" name="TextBox 16">
            <a:extLst>
              <a:ext uri="{FF2B5EF4-FFF2-40B4-BE49-F238E27FC236}">
                <a16:creationId xmlns:a16="http://schemas.microsoft.com/office/drawing/2014/main" id="{C97A7354-1F97-5878-E904-70383B6048DB}"/>
              </a:ext>
            </a:extLst>
          </p:cNvPr>
          <p:cNvSpPr txBox="1"/>
          <p:nvPr/>
        </p:nvSpPr>
        <p:spPr>
          <a:xfrm>
            <a:off x="2973186" y="2187038"/>
            <a:ext cx="12341628" cy="904287"/>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REDES NEURONALES</a:t>
            </a:r>
          </a:p>
        </p:txBody>
      </p:sp>
    </p:spTree>
  </p:cSld>
  <p:clrMapOvr>
    <a:masterClrMapping/>
  </p:clrMapOvr>
  <p:transition spd="med">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1352561" y="4136060"/>
            <a:ext cx="2096600" cy="2096600"/>
          </a:xfrm>
          <a:custGeom>
            <a:avLst/>
            <a:gdLst/>
            <a:ahLst/>
            <a:cxnLst/>
            <a:rect l="l" t="t" r="r" b="b"/>
            <a:pathLst>
              <a:path w="2096600" h="2096600">
                <a:moveTo>
                  <a:pt x="0" y="0"/>
                </a:moveTo>
                <a:lnTo>
                  <a:pt x="2096600" y="0"/>
                </a:lnTo>
                <a:lnTo>
                  <a:pt x="2096600" y="2096600"/>
                </a:lnTo>
                <a:lnTo>
                  <a:pt x="0" y="2096600"/>
                </a:lnTo>
                <a:lnTo>
                  <a:pt x="0" y="0"/>
                </a:lnTo>
                <a:close/>
              </a:path>
            </a:pathLst>
          </a:custGeom>
          <a:blipFill>
            <a:blip r:embed="rId3"/>
            <a:stretch>
              <a:fillRect/>
            </a:stretch>
          </a:blipFill>
        </p:spPr>
        <p:txBody>
          <a:bodyPr/>
          <a:lstStyle/>
          <a:p>
            <a:endParaRPr lang="es-ES"/>
          </a:p>
        </p:txBody>
      </p:sp>
      <p:sp>
        <p:nvSpPr>
          <p:cNvPr id="15" name="TextBox 15"/>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16</a:t>
            </a:r>
          </a:p>
        </p:txBody>
      </p:sp>
      <p:sp>
        <p:nvSpPr>
          <p:cNvPr id="17" name="TextBox 17"/>
          <p:cNvSpPr txBox="1"/>
          <p:nvPr/>
        </p:nvSpPr>
        <p:spPr>
          <a:xfrm>
            <a:off x="3896836" y="3656973"/>
            <a:ext cx="5150415" cy="2889250"/>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LIMITACIÓN DE POTENCIA COMPUTACIONAL</a:t>
            </a:r>
          </a:p>
        </p:txBody>
      </p:sp>
      <p:sp>
        <p:nvSpPr>
          <p:cNvPr id="18" name="AutoShape 18"/>
          <p:cNvSpPr/>
          <p:nvPr/>
        </p:nvSpPr>
        <p:spPr>
          <a:xfrm flipH="1">
            <a:off x="9047251" y="5184360"/>
            <a:ext cx="1776073" cy="0"/>
          </a:xfrm>
          <a:prstGeom prst="line">
            <a:avLst/>
          </a:prstGeom>
          <a:ln w="254000" cap="flat">
            <a:solidFill>
              <a:srgbClr val="4D6BA7"/>
            </a:solidFill>
            <a:prstDash val="solid"/>
            <a:headEnd type="triangle" w="lg" len="med"/>
            <a:tailEnd type="none" w="sm" len="sm"/>
          </a:ln>
        </p:spPr>
        <p:txBody>
          <a:bodyPr/>
          <a:lstStyle/>
          <a:p>
            <a:endParaRPr lang="es-ES"/>
          </a:p>
        </p:txBody>
      </p:sp>
      <p:sp>
        <p:nvSpPr>
          <p:cNvPr id="19" name="TextBox 19"/>
          <p:cNvSpPr txBox="1"/>
          <p:nvPr/>
        </p:nvSpPr>
        <p:spPr>
          <a:xfrm>
            <a:off x="11272776" y="3682585"/>
            <a:ext cx="5150415" cy="2889250"/>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DESCARTADA EXPLORACIÓN EN REJILLA</a:t>
            </a:r>
          </a:p>
        </p:txBody>
      </p:sp>
      <p:grpSp>
        <p:nvGrpSpPr>
          <p:cNvPr id="20" name="Group 20"/>
          <p:cNvGrpSpPr/>
          <p:nvPr/>
        </p:nvGrpSpPr>
        <p:grpSpPr>
          <a:xfrm>
            <a:off x="3429160" y="6793873"/>
            <a:ext cx="9621874" cy="3183319"/>
            <a:chOff x="213" y="0"/>
            <a:chExt cx="12829166" cy="4244425"/>
          </a:xfrm>
        </p:grpSpPr>
        <p:sp>
          <p:nvSpPr>
            <p:cNvPr id="21" name="AutoShape 21"/>
            <p:cNvSpPr/>
            <p:nvPr/>
          </p:nvSpPr>
          <p:spPr>
            <a:xfrm flipH="1" flipV="1">
              <a:off x="4057391" y="0"/>
              <a:ext cx="0" cy="2368098"/>
            </a:xfrm>
            <a:prstGeom prst="line">
              <a:avLst/>
            </a:prstGeom>
            <a:ln w="254000" cap="flat">
              <a:solidFill>
                <a:srgbClr val="4D6BA7"/>
              </a:solidFill>
              <a:prstDash val="solid"/>
              <a:headEnd type="triangle" w="lg" len="med"/>
              <a:tailEnd type="none" w="sm" len="sm"/>
            </a:ln>
          </p:spPr>
          <p:txBody>
            <a:bodyPr/>
            <a:lstStyle/>
            <a:p>
              <a:endParaRPr lang="es-ES"/>
            </a:p>
          </p:txBody>
        </p:sp>
        <p:sp>
          <p:nvSpPr>
            <p:cNvPr id="22" name="TextBox 22"/>
            <p:cNvSpPr txBox="1"/>
            <p:nvPr/>
          </p:nvSpPr>
          <p:spPr>
            <a:xfrm>
              <a:off x="2152621" y="2625931"/>
              <a:ext cx="10676758"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EXPLORACIÓN ALEATORIA</a:t>
              </a:r>
            </a:p>
          </p:txBody>
        </p:sp>
        <p:sp>
          <p:nvSpPr>
            <p:cNvPr id="23" name="Freeform 23"/>
            <p:cNvSpPr/>
            <p:nvPr/>
          </p:nvSpPr>
          <p:spPr>
            <a:xfrm>
              <a:off x="213" y="2230868"/>
              <a:ext cx="2013557" cy="2013557"/>
            </a:xfrm>
            <a:custGeom>
              <a:avLst/>
              <a:gdLst/>
              <a:ahLst/>
              <a:cxnLst/>
              <a:rect l="l" t="t" r="r" b="b"/>
              <a:pathLst>
                <a:path w="2013557" h="2013557">
                  <a:moveTo>
                    <a:pt x="0" y="0"/>
                  </a:moveTo>
                  <a:lnTo>
                    <a:pt x="2013557" y="0"/>
                  </a:lnTo>
                  <a:lnTo>
                    <a:pt x="2013557" y="2013558"/>
                  </a:lnTo>
                  <a:lnTo>
                    <a:pt x="0" y="2013558"/>
                  </a:lnTo>
                  <a:lnTo>
                    <a:pt x="0" y="0"/>
                  </a:lnTo>
                  <a:close/>
                </a:path>
              </a:pathLst>
            </a:custGeom>
            <a:blipFill>
              <a:blip r:embed="rId4"/>
              <a:stretch>
                <a:fillRect/>
              </a:stretch>
            </a:blipFill>
          </p:spPr>
          <p:txBody>
            <a:bodyPr/>
            <a:lstStyle/>
            <a:p>
              <a:endParaRPr lang="es-ES"/>
            </a:p>
          </p:txBody>
        </p:sp>
      </p:grpSp>
      <p:sp>
        <p:nvSpPr>
          <p:cNvPr id="24" name="TextBox 15">
            <a:extLst>
              <a:ext uri="{FF2B5EF4-FFF2-40B4-BE49-F238E27FC236}">
                <a16:creationId xmlns:a16="http://schemas.microsoft.com/office/drawing/2014/main" id="{013FDCC1-BE9B-89B5-84C6-166A7243334B}"/>
              </a:ext>
            </a:extLst>
          </p:cNvPr>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SOLUCIÓN AL PROBLEMA</a:t>
            </a:r>
          </a:p>
        </p:txBody>
      </p:sp>
      <p:sp>
        <p:nvSpPr>
          <p:cNvPr id="25" name="TextBox 16">
            <a:extLst>
              <a:ext uri="{FF2B5EF4-FFF2-40B4-BE49-F238E27FC236}">
                <a16:creationId xmlns:a16="http://schemas.microsoft.com/office/drawing/2014/main" id="{BD10116B-A4BE-F5BD-B36F-EA7E070FB399}"/>
              </a:ext>
            </a:extLst>
          </p:cNvPr>
          <p:cNvSpPr txBox="1"/>
          <p:nvPr/>
        </p:nvSpPr>
        <p:spPr>
          <a:xfrm>
            <a:off x="2973186" y="2187038"/>
            <a:ext cx="12341628" cy="904287"/>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OPTIMIZACIÓN DE HIPERPARÁMETROS</a:t>
            </a:r>
          </a:p>
        </p:txBody>
      </p:sp>
    </p:spTree>
  </p:cSld>
  <p:clrMapOvr>
    <a:masterClrMapping/>
  </p:clrMapOvr>
  <p:transition spd="med">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p:tgtEl>
                                          <p:spTgt spid="20"/>
                                        </p:tgtEl>
                                        <p:attrNameLst>
                                          <p:attrName>ppt_y</p:attrName>
                                        </p:attrNameLst>
                                      </p:cBhvr>
                                      <p:tavLst>
                                        <p:tav tm="0">
                                          <p:val>
                                            <p:strVal val="#ppt_y+#ppt_h*1.125000"/>
                                          </p:val>
                                        </p:tav>
                                        <p:tav tm="100000">
                                          <p:val>
                                            <p:strVal val="#ppt_y"/>
                                          </p:val>
                                        </p:tav>
                                      </p:tavLst>
                                    </p:anim>
                                    <p:animEffect transition="in" filter="wipe(up)">
                                      <p:cBhvr>
                                        <p:cTn id="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17</a:t>
            </a:r>
          </a:p>
        </p:txBody>
      </p:sp>
      <p:grpSp>
        <p:nvGrpSpPr>
          <p:cNvPr id="17" name="Group 17"/>
          <p:cNvGrpSpPr/>
          <p:nvPr/>
        </p:nvGrpSpPr>
        <p:grpSpPr>
          <a:xfrm>
            <a:off x="1860755" y="4787672"/>
            <a:ext cx="7283245" cy="3118550"/>
            <a:chOff x="0" y="0"/>
            <a:chExt cx="9710993" cy="4158067"/>
          </a:xfrm>
        </p:grpSpPr>
        <p:sp>
          <p:nvSpPr>
            <p:cNvPr id="18" name="Freeform 18"/>
            <p:cNvSpPr/>
            <p:nvPr/>
          </p:nvSpPr>
          <p:spPr>
            <a:xfrm>
              <a:off x="2493575" y="0"/>
              <a:ext cx="4723843" cy="2550875"/>
            </a:xfrm>
            <a:custGeom>
              <a:avLst/>
              <a:gdLst/>
              <a:ahLst/>
              <a:cxnLst/>
              <a:rect l="l" t="t" r="r" b="b"/>
              <a:pathLst>
                <a:path w="4723843" h="2550875">
                  <a:moveTo>
                    <a:pt x="0" y="0"/>
                  </a:moveTo>
                  <a:lnTo>
                    <a:pt x="4723843" y="0"/>
                  </a:lnTo>
                  <a:lnTo>
                    <a:pt x="4723843" y="2550875"/>
                  </a:lnTo>
                  <a:lnTo>
                    <a:pt x="0" y="2550875"/>
                  </a:lnTo>
                  <a:lnTo>
                    <a:pt x="0" y="0"/>
                  </a:lnTo>
                  <a:close/>
                </a:path>
              </a:pathLst>
            </a:custGeom>
            <a:blipFill>
              <a:blip r:embed="rId3"/>
              <a:stretch>
                <a:fillRect/>
              </a:stretch>
            </a:blipFill>
          </p:spPr>
          <p:txBody>
            <a:bodyPr/>
            <a:lstStyle/>
            <a:p>
              <a:endParaRPr lang="es-ES"/>
            </a:p>
          </p:txBody>
        </p:sp>
        <p:sp>
          <p:nvSpPr>
            <p:cNvPr id="19" name="TextBox 19"/>
            <p:cNvSpPr txBox="1"/>
            <p:nvPr/>
          </p:nvSpPr>
          <p:spPr>
            <a:xfrm>
              <a:off x="0" y="2934634"/>
              <a:ext cx="9710993"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RANDOMIZEDSEARCHCV</a:t>
              </a:r>
            </a:p>
          </p:txBody>
        </p:sp>
      </p:grpSp>
      <p:grpSp>
        <p:nvGrpSpPr>
          <p:cNvPr id="20" name="Group 20"/>
          <p:cNvGrpSpPr/>
          <p:nvPr/>
        </p:nvGrpSpPr>
        <p:grpSpPr>
          <a:xfrm>
            <a:off x="9144000" y="4799900"/>
            <a:ext cx="7283245" cy="3106323"/>
            <a:chOff x="0" y="0"/>
            <a:chExt cx="9710993" cy="4141764"/>
          </a:xfrm>
        </p:grpSpPr>
        <p:sp>
          <p:nvSpPr>
            <p:cNvPr id="21" name="TextBox 21"/>
            <p:cNvSpPr txBox="1"/>
            <p:nvPr/>
          </p:nvSpPr>
          <p:spPr>
            <a:xfrm rot="-1063670">
              <a:off x="2544215" y="560556"/>
              <a:ext cx="4587759"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METAGEN</a:t>
              </a:r>
            </a:p>
          </p:txBody>
        </p:sp>
        <p:sp>
          <p:nvSpPr>
            <p:cNvPr id="22" name="TextBox 22"/>
            <p:cNvSpPr txBox="1"/>
            <p:nvPr/>
          </p:nvSpPr>
          <p:spPr>
            <a:xfrm>
              <a:off x="0" y="2918331"/>
              <a:ext cx="9710993"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RANDOMSEARCH</a:t>
              </a:r>
            </a:p>
          </p:txBody>
        </p:sp>
      </p:grpSp>
      <p:sp>
        <p:nvSpPr>
          <p:cNvPr id="23" name="TextBox 15">
            <a:extLst>
              <a:ext uri="{FF2B5EF4-FFF2-40B4-BE49-F238E27FC236}">
                <a16:creationId xmlns:a16="http://schemas.microsoft.com/office/drawing/2014/main" id="{A2FF2563-4453-648A-C346-ACFB5F82F153}"/>
              </a:ext>
            </a:extLst>
          </p:cNvPr>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SOLUCIÓN AL PROBLEMA</a:t>
            </a:r>
          </a:p>
        </p:txBody>
      </p:sp>
      <p:sp>
        <p:nvSpPr>
          <p:cNvPr id="24" name="TextBox 16">
            <a:extLst>
              <a:ext uri="{FF2B5EF4-FFF2-40B4-BE49-F238E27FC236}">
                <a16:creationId xmlns:a16="http://schemas.microsoft.com/office/drawing/2014/main" id="{34CA07E7-5C52-D49A-4BE3-C2CE88A0EC78}"/>
              </a:ext>
            </a:extLst>
          </p:cNvPr>
          <p:cNvSpPr txBox="1"/>
          <p:nvPr/>
        </p:nvSpPr>
        <p:spPr>
          <a:xfrm>
            <a:off x="2973186" y="2187038"/>
            <a:ext cx="12341628" cy="904287"/>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OPTIMIZACIÓN DE HIPERPARÁMETROS</a:t>
            </a:r>
          </a:p>
        </p:txBody>
      </p:sp>
    </p:spTree>
  </p:cSld>
  <p:clrMapOvr>
    <a:masterClrMapping/>
  </p:clrMapOvr>
  <p:transition spd="med">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18</a:t>
            </a:r>
          </a:p>
        </p:txBody>
      </p:sp>
      <p:grpSp>
        <p:nvGrpSpPr>
          <p:cNvPr id="17" name="Group 17"/>
          <p:cNvGrpSpPr/>
          <p:nvPr/>
        </p:nvGrpSpPr>
        <p:grpSpPr>
          <a:xfrm>
            <a:off x="2096161" y="3801269"/>
            <a:ext cx="13701409" cy="1342790"/>
            <a:chOff x="0" y="0"/>
            <a:chExt cx="18268545" cy="1790386"/>
          </a:xfrm>
        </p:grpSpPr>
        <p:sp>
          <p:nvSpPr>
            <p:cNvPr id="18" name="Freeform 18"/>
            <p:cNvSpPr/>
            <p:nvPr/>
          </p:nvSpPr>
          <p:spPr>
            <a:xfrm>
              <a:off x="0" y="0"/>
              <a:ext cx="6173745" cy="1790386"/>
            </a:xfrm>
            <a:custGeom>
              <a:avLst/>
              <a:gdLst/>
              <a:ahLst/>
              <a:cxnLst/>
              <a:rect l="l" t="t" r="r" b="b"/>
              <a:pathLst>
                <a:path w="6173745" h="1790386">
                  <a:moveTo>
                    <a:pt x="0" y="0"/>
                  </a:moveTo>
                  <a:lnTo>
                    <a:pt x="6173745" y="0"/>
                  </a:lnTo>
                  <a:lnTo>
                    <a:pt x="6173745" y="1790386"/>
                  </a:lnTo>
                  <a:lnTo>
                    <a:pt x="0" y="1790386"/>
                  </a:lnTo>
                  <a:lnTo>
                    <a:pt x="0" y="0"/>
                  </a:lnTo>
                  <a:close/>
                </a:path>
              </a:pathLst>
            </a:custGeom>
            <a:blipFill>
              <a:blip r:embed="rId3"/>
              <a:stretch>
                <a:fillRect/>
              </a:stretch>
            </a:blipFill>
          </p:spPr>
          <p:txBody>
            <a:bodyPr/>
            <a:lstStyle/>
            <a:p>
              <a:endParaRPr lang="es-ES"/>
            </a:p>
          </p:txBody>
        </p:sp>
        <p:sp>
          <p:nvSpPr>
            <p:cNvPr id="19" name="TextBox 19"/>
            <p:cNvSpPr txBox="1"/>
            <p:nvPr/>
          </p:nvSpPr>
          <p:spPr>
            <a:xfrm>
              <a:off x="6903850" y="226326"/>
              <a:ext cx="11364695"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TIMESERIESRANDOMSEARCH</a:t>
              </a:r>
            </a:p>
          </p:txBody>
        </p:sp>
      </p:grpSp>
      <p:grpSp>
        <p:nvGrpSpPr>
          <p:cNvPr id="20" name="Group 20"/>
          <p:cNvGrpSpPr/>
          <p:nvPr/>
        </p:nvGrpSpPr>
        <p:grpSpPr>
          <a:xfrm>
            <a:off x="2470647" y="5762981"/>
            <a:ext cx="12575611" cy="3844502"/>
            <a:chOff x="0" y="0"/>
            <a:chExt cx="16767481" cy="5126003"/>
          </a:xfrm>
        </p:grpSpPr>
        <p:sp>
          <p:nvSpPr>
            <p:cNvPr id="21" name="TextBox 21"/>
            <p:cNvSpPr txBox="1"/>
            <p:nvPr/>
          </p:nvSpPr>
          <p:spPr>
            <a:xfrm>
              <a:off x="22431" y="-114300"/>
              <a:ext cx="16745050" cy="2518833"/>
            </a:xfrm>
            <a:prstGeom prst="rect">
              <a:avLst/>
            </a:prstGeom>
          </p:spPr>
          <p:txBody>
            <a:bodyPr lIns="0" tIns="0" rIns="0" bIns="0" rtlCol="0" anchor="t">
              <a:spAutoFit/>
            </a:bodyPr>
            <a:lstStyle/>
            <a:p>
              <a:pPr marL="1187449" lvl="1" indent="-593725" algn="l">
                <a:lnSpc>
                  <a:spcPts val="7699"/>
                </a:lnSpc>
                <a:buFont typeface="Arial"/>
                <a:buChar char="•"/>
              </a:pPr>
              <a:r>
                <a:rPr lang="en-US" sz="5499">
                  <a:solidFill>
                    <a:srgbClr val="4D6BA7"/>
                  </a:solidFill>
                  <a:latin typeface="Bantayog"/>
                  <a:ea typeface="Bantayog"/>
                  <a:cs typeface="Bantayog"/>
                  <a:sym typeface="Bantayog"/>
                </a:rPr>
                <a:t>VALIDACIÓN CRUZADA PARA SERIES TEMPORALES</a:t>
              </a:r>
            </a:p>
          </p:txBody>
        </p:sp>
        <p:sp>
          <p:nvSpPr>
            <p:cNvPr id="22" name="TextBox 22"/>
            <p:cNvSpPr txBox="1"/>
            <p:nvPr/>
          </p:nvSpPr>
          <p:spPr>
            <a:xfrm>
              <a:off x="0" y="2607169"/>
              <a:ext cx="16767481" cy="2518833"/>
            </a:xfrm>
            <a:prstGeom prst="rect">
              <a:avLst/>
            </a:prstGeom>
          </p:spPr>
          <p:txBody>
            <a:bodyPr lIns="0" tIns="0" rIns="0" bIns="0" rtlCol="0" anchor="t">
              <a:spAutoFit/>
            </a:bodyPr>
            <a:lstStyle/>
            <a:p>
              <a:pPr marL="1187449" lvl="1" indent="-593725" algn="l">
                <a:lnSpc>
                  <a:spcPts val="7699"/>
                </a:lnSpc>
                <a:buFont typeface="Arial"/>
                <a:buChar char="•"/>
              </a:pPr>
              <a:r>
                <a:rPr lang="en-US" sz="5499">
                  <a:solidFill>
                    <a:srgbClr val="4D6BA7"/>
                  </a:solidFill>
                  <a:latin typeface="Bantayog"/>
                  <a:ea typeface="Bantayog"/>
                  <a:cs typeface="Bantayog"/>
                  <a:sym typeface="Bantayog"/>
                </a:rPr>
                <a:t>PREVENCIÓN DE FUGAS DE DATOS EN NORMALIZACIÓN</a:t>
              </a:r>
            </a:p>
          </p:txBody>
        </p:sp>
      </p:grpSp>
      <p:sp>
        <p:nvSpPr>
          <p:cNvPr id="25" name="TextBox 15">
            <a:extLst>
              <a:ext uri="{FF2B5EF4-FFF2-40B4-BE49-F238E27FC236}">
                <a16:creationId xmlns:a16="http://schemas.microsoft.com/office/drawing/2014/main" id="{146542DB-D23F-D133-85E3-78222431906C}"/>
              </a:ext>
            </a:extLst>
          </p:cNvPr>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SOLUCIÓN AL PROBLEMA</a:t>
            </a:r>
          </a:p>
        </p:txBody>
      </p:sp>
      <p:sp>
        <p:nvSpPr>
          <p:cNvPr id="26" name="TextBox 16">
            <a:extLst>
              <a:ext uri="{FF2B5EF4-FFF2-40B4-BE49-F238E27FC236}">
                <a16:creationId xmlns:a16="http://schemas.microsoft.com/office/drawing/2014/main" id="{6DAEE00E-182E-BF0B-82F8-233FFDFA983F}"/>
              </a:ext>
            </a:extLst>
          </p:cNvPr>
          <p:cNvSpPr txBox="1"/>
          <p:nvPr/>
        </p:nvSpPr>
        <p:spPr>
          <a:xfrm>
            <a:off x="2973186" y="2187038"/>
            <a:ext cx="12341628" cy="904287"/>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OPTIMIZACIÓN DE HIPERPARÁMETROS</a:t>
            </a:r>
          </a:p>
        </p:txBody>
      </p:sp>
    </p:spTree>
  </p:cSld>
  <p:clrMapOvr>
    <a:masterClrMapping/>
  </p:clrMapOvr>
  <p:transition spd="med">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a:extLst>
            <a:ext uri="{FF2B5EF4-FFF2-40B4-BE49-F238E27FC236}">
              <a16:creationId xmlns:a16="http://schemas.microsoft.com/office/drawing/2014/main" id="{186C3E3B-4F58-C2E9-02E1-18DA238FAC1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92213B0-99E9-1478-BE17-9E529729C241}"/>
              </a:ext>
            </a:extLst>
          </p:cNvPr>
          <p:cNvGrpSpPr/>
          <p:nvPr/>
        </p:nvGrpSpPr>
        <p:grpSpPr>
          <a:xfrm rot="-2570167">
            <a:off x="-1135601" y="-3063714"/>
            <a:ext cx="5983240" cy="3369636"/>
            <a:chOff x="0" y="0"/>
            <a:chExt cx="744168" cy="419100"/>
          </a:xfrm>
        </p:grpSpPr>
        <p:sp>
          <p:nvSpPr>
            <p:cNvPr id="3" name="Freeform 3">
              <a:extLst>
                <a:ext uri="{FF2B5EF4-FFF2-40B4-BE49-F238E27FC236}">
                  <a16:creationId xmlns:a16="http://schemas.microsoft.com/office/drawing/2014/main" id="{224483C7-2EE8-F528-2B07-4C7DA9CBB1C1}"/>
                </a:ext>
              </a:extLst>
            </p:cNvPr>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a:extLst>
                <a:ext uri="{FF2B5EF4-FFF2-40B4-BE49-F238E27FC236}">
                  <a16:creationId xmlns:a16="http://schemas.microsoft.com/office/drawing/2014/main" id="{668C53F1-7C13-C891-0A2A-67ADF2D950DC}"/>
                </a:ext>
              </a:extLst>
            </p:cNvPr>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a:extLst>
              <a:ext uri="{FF2B5EF4-FFF2-40B4-BE49-F238E27FC236}">
                <a16:creationId xmlns:a16="http://schemas.microsoft.com/office/drawing/2014/main" id="{6E64F975-857D-F520-7B53-BCB94044849E}"/>
              </a:ext>
            </a:extLst>
          </p:cNvPr>
          <p:cNvGrpSpPr/>
          <p:nvPr/>
        </p:nvGrpSpPr>
        <p:grpSpPr>
          <a:xfrm rot="-2570167">
            <a:off x="-4609279" y="8628547"/>
            <a:ext cx="6252050" cy="3864704"/>
            <a:chOff x="0" y="0"/>
            <a:chExt cx="744168" cy="460007"/>
          </a:xfrm>
        </p:grpSpPr>
        <p:sp>
          <p:nvSpPr>
            <p:cNvPr id="6" name="Freeform 6">
              <a:extLst>
                <a:ext uri="{FF2B5EF4-FFF2-40B4-BE49-F238E27FC236}">
                  <a16:creationId xmlns:a16="http://schemas.microsoft.com/office/drawing/2014/main" id="{35C5B15F-357A-271D-AD95-54CE6ED4730F}"/>
                </a:ext>
              </a:extLst>
            </p:cNvPr>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a:extLst>
                <a:ext uri="{FF2B5EF4-FFF2-40B4-BE49-F238E27FC236}">
                  <a16:creationId xmlns:a16="http://schemas.microsoft.com/office/drawing/2014/main" id="{2A1A0AE0-D56A-0547-E969-3881D0B4C981}"/>
                </a:ext>
              </a:extLst>
            </p:cNvPr>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a:extLst>
              <a:ext uri="{FF2B5EF4-FFF2-40B4-BE49-F238E27FC236}">
                <a16:creationId xmlns:a16="http://schemas.microsoft.com/office/drawing/2014/main" id="{5C3D65C6-016F-D6A5-32EE-99BE4E0B2781}"/>
              </a:ext>
            </a:extLst>
          </p:cNvPr>
          <p:cNvGrpSpPr/>
          <p:nvPr/>
        </p:nvGrpSpPr>
        <p:grpSpPr>
          <a:xfrm rot="-2570167">
            <a:off x="16189262" y="-3106762"/>
            <a:ext cx="9679118" cy="4948927"/>
            <a:chOff x="0" y="0"/>
            <a:chExt cx="836041" cy="427467"/>
          </a:xfrm>
        </p:grpSpPr>
        <p:sp>
          <p:nvSpPr>
            <p:cNvPr id="9" name="Freeform 9">
              <a:extLst>
                <a:ext uri="{FF2B5EF4-FFF2-40B4-BE49-F238E27FC236}">
                  <a16:creationId xmlns:a16="http://schemas.microsoft.com/office/drawing/2014/main" id="{4C753B9D-8DFE-ACA8-AA00-31D6BBFD906F}"/>
                </a:ext>
              </a:extLst>
            </p:cNvPr>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a:extLst>
                <a:ext uri="{FF2B5EF4-FFF2-40B4-BE49-F238E27FC236}">
                  <a16:creationId xmlns:a16="http://schemas.microsoft.com/office/drawing/2014/main" id="{DB5E5D62-EE4D-D8B8-95DB-32F11EB0C74A}"/>
                </a:ext>
              </a:extLst>
            </p:cNvPr>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a:extLst>
              <a:ext uri="{FF2B5EF4-FFF2-40B4-BE49-F238E27FC236}">
                <a16:creationId xmlns:a16="http://schemas.microsoft.com/office/drawing/2014/main" id="{967646D2-C197-D734-EFF5-AC6B4B79C46B}"/>
              </a:ext>
            </a:extLst>
          </p:cNvPr>
          <p:cNvGrpSpPr/>
          <p:nvPr/>
        </p:nvGrpSpPr>
        <p:grpSpPr>
          <a:xfrm rot="-2570167">
            <a:off x="12379941" y="9017924"/>
            <a:ext cx="7467555" cy="4043454"/>
            <a:chOff x="0" y="0"/>
            <a:chExt cx="928780" cy="502906"/>
          </a:xfrm>
        </p:grpSpPr>
        <p:sp>
          <p:nvSpPr>
            <p:cNvPr id="12" name="Freeform 12">
              <a:extLst>
                <a:ext uri="{FF2B5EF4-FFF2-40B4-BE49-F238E27FC236}">
                  <a16:creationId xmlns:a16="http://schemas.microsoft.com/office/drawing/2014/main" id="{518F94E4-7315-0092-9E84-678E7572DDED}"/>
                </a:ext>
              </a:extLst>
            </p:cNvPr>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a:extLst>
                <a:ext uri="{FF2B5EF4-FFF2-40B4-BE49-F238E27FC236}">
                  <a16:creationId xmlns:a16="http://schemas.microsoft.com/office/drawing/2014/main" id="{03C3D299-3562-07F0-C2DC-1B14AA53B451}"/>
                </a:ext>
              </a:extLst>
            </p:cNvPr>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a:extLst>
              <a:ext uri="{FF2B5EF4-FFF2-40B4-BE49-F238E27FC236}">
                <a16:creationId xmlns:a16="http://schemas.microsoft.com/office/drawing/2014/main" id="{1D597A95-E39B-A6B5-1F9F-E67614DF9595}"/>
              </a:ext>
            </a:extLst>
          </p:cNvPr>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19</a:t>
            </a:r>
          </a:p>
        </p:txBody>
      </p:sp>
      <p:sp>
        <p:nvSpPr>
          <p:cNvPr id="15" name="TextBox 15">
            <a:extLst>
              <a:ext uri="{FF2B5EF4-FFF2-40B4-BE49-F238E27FC236}">
                <a16:creationId xmlns:a16="http://schemas.microsoft.com/office/drawing/2014/main" id="{F7190DE4-DA9A-C4ED-1C83-317377942F3D}"/>
              </a:ext>
            </a:extLst>
          </p:cNvPr>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RESULTADOS</a:t>
            </a:r>
          </a:p>
        </p:txBody>
      </p:sp>
      <p:pic>
        <p:nvPicPr>
          <p:cNvPr id="27" name="Imagen 26">
            <a:extLst>
              <a:ext uri="{FF2B5EF4-FFF2-40B4-BE49-F238E27FC236}">
                <a16:creationId xmlns:a16="http://schemas.microsoft.com/office/drawing/2014/main" id="{5CD265A0-BEE2-2A7B-8694-EB5580015B45}"/>
              </a:ext>
            </a:extLst>
          </p:cNvPr>
          <p:cNvPicPr>
            <a:picLocks noChangeAspect="1"/>
          </p:cNvPicPr>
          <p:nvPr/>
        </p:nvPicPr>
        <p:blipFill>
          <a:blip r:embed="rId3"/>
          <a:stretch>
            <a:fillRect/>
          </a:stretch>
        </p:blipFill>
        <p:spPr>
          <a:xfrm>
            <a:off x="7398616" y="5669144"/>
            <a:ext cx="3493087" cy="3493087"/>
          </a:xfrm>
          <a:prstGeom prst="rect">
            <a:avLst/>
          </a:prstGeom>
        </p:spPr>
      </p:pic>
      <p:grpSp>
        <p:nvGrpSpPr>
          <p:cNvPr id="30" name="Grupo 29">
            <a:extLst>
              <a:ext uri="{FF2B5EF4-FFF2-40B4-BE49-F238E27FC236}">
                <a16:creationId xmlns:a16="http://schemas.microsoft.com/office/drawing/2014/main" id="{1CF1B5E5-7595-12B1-D4B3-FC3D826696C3}"/>
              </a:ext>
            </a:extLst>
          </p:cNvPr>
          <p:cNvGrpSpPr/>
          <p:nvPr/>
        </p:nvGrpSpPr>
        <p:grpSpPr>
          <a:xfrm>
            <a:off x="2667000" y="2602396"/>
            <a:ext cx="10663103" cy="2438400"/>
            <a:chOff x="1931617" y="2681229"/>
            <a:chExt cx="10663103" cy="2438400"/>
          </a:xfrm>
        </p:grpSpPr>
        <p:sp>
          <p:nvSpPr>
            <p:cNvPr id="18" name="TextBox 16">
              <a:extLst>
                <a:ext uri="{FF2B5EF4-FFF2-40B4-BE49-F238E27FC236}">
                  <a16:creationId xmlns:a16="http://schemas.microsoft.com/office/drawing/2014/main" id="{117BD706-ECEF-849E-95EE-0521796C416A}"/>
                </a:ext>
              </a:extLst>
            </p:cNvPr>
            <p:cNvSpPr txBox="1"/>
            <p:nvPr/>
          </p:nvSpPr>
          <p:spPr>
            <a:xfrm>
              <a:off x="1931617" y="2954561"/>
              <a:ext cx="9144000" cy="1891736"/>
            </a:xfrm>
            <a:prstGeom prst="rect">
              <a:avLst/>
            </a:prstGeom>
          </p:spPr>
          <p:txBody>
            <a:bodyPr wrap="square"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TOTAL DE MODELOS ENTRENADOS:</a:t>
              </a:r>
            </a:p>
          </p:txBody>
        </p:sp>
        <p:pic>
          <p:nvPicPr>
            <p:cNvPr id="29" name="Imagen 28">
              <a:extLst>
                <a:ext uri="{FF2B5EF4-FFF2-40B4-BE49-F238E27FC236}">
                  <a16:creationId xmlns:a16="http://schemas.microsoft.com/office/drawing/2014/main" id="{C882ADB1-3F95-A9F4-99BD-A798CFFF0680}"/>
                </a:ext>
              </a:extLst>
            </p:cNvPr>
            <p:cNvPicPr>
              <a:picLocks noChangeAspect="1"/>
            </p:cNvPicPr>
            <p:nvPr/>
          </p:nvPicPr>
          <p:blipFill>
            <a:blip r:embed="rId4"/>
            <a:stretch>
              <a:fillRect/>
            </a:stretch>
          </p:blipFill>
          <p:spPr>
            <a:xfrm>
              <a:off x="10156320" y="2681229"/>
              <a:ext cx="2438400" cy="2438400"/>
            </a:xfrm>
            <a:prstGeom prst="rect">
              <a:avLst/>
            </a:prstGeom>
          </p:spPr>
        </p:pic>
      </p:grpSp>
    </p:spTree>
    <p:extLst>
      <p:ext uri="{BB962C8B-B14F-4D97-AF65-F5344CB8AC3E}">
        <p14:creationId xmlns:p14="http://schemas.microsoft.com/office/powerpoint/2010/main" val="576507522"/>
      </p:ext>
    </p:extLst>
  </p:cSld>
  <p:clrMapOvr>
    <a:masterClrMapping/>
  </p:clrMapOvr>
  <p:transition spd="med">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20</a:t>
            </a:r>
          </a:p>
        </p:txBody>
      </p:sp>
      <p:sp>
        <p:nvSpPr>
          <p:cNvPr id="15" name="TextBox 15"/>
          <p:cNvSpPr txBox="1"/>
          <p:nvPr/>
        </p:nvSpPr>
        <p:spPr>
          <a:xfrm>
            <a:off x="2470647" y="494348"/>
            <a:ext cx="13346707" cy="154305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RESULTADOS</a:t>
            </a:r>
          </a:p>
        </p:txBody>
      </p:sp>
      <p:pic>
        <p:nvPicPr>
          <p:cNvPr id="33" name="Imagen 32">
            <a:extLst>
              <a:ext uri="{FF2B5EF4-FFF2-40B4-BE49-F238E27FC236}">
                <a16:creationId xmlns:a16="http://schemas.microsoft.com/office/drawing/2014/main" id="{06F0560E-5418-6561-829F-83B6034F4FFB}"/>
              </a:ext>
            </a:extLst>
          </p:cNvPr>
          <p:cNvPicPr>
            <a:picLocks noChangeAspect="1"/>
          </p:cNvPicPr>
          <p:nvPr/>
        </p:nvPicPr>
        <p:blipFill>
          <a:blip r:embed="rId3"/>
          <a:stretch>
            <a:fillRect/>
          </a:stretch>
        </p:blipFill>
        <p:spPr>
          <a:xfrm>
            <a:off x="10820400" y="6647072"/>
            <a:ext cx="2514600" cy="2514600"/>
          </a:xfrm>
          <a:prstGeom prst="rect">
            <a:avLst/>
          </a:prstGeom>
        </p:spPr>
      </p:pic>
      <p:grpSp>
        <p:nvGrpSpPr>
          <p:cNvPr id="24" name="Grupo 23">
            <a:extLst>
              <a:ext uri="{FF2B5EF4-FFF2-40B4-BE49-F238E27FC236}">
                <a16:creationId xmlns:a16="http://schemas.microsoft.com/office/drawing/2014/main" id="{BBB1E40B-5ED2-DC71-1BDC-CBBB830CBBCF}"/>
              </a:ext>
            </a:extLst>
          </p:cNvPr>
          <p:cNvGrpSpPr/>
          <p:nvPr/>
        </p:nvGrpSpPr>
        <p:grpSpPr>
          <a:xfrm>
            <a:off x="2655308" y="5452775"/>
            <a:ext cx="5572628" cy="3561853"/>
            <a:chOff x="2951053" y="4830059"/>
            <a:chExt cx="5572628" cy="3561853"/>
          </a:xfrm>
        </p:grpSpPr>
        <p:pic>
          <p:nvPicPr>
            <p:cNvPr id="36" name="Imagen 35">
              <a:extLst>
                <a:ext uri="{FF2B5EF4-FFF2-40B4-BE49-F238E27FC236}">
                  <a16:creationId xmlns:a16="http://schemas.microsoft.com/office/drawing/2014/main" id="{AEC33844-A7D4-CFE3-F194-0F0D6CBF3ACB}"/>
                </a:ext>
              </a:extLst>
            </p:cNvPr>
            <p:cNvPicPr>
              <a:picLocks noChangeAspect="1"/>
            </p:cNvPicPr>
            <p:nvPr/>
          </p:nvPicPr>
          <p:blipFill>
            <a:blip r:embed="rId4"/>
            <a:stretch>
              <a:fillRect/>
            </a:stretch>
          </p:blipFill>
          <p:spPr>
            <a:xfrm>
              <a:off x="4607243" y="5953512"/>
              <a:ext cx="2438400" cy="2438400"/>
            </a:xfrm>
            <a:prstGeom prst="rect">
              <a:avLst/>
            </a:prstGeom>
          </p:spPr>
        </p:pic>
        <p:sp>
          <p:nvSpPr>
            <p:cNvPr id="16" name="TextBox 30">
              <a:extLst>
                <a:ext uri="{FF2B5EF4-FFF2-40B4-BE49-F238E27FC236}">
                  <a16:creationId xmlns:a16="http://schemas.microsoft.com/office/drawing/2014/main" id="{5F17E098-C8D0-6CC2-CA4A-4A3C8F8951C1}"/>
                </a:ext>
              </a:extLst>
            </p:cNvPr>
            <p:cNvSpPr txBox="1"/>
            <p:nvPr/>
          </p:nvSpPr>
          <p:spPr>
            <a:xfrm rot="20038209">
              <a:off x="2951053" y="5310088"/>
              <a:ext cx="1939563" cy="904287"/>
            </a:xfrm>
            <a:prstGeom prst="rect">
              <a:avLst/>
            </a:prstGeom>
          </p:spPr>
          <p:txBody>
            <a:bodyPr wrap="square" lIns="0" tIns="0" rIns="0" bIns="0" rtlCol="0" anchor="t">
              <a:spAutoFit/>
            </a:bodyPr>
            <a:lstStyle/>
            <a:p>
              <a:pPr algn="ctr">
                <a:lnSpc>
                  <a:spcPts val="7699"/>
                </a:lnSpc>
                <a:spcBef>
                  <a:spcPct val="0"/>
                </a:spcBef>
              </a:pPr>
              <a:r>
                <a:rPr lang="en-US" sz="5499" dirty="0">
                  <a:solidFill>
                    <a:srgbClr val="203660"/>
                  </a:solidFill>
                  <a:latin typeface="Bantayog"/>
                  <a:ea typeface="Bantayog"/>
                  <a:cs typeface="Bantayog"/>
                  <a:sym typeface="Bantayog"/>
                </a:rPr>
                <a:t>MAE</a:t>
              </a:r>
            </a:p>
          </p:txBody>
        </p:sp>
        <p:sp>
          <p:nvSpPr>
            <p:cNvPr id="17" name="TextBox 30">
              <a:extLst>
                <a:ext uri="{FF2B5EF4-FFF2-40B4-BE49-F238E27FC236}">
                  <a16:creationId xmlns:a16="http://schemas.microsoft.com/office/drawing/2014/main" id="{26561687-B959-5769-A17C-A52369493E99}"/>
                </a:ext>
              </a:extLst>
            </p:cNvPr>
            <p:cNvSpPr txBox="1"/>
            <p:nvPr/>
          </p:nvSpPr>
          <p:spPr>
            <a:xfrm>
              <a:off x="4855630" y="4830059"/>
              <a:ext cx="1939563" cy="904287"/>
            </a:xfrm>
            <a:prstGeom prst="rect">
              <a:avLst/>
            </a:prstGeom>
          </p:spPr>
          <p:txBody>
            <a:bodyPr wrap="square" lIns="0" tIns="0" rIns="0" bIns="0" rtlCol="0" anchor="t">
              <a:spAutoFit/>
            </a:bodyPr>
            <a:lstStyle/>
            <a:p>
              <a:pPr algn="ctr">
                <a:lnSpc>
                  <a:spcPts val="7699"/>
                </a:lnSpc>
                <a:spcBef>
                  <a:spcPct val="0"/>
                </a:spcBef>
              </a:pPr>
              <a:r>
                <a:rPr lang="en-US" sz="5499" dirty="0">
                  <a:solidFill>
                    <a:srgbClr val="203660"/>
                  </a:solidFill>
                  <a:latin typeface="Bantayog"/>
                  <a:ea typeface="Bantayog"/>
                  <a:cs typeface="Bantayog"/>
                  <a:sym typeface="Bantayog"/>
                </a:rPr>
                <a:t>MAPE</a:t>
              </a:r>
            </a:p>
          </p:txBody>
        </p:sp>
        <p:grpSp>
          <p:nvGrpSpPr>
            <p:cNvPr id="20" name="Grupo 19">
              <a:extLst>
                <a:ext uri="{FF2B5EF4-FFF2-40B4-BE49-F238E27FC236}">
                  <a16:creationId xmlns:a16="http://schemas.microsoft.com/office/drawing/2014/main" id="{72DC7EE7-B6BA-27C9-0214-107422F9B913}"/>
                </a:ext>
              </a:extLst>
            </p:cNvPr>
            <p:cNvGrpSpPr/>
            <p:nvPr/>
          </p:nvGrpSpPr>
          <p:grpSpPr>
            <a:xfrm rot="1590826">
              <a:off x="6584118" y="4872414"/>
              <a:ext cx="1939563" cy="1183525"/>
              <a:chOff x="3317083" y="8445662"/>
              <a:chExt cx="1939563" cy="1183525"/>
            </a:xfrm>
          </p:grpSpPr>
          <p:sp>
            <p:nvSpPr>
              <p:cNvPr id="18" name="TextBox 30">
                <a:extLst>
                  <a:ext uri="{FF2B5EF4-FFF2-40B4-BE49-F238E27FC236}">
                    <a16:creationId xmlns:a16="http://schemas.microsoft.com/office/drawing/2014/main" id="{DE4F0964-973E-EBE1-BB2C-818AC32B26C7}"/>
                  </a:ext>
                </a:extLst>
              </p:cNvPr>
              <p:cNvSpPr txBox="1"/>
              <p:nvPr/>
            </p:nvSpPr>
            <p:spPr>
              <a:xfrm>
                <a:off x="3317083" y="8724900"/>
                <a:ext cx="1939563" cy="904287"/>
              </a:xfrm>
              <a:prstGeom prst="rect">
                <a:avLst/>
              </a:prstGeom>
            </p:spPr>
            <p:txBody>
              <a:bodyPr wrap="square" lIns="0" tIns="0" rIns="0" bIns="0" rtlCol="0" anchor="t">
                <a:spAutoFit/>
              </a:bodyPr>
              <a:lstStyle/>
              <a:p>
                <a:pPr algn="ctr">
                  <a:lnSpc>
                    <a:spcPts val="7699"/>
                  </a:lnSpc>
                  <a:spcBef>
                    <a:spcPct val="0"/>
                  </a:spcBef>
                </a:pPr>
                <a:r>
                  <a:rPr lang="en-US" sz="5499" dirty="0">
                    <a:solidFill>
                      <a:srgbClr val="203660"/>
                    </a:solidFill>
                    <a:latin typeface="Bantayog"/>
                    <a:ea typeface="Bantayog"/>
                    <a:cs typeface="Bantayog"/>
                    <a:sym typeface="Bantayog"/>
                  </a:rPr>
                  <a:t>R</a:t>
                </a:r>
              </a:p>
            </p:txBody>
          </p:sp>
          <p:sp>
            <p:nvSpPr>
              <p:cNvPr id="19" name="TextBox 30">
                <a:extLst>
                  <a:ext uri="{FF2B5EF4-FFF2-40B4-BE49-F238E27FC236}">
                    <a16:creationId xmlns:a16="http://schemas.microsoft.com/office/drawing/2014/main" id="{2F9423CF-E8EB-DB3F-01F0-A55A4437F4EE}"/>
                  </a:ext>
                </a:extLst>
              </p:cNvPr>
              <p:cNvSpPr txBox="1"/>
              <p:nvPr/>
            </p:nvSpPr>
            <p:spPr>
              <a:xfrm>
                <a:off x="4440418" y="8445662"/>
                <a:ext cx="460798" cy="904287"/>
              </a:xfrm>
              <a:prstGeom prst="rect">
                <a:avLst/>
              </a:prstGeom>
            </p:spPr>
            <p:txBody>
              <a:bodyPr wrap="square" lIns="0" tIns="0" rIns="0" bIns="0" rtlCol="0" anchor="t">
                <a:spAutoFit/>
              </a:bodyPr>
              <a:lstStyle/>
              <a:p>
                <a:pPr algn="ctr">
                  <a:lnSpc>
                    <a:spcPts val="7699"/>
                  </a:lnSpc>
                  <a:spcBef>
                    <a:spcPct val="0"/>
                  </a:spcBef>
                </a:pPr>
                <a:r>
                  <a:rPr lang="en-US" sz="4500" dirty="0">
                    <a:solidFill>
                      <a:srgbClr val="203660"/>
                    </a:solidFill>
                    <a:latin typeface="Bantayog"/>
                    <a:ea typeface="Bantayog"/>
                    <a:cs typeface="Bantayog"/>
                    <a:sym typeface="Bantayog"/>
                  </a:rPr>
                  <a:t>2</a:t>
                </a:r>
              </a:p>
            </p:txBody>
          </p:sp>
        </p:grpSp>
      </p:grpSp>
      <p:sp>
        <p:nvSpPr>
          <p:cNvPr id="26" name="TextBox 30">
            <a:extLst>
              <a:ext uri="{FF2B5EF4-FFF2-40B4-BE49-F238E27FC236}">
                <a16:creationId xmlns:a16="http://schemas.microsoft.com/office/drawing/2014/main" id="{C6C595BF-C110-BBE2-C505-740E76188855}"/>
              </a:ext>
            </a:extLst>
          </p:cNvPr>
          <p:cNvSpPr txBox="1"/>
          <p:nvPr/>
        </p:nvSpPr>
        <p:spPr>
          <a:xfrm rot="654607">
            <a:off x="12571559" y="6130706"/>
            <a:ext cx="3544343" cy="904287"/>
          </a:xfrm>
          <a:prstGeom prst="rect">
            <a:avLst/>
          </a:prstGeom>
        </p:spPr>
        <p:txBody>
          <a:bodyPr wrap="square" lIns="0" tIns="0" rIns="0" bIns="0" rtlCol="0" anchor="t">
            <a:spAutoFit/>
          </a:bodyPr>
          <a:lstStyle/>
          <a:p>
            <a:pPr algn="ctr">
              <a:lnSpc>
                <a:spcPts val="7699"/>
              </a:lnSpc>
              <a:spcBef>
                <a:spcPct val="0"/>
              </a:spcBef>
            </a:pPr>
            <a:r>
              <a:rPr lang="en-US" sz="5499" dirty="0">
                <a:solidFill>
                  <a:srgbClr val="203660"/>
                </a:solidFill>
                <a:latin typeface="Bantayog"/>
                <a:ea typeface="Bantayog"/>
                <a:cs typeface="Bantayog"/>
                <a:sym typeface="Bantayog"/>
              </a:rPr>
              <a:t>DISPERSIÓN</a:t>
            </a:r>
          </a:p>
        </p:txBody>
      </p:sp>
      <p:sp>
        <p:nvSpPr>
          <p:cNvPr id="27" name="TextBox 30">
            <a:extLst>
              <a:ext uri="{FF2B5EF4-FFF2-40B4-BE49-F238E27FC236}">
                <a16:creationId xmlns:a16="http://schemas.microsoft.com/office/drawing/2014/main" id="{404F4D62-8E7B-8796-5800-A692CC06C6D0}"/>
              </a:ext>
            </a:extLst>
          </p:cNvPr>
          <p:cNvSpPr txBox="1"/>
          <p:nvPr/>
        </p:nvSpPr>
        <p:spPr>
          <a:xfrm rot="20954381">
            <a:off x="8978713" y="5315577"/>
            <a:ext cx="3890136" cy="904287"/>
          </a:xfrm>
          <a:prstGeom prst="rect">
            <a:avLst/>
          </a:prstGeom>
        </p:spPr>
        <p:txBody>
          <a:bodyPr wrap="square" lIns="0" tIns="0" rIns="0" bIns="0" rtlCol="0" anchor="t">
            <a:spAutoFit/>
          </a:bodyPr>
          <a:lstStyle/>
          <a:p>
            <a:pPr algn="ctr">
              <a:lnSpc>
                <a:spcPts val="7699"/>
              </a:lnSpc>
              <a:spcBef>
                <a:spcPct val="0"/>
              </a:spcBef>
            </a:pPr>
            <a:r>
              <a:rPr lang="en-US" sz="5499" dirty="0">
                <a:solidFill>
                  <a:srgbClr val="203660"/>
                </a:solidFill>
                <a:latin typeface="Bantayog"/>
                <a:ea typeface="Bantayog"/>
                <a:cs typeface="Bantayog"/>
                <a:sym typeface="Bantayog"/>
              </a:rPr>
              <a:t>HISTOGRAMA</a:t>
            </a:r>
          </a:p>
        </p:txBody>
      </p:sp>
      <p:grpSp>
        <p:nvGrpSpPr>
          <p:cNvPr id="28" name="Grupo 27">
            <a:extLst>
              <a:ext uri="{FF2B5EF4-FFF2-40B4-BE49-F238E27FC236}">
                <a16:creationId xmlns:a16="http://schemas.microsoft.com/office/drawing/2014/main" id="{65088098-0871-FBF4-58B9-D243B10FF86C}"/>
              </a:ext>
            </a:extLst>
          </p:cNvPr>
          <p:cNvGrpSpPr/>
          <p:nvPr/>
        </p:nvGrpSpPr>
        <p:grpSpPr>
          <a:xfrm>
            <a:off x="3387525" y="2852588"/>
            <a:ext cx="5974393" cy="2531584"/>
            <a:chOff x="333159" y="2601417"/>
            <a:chExt cx="5974393" cy="2531584"/>
          </a:xfrm>
        </p:grpSpPr>
        <p:grpSp>
          <p:nvGrpSpPr>
            <p:cNvPr id="29" name="Group 17">
              <a:extLst>
                <a:ext uri="{FF2B5EF4-FFF2-40B4-BE49-F238E27FC236}">
                  <a16:creationId xmlns:a16="http://schemas.microsoft.com/office/drawing/2014/main" id="{E7615C41-34CF-77FF-940A-35224E38FE51}"/>
                </a:ext>
              </a:extLst>
            </p:cNvPr>
            <p:cNvGrpSpPr/>
            <p:nvPr/>
          </p:nvGrpSpPr>
          <p:grpSpPr>
            <a:xfrm>
              <a:off x="333159" y="2601417"/>
              <a:ext cx="5974393" cy="2531584"/>
              <a:chOff x="0" y="-38100"/>
              <a:chExt cx="1573503" cy="666755"/>
            </a:xfrm>
          </p:grpSpPr>
          <p:sp>
            <p:nvSpPr>
              <p:cNvPr id="35" name="Freeform 18">
                <a:extLst>
                  <a:ext uri="{FF2B5EF4-FFF2-40B4-BE49-F238E27FC236}">
                    <a16:creationId xmlns:a16="http://schemas.microsoft.com/office/drawing/2014/main" id="{FC5D3B54-C428-7C81-D264-90C4A09ECA77}"/>
                  </a:ext>
                </a:extLst>
              </p:cNvPr>
              <p:cNvSpPr/>
              <p:nvPr/>
            </p:nvSpPr>
            <p:spPr>
              <a:xfrm>
                <a:off x="0" y="0"/>
                <a:ext cx="1170980" cy="452570"/>
              </a:xfrm>
              <a:custGeom>
                <a:avLst/>
                <a:gdLst/>
                <a:ahLst/>
                <a:cxnLst/>
                <a:rect l="l" t="t" r="r" b="b"/>
                <a:pathLst>
                  <a:path w="1538203" h="347059">
                    <a:moveTo>
                      <a:pt x="43744" y="0"/>
                    </a:moveTo>
                    <a:lnTo>
                      <a:pt x="1494458" y="0"/>
                    </a:lnTo>
                    <a:cubicBezTo>
                      <a:pt x="1506060" y="0"/>
                      <a:pt x="1517187" y="4609"/>
                      <a:pt x="1525390" y="12812"/>
                    </a:cubicBezTo>
                    <a:cubicBezTo>
                      <a:pt x="1533594" y="21016"/>
                      <a:pt x="1538203" y="32143"/>
                      <a:pt x="1538203" y="43744"/>
                    </a:cubicBezTo>
                    <a:lnTo>
                      <a:pt x="1538203" y="303314"/>
                    </a:lnTo>
                    <a:cubicBezTo>
                      <a:pt x="1538203" y="314916"/>
                      <a:pt x="1533594" y="326043"/>
                      <a:pt x="1525390" y="334246"/>
                    </a:cubicBezTo>
                    <a:cubicBezTo>
                      <a:pt x="1517187" y="342450"/>
                      <a:pt x="1506060" y="347059"/>
                      <a:pt x="1494458" y="347059"/>
                    </a:cubicBezTo>
                    <a:lnTo>
                      <a:pt x="43744" y="347059"/>
                    </a:lnTo>
                    <a:cubicBezTo>
                      <a:pt x="32143" y="347059"/>
                      <a:pt x="21016" y="342450"/>
                      <a:pt x="12812" y="334246"/>
                    </a:cubicBezTo>
                    <a:cubicBezTo>
                      <a:pt x="4609" y="326043"/>
                      <a:pt x="0" y="314916"/>
                      <a:pt x="0" y="303314"/>
                    </a:cubicBezTo>
                    <a:lnTo>
                      <a:pt x="0" y="43744"/>
                    </a:lnTo>
                    <a:cubicBezTo>
                      <a:pt x="0" y="32143"/>
                      <a:pt x="4609" y="21016"/>
                      <a:pt x="12812" y="12812"/>
                    </a:cubicBezTo>
                    <a:cubicBezTo>
                      <a:pt x="21016" y="4609"/>
                      <a:pt x="32143" y="0"/>
                      <a:pt x="43744" y="0"/>
                    </a:cubicBezTo>
                    <a:close/>
                  </a:path>
                </a:pathLst>
              </a:custGeom>
              <a:solidFill>
                <a:srgbClr val="4D6BA7"/>
              </a:solidFill>
            </p:spPr>
            <p:txBody>
              <a:bodyPr/>
              <a:lstStyle/>
              <a:p>
                <a:endParaRPr lang="es-ES" dirty="0"/>
              </a:p>
            </p:txBody>
          </p:sp>
          <p:sp>
            <p:nvSpPr>
              <p:cNvPr id="38" name="TextBox 19">
                <a:extLst>
                  <a:ext uri="{FF2B5EF4-FFF2-40B4-BE49-F238E27FC236}">
                    <a16:creationId xmlns:a16="http://schemas.microsoft.com/office/drawing/2014/main" id="{80179BBC-F739-10DD-0EEB-0EE6A18752FC}"/>
                  </a:ext>
                </a:extLst>
              </p:cNvPr>
              <p:cNvSpPr txBox="1"/>
              <p:nvPr/>
            </p:nvSpPr>
            <p:spPr>
              <a:xfrm>
                <a:off x="0" y="-38100"/>
                <a:ext cx="1573503" cy="666755"/>
              </a:xfrm>
              <a:prstGeom prst="rect">
                <a:avLst/>
              </a:prstGeom>
            </p:spPr>
            <p:txBody>
              <a:bodyPr lIns="50800" tIns="50800" rIns="50800" bIns="50800" rtlCol="0" anchor="ctr"/>
              <a:lstStyle/>
              <a:p>
                <a:pPr algn="ctr">
                  <a:lnSpc>
                    <a:spcPts val="2659"/>
                  </a:lnSpc>
                </a:pPr>
                <a:endParaRPr/>
              </a:p>
            </p:txBody>
          </p:sp>
        </p:grpSp>
        <p:sp>
          <p:nvSpPr>
            <p:cNvPr id="32" name="TextBox 20">
              <a:extLst>
                <a:ext uri="{FF2B5EF4-FFF2-40B4-BE49-F238E27FC236}">
                  <a16:creationId xmlns:a16="http://schemas.microsoft.com/office/drawing/2014/main" id="{8E3255EF-FB35-EB25-94EC-01D95F7E7104}"/>
                </a:ext>
              </a:extLst>
            </p:cNvPr>
            <p:cNvSpPr txBox="1"/>
            <p:nvPr/>
          </p:nvSpPr>
          <p:spPr>
            <a:xfrm>
              <a:off x="365876" y="2922638"/>
              <a:ext cx="4337934" cy="1436291"/>
            </a:xfrm>
            <a:prstGeom prst="rect">
              <a:avLst/>
            </a:prstGeom>
          </p:spPr>
          <p:txBody>
            <a:bodyPr wrap="square" lIns="0" tIns="0" rIns="0" bIns="0" rtlCol="0" anchor="t">
              <a:spAutoFit/>
            </a:bodyPr>
            <a:lstStyle/>
            <a:p>
              <a:pPr algn="ctr">
                <a:lnSpc>
                  <a:spcPts val="5600"/>
                </a:lnSpc>
                <a:spcBef>
                  <a:spcPct val="0"/>
                </a:spcBef>
              </a:pPr>
              <a:r>
                <a:rPr lang="en-US" sz="5000" dirty="0">
                  <a:solidFill>
                    <a:srgbClr val="FFFFFF"/>
                  </a:solidFill>
                  <a:latin typeface="Bantayog"/>
                  <a:ea typeface="Bantayog"/>
                  <a:cs typeface="Bantayog"/>
                  <a:sym typeface="Bantayog"/>
                </a:rPr>
                <a:t>MÉTRICAS POR VARIABLE</a:t>
              </a:r>
            </a:p>
          </p:txBody>
        </p:sp>
      </p:grpSp>
      <p:grpSp>
        <p:nvGrpSpPr>
          <p:cNvPr id="39" name="Grupo 38">
            <a:extLst>
              <a:ext uri="{FF2B5EF4-FFF2-40B4-BE49-F238E27FC236}">
                <a16:creationId xmlns:a16="http://schemas.microsoft.com/office/drawing/2014/main" id="{CC0388EB-A496-6FD7-B03B-903C1572C3AB}"/>
              </a:ext>
            </a:extLst>
          </p:cNvPr>
          <p:cNvGrpSpPr/>
          <p:nvPr/>
        </p:nvGrpSpPr>
        <p:grpSpPr>
          <a:xfrm>
            <a:off x="9955018" y="2852588"/>
            <a:ext cx="5974393" cy="2531584"/>
            <a:chOff x="333159" y="2601417"/>
            <a:chExt cx="5974393" cy="2531584"/>
          </a:xfrm>
        </p:grpSpPr>
        <p:grpSp>
          <p:nvGrpSpPr>
            <p:cNvPr id="40" name="Group 17">
              <a:extLst>
                <a:ext uri="{FF2B5EF4-FFF2-40B4-BE49-F238E27FC236}">
                  <a16:creationId xmlns:a16="http://schemas.microsoft.com/office/drawing/2014/main" id="{1D642DC3-B2A8-63C1-4E17-38BAE0EA7FB7}"/>
                </a:ext>
              </a:extLst>
            </p:cNvPr>
            <p:cNvGrpSpPr/>
            <p:nvPr/>
          </p:nvGrpSpPr>
          <p:grpSpPr>
            <a:xfrm>
              <a:off x="333159" y="2601417"/>
              <a:ext cx="5974393" cy="2531584"/>
              <a:chOff x="0" y="-38100"/>
              <a:chExt cx="1573503" cy="666755"/>
            </a:xfrm>
          </p:grpSpPr>
          <p:sp>
            <p:nvSpPr>
              <p:cNvPr id="42" name="Freeform 18">
                <a:extLst>
                  <a:ext uri="{FF2B5EF4-FFF2-40B4-BE49-F238E27FC236}">
                    <a16:creationId xmlns:a16="http://schemas.microsoft.com/office/drawing/2014/main" id="{4EA3E9F3-92F4-2CEA-0043-B3D61656DEA1}"/>
                  </a:ext>
                </a:extLst>
              </p:cNvPr>
              <p:cNvSpPr/>
              <p:nvPr/>
            </p:nvSpPr>
            <p:spPr>
              <a:xfrm>
                <a:off x="0" y="0"/>
                <a:ext cx="1170980" cy="452570"/>
              </a:xfrm>
              <a:custGeom>
                <a:avLst/>
                <a:gdLst/>
                <a:ahLst/>
                <a:cxnLst/>
                <a:rect l="l" t="t" r="r" b="b"/>
                <a:pathLst>
                  <a:path w="1538203" h="347059">
                    <a:moveTo>
                      <a:pt x="43744" y="0"/>
                    </a:moveTo>
                    <a:lnTo>
                      <a:pt x="1494458" y="0"/>
                    </a:lnTo>
                    <a:cubicBezTo>
                      <a:pt x="1506060" y="0"/>
                      <a:pt x="1517187" y="4609"/>
                      <a:pt x="1525390" y="12812"/>
                    </a:cubicBezTo>
                    <a:cubicBezTo>
                      <a:pt x="1533594" y="21016"/>
                      <a:pt x="1538203" y="32143"/>
                      <a:pt x="1538203" y="43744"/>
                    </a:cubicBezTo>
                    <a:lnTo>
                      <a:pt x="1538203" y="303314"/>
                    </a:lnTo>
                    <a:cubicBezTo>
                      <a:pt x="1538203" y="314916"/>
                      <a:pt x="1533594" y="326043"/>
                      <a:pt x="1525390" y="334246"/>
                    </a:cubicBezTo>
                    <a:cubicBezTo>
                      <a:pt x="1517187" y="342450"/>
                      <a:pt x="1506060" y="347059"/>
                      <a:pt x="1494458" y="347059"/>
                    </a:cubicBezTo>
                    <a:lnTo>
                      <a:pt x="43744" y="347059"/>
                    </a:lnTo>
                    <a:cubicBezTo>
                      <a:pt x="32143" y="347059"/>
                      <a:pt x="21016" y="342450"/>
                      <a:pt x="12812" y="334246"/>
                    </a:cubicBezTo>
                    <a:cubicBezTo>
                      <a:pt x="4609" y="326043"/>
                      <a:pt x="0" y="314916"/>
                      <a:pt x="0" y="303314"/>
                    </a:cubicBezTo>
                    <a:lnTo>
                      <a:pt x="0" y="43744"/>
                    </a:lnTo>
                    <a:cubicBezTo>
                      <a:pt x="0" y="32143"/>
                      <a:pt x="4609" y="21016"/>
                      <a:pt x="12812" y="12812"/>
                    </a:cubicBezTo>
                    <a:cubicBezTo>
                      <a:pt x="21016" y="4609"/>
                      <a:pt x="32143" y="0"/>
                      <a:pt x="43744" y="0"/>
                    </a:cubicBezTo>
                    <a:close/>
                  </a:path>
                </a:pathLst>
              </a:custGeom>
              <a:solidFill>
                <a:srgbClr val="4D6BA7"/>
              </a:solidFill>
            </p:spPr>
            <p:txBody>
              <a:bodyPr/>
              <a:lstStyle/>
              <a:p>
                <a:endParaRPr lang="es-ES" dirty="0"/>
              </a:p>
            </p:txBody>
          </p:sp>
          <p:sp>
            <p:nvSpPr>
              <p:cNvPr id="43" name="TextBox 19">
                <a:extLst>
                  <a:ext uri="{FF2B5EF4-FFF2-40B4-BE49-F238E27FC236}">
                    <a16:creationId xmlns:a16="http://schemas.microsoft.com/office/drawing/2014/main" id="{4A6C6180-69DD-3079-63AC-4EC74CFFE81F}"/>
                  </a:ext>
                </a:extLst>
              </p:cNvPr>
              <p:cNvSpPr txBox="1"/>
              <p:nvPr/>
            </p:nvSpPr>
            <p:spPr>
              <a:xfrm>
                <a:off x="0" y="-38100"/>
                <a:ext cx="1573503" cy="666755"/>
              </a:xfrm>
              <a:prstGeom prst="rect">
                <a:avLst/>
              </a:prstGeom>
            </p:spPr>
            <p:txBody>
              <a:bodyPr lIns="50800" tIns="50800" rIns="50800" bIns="50800" rtlCol="0" anchor="ctr"/>
              <a:lstStyle/>
              <a:p>
                <a:pPr algn="ctr">
                  <a:lnSpc>
                    <a:spcPts val="2659"/>
                  </a:lnSpc>
                </a:pPr>
                <a:endParaRPr/>
              </a:p>
            </p:txBody>
          </p:sp>
        </p:grpSp>
        <p:sp>
          <p:nvSpPr>
            <p:cNvPr id="41" name="TextBox 20">
              <a:extLst>
                <a:ext uri="{FF2B5EF4-FFF2-40B4-BE49-F238E27FC236}">
                  <a16:creationId xmlns:a16="http://schemas.microsoft.com/office/drawing/2014/main" id="{2CB23B80-9D52-58B3-08F1-3216A3B42213}"/>
                </a:ext>
              </a:extLst>
            </p:cNvPr>
            <p:cNvSpPr txBox="1"/>
            <p:nvPr/>
          </p:nvSpPr>
          <p:spPr>
            <a:xfrm>
              <a:off x="365807" y="2911129"/>
              <a:ext cx="4337934" cy="1436291"/>
            </a:xfrm>
            <a:prstGeom prst="rect">
              <a:avLst/>
            </a:prstGeom>
          </p:spPr>
          <p:txBody>
            <a:bodyPr wrap="square" lIns="0" tIns="0" rIns="0" bIns="0" rtlCol="0" anchor="t">
              <a:spAutoFit/>
            </a:bodyPr>
            <a:lstStyle/>
            <a:p>
              <a:pPr algn="ctr">
                <a:lnSpc>
                  <a:spcPts val="5600"/>
                </a:lnSpc>
                <a:spcBef>
                  <a:spcPct val="0"/>
                </a:spcBef>
              </a:pPr>
              <a:r>
                <a:rPr lang="en-US" sz="5000" dirty="0">
                  <a:solidFill>
                    <a:srgbClr val="FFFFFF"/>
                  </a:solidFill>
                  <a:latin typeface="Bantayog"/>
                  <a:ea typeface="Bantayog"/>
                  <a:cs typeface="Bantayog"/>
                  <a:sym typeface="Bantayog"/>
                </a:rPr>
                <a:t>GRÁFICAS DEL ERROR</a:t>
              </a:r>
            </a:p>
          </p:txBody>
        </p:sp>
      </p:grpSp>
    </p:spTree>
  </p:cSld>
  <p:clrMapOvr>
    <a:masterClrMapping/>
  </p:clrMapOvr>
  <p:transition spd="med">
    <p:wip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300947" y="2187413"/>
            <a:ext cx="16690842" cy="5320206"/>
          </a:xfrm>
          <a:custGeom>
            <a:avLst/>
            <a:gdLst/>
            <a:ahLst/>
            <a:cxnLst/>
            <a:rect l="l" t="t" r="r" b="b"/>
            <a:pathLst>
              <a:path w="16690842" h="5320206">
                <a:moveTo>
                  <a:pt x="0" y="0"/>
                </a:moveTo>
                <a:lnTo>
                  <a:pt x="16690842" y="0"/>
                </a:lnTo>
                <a:lnTo>
                  <a:pt x="16690842" y="5320206"/>
                </a:lnTo>
                <a:lnTo>
                  <a:pt x="0" y="5320206"/>
                </a:lnTo>
                <a:lnTo>
                  <a:pt x="0" y="0"/>
                </a:lnTo>
                <a:close/>
              </a:path>
            </a:pathLst>
          </a:custGeom>
          <a:blipFill>
            <a:blip r:embed="rId3"/>
            <a:stretch>
              <a:fillRect/>
            </a:stretch>
          </a:blipFill>
        </p:spPr>
        <p:txBody>
          <a:bodyPr/>
          <a:lstStyle/>
          <a:p>
            <a:endParaRPr lang="es-ES"/>
          </a:p>
        </p:txBody>
      </p:sp>
      <p:sp>
        <p:nvSpPr>
          <p:cNvPr id="15" name="TextBox 15"/>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21</a:t>
            </a:r>
          </a:p>
        </p:txBody>
      </p:sp>
      <p:sp>
        <p:nvSpPr>
          <p:cNvPr id="16" name="TextBox 16"/>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RESULTADOS</a:t>
            </a:r>
          </a:p>
        </p:txBody>
      </p:sp>
    </p:spTree>
  </p:cSld>
  <p:clrMapOvr>
    <a:masterClrMapping/>
  </p:clrMapOvr>
  <p:transition spd="med">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1028700"/>
          </a:xfrm>
          <a:prstGeom prst="rect">
            <a:avLst/>
          </a:prstGeom>
        </p:spPr>
        <p:txBody>
          <a:bodyPr lIns="0" tIns="0" rIns="0" bIns="0" rtlCol="0" anchor="t">
            <a:spAutoFit/>
          </a:bodyPr>
          <a:lstStyle/>
          <a:p>
            <a:pPr algn="ctr">
              <a:lnSpc>
                <a:spcPts val="8399"/>
              </a:lnSpc>
              <a:spcBef>
                <a:spcPct val="0"/>
              </a:spcBef>
            </a:pPr>
            <a:r>
              <a:rPr lang="en-US" sz="5999">
                <a:solidFill>
                  <a:srgbClr val="FFFFFF"/>
                </a:solidFill>
                <a:latin typeface="Bantayog"/>
                <a:ea typeface="Bantayog"/>
                <a:cs typeface="Bantayog"/>
                <a:sym typeface="Bantayog"/>
              </a:rPr>
              <a:t>48</a:t>
            </a:r>
          </a:p>
        </p:txBody>
      </p:sp>
      <p:sp>
        <p:nvSpPr>
          <p:cNvPr id="15" name="TextBox 15"/>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RESULTADOS</a:t>
            </a:r>
          </a:p>
        </p:txBody>
      </p:sp>
      <p:sp>
        <p:nvSpPr>
          <p:cNvPr id="16" name="Freeform 16"/>
          <p:cNvSpPr/>
          <p:nvPr/>
        </p:nvSpPr>
        <p:spPr>
          <a:xfrm>
            <a:off x="1181732" y="2196717"/>
            <a:ext cx="25381280" cy="8090283"/>
          </a:xfrm>
          <a:custGeom>
            <a:avLst/>
            <a:gdLst/>
            <a:ahLst/>
            <a:cxnLst/>
            <a:rect l="l" t="t" r="r" b="b"/>
            <a:pathLst>
              <a:path w="25381280" h="8090283">
                <a:moveTo>
                  <a:pt x="0" y="0"/>
                </a:moveTo>
                <a:lnTo>
                  <a:pt x="25381280" y="0"/>
                </a:lnTo>
                <a:lnTo>
                  <a:pt x="25381280" y="8090283"/>
                </a:lnTo>
                <a:lnTo>
                  <a:pt x="0" y="8090283"/>
                </a:lnTo>
                <a:lnTo>
                  <a:pt x="0" y="0"/>
                </a:lnTo>
                <a:close/>
              </a:path>
            </a:pathLst>
          </a:custGeom>
          <a:blipFill>
            <a:blip r:embed="rId3"/>
            <a:stretch>
              <a:fillRect/>
            </a:stretch>
          </a:blipFill>
        </p:spPr>
        <p:txBody>
          <a:bodyPr/>
          <a:lstStyle/>
          <a:p>
            <a:endParaRPr lang="es-E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1028700"/>
          </a:xfrm>
          <a:prstGeom prst="rect">
            <a:avLst/>
          </a:prstGeom>
        </p:spPr>
        <p:txBody>
          <a:bodyPr lIns="0" tIns="0" rIns="0" bIns="0" rtlCol="0" anchor="t">
            <a:spAutoFit/>
          </a:bodyPr>
          <a:lstStyle/>
          <a:p>
            <a:pPr algn="ctr">
              <a:lnSpc>
                <a:spcPts val="8399"/>
              </a:lnSpc>
              <a:spcBef>
                <a:spcPct val="0"/>
              </a:spcBef>
            </a:pPr>
            <a:r>
              <a:rPr lang="en-US" sz="5999">
                <a:solidFill>
                  <a:srgbClr val="FFFFFF"/>
                </a:solidFill>
                <a:latin typeface="Bantayog"/>
                <a:ea typeface="Bantayog"/>
                <a:cs typeface="Bantayog"/>
                <a:sym typeface="Bantayog"/>
              </a:rPr>
              <a:t>48</a:t>
            </a:r>
          </a:p>
        </p:txBody>
      </p:sp>
      <p:sp>
        <p:nvSpPr>
          <p:cNvPr id="15" name="TextBox 15"/>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RESULTADOS</a:t>
            </a:r>
          </a:p>
        </p:txBody>
      </p:sp>
      <p:sp>
        <p:nvSpPr>
          <p:cNvPr id="16" name="Freeform 16"/>
          <p:cNvSpPr/>
          <p:nvPr/>
        </p:nvSpPr>
        <p:spPr>
          <a:xfrm>
            <a:off x="-5724906" y="2196717"/>
            <a:ext cx="25381280" cy="8090283"/>
          </a:xfrm>
          <a:custGeom>
            <a:avLst/>
            <a:gdLst/>
            <a:ahLst/>
            <a:cxnLst/>
            <a:rect l="l" t="t" r="r" b="b"/>
            <a:pathLst>
              <a:path w="25381280" h="8090283">
                <a:moveTo>
                  <a:pt x="0" y="0"/>
                </a:moveTo>
                <a:lnTo>
                  <a:pt x="25381280" y="0"/>
                </a:lnTo>
                <a:lnTo>
                  <a:pt x="25381280" y="8090283"/>
                </a:lnTo>
                <a:lnTo>
                  <a:pt x="0" y="8090283"/>
                </a:lnTo>
                <a:lnTo>
                  <a:pt x="0" y="0"/>
                </a:lnTo>
                <a:close/>
              </a:path>
            </a:pathLst>
          </a:custGeom>
          <a:blipFill>
            <a:blip r:embed="rId3"/>
            <a:stretch>
              <a:fillRect/>
            </a:stretch>
          </a:blipFill>
        </p:spPr>
        <p:txBody>
          <a:bodyPr/>
          <a:lstStyle/>
          <a:p>
            <a:endParaRPr lang="es-E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21</a:t>
            </a:r>
          </a:p>
        </p:txBody>
      </p:sp>
      <p:sp>
        <p:nvSpPr>
          <p:cNvPr id="15" name="TextBox 15"/>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RESULTADOS</a:t>
            </a:r>
          </a:p>
        </p:txBody>
      </p:sp>
      <p:sp>
        <p:nvSpPr>
          <p:cNvPr id="16" name="Freeform 16"/>
          <p:cNvSpPr/>
          <p:nvPr/>
        </p:nvSpPr>
        <p:spPr>
          <a:xfrm>
            <a:off x="-11512864" y="2196717"/>
            <a:ext cx="25381280" cy="8090283"/>
          </a:xfrm>
          <a:custGeom>
            <a:avLst/>
            <a:gdLst/>
            <a:ahLst/>
            <a:cxnLst/>
            <a:rect l="l" t="t" r="r" b="b"/>
            <a:pathLst>
              <a:path w="25381280" h="8090283">
                <a:moveTo>
                  <a:pt x="0" y="0"/>
                </a:moveTo>
                <a:lnTo>
                  <a:pt x="25381280" y="0"/>
                </a:lnTo>
                <a:lnTo>
                  <a:pt x="25381280" y="8090283"/>
                </a:lnTo>
                <a:lnTo>
                  <a:pt x="0" y="8090283"/>
                </a:lnTo>
                <a:lnTo>
                  <a:pt x="0" y="0"/>
                </a:lnTo>
                <a:close/>
              </a:path>
            </a:pathLst>
          </a:custGeom>
          <a:blipFill>
            <a:blip r:embed="rId3"/>
            <a:stretch>
              <a:fillRect/>
            </a:stretch>
          </a:blipFill>
        </p:spPr>
        <p:txBody>
          <a:bodyPr/>
          <a:lstStyle/>
          <a:p>
            <a:endParaRPr lang="es-E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6700296" y="2183043"/>
            <a:ext cx="4887408" cy="7651520"/>
          </a:xfrm>
          <a:custGeom>
            <a:avLst/>
            <a:gdLst/>
            <a:ahLst/>
            <a:cxnLst/>
            <a:rect l="l" t="t" r="r" b="b"/>
            <a:pathLst>
              <a:path w="4887408" h="7651520">
                <a:moveTo>
                  <a:pt x="0" y="0"/>
                </a:moveTo>
                <a:lnTo>
                  <a:pt x="4887408" y="0"/>
                </a:lnTo>
                <a:lnTo>
                  <a:pt x="4887408" y="7651519"/>
                </a:lnTo>
                <a:lnTo>
                  <a:pt x="0" y="7651519"/>
                </a:lnTo>
                <a:lnTo>
                  <a:pt x="0" y="0"/>
                </a:lnTo>
                <a:close/>
              </a:path>
            </a:pathLst>
          </a:custGeom>
          <a:blipFill>
            <a:blip r:embed="rId3"/>
            <a:stretch>
              <a:fillRect/>
            </a:stretch>
          </a:blipFill>
        </p:spPr>
        <p:txBody>
          <a:bodyPr/>
          <a:lstStyle/>
          <a:p>
            <a:endParaRPr lang="es-ES"/>
          </a:p>
        </p:txBody>
      </p:sp>
      <p:sp>
        <p:nvSpPr>
          <p:cNvPr id="15" name="TextBox 15"/>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22</a:t>
            </a:r>
          </a:p>
        </p:txBody>
      </p:sp>
      <p:sp>
        <p:nvSpPr>
          <p:cNvPr id="16" name="TextBox 16"/>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RESULTADOS</a:t>
            </a:r>
          </a:p>
        </p:txBody>
      </p:sp>
    </p:spTree>
  </p:cSld>
  <p:clrMapOvr>
    <a:masterClrMapping/>
  </p:clrMapOvr>
  <p:transition spd="med">
    <p:wip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22</a:t>
            </a:r>
          </a:p>
        </p:txBody>
      </p:sp>
      <p:sp>
        <p:nvSpPr>
          <p:cNvPr id="15" name="TextBox 15"/>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RESULTADOS</a:t>
            </a:r>
          </a:p>
        </p:txBody>
      </p:sp>
      <p:sp>
        <p:nvSpPr>
          <p:cNvPr id="16" name="Freeform 16"/>
          <p:cNvSpPr/>
          <p:nvPr/>
        </p:nvSpPr>
        <p:spPr>
          <a:xfrm>
            <a:off x="1572485" y="2249647"/>
            <a:ext cx="15143031" cy="23707289"/>
          </a:xfrm>
          <a:custGeom>
            <a:avLst/>
            <a:gdLst/>
            <a:ahLst/>
            <a:cxnLst/>
            <a:rect l="l" t="t" r="r" b="b"/>
            <a:pathLst>
              <a:path w="15143031" h="23707289">
                <a:moveTo>
                  <a:pt x="0" y="0"/>
                </a:moveTo>
                <a:lnTo>
                  <a:pt x="15143030" y="0"/>
                </a:lnTo>
                <a:lnTo>
                  <a:pt x="15143030" y="23707289"/>
                </a:lnTo>
                <a:lnTo>
                  <a:pt x="0" y="23707289"/>
                </a:lnTo>
                <a:lnTo>
                  <a:pt x="0" y="0"/>
                </a:lnTo>
                <a:close/>
              </a:path>
            </a:pathLst>
          </a:custGeom>
          <a:blipFill>
            <a:blip r:embed="rId3"/>
            <a:stretch>
              <a:fillRect/>
            </a:stretch>
          </a:blipFill>
        </p:spPr>
        <p:txBody>
          <a:bodyPr/>
          <a:lstStyle/>
          <a:p>
            <a:endParaRPr lang="es-E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22</a:t>
            </a:r>
          </a:p>
        </p:txBody>
      </p:sp>
      <p:sp>
        <p:nvSpPr>
          <p:cNvPr id="15" name="TextBox 15"/>
          <p:cNvSpPr txBox="1"/>
          <p:nvPr/>
        </p:nvSpPr>
        <p:spPr>
          <a:xfrm>
            <a:off x="2470647" y="494348"/>
            <a:ext cx="13346707" cy="1543050"/>
          </a:xfrm>
          <a:prstGeom prst="rect">
            <a:avLst/>
          </a:prstGeom>
        </p:spPr>
        <p:txBody>
          <a:bodyPr lIns="0" tIns="0" rIns="0" bIns="0" rtlCol="0" anchor="t">
            <a:spAutoFit/>
          </a:bodyPr>
          <a:lstStyle/>
          <a:p>
            <a:pPr algn="ctr">
              <a:lnSpc>
                <a:spcPts val="12599"/>
              </a:lnSpc>
              <a:spcBef>
                <a:spcPct val="0"/>
              </a:spcBef>
            </a:pPr>
            <a:r>
              <a:rPr lang="en-US" sz="9000">
                <a:solidFill>
                  <a:srgbClr val="203660"/>
                </a:solidFill>
                <a:latin typeface="Bantayog"/>
                <a:ea typeface="Bantayog"/>
                <a:cs typeface="Bantayog"/>
                <a:sym typeface="Bantayog"/>
              </a:rPr>
              <a:t>RESULTADOS AVANZADOS</a:t>
            </a:r>
          </a:p>
        </p:txBody>
      </p:sp>
      <p:sp>
        <p:nvSpPr>
          <p:cNvPr id="16" name="Freeform 16"/>
          <p:cNvSpPr/>
          <p:nvPr/>
        </p:nvSpPr>
        <p:spPr>
          <a:xfrm>
            <a:off x="1572485" y="-4316523"/>
            <a:ext cx="15143031" cy="23707289"/>
          </a:xfrm>
          <a:custGeom>
            <a:avLst/>
            <a:gdLst/>
            <a:ahLst/>
            <a:cxnLst/>
            <a:rect l="l" t="t" r="r" b="b"/>
            <a:pathLst>
              <a:path w="15143031" h="23707289">
                <a:moveTo>
                  <a:pt x="0" y="0"/>
                </a:moveTo>
                <a:lnTo>
                  <a:pt x="15143030" y="0"/>
                </a:lnTo>
                <a:lnTo>
                  <a:pt x="15143030" y="23707288"/>
                </a:lnTo>
                <a:lnTo>
                  <a:pt x="0" y="23707288"/>
                </a:lnTo>
                <a:lnTo>
                  <a:pt x="0" y="0"/>
                </a:lnTo>
                <a:close/>
              </a:path>
            </a:pathLst>
          </a:custGeom>
          <a:blipFill>
            <a:blip r:embed="rId3"/>
            <a:stretch>
              <a:fillRect/>
            </a:stretch>
          </a:blipFill>
        </p:spPr>
        <p:txBody>
          <a:bodyPr/>
          <a:lstStyle/>
          <a:p>
            <a:endParaRPr lang="es-E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2470647" y="494348"/>
            <a:ext cx="13346707" cy="1543050"/>
          </a:xfrm>
          <a:prstGeom prst="rect">
            <a:avLst/>
          </a:prstGeom>
        </p:spPr>
        <p:txBody>
          <a:bodyPr lIns="0" tIns="0" rIns="0" bIns="0" rtlCol="0" anchor="t">
            <a:spAutoFit/>
          </a:bodyPr>
          <a:lstStyle/>
          <a:p>
            <a:pPr algn="ctr">
              <a:lnSpc>
                <a:spcPts val="12599"/>
              </a:lnSpc>
              <a:spcBef>
                <a:spcPct val="0"/>
              </a:spcBef>
            </a:pPr>
            <a:r>
              <a:rPr lang="en-US" sz="9000">
                <a:solidFill>
                  <a:srgbClr val="203660"/>
                </a:solidFill>
                <a:latin typeface="Bantayog"/>
                <a:ea typeface="Bantayog"/>
                <a:cs typeface="Bantayog"/>
                <a:sym typeface="Bantayog"/>
              </a:rPr>
              <a:t>RESULTADOS AVANZADOS</a:t>
            </a:r>
          </a:p>
        </p:txBody>
      </p:sp>
      <p:sp>
        <p:nvSpPr>
          <p:cNvPr id="15" name="Freeform 15"/>
          <p:cNvSpPr/>
          <p:nvPr/>
        </p:nvSpPr>
        <p:spPr>
          <a:xfrm>
            <a:off x="1572485" y="-13420289"/>
            <a:ext cx="15143031" cy="23707289"/>
          </a:xfrm>
          <a:custGeom>
            <a:avLst/>
            <a:gdLst/>
            <a:ahLst/>
            <a:cxnLst/>
            <a:rect l="l" t="t" r="r" b="b"/>
            <a:pathLst>
              <a:path w="15143031" h="23707289">
                <a:moveTo>
                  <a:pt x="0" y="0"/>
                </a:moveTo>
                <a:lnTo>
                  <a:pt x="15143030" y="0"/>
                </a:lnTo>
                <a:lnTo>
                  <a:pt x="15143030" y="23707289"/>
                </a:lnTo>
                <a:lnTo>
                  <a:pt x="0" y="23707289"/>
                </a:lnTo>
                <a:lnTo>
                  <a:pt x="0" y="0"/>
                </a:lnTo>
                <a:close/>
              </a:path>
            </a:pathLst>
          </a:custGeom>
          <a:blipFill>
            <a:blip r:embed="rId3"/>
            <a:stretch>
              <a:fillRect/>
            </a:stretch>
          </a:blipFill>
        </p:spPr>
        <p:txBody>
          <a:bodyPr/>
          <a:lstStyle/>
          <a:p>
            <a:endParaRPr lang="es-ES"/>
          </a:p>
        </p:txBody>
      </p:sp>
      <p:sp>
        <p:nvSpPr>
          <p:cNvPr id="16" name="TextBox 16"/>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22</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6700296" y="2183043"/>
            <a:ext cx="4887408" cy="7651520"/>
          </a:xfrm>
          <a:custGeom>
            <a:avLst/>
            <a:gdLst/>
            <a:ahLst/>
            <a:cxnLst/>
            <a:rect l="l" t="t" r="r" b="b"/>
            <a:pathLst>
              <a:path w="4887408" h="7651520">
                <a:moveTo>
                  <a:pt x="0" y="0"/>
                </a:moveTo>
                <a:lnTo>
                  <a:pt x="4887408" y="0"/>
                </a:lnTo>
                <a:lnTo>
                  <a:pt x="4887408" y="7651519"/>
                </a:lnTo>
                <a:lnTo>
                  <a:pt x="0" y="7651519"/>
                </a:lnTo>
                <a:lnTo>
                  <a:pt x="0" y="0"/>
                </a:lnTo>
                <a:close/>
              </a:path>
            </a:pathLst>
          </a:custGeom>
          <a:blipFill>
            <a:blip r:embed="rId3"/>
            <a:stretch>
              <a:fillRect/>
            </a:stretch>
          </a:blipFill>
        </p:spPr>
        <p:txBody>
          <a:bodyPr/>
          <a:lstStyle/>
          <a:p>
            <a:endParaRPr lang="es-ES"/>
          </a:p>
        </p:txBody>
      </p:sp>
      <p:sp>
        <p:nvSpPr>
          <p:cNvPr id="15" name="TextBox 15"/>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23</a:t>
            </a:r>
          </a:p>
        </p:txBody>
      </p:sp>
      <p:sp>
        <p:nvSpPr>
          <p:cNvPr id="16" name="TextBox 16"/>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RESULTADOS</a:t>
            </a:r>
          </a:p>
        </p:txBody>
      </p:sp>
    </p:spTree>
  </p:cSld>
  <p:clrMapOvr>
    <a:masterClrMapping/>
  </p:clrMapOvr>
  <p:transition spd="med">
    <p:wip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23</a:t>
            </a:r>
          </a:p>
        </p:txBody>
      </p:sp>
      <p:sp>
        <p:nvSpPr>
          <p:cNvPr id="15" name="TextBox 15"/>
          <p:cNvSpPr txBox="1"/>
          <p:nvPr/>
        </p:nvSpPr>
        <p:spPr>
          <a:xfrm>
            <a:off x="2470647" y="494348"/>
            <a:ext cx="13346707" cy="1479700"/>
          </a:xfrm>
          <a:prstGeom prst="rect">
            <a:avLst/>
          </a:prstGeom>
        </p:spPr>
        <p:txBody>
          <a:bodyPr lIns="0" tIns="0" rIns="0" bIns="0" rtlCol="0" anchor="t">
            <a:spAutoFit/>
          </a:bodyPr>
          <a:lstStyle/>
          <a:p>
            <a:pPr algn="ctr">
              <a:lnSpc>
                <a:spcPts val="12599"/>
              </a:lnSpc>
              <a:spcBef>
                <a:spcPct val="0"/>
              </a:spcBef>
            </a:pPr>
            <a:r>
              <a:rPr lang="en-US" sz="9000" dirty="0">
                <a:solidFill>
                  <a:srgbClr val="203660"/>
                </a:solidFill>
                <a:latin typeface="Bantayog"/>
                <a:ea typeface="Bantayog"/>
                <a:cs typeface="Bantayog"/>
                <a:sym typeface="Bantayog"/>
              </a:rPr>
              <a:t>RESULTADOS</a:t>
            </a:r>
          </a:p>
        </p:txBody>
      </p:sp>
      <p:sp>
        <p:nvSpPr>
          <p:cNvPr id="16" name="Freeform 16"/>
          <p:cNvSpPr/>
          <p:nvPr/>
        </p:nvSpPr>
        <p:spPr>
          <a:xfrm>
            <a:off x="1572485" y="2454175"/>
            <a:ext cx="15143031" cy="23707289"/>
          </a:xfrm>
          <a:custGeom>
            <a:avLst/>
            <a:gdLst/>
            <a:ahLst/>
            <a:cxnLst/>
            <a:rect l="l" t="t" r="r" b="b"/>
            <a:pathLst>
              <a:path w="15143031" h="23707289">
                <a:moveTo>
                  <a:pt x="0" y="0"/>
                </a:moveTo>
                <a:lnTo>
                  <a:pt x="15143030" y="0"/>
                </a:lnTo>
                <a:lnTo>
                  <a:pt x="15143030" y="23707289"/>
                </a:lnTo>
                <a:lnTo>
                  <a:pt x="0" y="23707289"/>
                </a:lnTo>
                <a:lnTo>
                  <a:pt x="0" y="0"/>
                </a:lnTo>
                <a:close/>
              </a:path>
            </a:pathLst>
          </a:custGeom>
          <a:blipFill>
            <a:blip r:embed="rId3"/>
            <a:stretch>
              <a:fillRect/>
            </a:stretch>
          </a:blipFill>
        </p:spPr>
        <p:txBody>
          <a:bodyPr/>
          <a:lstStyle/>
          <a:p>
            <a:endParaRPr lang="es-E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23</a:t>
            </a:r>
          </a:p>
        </p:txBody>
      </p:sp>
      <p:sp>
        <p:nvSpPr>
          <p:cNvPr id="15" name="TextBox 15"/>
          <p:cNvSpPr txBox="1"/>
          <p:nvPr/>
        </p:nvSpPr>
        <p:spPr>
          <a:xfrm>
            <a:off x="2470647" y="494348"/>
            <a:ext cx="13346707" cy="1543050"/>
          </a:xfrm>
          <a:prstGeom prst="rect">
            <a:avLst/>
          </a:prstGeom>
        </p:spPr>
        <p:txBody>
          <a:bodyPr lIns="0" tIns="0" rIns="0" bIns="0" rtlCol="0" anchor="t">
            <a:spAutoFit/>
          </a:bodyPr>
          <a:lstStyle/>
          <a:p>
            <a:pPr algn="ctr">
              <a:lnSpc>
                <a:spcPts val="12599"/>
              </a:lnSpc>
              <a:spcBef>
                <a:spcPct val="0"/>
              </a:spcBef>
            </a:pPr>
            <a:r>
              <a:rPr lang="en-US" sz="9000">
                <a:solidFill>
                  <a:srgbClr val="203660"/>
                </a:solidFill>
                <a:latin typeface="Bantayog"/>
                <a:ea typeface="Bantayog"/>
                <a:cs typeface="Bantayog"/>
                <a:sym typeface="Bantayog"/>
              </a:rPr>
              <a:t>RESULTADOS AVANZADOS</a:t>
            </a:r>
          </a:p>
        </p:txBody>
      </p:sp>
      <p:sp>
        <p:nvSpPr>
          <p:cNvPr id="16" name="Freeform 16"/>
          <p:cNvSpPr/>
          <p:nvPr/>
        </p:nvSpPr>
        <p:spPr>
          <a:xfrm>
            <a:off x="1572485" y="-4306548"/>
            <a:ext cx="15143031" cy="23707289"/>
          </a:xfrm>
          <a:custGeom>
            <a:avLst/>
            <a:gdLst/>
            <a:ahLst/>
            <a:cxnLst/>
            <a:rect l="l" t="t" r="r" b="b"/>
            <a:pathLst>
              <a:path w="15143031" h="23707289">
                <a:moveTo>
                  <a:pt x="0" y="0"/>
                </a:moveTo>
                <a:lnTo>
                  <a:pt x="15143030" y="0"/>
                </a:lnTo>
                <a:lnTo>
                  <a:pt x="15143030" y="23707288"/>
                </a:lnTo>
                <a:lnTo>
                  <a:pt x="0" y="23707288"/>
                </a:lnTo>
                <a:lnTo>
                  <a:pt x="0" y="0"/>
                </a:lnTo>
                <a:close/>
              </a:path>
            </a:pathLst>
          </a:custGeom>
          <a:blipFill>
            <a:blip r:embed="rId3"/>
            <a:stretch>
              <a:fillRect/>
            </a:stretch>
          </a:blipFill>
        </p:spPr>
        <p:txBody>
          <a:bodyPr/>
          <a:lstStyle/>
          <a:p>
            <a:endParaRPr lang="es-E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23</a:t>
            </a:r>
          </a:p>
        </p:txBody>
      </p:sp>
      <p:sp>
        <p:nvSpPr>
          <p:cNvPr id="15" name="TextBox 15"/>
          <p:cNvSpPr txBox="1"/>
          <p:nvPr/>
        </p:nvSpPr>
        <p:spPr>
          <a:xfrm>
            <a:off x="2470647" y="494348"/>
            <a:ext cx="13346707" cy="1543050"/>
          </a:xfrm>
          <a:prstGeom prst="rect">
            <a:avLst/>
          </a:prstGeom>
        </p:spPr>
        <p:txBody>
          <a:bodyPr lIns="0" tIns="0" rIns="0" bIns="0" rtlCol="0" anchor="t">
            <a:spAutoFit/>
          </a:bodyPr>
          <a:lstStyle/>
          <a:p>
            <a:pPr algn="ctr">
              <a:lnSpc>
                <a:spcPts val="12599"/>
              </a:lnSpc>
              <a:spcBef>
                <a:spcPct val="0"/>
              </a:spcBef>
            </a:pPr>
            <a:r>
              <a:rPr lang="en-US" sz="9000">
                <a:solidFill>
                  <a:srgbClr val="203660"/>
                </a:solidFill>
                <a:latin typeface="Bantayog"/>
                <a:ea typeface="Bantayog"/>
                <a:cs typeface="Bantayog"/>
                <a:sym typeface="Bantayog"/>
              </a:rPr>
              <a:t>RESULTADOS AVANZADOS</a:t>
            </a:r>
          </a:p>
        </p:txBody>
      </p:sp>
      <p:sp>
        <p:nvSpPr>
          <p:cNvPr id="16" name="Freeform 16"/>
          <p:cNvSpPr/>
          <p:nvPr/>
        </p:nvSpPr>
        <p:spPr>
          <a:xfrm>
            <a:off x="1572485" y="-13420289"/>
            <a:ext cx="15143031" cy="23707289"/>
          </a:xfrm>
          <a:custGeom>
            <a:avLst/>
            <a:gdLst/>
            <a:ahLst/>
            <a:cxnLst/>
            <a:rect l="l" t="t" r="r" b="b"/>
            <a:pathLst>
              <a:path w="15143031" h="23707289">
                <a:moveTo>
                  <a:pt x="0" y="0"/>
                </a:moveTo>
                <a:lnTo>
                  <a:pt x="15143030" y="0"/>
                </a:lnTo>
                <a:lnTo>
                  <a:pt x="15143030" y="23707289"/>
                </a:lnTo>
                <a:lnTo>
                  <a:pt x="0" y="23707289"/>
                </a:lnTo>
                <a:lnTo>
                  <a:pt x="0" y="0"/>
                </a:lnTo>
                <a:close/>
              </a:path>
            </a:pathLst>
          </a:custGeom>
          <a:blipFill>
            <a:blip r:embed="rId3"/>
            <a:stretch>
              <a:fillRect/>
            </a:stretch>
          </a:blipFill>
        </p:spPr>
        <p:txBody>
          <a:bodyPr/>
          <a:lstStyle/>
          <a:p>
            <a:endParaRPr lang="es-E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24</a:t>
            </a:r>
          </a:p>
        </p:txBody>
      </p:sp>
      <p:sp>
        <p:nvSpPr>
          <p:cNvPr id="15" name="TextBox 15"/>
          <p:cNvSpPr txBox="1"/>
          <p:nvPr/>
        </p:nvSpPr>
        <p:spPr>
          <a:xfrm>
            <a:off x="2470647" y="494348"/>
            <a:ext cx="13346707" cy="1543050"/>
          </a:xfrm>
          <a:prstGeom prst="rect">
            <a:avLst/>
          </a:prstGeom>
        </p:spPr>
        <p:txBody>
          <a:bodyPr lIns="0" tIns="0" rIns="0" bIns="0" rtlCol="0" anchor="t">
            <a:spAutoFit/>
          </a:bodyPr>
          <a:lstStyle/>
          <a:p>
            <a:pPr algn="ctr">
              <a:lnSpc>
                <a:spcPts val="12599"/>
              </a:lnSpc>
              <a:spcBef>
                <a:spcPct val="0"/>
              </a:spcBef>
            </a:pPr>
            <a:r>
              <a:rPr lang="en-US" sz="9000">
                <a:solidFill>
                  <a:srgbClr val="203660"/>
                </a:solidFill>
                <a:latin typeface="Bantayog"/>
                <a:ea typeface="Bantayog"/>
                <a:cs typeface="Bantayog"/>
                <a:sym typeface="Bantayog"/>
              </a:rPr>
              <a:t>RESULTADOS FINALES</a:t>
            </a:r>
          </a:p>
        </p:txBody>
      </p:sp>
      <p:sp>
        <p:nvSpPr>
          <p:cNvPr id="16" name="TextBox 16"/>
          <p:cNvSpPr txBox="1"/>
          <p:nvPr/>
        </p:nvSpPr>
        <p:spPr>
          <a:xfrm>
            <a:off x="6030047" y="2061334"/>
            <a:ext cx="6227907" cy="946150"/>
          </a:xfrm>
          <a:prstGeom prst="rect">
            <a:avLst/>
          </a:prstGeom>
        </p:spPr>
        <p:txBody>
          <a:bodyPr lIns="0" tIns="0" rIns="0" bIns="0" rtlCol="0" anchor="t">
            <a:spAutoFit/>
          </a:bodyPr>
          <a:lstStyle/>
          <a:p>
            <a:pPr algn="ctr">
              <a:lnSpc>
                <a:spcPts val="7699"/>
              </a:lnSpc>
              <a:spcBef>
                <a:spcPct val="0"/>
              </a:spcBef>
            </a:pPr>
            <a:r>
              <a:rPr lang="en-US" sz="5499">
                <a:solidFill>
                  <a:srgbClr val="203660"/>
                </a:solidFill>
                <a:latin typeface="Bantayog"/>
                <a:ea typeface="Bantayog"/>
                <a:cs typeface="Bantayog"/>
                <a:sym typeface="Bantayog"/>
              </a:rPr>
              <a:t>MEJORES MODELOS:</a:t>
            </a:r>
          </a:p>
        </p:txBody>
      </p:sp>
      <p:grpSp>
        <p:nvGrpSpPr>
          <p:cNvPr id="17" name="Group 17"/>
          <p:cNvGrpSpPr/>
          <p:nvPr/>
        </p:nvGrpSpPr>
        <p:grpSpPr>
          <a:xfrm>
            <a:off x="1662682" y="3293234"/>
            <a:ext cx="7065221" cy="5507732"/>
            <a:chOff x="0" y="0"/>
            <a:chExt cx="9420294" cy="7343643"/>
          </a:xfrm>
        </p:grpSpPr>
        <p:sp>
          <p:nvSpPr>
            <p:cNvPr id="18" name="TextBox 18"/>
            <p:cNvSpPr txBox="1"/>
            <p:nvPr/>
          </p:nvSpPr>
          <p:spPr>
            <a:xfrm>
              <a:off x="0" y="-114300"/>
              <a:ext cx="9420294"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VARIABLES DE ESTADO</a:t>
              </a:r>
            </a:p>
          </p:txBody>
        </p:sp>
        <p:sp>
          <p:nvSpPr>
            <p:cNvPr id="19" name="Freeform 19"/>
            <p:cNvSpPr/>
            <p:nvPr/>
          </p:nvSpPr>
          <p:spPr>
            <a:xfrm>
              <a:off x="3221400" y="4366148"/>
              <a:ext cx="2977495" cy="2977495"/>
            </a:xfrm>
            <a:custGeom>
              <a:avLst/>
              <a:gdLst/>
              <a:ahLst/>
              <a:cxnLst/>
              <a:rect l="l" t="t" r="r" b="b"/>
              <a:pathLst>
                <a:path w="2977495" h="2977495">
                  <a:moveTo>
                    <a:pt x="0" y="0"/>
                  </a:moveTo>
                  <a:lnTo>
                    <a:pt x="2977495" y="0"/>
                  </a:lnTo>
                  <a:lnTo>
                    <a:pt x="2977495" y="2977495"/>
                  </a:lnTo>
                  <a:lnTo>
                    <a:pt x="0" y="2977495"/>
                  </a:lnTo>
                  <a:lnTo>
                    <a:pt x="0" y="0"/>
                  </a:lnTo>
                  <a:close/>
                </a:path>
              </a:pathLst>
            </a:custGeom>
            <a:blipFill>
              <a:blip r:embed="rId3"/>
              <a:stretch>
                <a:fillRect/>
              </a:stretch>
            </a:blipFill>
          </p:spPr>
          <p:txBody>
            <a:bodyPr/>
            <a:lstStyle/>
            <a:p>
              <a:endParaRPr lang="es-ES"/>
            </a:p>
          </p:txBody>
        </p:sp>
        <p:sp>
          <p:nvSpPr>
            <p:cNvPr id="20" name="TextBox 20"/>
            <p:cNvSpPr txBox="1"/>
            <p:nvPr/>
          </p:nvSpPr>
          <p:spPr>
            <a:xfrm>
              <a:off x="2374647" y="1642533"/>
              <a:ext cx="4671000" cy="25188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RED NEURONAL</a:t>
              </a:r>
            </a:p>
          </p:txBody>
        </p:sp>
      </p:grpSp>
      <p:grpSp>
        <p:nvGrpSpPr>
          <p:cNvPr id="21" name="Group 21"/>
          <p:cNvGrpSpPr/>
          <p:nvPr/>
        </p:nvGrpSpPr>
        <p:grpSpPr>
          <a:xfrm>
            <a:off x="9582707" y="3293234"/>
            <a:ext cx="7065221" cy="5560152"/>
            <a:chOff x="0" y="0"/>
            <a:chExt cx="9420294" cy="7413536"/>
          </a:xfrm>
        </p:grpSpPr>
        <p:sp>
          <p:nvSpPr>
            <p:cNvPr id="22" name="TextBox 22"/>
            <p:cNvSpPr txBox="1"/>
            <p:nvPr/>
          </p:nvSpPr>
          <p:spPr>
            <a:xfrm>
              <a:off x="0" y="-114300"/>
              <a:ext cx="9420294"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VARIABLE DE CONTROL</a:t>
              </a:r>
            </a:p>
          </p:txBody>
        </p:sp>
        <p:sp>
          <p:nvSpPr>
            <p:cNvPr id="23" name="TextBox 23"/>
            <p:cNvSpPr txBox="1"/>
            <p:nvPr/>
          </p:nvSpPr>
          <p:spPr>
            <a:xfrm>
              <a:off x="1753307" y="1642533"/>
              <a:ext cx="5744392" cy="25188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ESR_RANDOMFOREST</a:t>
              </a:r>
            </a:p>
          </p:txBody>
        </p:sp>
        <p:sp>
          <p:nvSpPr>
            <p:cNvPr id="24" name="Freeform 24"/>
            <p:cNvSpPr/>
            <p:nvPr/>
          </p:nvSpPr>
          <p:spPr>
            <a:xfrm>
              <a:off x="2999418" y="4161367"/>
              <a:ext cx="3252169" cy="3252169"/>
            </a:xfrm>
            <a:custGeom>
              <a:avLst/>
              <a:gdLst/>
              <a:ahLst/>
              <a:cxnLst/>
              <a:rect l="l" t="t" r="r" b="b"/>
              <a:pathLst>
                <a:path w="3252169" h="3252169">
                  <a:moveTo>
                    <a:pt x="0" y="0"/>
                  </a:moveTo>
                  <a:lnTo>
                    <a:pt x="3252170" y="0"/>
                  </a:lnTo>
                  <a:lnTo>
                    <a:pt x="3252170" y="3252169"/>
                  </a:lnTo>
                  <a:lnTo>
                    <a:pt x="0" y="3252169"/>
                  </a:lnTo>
                  <a:lnTo>
                    <a:pt x="0" y="0"/>
                  </a:lnTo>
                  <a:close/>
                </a:path>
              </a:pathLst>
            </a:custGeom>
            <a:blipFill>
              <a:blip r:embed="rId4"/>
              <a:stretch>
                <a:fillRect/>
              </a:stretch>
            </a:blipFill>
          </p:spPr>
          <p:txBody>
            <a:bodyPr/>
            <a:lstStyle/>
            <a:p>
              <a:endParaRPr lang="es-ES"/>
            </a:p>
          </p:txBody>
        </p:sp>
      </p:grpSp>
    </p:spTree>
  </p:cSld>
  <p:clrMapOvr>
    <a:masterClrMapping/>
  </p:clrMapOvr>
  <p:transition spd="med">
    <p:wip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725930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25</a:t>
            </a:r>
          </a:p>
        </p:txBody>
      </p:sp>
      <p:sp>
        <p:nvSpPr>
          <p:cNvPr id="15" name="TextBox 15"/>
          <p:cNvSpPr txBox="1"/>
          <p:nvPr/>
        </p:nvSpPr>
        <p:spPr>
          <a:xfrm>
            <a:off x="2470647" y="494348"/>
            <a:ext cx="13346707" cy="1543050"/>
          </a:xfrm>
          <a:prstGeom prst="rect">
            <a:avLst/>
          </a:prstGeom>
        </p:spPr>
        <p:txBody>
          <a:bodyPr lIns="0" tIns="0" rIns="0" bIns="0" rtlCol="0" anchor="t">
            <a:spAutoFit/>
          </a:bodyPr>
          <a:lstStyle/>
          <a:p>
            <a:pPr algn="ctr">
              <a:lnSpc>
                <a:spcPts val="12599"/>
              </a:lnSpc>
              <a:spcBef>
                <a:spcPct val="0"/>
              </a:spcBef>
            </a:pPr>
            <a:r>
              <a:rPr lang="en-US" sz="9000">
                <a:solidFill>
                  <a:srgbClr val="203660"/>
                </a:solidFill>
                <a:latin typeface="Bantayog"/>
                <a:ea typeface="Bantayog"/>
                <a:cs typeface="Bantayog"/>
                <a:sym typeface="Bantayog"/>
              </a:rPr>
              <a:t>RESULTADOS FINALES</a:t>
            </a:r>
          </a:p>
        </p:txBody>
      </p:sp>
      <p:sp>
        <p:nvSpPr>
          <p:cNvPr id="16" name="TextBox 16"/>
          <p:cNvSpPr txBox="1"/>
          <p:nvPr/>
        </p:nvSpPr>
        <p:spPr>
          <a:xfrm>
            <a:off x="6030047" y="2061334"/>
            <a:ext cx="6227907" cy="946150"/>
          </a:xfrm>
          <a:prstGeom prst="rect">
            <a:avLst/>
          </a:prstGeom>
        </p:spPr>
        <p:txBody>
          <a:bodyPr lIns="0" tIns="0" rIns="0" bIns="0" rtlCol="0" anchor="t">
            <a:spAutoFit/>
          </a:bodyPr>
          <a:lstStyle/>
          <a:p>
            <a:pPr algn="ctr">
              <a:lnSpc>
                <a:spcPts val="7699"/>
              </a:lnSpc>
              <a:spcBef>
                <a:spcPct val="0"/>
              </a:spcBef>
            </a:pPr>
            <a:r>
              <a:rPr lang="en-US" sz="5499">
                <a:solidFill>
                  <a:srgbClr val="203660"/>
                </a:solidFill>
                <a:latin typeface="Bantayog"/>
                <a:ea typeface="Bantayog"/>
                <a:cs typeface="Bantayog"/>
                <a:sym typeface="Bantayog"/>
              </a:rPr>
              <a:t>MEJOR MODELO:</a:t>
            </a:r>
          </a:p>
        </p:txBody>
      </p:sp>
      <p:grpSp>
        <p:nvGrpSpPr>
          <p:cNvPr id="17" name="Group 17"/>
          <p:cNvGrpSpPr/>
          <p:nvPr/>
        </p:nvGrpSpPr>
        <p:grpSpPr>
          <a:xfrm>
            <a:off x="831276" y="3638447"/>
            <a:ext cx="5663945" cy="3010106"/>
            <a:chOff x="0" y="0"/>
            <a:chExt cx="7551927" cy="4013475"/>
          </a:xfrm>
        </p:grpSpPr>
        <p:sp>
          <p:nvSpPr>
            <p:cNvPr id="18" name="Freeform 18"/>
            <p:cNvSpPr/>
            <p:nvPr/>
          </p:nvSpPr>
          <p:spPr>
            <a:xfrm>
              <a:off x="2454470" y="1370490"/>
              <a:ext cx="2642986" cy="2642986"/>
            </a:xfrm>
            <a:custGeom>
              <a:avLst/>
              <a:gdLst/>
              <a:ahLst/>
              <a:cxnLst/>
              <a:rect l="l" t="t" r="r" b="b"/>
              <a:pathLst>
                <a:path w="2642986" h="2642986">
                  <a:moveTo>
                    <a:pt x="0" y="0"/>
                  </a:moveTo>
                  <a:lnTo>
                    <a:pt x="2642986" y="0"/>
                  </a:lnTo>
                  <a:lnTo>
                    <a:pt x="2642986" y="2642985"/>
                  </a:lnTo>
                  <a:lnTo>
                    <a:pt x="0" y="2642985"/>
                  </a:lnTo>
                  <a:lnTo>
                    <a:pt x="0" y="0"/>
                  </a:lnTo>
                  <a:close/>
                </a:path>
              </a:pathLst>
            </a:custGeom>
            <a:blipFill>
              <a:blip r:embed="rId3"/>
              <a:stretch>
                <a:fillRect/>
              </a:stretch>
            </a:blipFill>
          </p:spPr>
          <p:txBody>
            <a:bodyPr/>
            <a:lstStyle/>
            <a:p>
              <a:endParaRPr lang="es-ES"/>
            </a:p>
          </p:txBody>
        </p:sp>
        <p:sp>
          <p:nvSpPr>
            <p:cNvPr id="19" name="TextBox 19"/>
            <p:cNvSpPr txBox="1"/>
            <p:nvPr/>
          </p:nvSpPr>
          <p:spPr>
            <a:xfrm>
              <a:off x="0" y="-114300"/>
              <a:ext cx="7551927" cy="12234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ESR_BEST_MODEL</a:t>
              </a:r>
            </a:p>
          </p:txBody>
        </p:sp>
      </p:grpSp>
      <p:sp>
        <p:nvSpPr>
          <p:cNvPr id="20" name="TextBox 20"/>
          <p:cNvSpPr txBox="1"/>
          <p:nvPr/>
        </p:nvSpPr>
        <p:spPr>
          <a:xfrm>
            <a:off x="1566559" y="7406647"/>
            <a:ext cx="6712984" cy="1891736"/>
          </a:xfrm>
          <a:prstGeom prst="rect">
            <a:avLst/>
          </a:prstGeom>
        </p:spPr>
        <p:txBody>
          <a:bodyPr wrap="square"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DESVIACIÓN MEDIA DEL 3% EN PÉRDIDAS</a:t>
            </a:r>
          </a:p>
        </p:txBody>
      </p:sp>
      <p:sp>
        <p:nvSpPr>
          <p:cNvPr id="21" name="TextBox 21"/>
          <p:cNvSpPr txBox="1"/>
          <p:nvPr/>
        </p:nvSpPr>
        <p:spPr>
          <a:xfrm>
            <a:off x="8755712" y="7373288"/>
            <a:ext cx="7061642" cy="1891736"/>
          </a:xfrm>
          <a:prstGeom prst="rect">
            <a:avLst/>
          </a:prstGeom>
        </p:spPr>
        <p:txBody>
          <a:bodyPr wrap="square"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DESVIACIÓN MEDIA DEL 0,1% EN TENSIONES</a:t>
            </a:r>
          </a:p>
        </p:txBody>
      </p:sp>
      <p:sp>
        <p:nvSpPr>
          <p:cNvPr id="22" name="TextBox 22"/>
          <p:cNvSpPr txBox="1"/>
          <p:nvPr/>
        </p:nvSpPr>
        <p:spPr>
          <a:xfrm>
            <a:off x="10820400" y="3556941"/>
            <a:ext cx="7325282" cy="2889250"/>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DESVIACIÓN ABSOLUTA MEDIA DEL 0,0067 P.U. EN POTENCIA REACTIVA</a:t>
            </a:r>
          </a:p>
        </p:txBody>
      </p:sp>
      <p:grpSp>
        <p:nvGrpSpPr>
          <p:cNvPr id="23" name="Group 23"/>
          <p:cNvGrpSpPr/>
          <p:nvPr/>
        </p:nvGrpSpPr>
        <p:grpSpPr>
          <a:xfrm>
            <a:off x="5782234" y="4841617"/>
            <a:ext cx="4457975" cy="2339595"/>
            <a:chOff x="0" y="127000"/>
            <a:chExt cx="5943967" cy="3119461"/>
          </a:xfrm>
        </p:grpSpPr>
        <p:sp>
          <p:nvSpPr>
            <p:cNvPr id="24" name="Freeform 24"/>
            <p:cNvSpPr/>
            <p:nvPr/>
          </p:nvSpPr>
          <p:spPr>
            <a:xfrm>
              <a:off x="939209" y="127000"/>
              <a:ext cx="5004758" cy="0"/>
            </a:xfrm>
            <a:custGeom>
              <a:avLst/>
              <a:gdLst/>
              <a:ahLst/>
              <a:cxnLst/>
              <a:rect l="l" t="t" r="r" b="b"/>
              <a:pathLst>
                <a:path w="5004758">
                  <a:moveTo>
                    <a:pt x="0" y="0"/>
                  </a:moveTo>
                  <a:lnTo>
                    <a:pt x="5004758" y="0"/>
                  </a:lnTo>
                </a:path>
              </a:pathLst>
            </a:custGeom>
            <a:ln w="254000" cap="flat">
              <a:solidFill>
                <a:srgbClr val="4D6BA7"/>
              </a:solidFill>
              <a:prstDash val="solid"/>
              <a:headEnd type="none" w="sm" len="sm"/>
              <a:tailEnd type="triangle" w="lg" len="med"/>
            </a:ln>
          </p:spPr>
          <p:txBody>
            <a:bodyPr/>
            <a:lstStyle/>
            <a:p>
              <a:endParaRPr lang="es-ES"/>
            </a:p>
          </p:txBody>
        </p:sp>
        <p:sp>
          <p:nvSpPr>
            <p:cNvPr id="25" name="Freeform 25"/>
            <p:cNvSpPr/>
            <p:nvPr/>
          </p:nvSpPr>
          <p:spPr>
            <a:xfrm>
              <a:off x="0" y="127000"/>
              <a:ext cx="5004758" cy="3119461"/>
            </a:xfrm>
            <a:custGeom>
              <a:avLst/>
              <a:gdLst/>
              <a:ahLst/>
              <a:cxnLst/>
              <a:rect l="l" t="t" r="r" b="b"/>
              <a:pathLst>
                <a:path w="4240543" h="3119461">
                  <a:moveTo>
                    <a:pt x="0" y="0"/>
                  </a:moveTo>
                  <a:lnTo>
                    <a:pt x="2588952" y="0"/>
                  </a:lnTo>
                  <a:cubicBezTo>
                    <a:pt x="2669790" y="0"/>
                    <a:pt x="2747317" y="32113"/>
                    <a:pt x="2804478" y="89274"/>
                  </a:cubicBezTo>
                  <a:cubicBezTo>
                    <a:pt x="2861639" y="146435"/>
                    <a:pt x="2893752" y="223962"/>
                    <a:pt x="2893752" y="304800"/>
                  </a:cubicBezTo>
                  <a:lnTo>
                    <a:pt x="2893752" y="1092186"/>
                  </a:lnTo>
                  <a:cubicBezTo>
                    <a:pt x="2893752" y="1173024"/>
                    <a:pt x="2925865" y="1250551"/>
                    <a:pt x="2983026" y="1307712"/>
                  </a:cubicBezTo>
                  <a:cubicBezTo>
                    <a:pt x="3040187" y="1364873"/>
                    <a:pt x="3117714" y="1396986"/>
                    <a:pt x="3198552" y="1396986"/>
                  </a:cubicBezTo>
                  <a:lnTo>
                    <a:pt x="3935743" y="1396986"/>
                  </a:lnTo>
                  <a:cubicBezTo>
                    <a:pt x="4016581" y="1396986"/>
                    <a:pt x="4094108" y="1429099"/>
                    <a:pt x="4151269" y="1486260"/>
                  </a:cubicBezTo>
                  <a:cubicBezTo>
                    <a:pt x="4208430" y="1543421"/>
                    <a:pt x="4240543" y="1620948"/>
                    <a:pt x="4240543" y="1701786"/>
                  </a:cubicBezTo>
                  <a:lnTo>
                    <a:pt x="4240543" y="3119461"/>
                  </a:lnTo>
                </a:path>
              </a:pathLst>
            </a:custGeom>
            <a:ln w="254000" cap="flat">
              <a:solidFill>
                <a:srgbClr val="4D6BA7"/>
              </a:solidFill>
              <a:prstDash val="solid"/>
              <a:headEnd type="none" w="sm" len="sm"/>
              <a:tailEnd type="triangle" w="lg" len="med"/>
            </a:ln>
          </p:spPr>
          <p:txBody>
            <a:bodyPr/>
            <a:lstStyle/>
            <a:p>
              <a:endParaRPr lang="es-ES"/>
            </a:p>
          </p:txBody>
        </p:sp>
        <p:sp>
          <p:nvSpPr>
            <p:cNvPr id="26" name="Freeform 26"/>
            <p:cNvSpPr/>
            <p:nvPr/>
          </p:nvSpPr>
          <p:spPr>
            <a:xfrm>
              <a:off x="0" y="127000"/>
              <a:ext cx="1098353" cy="3119461"/>
            </a:xfrm>
            <a:custGeom>
              <a:avLst/>
              <a:gdLst/>
              <a:ahLst/>
              <a:cxnLst/>
              <a:rect l="l" t="t" r="r" b="b"/>
              <a:pathLst>
                <a:path w="1098353" h="3119461">
                  <a:moveTo>
                    <a:pt x="0" y="0"/>
                  </a:moveTo>
                  <a:lnTo>
                    <a:pt x="793553" y="0"/>
                  </a:lnTo>
                  <a:cubicBezTo>
                    <a:pt x="961889" y="0"/>
                    <a:pt x="1098353" y="136464"/>
                    <a:pt x="1098353" y="304800"/>
                  </a:cubicBezTo>
                  <a:lnTo>
                    <a:pt x="1098353" y="3119461"/>
                  </a:lnTo>
                </a:path>
              </a:pathLst>
            </a:custGeom>
            <a:ln w="254000" cap="flat">
              <a:solidFill>
                <a:srgbClr val="4D6BA7"/>
              </a:solidFill>
              <a:prstDash val="solid"/>
              <a:headEnd type="none" w="sm" len="sm"/>
              <a:tailEnd type="triangle" w="lg" len="med"/>
            </a:ln>
          </p:spPr>
          <p:txBody>
            <a:bodyPr/>
            <a:lstStyle/>
            <a:p>
              <a:endParaRPr lang="es-ES"/>
            </a:p>
          </p:txBody>
        </p:sp>
      </p:grpSp>
    </p:spTree>
  </p:cSld>
  <p:clrMapOvr>
    <a:masterClrMapping/>
  </p:clrMapOvr>
  <p:transition spd="med">
    <p:wip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DBE7FF"/>
        </a:solidFill>
        <a:effectLst/>
      </p:bgPr>
    </p:bg>
    <p:spTree>
      <p:nvGrpSpPr>
        <p:cNvPr id="1" name=""/>
        <p:cNvGrpSpPr/>
        <p:nvPr/>
      </p:nvGrpSpPr>
      <p:grpSpPr>
        <a:xfrm>
          <a:off x="0" y="0"/>
          <a:ext cx="0" cy="0"/>
          <a:chOff x="0" y="0"/>
          <a:chExt cx="0" cy="0"/>
        </a:xfrm>
      </p:grpSpPr>
      <p:grpSp>
        <p:nvGrpSpPr>
          <p:cNvPr id="2" name="Group 2"/>
          <p:cNvGrpSpPr/>
          <p:nvPr/>
        </p:nvGrpSpPr>
        <p:grpSpPr>
          <a:xfrm rot="-2570167">
            <a:off x="-1135601" y="-3063714"/>
            <a:ext cx="5983240" cy="3369636"/>
            <a:chOff x="0" y="0"/>
            <a:chExt cx="744168" cy="419100"/>
          </a:xfrm>
        </p:grpSpPr>
        <p:sp>
          <p:nvSpPr>
            <p:cNvPr id="3" name="Freeform 3"/>
            <p:cNvSpPr/>
            <p:nvPr/>
          </p:nvSpPr>
          <p:spPr>
            <a:xfrm>
              <a:off x="0" y="0"/>
              <a:ext cx="744168" cy="419100"/>
            </a:xfrm>
            <a:custGeom>
              <a:avLst/>
              <a:gdLst/>
              <a:ahLst/>
              <a:cxnLst/>
              <a:rect l="l" t="t" r="r" b="b"/>
              <a:pathLst>
                <a:path w="744168" h="419100">
                  <a:moveTo>
                    <a:pt x="50544" y="0"/>
                  </a:moveTo>
                  <a:lnTo>
                    <a:pt x="693624" y="0"/>
                  </a:lnTo>
                  <a:cubicBezTo>
                    <a:pt x="721539" y="0"/>
                    <a:pt x="744168" y="22629"/>
                    <a:pt x="744168" y="50544"/>
                  </a:cubicBezTo>
                  <a:lnTo>
                    <a:pt x="744168" y="368556"/>
                  </a:lnTo>
                  <a:cubicBezTo>
                    <a:pt x="744168" y="381961"/>
                    <a:pt x="738843" y="394817"/>
                    <a:pt x="729364" y="404296"/>
                  </a:cubicBezTo>
                  <a:cubicBezTo>
                    <a:pt x="719885" y="413775"/>
                    <a:pt x="707029" y="419100"/>
                    <a:pt x="693624" y="419100"/>
                  </a:cubicBezTo>
                  <a:lnTo>
                    <a:pt x="50544" y="419100"/>
                  </a:lnTo>
                  <a:cubicBezTo>
                    <a:pt x="37139" y="419100"/>
                    <a:pt x="24283" y="413775"/>
                    <a:pt x="14804" y="404296"/>
                  </a:cubicBezTo>
                  <a:cubicBezTo>
                    <a:pt x="5325" y="394817"/>
                    <a:pt x="0" y="381961"/>
                    <a:pt x="0" y="368556"/>
                  </a:cubicBezTo>
                  <a:lnTo>
                    <a:pt x="0" y="50544"/>
                  </a:lnTo>
                  <a:cubicBezTo>
                    <a:pt x="0" y="37139"/>
                    <a:pt x="5325" y="24283"/>
                    <a:pt x="14804" y="14804"/>
                  </a:cubicBezTo>
                  <a:cubicBezTo>
                    <a:pt x="24283" y="5325"/>
                    <a:pt x="37139" y="0"/>
                    <a:pt x="50544" y="0"/>
                  </a:cubicBezTo>
                  <a:close/>
                </a:path>
              </a:pathLst>
            </a:custGeom>
            <a:solidFill>
              <a:srgbClr val="4D6BA7"/>
            </a:solidFill>
          </p:spPr>
          <p:txBody>
            <a:bodyPr/>
            <a:lstStyle/>
            <a:p>
              <a:endParaRPr lang="es-ES"/>
            </a:p>
          </p:txBody>
        </p:sp>
        <p:sp>
          <p:nvSpPr>
            <p:cNvPr id="4" name="TextBox 4"/>
            <p:cNvSpPr txBox="1"/>
            <p:nvPr/>
          </p:nvSpPr>
          <p:spPr>
            <a:xfrm>
              <a:off x="0" y="-38100"/>
              <a:ext cx="744168" cy="4572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2570167">
            <a:off x="-4609279" y="8628547"/>
            <a:ext cx="6252050" cy="3864704"/>
            <a:chOff x="0" y="0"/>
            <a:chExt cx="744168" cy="460007"/>
          </a:xfrm>
        </p:grpSpPr>
        <p:sp>
          <p:nvSpPr>
            <p:cNvPr id="6" name="Freeform 6"/>
            <p:cNvSpPr/>
            <p:nvPr/>
          </p:nvSpPr>
          <p:spPr>
            <a:xfrm>
              <a:off x="0" y="0"/>
              <a:ext cx="744168" cy="460007"/>
            </a:xfrm>
            <a:custGeom>
              <a:avLst/>
              <a:gdLst/>
              <a:ahLst/>
              <a:cxnLst/>
              <a:rect l="l" t="t" r="r" b="b"/>
              <a:pathLst>
                <a:path w="744168" h="460007">
                  <a:moveTo>
                    <a:pt x="48371" y="0"/>
                  </a:moveTo>
                  <a:lnTo>
                    <a:pt x="695797" y="0"/>
                  </a:lnTo>
                  <a:cubicBezTo>
                    <a:pt x="722512" y="0"/>
                    <a:pt x="744168" y="21656"/>
                    <a:pt x="744168" y="48371"/>
                  </a:cubicBezTo>
                  <a:lnTo>
                    <a:pt x="744168" y="411636"/>
                  </a:lnTo>
                  <a:cubicBezTo>
                    <a:pt x="744168" y="424465"/>
                    <a:pt x="739072" y="436768"/>
                    <a:pt x="730000" y="445840"/>
                  </a:cubicBezTo>
                  <a:cubicBezTo>
                    <a:pt x="720929" y="454911"/>
                    <a:pt x="708626" y="460007"/>
                    <a:pt x="695797" y="460007"/>
                  </a:cubicBezTo>
                  <a:lnTo>
                    <a:pt x="48371" y="460007"/>
                  </a:lnTo>
                  <a:cubicBezTo>
                    <a:pt x="35542" y="460007"/>
                    <a:pt x="23239" y="454911"/>
                    <a:pt x="14168" y="445840"/>
                  </a:cubicBezTo>
                  <a:cubicBezTo>
                    <a:pt x="5096" y="436768"/>
                    <a:pt x="0" y="424465"/>
                    <a:pt x="0" y="411636"/>
                  </a:cubicBezTo>
                  <a:lnTo>
                    <a:pt x="0" y="48371"/>
                  </a:lnTo>
                  <a:cubicBezTo>
                    <a:pt x="0" y="35542"/>
                    <a:pt x="5096" y="23239"/>
                    <a:pt x="14168" y="14168"/>
                  </a:cubicBezTo>
                  <a:cubicBezTo>
                    <a:pt x="23239" y="5096"/>
                    <a:pt x="35542" y="0"/>
                    <a:pt x="48371" y="0"/>
                  </a:cubicBezTo>
                  <a:close/>
                </a:path>
              </a:pathLst>
            </a:custGeom>
            <a:solidFill>
              <a:srgbClr val="FFFFFF"/>
            </a:solidFill>
          </p:spPr>
          <p:txBody>
            <a:bodyPr/>
            <a:lstStyle/>
            <a:p>
              <a:endParaRPr lang="es-ES"/>
            </a:p>
          </p:txBody>
        </p:sp>
        <p:sp>
          <p:nvSpPr>
            <p:cNvPr id="7" name="TextBox 7"/>
            <p:cNvSpPr txBox="1"/>
            <p:nvPr/>
          </p:nvSpPr>
          <p:spPr>
            <a:xfrm>
              <a:off x="0" y="-38100"/>
              <a:ext cx="744168" cy="49810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2570167">
            <a:off x="16189262" y="-3106762"/>
            <a:ext cx="9679118" cy="4948927"/>
            <a:chOff x="0" y="0"/>
            <a:chExt cx="836041" cy="427467"/>
          </a:xfrm>
        </p:grpSpPr>
        <p:sp>
          <p:nvSpPr>
            <p:cNvPr id="9" name="Freeform 9"/>
            <p:cNvSpPr/>
            <p:nvPr/>
          </p:nvSpPr>
          <p:spPr>
            <a:xfrm>
              <a:off x="0" y="0"/>
              <a:ext cx="836041" cy="427467"/>
            </a:xfrm>
            <a:custGeom>
              <a:avLst/>
              <a:gdLst/>
              <a:ahLst/>
              <a:cxnLst/>
              <a:rect l="l" t="t" r="r" b="b"/>
              <a:pathLst>
                <a:path w="836041" h="427467">
                  <a:moveTo>
                    <a:pt x="31244" y="0"/>
                  </a:moveTo>
                  <a:lnTo>
                    <a:pt x="804796" y="0"/>
                  </a:lnTo>
                  <a:cubicBezTo>
                    <a:pt x="813083" y="0"/>
                    <a:pt x="821030" y="3292"/>
                    <a:pt x="826889" y="9151"/>
                  </a:cubicBezTo>
                  <a:cubicBezTo>
                    <a:pt x="832749" y="15011"/>
                    <a:pt x="836041" y="22958"/>
                    <a:pt x="836041" y="31244"/>
                  </a:cubicBezTo>
                  <a:lnTo>
                    <a:pt x="836041" y="396223"/>
                  </a:lnTo>
                  <a:cubicBezTo>
                    <a:pt x="836041" y="404509"/>
                    <a:pt x="832749" y="412456"/>
                    <a:pt x="826889" y="418316"/>
                  </a:cubicBezTo>
                  <a:cubicBezTo>
                    <a:pt x="821030" y="424175"/>
                    <a:pt x="813083" y="427467"/>
                    <a:pt x="804796" y="427467"/>
                  </a:cubicBezTo>
                  <a:lnTo>
                    <a:pt x="31244" y="427467"/>
                  </a:lnTo>
                  <a:cubicBezTo>
                    <a:pt x="22958" y="427467"/>
                    <a:pt x="15011" y="424175"/>
                    <a:pt x="9151" y="418316"/>
                  </a:cubicBezTo>
                  <a:cubicBezTo>
                    <a:pt x="3292" y="412456"/>
                    <a:pt x="0" y="404509"/>
                    <a:pt x="0" y="396223"/>
                  </a:cubicBezTo>
                  <a:lnTo>
                    <a:pt x="0" y="31244"/>
                  </a:lnTo>
                  <a:cubicBezTo>
                    <a:pt x="0" y="22958"/>
                    <a:pt x="3292" y="15011"/>
                    <a:pt x="9151" y="9151"/>
                  </a:cubicBezTo>
                  <a:cubicBezTo>
                    <a:pt x="15011" y="3292"/>
                    <a:pt x="22958" y="0"/>
                    <a:pt x="31244" y="0"/>
                  </a:cubicBezTo>
                  <a:close/>
                </a:path>
              </a:pathLst>
            </a:custGeom>
            <a:solidFill>
              <a:srgbClr val="FFFFFF"/>
            </a:solidFill>
          </p:spPr>
          <p:txBody>
            <a:bodyPr/>
            <a:lstStyle/>
            <a:p>
              <a:endParaRPr lang="es-ES"/>
            </a:p>
          </p:txBody>
        </p:sp>
        <p:sp>
          <p:nvSpPr>
            <p:cNvPr id="10" name="TextBox 10"/>
            <p:cNvSpPr txBox="1"/>
            <p:nvPr/>
          </p:nvSpPr>
          <p:spPr>
            <a:xfrm>
              <a:off x="0" y="-38100"/>
              <a:ext cx="836041" cy="46556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570167">
            <a:off x="12379941" y="9017924"/>
            <a:ext cx="7467555" cy="4043454"/>
            <a:chOff x="0" y="0"/>
            <a:chExt cx="928780" cy="502906"/>
          </a:xfrm>
        </p:grpSpPr>
        <p:sp>
          <p:nvSpPr>
            <p:cNvPr id="12" name="Freeform 12"/>
            <p:cNvSpPr/>
            <p:nvPr/>
          </p:nvSpPr>
          <p:spPr>
            <a:xfrm>
              <a:off x="0" y="0"/>
              <a:ext cx="928780" cy="502906"/>
            </a:xfrm>
            <a:custGeom>
              <a:avLst/>
              <a:gdLst/>
              <a:ahLst/>
              <a:cxnLst/>
              <a:rect l="l" t="t" r="r" b="b"/>
              <a:pathLst>
                <a:path w="928780" h="502906">
                  <a:moveTo>
                    <a:pt x="40498" y="0"/>
                  </a:moveTo>
                  <a:lnTo>
                    <a:pt x="888283" y="0"/>
                  </a:lnTo>
                  <a:cubicBezTo>
                    <a:pt x="910649" y="0"/>
                    <a:pt x="928780" y="18131"/>
                    <a:pt x="928780" y="40498"/>
                  </a:cubicBezTo>
                  <a:lnTo>
                    <a:pt x="928780" y="462409"/>
                  </a:lnTo>
                  <a:cubicBezTo>
                    <a:pt x="928780" y="484775"/>
                    <a:pt x="910649" y="502906"/>
                    <a:pt x="888283" y="502906"/>
                  </a:cubicBezTo>
                  <a:lnTo>
                    <a:pt x="40498" y="502906"/>
                  </a:lnTo>
                  <a:cubicBezTo>
                    <a:pt x="18131" y="502906"/>
                    <a:pt x="0" y="484775"/>
                    <a:pt x="0" y="462409"/>
                  </a:cubicBezTo>
                  <a:lnTo>
                    <a:pt x="0" y="40498"/>
                  </a:lnTo>
                  <a:cubicBezTo>
                    <a:pt x="0" y="18131"/>
                    <a:pt x="18131" y="0"/>
                    <a:pt x="40498" y="0"/>
                  </a:cubicBezTo>
                  <a:close/>
                </a:path>
              </a:pathLst>
            </a:custGeom>
            <a:solidFill>
              <a:srgbClr val="4D6BA7"/>
            </a:solidFill>
          </p:spPr>
          <p:txBody>
            <a:bodyPr/>
            <a:lstStyle/>
            <a:p>
              <a:endParaRPr lang="es-ES"/>
            </a:p>
          </p:txBody>
        </p:sp>
        <p:sp>
          <p:nvSpPr>
            <p:cNvPr id="13" name="TextBox 13"/>
            <p:cNvSpPr txBox="1"/>
            <p:nvPr/>
          </p:nvSpPr>
          <p:spPr>
            <a:xfrm>
              <a:off x="0" y="-38100"/>
              <a:ext cx="928780" cy="54100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2470647" y="494348"/>
            <a:ext cx="13346707" cy="1543050"/>
          </a:xfrm>
          <a:prstGeom prst="rect">
            <a:avLst/>
          </a:prstGeom>
        </p:spPr>
        <p:txBody>
          <a:bodyPr lIns="0" tIns="0" rIns="0" bIns="0" rtlCol="0" anchor="t">
            <a:spAutoFit/>
          </a:bodyPr>
          <a:lstStyle/>
          <a:p>
            <a:pPr algn="ctr">
              <a:lnSpc>
                <a:spcPts val="12599"/>
              </a:lnSpc>
              <a:spcBef>
                <a:spcPct val="0"/>
              </a:spcBef>
            </a:pPr>
            <a:r>
              <a:rPr lang="en-US" sz="9000">
                <a:solidFill>
                  <a:srgbClr val="203660"/>
                </a:solidFill>
                <a:latin typeface="Bantayog"/>
                <a:ea typeface="Bantayog"/>
                <a:cs typeface="Bantayog"/>
                <a:sym typeface="Bantayog"/>
              </a:rPr>
              <a:t>CONCLUSIONES</a:t>
            </a:r>
          </a:p>
        </p:txBody>
      </p:sp>
      <p:sp>
        <p:nvSpPr>
          <p:cNvPr id="15" name="TextBox 15"/>
          <p:cNvSpPr txBox="1"/>
          <p:nvPr/>
        </p:nvSpPr>
        <p:spPr>
          <a:xfrm>
            <a:off x="17240250" y="9258300"/>
            <a:ext cx="1028700" cy="986489"/>
          </a:xfrm>
          <a:prstGeom prst="rect">
            <a:avLst/>
          </a:prstGeom>
        </p:spPr>
        <p:txBody>
          <a:bodyPr lIns="0" tIns="0" rIns="0" bIns="0" rtlCol="0" anchor="t">
            <a:spAutoFit/>
          </a:bodyPr>
          <a:lstStyle/>
          <a:p>
            <a:pPr algn="ctr">
              <a:lnSpc>
                <a:spcPts val="8399"/>
              </a:lnSpc>
              <a:spcBef>
                <a:spcPct val="0"/>
              </a:spcBef>
            </a:pPr>
            <a:r>
              <a:rPr lang="en-US" sz="5999" dirty="0">
                <a:solidFill>
                  <a:srgbClr val="FFFFFF"/>
                </a:solidFill>
                <a:latin typeface="Bantayog"/>
                <a:ea typeface="Bantayog"/>
                <a:cs typeface="Bantayog"/>
                <a:sym typeface="Bantayog"/>
              </a:rPr>
              <a:t>26</a:t>
            </a:r>
          </a:p>
        </p:txBody>
      </p:sp>
      <p:grpSp>
        <p:nvGrpSpPr>
          <p:cNvPr id="16" name="Group 16"/>
          <p:cNvGrpSpPr/>
          <p:nvPr/>
        </p:nvGrpSpPr>
        <p:grpSpPr>
          <a:xfrm>
            <a:off x="2842067" y="2938226"/>
            <a:ext cx="12176133" cy="5820492"/>
            <a:chOff x="45420" y="-114300"/>
            <a:chExt cx="16234844" cy="7760656"/>
          </a:xfrm>
        </p:grpSpPr>
        <p:sp>
          <p:nvSpPr>
            <p:cNvPr id="17" name="TextBox 17"/>
            <p:cNvSpPr txBox="1"/>
            <p:nvPr/>
          </p:nvSpPr>
          <p:spPr>
            <a:xfrm>
              <a:off x="4537242" y="-114300"/>
              <a:ext cx="7821511" cy="2518833"/>
            </a:xfrm>
            <a:prstGeom prst="rect">
              <a:avLst/>
            </a:prstGeom>
          </p:spPr>
          <p:txBody>
            <a:bodyPr lIns="0" tIns="0" rIns="0" bIns="0" rtlCol="0" anchor="t">
              <a:spAutoFit/>
            </a:bodyPr>
            <a:lstStyle/>
            <a:p>
              <a:pPr algn="ctr">
                <a:lnSpc>
                  <a:spcPts val="7699"/>
                </a:lnSpc>
                <a:spcBef>
                  <a:spcPct val="0"/>
                </a:spcBef>
              </a:pPr>
              <a:r>
                <a:rPr lang="en-US" sz="5499">
                  <a:solidFill>
                    <a:srgbClr val="4D6BA7"/>
                  </a:solidFill>
                  <a:latin typeface="Bantayog"/>
                  <a:ea typeface="Bantayog"/>
                  <a:cs typeface="Bantayog"/>
                  <a:sym typeface="Bantayog"/>
                </a:rPr>
                <a:t>VIABILIDAD DE LA IA EN SMART GRIDS</a:t>
              </a:r>
            </a:p>
          </p:txBody>
        </p:sp>
        <p:sp>
          <p:nvSpPr>
            <p:cNvPr id="18" name="TextBox 18"/>
            <p:cNvSpPr txBox="1"/>
            <p:nvPr/>
          </p:nvSpPr>
          <p:spPr>
            <a:xfrm>
              <a:off x="45420" y="3832122"/>
              <a:ext cx="7821510" cy="3814234"/>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RUPTURA DEL ENFOQUE MONOLÍTICO</a:t>
              </a:r>
            </a:p>
          </p:txBody>
        </p:sp>
        <p:sp>
          <p:nvSpPr>
            <p:cNvPr id="19" name="TextBox 19"/>
            <p:cNvSpPr txBox="1"/>
            <p:nvPr/>
          </p:nvSpPr>
          <p:spPr>
            <a:xfrm>
              <a:off x="8458754" y="3832123"/>
              <a:ext cx="7821510" cy="3814233"/>
            </a:xfrm>
            <a:prstGeom prst="rect">
              <a:avLst/>
            </a:prstGeom>
          </p:spPr>
          <p:txBody>
            <a:bodyPr lIns="0" tIns="0" rIns="0" bIns="0" rtlCol="0" anchor="t">
              <a:spAutoFit/>
            </a:bodyPr>
            <a:lstStyle/>
            <a:p>
              <a:pPr algn="ctr">
                <a:lnSpc>
                  <a:spcPts val="7699"/>
                </a:lnSpc>
                <a:spcBef>
                  <a:spcPct val="0"/>
                </a:spcBef>
              </a:pPr>
              <a:r>
                <a:rPr lang="en-US" sz="5499" dirty="0">
                  <a:solidFill>
                    <a:srgbClr val="4D6BA7"/>
                  </a:solidFill>
                  <a:latin typeface="Bantayog"/>
                  <a:ea typeface="Bantayog"/>
                  <a:cs typeface="Bantayog"/>
                  <a:sym typeface="Bantayog"/>
                </a:rPr>
                <a:t>ÉXITO DE LA ARQUITECTURA HÍBRIDA (ESR)</a:t>
              </a:r>
            </a:p>
          </p:txBody>
        </p:sp>
      </p:grpSp>
    </p:spTree>
  </p:cSld>
  <p:clrMapOvr>
    <a:masterClrMapping/>
  </p:clrMapOvr>
  <p:transition spd="med">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8082</TotalTime>
  <Words>2375</Words>
  <Application>Microsoft Office PowerPoint</Application>
  <PresentationFormat>Personalizado</PresentationFormat>
  <Paragraphs>262</Paragraphs>
  <Slides>36</Slides>
  <Notes>36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36</vt:i4>
      </vt:variant>
    </vt:vector>
  </HeadingPairs>
  <TitlesOfParts>
    <vt:vector size="41" baseType="lpstr">
      <vt:lpstr>Arial</vt:lpstr>
      <vt:lpstr>Bantayog</vt:lpstr>
      <vt:lpstr>Calibri</vt:lpstr>
      <vt:lpstr>Aptos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Grids: Control de Redes Eléctricas con IA</dc:title>
  <cp:lastModifiedBy>DANIEL LÓPEZ RAMOS</cp:lastModifiedBy>
  <cp:revision>35</cp:revision>
  <cp:lastPrinted>2026-05-16T08:29:50Z</cp:lastPrinted>
  <dcterms:created xsi:type="dcterms:W3CDTF">2006-08-16T00:00:00Z</dcterms:created>
  <dcterms:modified xsi:type="dcterms:W3CDTF">2026-05-25T16:52:19Z</dcterms:modified>
  <dc:identifier>DAHH9DGzV84</dc:identifier>
</cp:coreProperties>
</file>