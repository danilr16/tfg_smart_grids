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68"/>
  </p:notesMasterIdLst>
  <p:sldIdLst>
    <p:sldId id="256" r:id="rId2"/>
    <p:sldId id="257" r:id="rId3"/>
    <p:sldId id="259" r:id="rId4"/>
    <p:sldId id="260" r:id="rId5"/>
    <p:sldId id="261" r:id="rId6"/>
    <p:sldId id="263" r:id="rId7"/>
    <p:sldId id="264" r:id="rId8"/>
    <p:sldId id="265" r:id="rId9"/>
    <p:sldId id="266" r:id="rId10"/>
    <p:sldId id="267" r:id="rId11"/>
    <p:sldId id="271" r:id="rId12"/>
    <p:sldId id="269" r:id="rId13"/>
    <p:sldId id="270" r:id="rId14"/>
    <p:sldId id="272" r:id="rId15"/>
    <p:sldId id="273" r:id="rId16"/>
    <p:sldId id="274" r:id="rId17"/>
    <p:sldId id="275" r:id="rId18"/>
    <p:sldId id="276" r:id="rId19"/>
    <p:sldId id="277" r:id="rId20"/>
    <p:sldId id="278" r:id="rId21"/>
    <p:sldId id="279" r:id="rId22"/>
    <p:sldId id="280" r:id="rId23"/>
    <p:sldId id="281" r:id="rId24"/>
    <p:sldId id="282" r:id="rId25"/>
    <p:sldId id="283" r:id="rId26"/>
    <p:sldId id="284" r:id="rId27"/>
    <p:sldId id="286" r:id="rId28"/>
    <p:sldId id="287" r:id="rId29"/>
    <p:sldId id="288" r:id="rId30"/>
    <p:sldId id="289" r:id="rId31"/>
    <p:sldId id="290" r:id="rId32"/>
    <p:sldId id="293" r:id="rId33"/>
    <p:sldId id="294" r:id="rId34"/>
    <p:sldId id="295" r:id="rId35"/>
    <p:sldId id="296" r:id="rId36"/>
    <p:sldId id="297" r:id="rId37"/>
    <p:sldId id="298" r:id="rId38"/>
    <p:sldId id="299" r:id="rId39"/>
    <p:sldId id="300" r:id="rId40"/>
    <p:sldId id="301" r:id="rId41"/>
    <p:sldId id="302" r:id="rId42"/>
    <p:sldId id="303" r:id="rId43"/>
    <p:sldId id="304" r:id="rId44"/>
    <p:sldId id="305" r:id="rId45"/>
    <p:sldId id="306" r:id="rId46"/>
    <p:sldId id="307" r:id="rId47"/>
    <p:sldId id="325" r:id="rId48"/>
    <p:sldId id="326" r:id="rId49"/>
    <p:sldId id="327" r:id="rId50"/>
    <p:sldId id="328" r:id="rId51"/>
    <p:sldId id="329" r:id="rId52"/>
    <p:sldId id="330" r:id="rId53"/>
    <p:sldId id="331" r:id="rId54"/>
    <p:sldId id="332" r:id="rId55"/>
    <p:sldId id="333" r:id="rId56"/>
    <p:sldId id="334" r:id="rId57"/>
    <p:sldId id="335" r:id="rId58"/>
    <p:sldId id="336" r:id="rId59"/>
    <p:sldId id="337" r:id="rId60"/>
    <p:sldId id="338" r:id="rId61"/>
    <p:sldId id="339" r:id="rId62"/>
    <p:sldId id="340" r:id="rId63"/>
    <p:sldId id="341" r:id="rId64"/>
    <p:sldId id="342" r:id="rId65"/>
    <p:sldId id="343" r:id="rId66"/>
    <p:sldId id="344" r:id="rId67"/>
  </p:sldIdLst>
  <p:sldSz cx="18288000" cy="10287000"/>
  <p:notesSz cx="6858000" cy="9144000"/>
  <p:embeddedFontLst>
    <p:embeddedFont>
      <p:font typeface="Bantayog" panose="020B0604020202020204" charset="0"/>
      <p:regular r:id="rId6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79951" autoAdjust="0"/>
  </p:normalViewPr>
  <p:slideViewPr>
    <p:cSldViewPr>
      <p:cViewPr>
        <p:scale>
          <a:sx n="33" d="100"/>
          <a:sy n="33" d="100"/>
        </p:scale>
        <p:origin x="1108" y="38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font" Target="fonts/font1.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EB82BD7-1BEF-4BE3-8132-A355946D9592}" type="datetimeFigureOut">
              <a:rPr lang="es-ES" smtClean="0"/>
              <a:t>10/05/2026</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581327-80F5-4F53-A91A-2A06DA15CAE7}" type="slidenum">
              <a:rPr lang="es-ES" smtClean="0"/>
              <a:t>‹Nº›</a:t>
            </a:fld>
            <a:endParaRPr lang="es-ES"/>
          </a:p>
        </p:txBody>
      </p:sp>
    </p:spTree>
    <p:extLst>
      <p:ext uri="{BB962C8B-B14F-4D97-AF65-F5344CB8AC3E}">
        <p14:creationId xmlns:p14="http://schemas.microsoft.com/office/powerpoint/2010/main" val="42474675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Si les digo 28 de abril de 2025 seguramente no signifique mucho para ustedes. Sin embargo, si les digo “gran apagón”, seguro que les viene a la mente el día que vivieron como todo un país quedó completamente a oscuras. Y lo cierto, es que en España y en general en toda Europa, estamos sufriendo un cambio radical en la distribución de energía y en las redes eléctricas. Mi nombre es Daniel López Ramos y voy a exponerle este y otros problemas con mi TFG “Smart </a:t>
            </a:r>
            <a:r>
              <a:rPr lang="es-ES" dirty="0" err="1"/>
              <a:t>Grids</a:t>
            </a:r>
            <a:r>
              <a:rPr lang="es-ES" dirty="0"/>
              <a:t>: Control de Redes Eléctricas con Inteligencia Artificial”.</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1</a:t>
            </a:fld>
            <a:endParaRPr lang="es-ES"/>
          </a:p>
        </p:txBody>
      </p:sp>
    </p:spTree>
    <p:extLst>
      <p:ext uri="{BB962C8B-B14F-4D97-AF65-F5344CB8AC3E}">
        <p14:creationId xmlns:p14="http://schemas.microsoft.com/office/powerpoint/2010/main" val="4790052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Las redes eléctricas son los sistemas que se encargan de generar y distribuir energía a los usuarios. El planteamiento inicial de estas redes se basa en la generación de energía en grandes centrales eléctricas centralizadas. La energía generada por esas centrales, se transporta en alta tensión y se distribuye a los consumidores pasivos en media y baja tensión. Como pueden ver este es un proceso unidireccional, en el que los consumidores no actúan. Sin embargo, el auge de la generación con energías renovables y la adopción masiva de nuevas tecnologías, ha cambiado completamente este paradigma.</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2</a:t>
            </a:fld>
            <a:endParaRPr lang="es-ES"/>
          </a:p>
        </p:txBody>
      </p:sp>
    </p:spTree>
    <p:extLst>
      <p:ext uri="{BB962C8B-B14F-4D97-AF65-F5344CB8AC3E}">
        <p14:creationId xmlns:p14="http://schemas.microsoft.com/office/powerpoint/2010/main" val="4549778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Donde antes había grandes centros de generación centralizados, ahora hay centros de energía distribuidos con una generación de energía irregular, debido principalmente a la naturaleza inestable de las energías renovables.</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3</a:t>
            </a:fld>
            <a:endParaRPr lang="es-ES"/>
          </a:p>
        </p:txBody>
      </p:sp>
    </p:spTree>
    <p:extLst>
      <p:ext uri="{BB962C8B-B14F-4D97-AF65-F5344CB8AC3E}">
        <p14:creationId xmlns:p14="http://schemas.microsoft.com/office/powerpoint/2010/main" val="33341970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Donde antes había un consumidor pasivo, ahora hay un usuario que genera y consume energía mediante instalaciones de autoconsumo y almacenamiento de electricidad. Es más, muchos de estos usuarios vierten los excedentes de energía que no consumen a la red. Donde antes había control de todo el proceso y una única dirección, ahora hay caos y bidireccionalidad.</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4</a:t>
            </a:fld>
            <a:endParaRPr lang="es-ES"/>
          </a:p>
        </p:txBody>
      </p:sp>
    </p:spTree>
    <p:extLst>
      <p:ext uri="{BB962C8B-B14F-4D97-AF65-F5344CB8AC3E}">
        <p14:creationId xmlns:p14="http://schemas.microsoft.com/office/powerpoint/2010/main" val="260859312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Y la apuesta de los gobiernos y las empresas por las energías renovables es cada vez mayor. Esta es la capacidad instalada eléctrica en el año 2000 y como podemos ver el 56% de la generación de energía viene de los combustibles fósiles. En 2025 este porcentaje se ha reducido al 34% y las energías renovables suponen el 56%. ¿Cuál ha sido la apuesta de las empresas para responder a este cambio radical?</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5</a:t>
            </a:fld>
            <a:endParaRPr lang="es-ES"/>
          </a:p>
        </p:txBody>
      </p:sp>
    </p:spTree>
    <p:extLst>
      <p:ext uri="{BB962C8B-B14F-4D97-AF65-F5344CB8AC3E}">
        <p14:creationId xmlns:p14="http://schemas.microsoft.com/office/powerpoint/2010/main" val="16152761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Las Smart </a:t>
            </a:r>
            <a:r>
              <a:rPr lang="es-ES" dirty="0" err="1"/>
              <a:t>Grids</a:t>
            </a:r>
            <a:r>
              <a:rPr lang="es-ES" dirty="0"/>
              <a:t> o redes eléctricas inteligentes son sistemas digitalizados que controlan el estado de la red eléctrica mediante sensores, contadores inteligentes y sistemas distribuidos.</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6</a:t>
            </a:fld>
            <a:endParaRPr lang="es-ES"/>
          </a:p>
        </p:txBody>
      </p:sp>
    </p:spTree>
    <p:extLst>
      <p:ext uri="{BB962C8B-B14F-4D97-AF65-F5344CB8AC3E}">
        <p14:creationId xmlns:p14="http://schemas.microsoft.com/office/powerpoint/2010/main" val="236574058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Estas redes integran sistemas de información y control, además de integrar dinámicamente las acciones de los usuarios conectados. Pero como hemos visto, el sistema de distribución de energía se ha vuelto un sistema muy complejo, por lo que para tener un control de estos sistemas se requieren de algoritmos más complejos.</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7</a:t>
            </a:fld>
            <a:endParaRPr lang="es-ES"/>
          </a:p>
        </p:txBody>
      </p:sp>
    </p:spTree>
    <p:extLst>
      <p:ext uri="{BB962C8B-B14F-4D97-AF65-F5344CB8AC3E}">
        <p14:creationId xmlns:p14="http://schemas.microsoft.com/office/powerpoint/2010/main" val="231516813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Ahí es donde entra en juego la inteligencia artificial. Gracias a las Smart </a:t>
            </a:r>
            <a:r>
              <a:rPr lang="es-ES" dirty="0" err="1"/>
              <a:t>Grids</a:t>
            </a:r>
            <a:r>
              <a:rPr lang="es-ES" dirty="0"/>
              <a:t> disponemos de muchos datos que podemos utilizar para entrenar estas herramientas. Dentro del machine </a:t>
            </a:r>
            <a:r>
              <a:rPr lang="es-ES" dirty="0" err="1"/>
              <a:t>learning</a:t>
            </a:r>
            <a:r>
              <a:rPr lang="es-ES" dirty="0"/>
              <a:t> o aprendizaje automático encontramos tres ramas principales: el aprendizaje supervisado, no supervisado y por refuerzo. En el contexto de este proyecto nos vamos a centrar en los modelos de aprendizaje supervisado.</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8</a:t>
            </a:fld>
            <a:endParaRPr lang="es-ES"/>
          </a:p>
        </p:txBody>
      </p:sp>
    </p:spTree>
    <p:extLst>
      <p:ext uri="{BB962C8B-B14F-4D97-AF65-F5344CB8AC3E}">
        <p14:creationId xmlns:p14="http://schemas.microsoft.com/office/powerpoint/2010/main" val="252279520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Y en el aprendizaje supervisado nos centraremos en modelos de regresión, ya que estos modelos predicen variables continuas y estas predicciones son las que tienen más sentido en un contexto eléctrico.</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9</a:t>
            </a:fld>
            <a:endParaRPr lang="es-ES"/>
          </a:p>
        </p:txBody>
      </p:sp>
    </p:spTree>
    <p:extLst>
      <p:ext uri="{BB962C8B-B14F-4D97-AF65-F5344CB8AC3E}">
        <p14:creationId xmlns:p14="http://schemas.microsoft.com/office/powerpoint/2010/main" val="20462785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Los modelos en los que nos vamos a centrar son estos tres: Random Forest, </a:t>
            </a:r>
            <a:r>
              <a:rPr lang="es-ES" dirty="0" err="1"/>
              <a:t>XGBoost</a:t>
            </a:r>
            <a:r>
              <a:rPr lang="es-ES" dirty="0"/>
              <a:t> y redes neuronales. Sin entrar mucho en detalle Random Forest utiliza la inteligencia colectiva entre muchos modelos base en este caso el modelo </a:t>
            </a:r>
            <a:r>
              <a:rPr lang="es-ES" dirty="0" err="1"/>
              <a:t>Decision</a:t>
            </a:r>
            <a:r>
              <a:rPr lang="es-ES" dirty="0"/>
              <a:t> Tree o árbol de decisión. El modelo </a:t>
            </a:r>
            <a:r>
              <a:rPr lang="es-ES" dirty="0" err="1"/>
              <a:t>XGBoost</a:t>
            </a:r>
            <a:r>
              <a:rPr lang="es-ES" dirty="0"/>
              <a:t> concatena modelos y utiliza una técnica de potenciación por el gradiente para corregir los errores de estos. Finalmente, la red neuronal es una estructura de capas de neuronas interconectadas que se activan en función de unos pesos y funciones de activación. ¿Por qué se han usado estos modelos? Bueno por dos motivos, son modelos robustos y consolidados como estándar en la industria. Y son modelos relativamente ligeros que no requieren demasiada potencia computacional.</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10</a:t>
            </a:fld>
            <a:endParaRPr lang="es-ES"/>
          </a:p>
        </p:txBody>
      </p:sp>
    </p:spTree>
    <p:extLst>
      <p:ext uri="{BB962C8B-B14F-4D97-AF65-F5344CB8AC3E}">
        <p14:creationId xmlns:p14="http://schemas.microsoft.com/office/powerpoint/2010/main" val="143745146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Los objetivos de este proyecto son el análisis e investigación de tecnologías para el entrenamiento de los modelos. Realizar ingeniería de datos y tratar los datos de los que disponemos. Entrenar los modelos y optimizarlos con la exploración de </a:t>
            </a:r>
            <a:r>
              <a:rPr lang="es-ES" dirty="0" err="1"/>
              <a:t>hiperparámetros</a:t>
            </a:r>
            <a:r>
              <a:rPr lang="es-ES" dirty="0"/>
              <a:t>. Y finalmente, evaluar y analizar modelos y seleccionar los mejores.</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11</a:t>
            </a:fld>
            <a:endParaRPr lang="es-ES"/>
          </a:p>
        </p:txBody>
      </p:sp>
    </p:spTree>
    <p:extLst>
      <p:ext uri="{BB962C8B-B14F-4D97-AF65-F5344CB8AC3E}">
        <p14:creationId xmlns:p14="http://schemas.microsoft.com/office/powerpoint/2010/main" val="391029162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Las tecnologías seleccionadas han sido Python y </a:t>
            </a:r>
            <a:r>
              <a:rPr lang="es-ES" dirty="0" err="1"/>
              <a:t>Jupyter</a:t>
            </a:r>
            <a:r>
              <a:rPr lang="es-ES" dirty="0"/>
              <a:t> ya que ofrecen un ecosistema científico robusto, sencillo y modular. </a:t>
            </a:r>
            <a:r>
              <a:rPr lang="es-ES" dirty="0" err="1"/>
              <a:t>Numpy</a:t>
            </a:r>
            <a:r>
              <a:rPr lang="es-ES" dirty="0"/>
              <a:t> y Pandas, ya que proporcionan herramientas básicas de álgebra y tratamiento de datos. </a:t>
            </a:r>
            <a:r>
              <a:rPr lang="es-ES" dirty="0" err="1"/>
              <a:t>Matplotlib</a:t>
            </a:r>
            <a:r>
              <a:rPr lang="es-ES" dirty="0"/>
              <a:t> y Seaborn para la generación y visualización de gráficos.</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12</a:t>
            </a:fld>
            <a:endParaRPr lang="es-ES"/>
          </a:p>
        </p:txBody>
      </p:sp>
    </p:spTree>
    <p:extLst>
      <p:ext uri="{BB962C8B-B14F-4D97-AF65-F5344CB8AC3E}">
        <p14:creationId xmlns:p14="http://schemas.microsoft.com/office/powerpoint/2010/main" val="165333488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Se ha seleccionado </a:t>
            </a:r>
            <a:r>
              <a:rPr lang="es-ES" dirty="0" err="1"/>
              <a:t>Scikit-learn</a:t>
            </a:r>
            <a:r>
              <a:rPr lang="es-ES" dirty="0"/>
              <a:t> para el uso de modelos y funciones de machine </a:t>
            </a:r>
            <a:r>
              <a:rPr lang="es-ES" dirty="0" err="1"/>
              <a:t>learning</a:t>
            </a:r>
            <a:r>
              <a:rPr lang="es-ES" dirty="0"/>
              <a:t>. Y </a:t>
            </a:r>
            <a:r>
              <a:rPr lang="es-ES" dirty="0" err="1"/>
              <a:t>keras</a:t>
            </a:r>
            <a:r>
              <a:rPr lang="es-ES" dirty="0"/>
              <a:t> y </a:t>
            </a:r>
            <a:r>
              <a:rPr lang="es-ES" dirty="0" err="1"/>
              <a:t>tensorflow</a:t>
            </a:r>
            <a:r>
              <a:rPr lang="es-ES" dirty="0"/>
              <a:t> para las arquitecturas de aprendizaje profundo.</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13</a:t>
            </a:fld>
            <a:endParaRPr lang="es-ES"/>
          </a:p>
        </p:txBody>
      </p:sp>
    </p:spTree>
    <p:extLst>
      <p:ext uri="{BB962C8B-B14F-4D97-AF65-F5344CB8AC3E}">
        <p14:creationId xmlns:p14="http://schemas.microsoft.com/office/powerpoint/2010/main" val="304116743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En cuanto a la </a:t>
            </a:r>
            <a:r>
              <a:rPr lang="es-ES" dirty="0" err="1"/>
              <a:t>adquisión</a:t>
            </a:r>
            <a:r>
              <a:rPr lang="es-ES" dirty="0"/>
              <a:t> de datos, se dispone de un </a:t>
            </a:r>
            <a:r>
              <a:rPr lang="es-ES" dirty="0" err="1"/>
              <a:t>dataset</a:t>
            </a:r>
            <a:r>
              <a:rPr lang="es-ES" dirty="0"/>
              <a:t> con datos reales de las potencias de esta red para un día a intervalos de 5 minutos. Esta red se conforma de dos subredes, 14 nudos y diferentes generadores de energía. Dado que el número de muestras para un único día es insuficiente.</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14</a:t>
            </a:fld>
            <a:endParaRPr lang="es-ES"/>
          </a:p>
        </p:txBody>
      </p:sp>
    </p:spTree>
    <p:extLst>
      <p:ext uri="{BB962C8B-B14F-4D97-AF65-F5344CB8AC3E}">
        <p14:creationId xmlns:p14="http://schemas.microsoft.com/office/powerpoint/2010/main" val="311733428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Se han utilizado una serie de scripts en Python y la herramienta GAMS para producir datos sintéticos a partir de los reales para el resto del año. Obtenemos así 105.120 muestras.</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15</a:t>
            </a:fld>
            <a:endParaRPr lang="es-ES"/>
          </a:p>
        </p:txBody>
      </p:sp>
    </p:spTree>
    <p:extLst>
      <p:ext uri="{BB962C8B-B14F-4D97-AF65-F5344CB8AC3E}">
        <p14:creationId xmlns:p14="http://schemas.microsoft.com/office/powerpoint/2010/main" val="160342109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En cuanto al proceso de generación de datos, se comienza realizando variaciones aleatorias a las potencias y se realiza un flujo de cargas óptimo con GAMS que calcula las tensiones en los diferentes nudos y pérdidas de la red. Cabe destacar que estos scripts son herramientas proporcionadas por los tutores y no forma parte del producto generado, pero este proceso de generación es algo relevante para el desarrollo del proyecto.</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16</a:t>
            </a:fld>
            <a:endParaRPr lang="es-ES"/>
          </a:p>
        </p:txBody>
      </p:sp>
    </p:spTree>
    <p:extLst>
      <p:ext uri="{BB962C8B-B14F-4D97-AF65-F5344CB8AC3E}">
        <p14:creationId xmlns:p14="http://schemas.microsoft.com/office/powerpoint/2010/main" val="199119846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Una vez generado el </a:t>
            </a:r>
            <a:r>
              <a:rPr lang="es-ES" dirty="0" err="1"/>
              <a:t>dataset</a:t>
            </a:r>
            <a:r>
              <a:rPr lang="es-ES" dirty="0"/>
              <a:t> vamos a observar la forma de este para la limpieza de este. Esta es la forma de los atributos de entrada del </a:t>
            </a:r>
            <a:r>
              <a:rPr lang="es-ES" dirty="0" err="1"/>
              <a:t>dataset</a:t>
            </a:r>
            <a:r>
              <a:rPr lang="es-ES" dirty="0"/>
              <a:t>. Las columnas que empiezan por P indican la potencia activa en el nudo en cuestión. La potencia activa es la potencia que se convierte en trabajo útil. Las columnas que empiezan por Q son las potencias reactivas en ese nudo. La potencia reactiva no produce trabajo útil, pero es indispensable para el control de los campos electromagnéticos y el control de los perfiles de tensión en los nudos.</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17</a:t>
            </a:fld>
            <a:endParaRPr lang="es-ES"/>
          </a:p>
        </p:txBody>
      </p:sp>
    </p:spTree>
    <p:extLst>
      <p:ext uri="{BB962C8B-B14F-4D97-AF65-F5344CB8AC3E}">
        <p14:creationId xmlns:p14="http://schemas.microsoft.com/office/powerpoint/2010/main" val="176727367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Para observar mejor los datos de estos atributos vamos a observar </a:t>
            </a:r>
            <a:r>
              <a:rPr lang="es-ES"/>
              <a:t>el histograma de estas variables.</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18</a:t>
            </a:fld>
            <a:endParaRPr lang="es-ES"/>
          </a:p>
        </p:txBody>
      </p:sp>
    </p:spTree>
    <p:extLst>
      <p:ext uri="{BB962C8B-B14F-4D97-AF65-F5344CB8AC3E}">
        <p14:creationId xmlns:p14="http://schemas.microsoft.com/office/powerpoint/2010/main" val="203858448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72581327-80F5-4F53-A91A-2A06DA15CAE7}" type="slidenum">
              <a:rPr lang="es-ES" smtClean="0"/>
              <a:t>46</a:t>
            </a:fld>
            <a:endParaRPr lang="es-ES"/>
          </a:p>
        </p:txBody>
      </p:sp>
    </p:spTree>
    <p:extLst>
      <p:ext uri="{BB962C8B-B14F-4D97-AF65-F5344CB8AC3E}">
        <p14:creationId xmlns:p14="http://schemas.microsoft.com/office/powerpoint/2010/main" val="8596060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5/9/2026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5/9/2026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5/9/2026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5/9/2026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5/9/2026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5/9/2026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5/9/2026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5.png"/><Relationship Id="rId7"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5.png"/><Relationship Id="rId7"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7.xml"/><Relationship Id="rId5" Type="http://schemas.openxmlformats.org/officeDocument/2006/relationships/image" Target="../media/image15.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sv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19.svg"/><Relationship Id="rId5" Type="http://schemas.openxmlformats.org/officeDocument/2006/relationships/image" Target="../media/image18.svg"/><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7.xml"/><Relationship Id="rId5" Type="http://schemas.openxmlformats.org/officeDocument/2006/relationships/image" Target="../media/image24.png"/><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image" Target="../media/image21.png"/></Relationships>
</file>

<file path=ppt/slides/_rels/slide16.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notesSlide" Target="../notesSlides/notesSlide16.xml"/><Relationship Id="rId1" Type="http://schemas.openxmlformats.org/officeDocument/2006/relationships/slideLayout" Target="../slideLayouts/slideLayout7.xml"/><Relationship Id="rId4" Type="http://schemas.openxmlformats.org/officeDocument/2006/relationships/image" Target="../media/image21.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29.sv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29.sv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9.xml"/><Relationship Id="rId1" Type="http://schemas.openxmlformats.org/officeDocument/2006/relationships/slideLayout" Target="../slideLayouts/slideLayout7.xml"/><Relationship Id="rId4" Type="http://schemas.openxmlformats.org/officeDocument/2006/relationships/image" Target="../media/image33.png"/></Relationships>
</file>

<file path=ppt/slides/_rels/slide47.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11530567" y="-3574416"/>
            <a:ext cx="5983240" cy="3369636"/>
            <a:chOff x="0" y="0"/>
            <a:chExt cx="744168" cy="419100"/>
          </a:xfrm>
        </p:grpSpPr>
        <p:sp>
          <p:nvSpPr>
            <p:cNvPr id="6" name="Freeform 6"/>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FFFFFF"/>
            </a:solidFill>
          </p:spPr>
          <p:txBody>
            <a:bodyPr/>
            <a:lstStyle/>
            <a:p>
              <a:endParaRPr lang="es-ES"/>
            </a:p>
          </p:txBody>
        </p:sp>
        <p:sp>
          <p:nvSpPr>
            <p:cNvPr id="7" name="TextBox 7"/>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4434283" y="7487696"/>
            <a:ext cx="6252050" cy="3864704"/>
            <a:chOff x="0" y="0"/>
            <a:chExt cx="744168" cy="460007"/>
          </a:xfrm>
        </p:grpSpPr>
        <p:sp>
          <p:nvSpPr>
            <p:cNvPr id="9" name="Freeform 9"/>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4D6BA7"/>
            </a:solidFill>
          </p:spPr>
          <p:txBody>
            <a:bodyPr/>
            <a:lstStyle/>
            <a:p>
              <a:endParaRPr lang="es-ES"/>
            </a:p>
          </p:txBody>
        </p:sp>
        <p:sp>
          <p:nvSpPr>
            <p:cNvPr id="10" name="TextBox 10"/>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4155465" y="4010394"/>
            <a:ext cx="9679118" cy="4948927"/>
            <a:chOff x="0" y="0"/>
            <a:chExt cx="836041" cy="427467"/>
          </a:xfrm>
        </p:grpSpPr>
        <p:sp>
          <p:nvSpPr>
            <p:cNvPr id="12" name="Freeform 12"/>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3" name="TextBox 13"/>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4" name="Group 14"/>
          <p:cNvGrpSpPr/>
          <p:nvPr/>
        </p:nvGrpSpPr>
        <p:grpSpPr>
          <a:xfrm rot="-2570167">
            <a:off x="13588866" y="-457285"/>
            <a:ext cx="6331387" cy="4427994"/>
            <a:chOff x="0" y="0"/>
            <a:chExt cx="787469" cy="550734"/>
          </a:xfrm>
        </p:grpSpPr>
        <p:sp>
          <p:nvSpPr>
            <p:cNvPr id="15" name="Freeform 15"/>
            <p:cNvSpPr/>
            <p:nvPr/>
          </p:nvSpPr>
          <p:spPr>
            <a:xfrm>
              <a:off x="0" y="0"/>
              <a:ext cx="787469" cy="550734"/>
            </a:xfrm>
            <a:custGeom>
              <a:avLst/>
              <a:gdLst/>
              <a:ahLst/>
              <a:cxnLst/>
              <a:rect l="l" t="t" r="r" b="b"/>
              <a:pathLst>
                <a:path w="787469" h="550734">
                  <a:moveTo>
                    <a:pt x="47765" y="0"/>
                  </a:moveTo>
                  <a:lnTo>
                    <a:pt x="739704" y="0"/>
                  </a:lnTo>
                  <a:cubicBezTo>
                    <a:pt x="766084" y="0"/>
                    <a:pt x="787469" y="21385"/>
                    <a:pt x="787469" y="47765"/>
                  </a:cubicBezTo>
                  <a:lnTo>
                    <a:pt x="787469" y="502969"/>
                  </a:lnTo>
                  <a:cubicBezTo>
                    <a:pt x="787469" y="529349"/>
                    <a:pt x="766084" y="550734"/>
                    <a:pt x="739704" y="550734"/>
                  </a:cubicBezTo>
                  <a:lnTo>
                    <a:pt x="47765" y="550734"/>
                  </a:lnTo>
                  <a:cubicBezTo>
                    <a:pt x="21385" y="550734"/>
                    <a:pt x="0" y="529349"/>
                    <a:pt x="0" y="502969"/>
                  </a:cubicBezTo>
                  <a:lnTo>
                    <a:pt x="0" y="47765"/>
                  </a:lnTo>
                  <a:cubicBezTo>
                    <a:pt x="0" y="21385"/>
                    <a:pt x="21385" y="0"/>
                    <a:pt x="47765" y="0"/>
                  </a:cubicBezTo>
                  <a:close/>
                </a:path>
              </a:pathLst>
            </a:custGeom>
            <a:solidFill>
              <a:srgbClr val="4D6BA7"/>
            </a:solidFill>
          </p:spPr>
          <p:txBody>
            <a:bodyPr/>
            <a:lstStyle/>
            <a:p>
              <a:endParaRPr lang="es-ES"/>
            </a:p>
          </p:txBody>
        </p:sp>
        <p:sp>
          <p:nvSpPr>
            <p:cNvPr id="16" name="TextBox 16"/>
            <p:cNvSpPr txBox="1"/>
            <p:nvPr/>
          </p:nvSpPr>
          <p:spPr>
            <a:xfrm>
              <a:off x="0" y="-38100"/>
              <a:ext cx="787469" cy="588834"/>
            </a:xfrm>
            <a:prstGeom prst="rect">
              <a:avLst/>
            </a:prstGeom>
          </p:spPr>
          <p:txBody>
            <a:bodyPr lIns="50800" tIns="50800" rIns="50800" bIns="50800" rtlCol="0" anchor="ctr"/>
            <a:lstStyle/>
            <a:p>
              <a:pPr algn="ctr">
                <a:lnSpc>
                  <a:spcPts val="2659"/>
                </a:lnSpc>
              </a:pPr>
              <a:endParaRPr/>
            </a:p>
          </p:txBody>
        </p:sp>
      </p:grpSp>
      <p:grpSp>
        <p:nvGrpSpPr>
          <p:cNvPr id="17" name="Group 17"/>
          <p:cNvGrpSpPr/>
          <p:nvPr/>
        </p:nvGrpSpPr>
        <p:grpSpPr>
          <a:xfrm rot="-2570167">
            <a:off x="12529921" y="9302160"/>
            <a:ext cx="3281763" cy="4043454"/>
            <a:chOff x="0" y="0"/>
            <a:chExt cx="408171" cy="502906"/>
          </a:xfrm>
        </p:grpSpPr>
        <p:sp>
          <p:nvSpPr>
            <p:cNvPr id="18" name="Freeform 18"/>
            <p:cNvSpPr/>
            <p:nvPr/>
          </p:nvSpPr>
          <p:spPr>
            <a:xfrm>
              <a:off x="0" y="0"/>
              <a:ext cx="408171" cy="502906"/>
            </a:xfrm>
            <a:custGeom>
              <a:avLst/>
              <a:gdLst/>
              <a:ahLst/>
              <a:cxnLst/>
              <a:rect l="l" t="t" r="r" b="b"/>
              <a:pathLst>
                <a:path w="408171" h="502906">
                  <a:moveTo>
                    <a:pt x="92151" y="0"/>
                  </a:moveTo>
                  <a:lnTo>
                    <a:pt x="316019" y="0"/>
                  </a:lnTo>
                  <a:cubicBezTo>
                    <a:pt x="366913" y="0"/>
                    <a:pt x="408171" y="41258"/>
                    <a:pt x="408171" y="92151"/>
                  </a:cubicBezTo>
                  <a:lnTo>
                    <a:pt x="408171" y="410755"/>
                  </a:lnTo>
                  <a:cubicBezTo>
                    <a:pt x="408171" y="461649"/>
                    <a:pt x="366913" y="502906"/>
                    <a:pt x="316019" y="502906"/>
                  </a:cubicBezTo>
                  <a:lnTo>
                    <a:pt x="92151" y="502906"/>
                  </a:lnTo>
                  <a:cubicBezTo>
                    <a:pt x="41258" y="502906"/>
                    <a:pt x="0" y="461649"/>
                    <a:pt x="0" y="410755"/>
                  </a:cubicBezTo>
                  <a:lnTo>
                    <a:pt x="0" y="92151"/>
                  </a:lnTo>
                  <a:cubicBezTo>
                    <a:pt x="0" y="41258"/>
                    <a:pt x="41258" y="0"/>
                    <a:pt x="92151" y="0"/>
                  </a:cubicBezTo>
                  <a:close/>
                </a:path>
              </a:pathLst>
            </a:custGeom>
            <a:solidFill>
              <a:srgbClr val="4D6BA7"/>
            </a:solidFill>
          </p:spPr>
          <p:txBody>
            <a:bodyPr/>
            <a:lstStyle/>
            <a:p>
              <a:endParaRPr lang="es-ES"/>
            </a:p>
          </p:txBody>
        </p:sp>
        <p:sp>
          <p:nvSpPr>
            <p:cNvPr id="19" name="TextBox 19"/>
            <p:cNvSpPr txBox="1"/>
            <p:nvPr/>
          </p:nvSpPr>
          <p:spPr>
            <a:xfrm>
              <a:off x="0" y="-38100"/>
              <a:ext cx="408171" cy="541006"/>
            </a:xfrm>
            <a:prstGeom prst="rect">
              <a:avLst/>
            </a:prstGeom>
          </p:spPr>
          <p:txBody>
            <a:bodyPr lIns="50800" tIns="50800" rIns="50800" bIns="50800" rtlCol="0" anchor="ctr"/>
            <a:lstStyle/>
            <a:p>
              <a:pPr algn="ctr">
                <a:lnSpc>
                  <a:spcPts val="2659"/>
                </a:lnSpc>
              </a:pPr>
              <a:endParaRPr/>
            </a:p>
          </p:txBody>
        </p:sp>
      </p:grpSp>
      <p:sp>
        <p:nvSpPr>
          <p:cNvPr id="20" name="TextBox 20"/>
          <p:cNvSpPr txBox="1"/>
          <p:nvPr/>
        </p:nvSpPr>
        <p:spPr>
          <a:xfrm>
            <a:off x="2004365" y="789156"/>
            <a:ext cx="10923483" cy="47434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SMART GRIDS: CONTROL DE REDES ELÉCTRICAS </a:t>
            </a:r>
          </a:p>
        </p:txBody>
      </p:sp>
      <p:sp>
        <p:nvSpPr>
          <p:cNvPr id="21" name="TextBox 21"/>
          <p:cNvSpPr txBox="1"/>
          <p:nvPr/>
        </p:nvSpPr>
        <p:spPr>
          <a:xfrm>
            <a:off x="2004365" y="5361156"/>
            <a:ext cx="10923483" cy="31432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CON INTELIGENCIA ARTIFICIAL</a:t>
            </a:r>
          </a:p>
        </p:txBody>
      </p:sp>
      <p:sp>
        <p:nvSpPr>
          <p:cNvPr id="22" name="TextBox 22"/>
          <p:cNvSpPr txBox="1"/>
          <p:nvPr/>
        </p:nvSpPr>
        <p:spPr>
          <a:xfrm>
            <a:off x="3329759" y="9153525"/>
            <a:ext cx="8272695" cy="863600"/>
          </a:xfrm>
          <a:prstGeom prst="rect">
            <a:avLst/>
          </a:prstGeom>
        </p:spPr>
        <p:txBody>
          <a:bodyPr lIns="0" tIns="0" rIns="0" bIns="0" rtlCol="0" anchor="t">
            <a:spAutoFit/>
          </a:bodyPr>
          <a:lstStyle/>
          <a:p>
            <a:pPr algn="ctr">
              <a:lnSpc>
                <a:spcPts val="7000"/>
              </a:lnSpc>
              <a:spcBef>
                <a:spcPct val="0"/>
              </a:spcBef>
            </a:pPr>
            <a:r>
              <a:rPr lang="en-US" sz="5000">
                <a:solidFill>
                  <a:srgbClr val="4D6BA7"/>
                </a:solidFill>
                <a:latin typeface="Bantayog"/>
                <a:ea typeface="Bantayog"/>
                <a:cs typeface="Bantayog"/>
                <a:sym typeface="Bantayog"/>
              </a:rPr>
              <a:t>POR DANIEL LÓPEZ RAMOS</a:t>
            </a:r>
          </a:p>
        </p:txBody>
      </p:sp>
      <p:sp>
        <p:nvSpPr>
          <p:cNvPr id="23" name="TextBox 23"/>
          <p:cNvSpPr txBox="1"/>
          <p:nvPr/>
        </p:nvSpPr>
        <p:spPr>
          <a:xfrm>
            <a:off x="17259300" y="9258300"/>
            <a:ext cx="1028700" cy="1028700"/>
          </a:xfrm>
          <a:prstGeom prst="rect">
            <a:avLst/>
          </a:prstGeom>
        </p:spPr>
        <p:txBody>
          <a:bodyPr lIns="0" tIns="0" rIns="0" bIns="0" rtlCol="0" anchor="t">
            <a:spAutoFit/>
          </a:bodyPr>
          <a:lstStyle/>
          <a:p>
            <a:pPr algn="ctr">
              <a:lnSpc>
                <a:spcPts val="8399"/>
              </a:lnSpc>
              <a:spcBef>
                <a:spcPct val="0"/>
              </a:spcBef>
            </a:pPr>
            <a:r>
              <a:rPr lang="en-US" sz="5999">
                <a:solidFill>
                  <a:srgbClr val="4D6BA7"/>
                </a:solidFill>
                <a:latin typeface="Bantayog"/>
                <a:ea typeface="Bantayog"/>
                <a:cs typeface="Bantayog"/>
                <a:sym typeface="Bantayog"/>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41088" y="8354648"/>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grpSp>
        <p:nvGrpSpPr>
          <p:cNvPr id="14" name="Group 14"/>
          <p:cNvGrpSpPr/>
          <p:nvPr/>
        </p:nvGrpSpPr>
        <p:grpSpPr>
          <a:xfrm>
            <a:off x="1681614" y="7330785"/>
            <a:ext cx="14432104" cy="2558246"/>
            <a:chOff x="0" y="0"/>
            <a:chExt cx="19242805" cy="3410995"/>
          </a:xfrm>
        </p:grpSpPr>
        <p:sp>
          <p:nvSpPr>
            <p:cNvPr id="15" name="AutoShape 15"/>
            <p:cNvSpPr/>
            <p:nvPr/>
          </p:nvSpPr>
          <p:spPr>
            <a:xfrm>
              <a:off x="2134743" y="2109496"/>
              <a:ext cx="2598459" cy="0"/>
            </a:xfrm>
            <a:prstGeom prst="line">
              <a:avLst/>
            </a:prstGeom>
            <a:ln w="254000" cap="flat">
              <a:solidFill>
                <a:srgbClr val="4D6BA7"/>
              </a:solidFill>
              <a:prstDash val="solid"/>
              <a:headEnd type="none" w="sm" len="sm"/>
              <a:tailEnd type="triangle" w="lg" len="med"/>
            </a:ln>
          </p:spPr>
          <p:txBody>
            <a:bodyPr/>
            <a:lstStyle/>
            <a:p>
              <a:endParaRPr lang="es-ES"/>
            </a:p>
          </p:txBody>
        </p:sp>
        <p:sp>
          <p:nvSpPr>
            <p:cNvPr id="16" name="TextBox 16"/>
            <p:cNvSpPr txBox="1"/>
            <p:nvPr/>
          </p:nvSpPr>
          <p:spPr>
            <a:xfrm>
              <a:off x="0" y="-114300"/>
              <a:ext cx="6867945" cy="1223434"/>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UNIDIRECCIONAL</a:t>
              </a:r>
            </a:p>
          </p:txBody>
        </p:sp>
        <p:grpSp>
          <p:nvGrpSpPr>
            <p:cNvPr id="17" name="Group 17"/>
            <p:cNvGrpSpPr/>
            <p:nvPr/>
          </p:nvGrpSpPr>
          <p:grpSpPr>
            <a:xfrm>
              <a:off x="8942328" y="1261621"/>
              <a:ext cx="1949749" cy="1949749"/>
              <a:chOff x="0" y="0"/>
              <a:chExt cx="736600" cy="736600"/>
            </a:xfrm>
          </p:grpSpPr>
          <p:sp>
            <p:nvSpPr>
              <p:cNvPr id="18" name="Freeform 18"/>
              <p:cNvSpPr/>
              <p:nvPr/>
            </p:nvSpPr>
            <p:spPr>
              <a:xfrm>
                <a:off x="0" y="0"/>
                <a:ext cx="736600" cy="736600"/>
              </a:xfrm>
              <a:custGeom>
                <a:avLst/>
                <a:gdLst/>
                <a:ahLst/>
                <a:cxnLst/>
                <a:rect l="l" t="t" r="r" b="b"/>
                <a:pathLst>
                  <a:path w="736600" h="736600">
                    <a:moveTo>
                      <a:pt x="403917" y="1726"/>
                    </a:moveTo>
                    <a:lnTo>
                      <a:pt x="415649" y="58853"/>
                    </a:lnTo>
                    <a:cubicBezTo>
                      <a:pt x="438357" y="62325"/>
                      <a:pt x="460614" y="68279"/>
                      <a:pt x="482015" y="76631"/>
                    </a:cubicBezTo>
                    <a:lnTo>
                      <a:pt x="520737" y="33030"/>
                    </a:lnTo>
                    <a:cubicBezTo>
                      <a:pt x="542404" y="42874"/>
                      <a:pt x="563067" y="54809"/>
                      <a:pt x="582433" y="68642"/>
                    </a:cubicBezTo>
                    <a:lnTo>
                      <a:pt x="564034" y="123985"/>
                    </a:lnTo>
                    <a:cubicBezTo>
                      <a:pt x="581961" y="138346"/>
                      <a:pt x="598253" y="154633"/>
                      <a:pt x="612616" y="172565"/>
                    </a:cubicBezTo>
                    <a:lnTo>
                      <a:pt x="667950" y="154159"/>
                    </a:lnTo>
                    <a:cubicBezTo>
                      <a:pt x="681791" y="173526"/>
                      <a:pt x="693720" y="194192"/>
                      <a:pt x="703572" y="215859"/>
                    </a:cubicBezTo>
                    <a:lnTo>
                      <a:pt x="659969" y="254582"/>
                    </a:lnTo>
                    <a:cubicBezTo>
                      <a:pt x="668315" y="275985"/>
                      <a:pt x="674277" y="298239"/>
                      <a:pt x="677752" y="320940"/>
                    </a:cubicBezTo>
                    <a:lnTo>
                      <a:pt x="734873" y="332680"/>
                    </a:lnTo>
                    <a:cubicBezTo>
                      <a:pt x="737175" y="356371"/>
                      <a:pt x="737175" y="380229"/>
                      <a:pt x="734873" y="403920"/>
                    </a:cubicBezTo>
                    <a:lnTo>
                      <a:pt x="677752" y="415646"/>
                    </a:lnTo>
                    <a:cubicBezTo>
                      <a:pt x="674277" y="438361"/>
                      <a:pt x="668315" y="460615"/>
                      <a:pt x="659969" y="482018"/>
                    </a:cubicBezTo>
                    <a:lnTo>
                      <a:pt x="703572" y="520741"/>
                    </a:lnTo>
                    <a:cubicBezTo>
                      <a:pt x="693720" y="542408"/>
                      <a:pt x="681791" y="563060"/>
                      <a:pt x="667950" y="582427"/>
                    </a:cubicBezTo>
                    <a:lnTo>
                      <a:pt x="612616" y="564035"/>
                    </a:lnTo>
                    <a:cubicBezTo>
                      <a:pt x="598253" y="581953"/>
                      <a:pt x="581961" y="598254"/>
                      <a:pt x="564034" y="612616"/>
                    </a:cubicBezTo>
                    <a:lnTo>
                      <a:pt x="582433" y="667945"/>
                    </a:lnTo>
                    <a:cubicBezTo>
                      <a:pt x="563067" y="681791"/>
                      <a:pt x="542404" y="693712"/>
                      <a:pt x="520737" y="703571"/>
                    </a:cubicBezTo>
                    <a:lnTo>
                      <a:pt x="482015" y="659968"/>
                    </a:lnTo>
                    <a:cubicBezTo>
                      <a:pt x="460614" y="668307"/>
                      <a:pt x="438357" y="674275"/>
                      <a:pt x="415649" y="677747"/>
                    </a:cubicBezTo>
                    <a:lnTo>
                      <a:pt x="403917" y="734874"/>
                    </a:lnTo>
                    <a:cubicBezTo>
                      <a:pt x="380227" y="737175"/>
                      <a:pt x="356368" y="737175"/>
                      <a:pt x="332676" y="734874"/>
                    </a:cubicBezTo>
                    <a:lnTo>
                      <a:pt x="320944" y="677747"/>
                    </a:lnTo>
                    <a:cubicBezTo>
                      <a:pt x="298235" y="674275"/>
                      <a:pt x="275981" y="668307"/>
                      <a:pt x="254579" y="659968"/>
                    </a:cubicBezTo>
                    <a:lnTo>
                      <a:pt x="215849" y="703571"/>
                    </a:lnTo>
                    <a:cubicBezTo>
                      <a:pt x="194194" y="693712"/>
                      <a:pt x="173529" y="681791"/>
                      <a:pt x="154161" y="667945"/>
                    </a:cubicBezTo>
                    <a:lnTo>
                      <a:pt x="172568" y="612616"/>
                    </a:lnTo>
                    <a:cubicBezTo>
                      <a:pt x="154635" y="598254"/>
                      <a:pt x="138335" y="581953"/>
                      <a:pt x="123972" y="564035"/>
                    </a:cubicBezTo>
                    <a:lnTo>
                      <a:pt x="68643" y="582427"/>
                    </a:lnTo>
                    <a:cubicBezTo>
                      <a:pt x="54810" y="563060"/>
                      <a:pt x="42874" y="542408"/>
                      <a:pt x="33016" y="520741"/>
                    </a:cubicBezTo>
                    <a:lnTo>
                      <a:pt x="76619" y="482018"/>
                    </a:lnTo>
                    <a:cubicBezTo>
                      <a:pt x="68280" y="460615"/>
                      <a:pt x="62312" y="438361"/>
                      <a:pt x="58840" y="415646"/>
                    </a:cubicBezTo>
                    <a:lnTo>
                      <a:pt x="1726" y="403920"/>
                    </a:lnTo>
                    <a:cubicBezTo>
                      <a:pt x="-575" y="380229"/>
                      <a:pt x="-575" y="356371"/>
                      <a:pt x="1726" y="332680"/>
                    </a:cubicBezTo>
                    <a:lnTo>
                      <a:pt x="58840" y="320940"/>
                    </a:lnTo>
                    <a:cubicBezTo>
                      <a:pt x="62312" y="298239"/>
                      <a:pt x="68280" y="275985"/>
                      <a:pt x="76619" y="254582"/>
                    </a:cubicBezTo>
                    <a:lnTo>
                      <a:pt x="33016" y="215859"/>
                    </a:lnTo>
                    <a:cubicBezTo>
                      <a:pt x="42874" y="194192"/>
                      <a:pt x="54810" y="173526"/>
                      <a:pt x="68643" y="154159"/>
                    </a:cubicBezTo>
                    <a:lnTo>
                      <a:pt x="123972" y="172565"/>
                    </a:lnTo>
                    <a:cubicBezTo>
                      <a:pt x="138335" y="154633"/>
                      <a:pt x="154635" y="138346"/>
                      <a:pt x="172568" y="123985"/>
                    </a:cubicBezTo>
                    <a:lnTo>
                      <a:pt x="154161" y="68642"/>
                    </a:lnTo>
                    <a:cubicBezTo>
                      <a:pt x="173529" y="54809"/>
                      <a:pt x="194194" y="42874"/>
                      <a:pt x="215849" y="33030"/>
                    </a:cubicBezTo>
                    <a:lnTo>
                      <a:pt x="254579" y="76631"/>
                    </a:lnTo>
                    <a:cubicBezTo>
                      <a:pt x="275981" y="68279"/>
                      <a:pt x="298235" y="62325"/>
                      <a:pt x="320944" y="58853"/>
                    </a:cubicBezTo>
                    <a:lnTo>
                      <a:pt x="332676" y="1726"/>
                    </a:lnTo>
                    <a:cubicBezTo>
                      <a:pt x="356368" y="-575"/>
                      <a:pt x="380227" y="-575"/>
                      <a:pt x="403917" y="1726"/>
                    </a:cubicBezTo>
                    <a:close/>
                    <a:moveTo>
                      <a:pt x="368297" y="138124"/>
                    </a:moveTo>
                    <a:cubicBezTo>
                      <a:pt x="241256" y="138124"/>
                      <a:pt x="138125" y="241266"/>
                      <a:pt x="138125" y="368294"/>
                    </a:cubicBezTo>
                    <a:cubicBezTo>
                      <a:pt x="138125" y="495334"/>
                      <a:pt x="241256" y="598476"/>
                      <a:pt x="368297" y="598476"/>
                    </a:cubicBezTo>
                    <a:cubicBezTo>
                      <a:pt x="495334" y="598476"/>
                      <a:pt x="598472" y="495334"/>
                      <a:pt x="598472" y="368294"/>
                    </a:cubicBezTo>
                    <a:cubicBezTo>
                      <a:pt x="598472" y="241266"/>
                      <a:pt x="495334" y="138124"/>
                      <a:pt x="368297" y="138124"/>
                    </a:cubicBezTo>
                    <a:close/>
                  </a:path>
                </a:pathLst>
              </a:custGeom>
              <a:solidFill>
                <a:srgbClr val="4D6BA7"/>
              </a:solidFill>
            </p:spPr>
            <p:txBody>
              <a:bodyPr/>
              <a:lstStyle/>
              <a:p>
                <a:endParaRPr lang="es-ES"/>
              </a:p>
            </p:txBody>
          </p:sp>
          <p:sp>
            <p:nvSpPr>
              <p:cNvPr id="19" name="TextBox 19"/>
              <p:cNvSpPr txBox="1"/>
              <p:nvPr/>
            </p:nvSpPr>
            <p:spPr>
              <a:xfrm>
                <a:off x="146050" y="107950"/>
                <a:ext cx="444500" cy="482600"/>
              </a:xfrm>
              <a:prstGeom prst="rect">
                <a:avLst/>
              </a:prstGeom>
            </p:spPr>
            <p:txBody>
              <a:bodyPr lIns="50800" tIns="50800" rIns="50800" bIns="50800" rtlCol="0" anchor="ctr"/>
              <a:lstStyle/>
              <a:p>
                <a:pPr algn="ctr">
                  <a:lnSpc>
                    <a:spcPts val="2659"/>
                  </a:lnSpc>
                </a:pPr>
                <a:endParaRPr/>
              </a:p>
            </p:txBody>
          </p:sp>
        </p:grpSp>
        <p:sp>
          <p:nvSpPr>
            <p:cNvPr id="20" name="TextBox 20"/>
            <p:cNvSpPr txBox="1"/>
            <p:nvPr/>
          </p:nvSpPr>
          <p:spPr>
            <a:xfrm>
              <a:off x="6483231" y="-114300"/>
              <a:ext cx="6867945" cy="1223434"/>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CONTROL</a:t>
              </a:r>
            </a:p>
          </p:txBody>
        </p:sp>
        <p:sp>
          <p:nvSpPr>
            <p:cNvPr id="21" name="TextBox 21"/>
            <p:cNvSpPr txBox="1"/>
            <p:nvPr/>
          </p:nvSpPr>
          <p:spPr>
            <a:xfrm>
              <a:off x="12374860" y="-114300"/>
              <a:ext cx="6867945" cy="1223434"/>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CENTRALIZADO</a:t>
              </a:r>
            </a:p>
          </p:txBody>
        </p:sp>
        <p:grpSp>
          <p:nvGrpSpPr>
            <p:cNvPr id="22" name="Group 22"/>
            <p:cNvGrpSpPr/>
            <p:nvPr/>
          </p:nvGrpSpPr>
          <p:grpSpPr>
            <a:xfrm>
              <a:off x="15491372" y="2030375"/>
              <a:ext cx="641402" cy="641402"/>
              <a:chOff x="0" y="0"/>
              <a:chExt cx="812800" cy="812800"/>
            </a:xfrm>
          </p:grpSpPr>
          <p:sp>
            <p:nvSpPr>
              <p:cNvPr id="23" name="Freeform 2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D6BA7"/>
              </a:solidFill>
            </p:spPr>
            <p:txBody>
              <a:bodyPr/>
              <a:lstStyle/>
              <a:p>
                <a:endParaRPr lang="es-ES"/>
              </a:p>
            </p:txBody>
          </p:sp>
          <p:sp>
            <p:nvSpPr>
              <p:cNvPr id="24" name="TextBox 24"/>
              <p:cNvSpPr txBox="1"/>
              <p:nvPr/>
            </p:nvSpPr>
            <p:spPr>
              <a:xfrm>
                <a:off x="76200" y="38100"/>
                <a:ext cx="660400" cy="698500"/>
              </a:xfrm>
              <a:prstGeom prst="rect">
                <a:avLst/>
              </a:prstGeom>
            </p:spPr>
            <p:txBody>
              <a:bodyPr lIns="41626" tIns="41626" rIns="41626" bIns="41626" rtlCol="0" anchor="ctr"/>
              <a:lstStyle/>
              <a:p>
                <a:pPr algn="ctr">
                  <a:lnSpc>
                    <a:spcPts val="2660"/>
                  </a:lnSpc>
                </a:pPr>
                <a:endParaRPr/>
              </a:p>
            </p:txBody>
          </p:sp>
        </p:grpSp>
        <p:sp>
          <p:nvSpPr>
            <p:cNvPr id="25" name="AutoShape 25"/>
            <p:cNvSpPr/>
            <p:nvPr/>
          </p:nvSpPr>
          <p:spPr>
            <a:xfrm flipV="1">
              <a:off x="14376920" y="2302273"/>
              <a:ext cx="1030083" cy="0"/>
            </a:xfrm>
            <a:prstGeom prst="line">
              <a:avLst/>
            </a:prstGeom>
            <a:ln w="139700" cap="flat">
              <a:solidFill>
                <a:srgbClr val="4D6BA7"/>
              </a:solidFill>
              <a:prstDash val="solid"/>
              <a:headEnd type="none" w="sm" len="sm"/>
              <a:tailEnd type="triangle" w="lg" len="med"/>
            </a:ln>
          </p:spPr>
          <p:txBody>
            <a:bodyPr/>
            <a:lstStyle/>
            <a:p>
              <a:endParaRPr lang="es-ES"/>
            </a:p>
          </p:txBody>
        </p:sp>
        <p:sp>
          <p:nvSpPr>
            <p:cNvPr id="26" name="AutoShape 26"/>
            <p:cNvSpPr/>
            <p:nvPr/>
          </p:nvSpPr>
          <p:spPr>
            <a:xfrm>
              <a:off x="14954468" y="1198443"/>
              <a:ext cx="676126" cy="777126"/>
            </a:xfrm>
            <a:prstGeom prst="line">
              <a:avLst/>
            </a:prstGeom>
            <a:ln w="139700" cap="flat">
              <a:solidFill>
                <a:srgbClr val="4D6BA7"/>
              </a:solidFill>
              <a:prstDash val="solid"/>
              <a:headEnd type="none" w="sm" len="sm"/>
              <a:tailEnd type="triangle" w="lg" len="med"/>
            </a:ln>
          </p:spPr>
          <p:txBody>
            <a:bodyPr/>
            <a:lstStyle/>
            <a:p>
              <a:endParaRPr lang="es-ES"/>
            </a:p>
          </p:txBody>
        </p:sp>
        <p:sp>
          <p:nvSpPr>
            <p:cNvPr id="27" name="AutoShape 27"/>
            <p:cNvSpPr/>
            <p:nvPr/>
          </p:nvSpPr>
          <p:spPr>
            <a:xfrm flipV="1">
              <a:off x="14857209" y="2717538"/>
              <a:ext cx="808204" cy="638652"/>
            </a:xfrm>
            <a:prstGeom prst="line">
              <a:avLst/>
            </a:prstGeom>
            <a:ln w="139700" cap="flat">
              <a:solidFill>
                <a:srgbClr val="4D6BA7"/>
              </a:solidFill>
              <a:prstDash val="solid"/>
              <a:headEnd type="none" w="sm" len="sm"/>
              <a:tailEnd type="triangle" w="lg" len="med"/>
            </a:ln>
          </p:spPr>
          <p:txBody>
            <a:bodyPr/>
            <a:lstStyle/>
            <a:p>
              <a:endParaRPr lang="es-ES"/>
            </a:p>
          </p:txBody>
        </p:sp>
        <p:sp>
          <p:nvSpPr>
            <p:cNvPr id="28" name="AutoShape 28"/>
            <p:cNvSpPr/>
            <p:nvPr/>
          </p:nvSpPr>
          <p:spPr>
            <a:xfrm flipH="1">
              <a:off x="16006196" y="1146921"/>
              <a:ext cx="575438" cy="854367"/>
            </a:xfrm>
            <a:prstGeom prst="line">
              <a:avLst/>
            </a:prstGeom>
            <a:ln w="139700" cap="flat">
              <a:solidFill>
                <a:srgbClr val="4D6BA7"/>
              </a:solidFill>
              <a:prstDash val="solid"/>
              <a:headEnd type="none" w="sm" len="sm"/>
              <a:tailEnd type="triangle" w="lg" len="med"/>
            </a:ln>
          </p:spPr>
          <p:txBody>
            <a:bodyPr/>
            <a:lstStyle/>
            <a:p>
              <a:endParaRPr lang="es-ES"/>
            </a:p>
          </p:txBody>
        </p:sp>
        <p:sp>
          <p:nvSpPr>
            <p:cNvPr id="29" name="AutoShape 29"/>
            <p:cNvSpPr/>
            <p:nvPr/>
          </p:nvSpPr>
          <p:spPr>
            <a:xfrm flipH="1">
              <a:off x="16210662" y="2343480"/>
              <a:ext cx="1030083" cy="0"/>
            </a:xfrm>
            <a:prstGeom prst="line">
              <a:avLst/>
            </a:prstGeom>
            <a:ln w="139700" cap="flat">
              <a:solidFill>
                <a:srgbClr val="4D6BA7"/>
              </a:solidFill>
              <a:prstDash val="solid"/>
              <a:headEnd type="none" w="sm" len="sm"/>
              <a:tailEnd type="triangle" w="lg" len="med"/>
            </a:ln>
          </p:spPr>
          <p:txBody>
            <a:bodyPr/>
            <a:lstStyle/>
            <a:p>
              <a:endParaRPr lang="es-ES"/>
            </a:p>
          </p:txBody>
        </p:sp>
        <p:sp>
          <p:nvSpPr>
            <p:cNvPr id="30" name="AutoShape 30"/>
            <p:cNvSpPr/>
            <p:nvPr/>
          </p:nvSpPr>
          <p:spPr>
            <a:xfrm flipH="1" flipV="1">
              <a:off x="15975289" y="2692847"/>
              <a:ext cx="803756" cy="644241"/>
            </a:xfrm>
            <a:prstGeom prst="line">
              <a:avLst/>
            </a:prstGeom>
            <a:ln w="139700" cap="flat">
              <a:solidFill>
                <a:srgbClr val="4D6BA7"/>
              </a:solidFill>
              <a:prstDash val="solid"/>
              <a:headEnd type="none" w="sm" len="sm"/>
              <a:tailEnd type="triangle" w="lg" len="med"/>
            </a:ln>
          </p:spPr>
          <p:txBody>
            <a:bodyPr/>
            <a:lstStyle/>
            <a:p>
              <a:endParaRPr lang="es-ES"/>
            </a:p>
          </p:txBody>
        </p:sp>
      </p:grpSp>
      <p:sp>
        <p:nvSpPr>
          <p:cNvPr id="31" name="Freeform 31"/>
          <p:cNvSpPr/>
          <p:nvPr/>
        </p:nvSpPr>
        <p:spPr>
          <a:xfrm>
            <a:off x="12228510" y="5383260"/>
            <a:ext cx="3107048" cy="254877"/>
          </a:xfrm>
          <a:custGeom>
            <a:avLst/>
            <a:gdLst/>
            <a:ahLst/>
            <a:cxnLst/>
            <a:rect l="l" t="t" r="r" b="b"/>
            <a:pathLst>
              <a:path w="3107048" h="254877">
                <a:moveTo>
                  <a:pt x="0" y="0"/>
                </a:moveTo>
                <a:quadBezTo>
                  <a:pt x="1553524" y="509753"/>
                  <a:pt x="3107048" y="0"/>
                </a:quadBezTo>
              </a:path>
            </a:pathLst>
          </a:custGeom>
          <a:ln w="38100" cap="flat">
            <a:solidFill>
              <a:srgbClr val="B9B9B9"/>
            </a:solidFill>
            <a:prstDash val="solid"/>
            <a:headEnd type="none" w="sm" len="sm"/>
            <a:tailEnd type="none" w="sm" len="sm"/>
          </a:ln>
        </p:spPr>
        <p:txBody>
          <a:bodyPr/>
          <a:lstStyle/>
          <a:p>
            <a:endParaRPr lang="es-ES"/>
          </a:p>
        </p:txBody>
      </p:sp>
      <p:sp>
        <p:nvSpPr>
          <p:cNvPr id="32" name="Freeform 32"/>
          <p:cNvSpPr/>
          <p:nvPr/>
        </p:nvSpPr>
        <p:spPr>
          <a:xfrm>
            <a:off x="8401577" y="4339061"/>
            <a:ext cx="3277282" cy="1044199"/>
          </a:xfrm>
          <a:custGeom>
            <a:avLst/>
            <a:gdLst/>
            <a:ahLst/>
            <a:cxnLst/>
            <a:rect l="l" t="t" r="r" b="b"/>
            <a:pathLst>
              <a:path w="3277282" h="1044199">
                <a:moveTo>
                  <a:pt x="0" y="0"/>
                </a:moveTo>
                <a:quadBezTo>
                  <a:pt x="1483890" y="1007795"/>
                  <a:pt x="3277282" y="1044199"/>
                </a:quadBezTo>
              </a:path>
            </a:pathLst>
          </a:custGeom>
          <a:ln w="38100" cap="flat">
            <a:solidFill>
              <a:srgbClr val="B9B9B9"/>
            </a:solidFill>
            <a:prstDash val="solid"/>
            <a:headEnd type="none" w="sm" len="sm"/>
            <a:tailEnd type="none" w="sm" len="sm"/>
          </a:ln>
        </p:spPr>
        <p:txBody>
          <a:bodyPr/>
          <a:lstStyle/>
          <a:p>
            <a:endParaRPr lang="es-ES"/>
          </a:p>
        </p:txBody>
      </p:sp>
      <p:sp>
        <p:nvSpPr>
          <p:cNvPr id="33" name="Freeform 33"/>
          <p:cNvSpPr/>
          <p:nvPr/>
        </p:nvSpPr>
        <p:spPr>
          <a:xfrm>
            <a:off x="4626972" y="4339061"/>
            <a:ext cx="2522721" cy="1428145"/>
          </a:xfrm>
          <a:custGeom>
            <a:avLst/>
            <a:gdLst/>
            <a:ahLst/>
            <a:cxnLst/>
            <a:rect l="l" t="t" r="r" b="b"/>
            <a:pathLst>
              <a:path w="2522721" h="1428145">
                <a:moveTo>
                  <a:pt x="0" y="1428145"/>
                </a:moveTo>
                <a:quadBezTo>
                  <a:pt x="1512490" y="1157674"/>
                  <a:pt x="2522722" y="0"/>
                </a:quadBezTo>
              </a:path>
            </a:pathLst>
          </a:custGeom>
          <a:ln w="38100" cap="flat">
            <a:solidFill>
              <a:srgbClr val="B9B9B9"/>
            </a:solidFill>
            <a:prstDash val="solid"/>
            <a:headEnd type="none" w="sm" len="sm"/>
            <a:tailEnd type="none" w="sm" len="sm"/>
          </a:ln>
        </p:spPr>
        <p:txBody>
          <a:bodyPr/>
          <a:lstStyle/>
          <a:p>
            <a:endParaRPr lang="es-ES"/>
          </a:p>
        </p:txBody>
      </p:sp>
      <p:grpSp>
        <p:nvGrpSpPr>
          <p:cNvPr id="34" name="Group 34"/>
          <p:cNvGrpSpPr/>
          <p:nvPr/>
        </p:nvGrpSpPr>
        <p:grpSpPr>
          <a:xfrm>
            <a:off x="8209603" y="4147088"/>
            <a:ext cx="383946" cy="383946"/>
            <a:chOff x="0" y="0"/>
            <a:chExt cx="812800" cy="812800"/>
          </a:xfrm>
        </p:grpSpPr>
        <p:sp>
          <p:nvSpPr>
            <p:cNvPr id="35" name="Freeform 3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36" name="TextBox 36"/>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grpSp>
        <p:nvGrpSpPr>
          <p:cNvPr id="37" name="Group 37"/>
          <p:cNvGrpSpPr/>
          <p:nvPr/>
        </p:nvGrpSpPr>
        <p:grpSpPr>
          <a:xfrm>
            <a:off x="12036537" y="5191286"/>
            <a:ext cx="383946" cy="383946"/>
            <a:chOff x="0" y="0"/>
            <a:chExt cx="812800" cy="812800"/>
          </a:xfrm>
        </p:grpSpPr>
        <p:sp>
          <p:nvSpPr>
            <p:cNvPr id="38" name="Freeform 3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39" name="TextBox 39"/>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grpSp>
        <p:nvGrpSpPr>
          <p:cNvPr id="40" name="Group 40"/>
          <p:cNvGrpSpPr/>
          <p:nvPr/>
        </p:nvGrpSpPr>
        <p:grpSpPr>
          <a:xfrm>
            <a:off x="3998548" y="5767206"/>
            <a:ext cx="383946" cy="383946"/>
            <a:chOff x="0" y="0"/>
            <a:chExt cx="812800" cy="812800"/>
          </a:xfrm>
        </p:grpSpPr>
        <p:sp>
          <p:nvSpPr>
            <p:cNvPr id="41" name="Freeform 4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42" name="TextBox 42"/>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sp>
        <p:nvSpPr>
          <p:cNvPr id="43" name="Freeform 43"/>
          <p:cNvSpPr/>
          <p:nvPr/>
        </p:nvSpPr>
        <p:spPr>
          <a:xfrm>
            <a:off x="6253337" y="3526136"/>
            <a:ext cx="3029999" cy="3029999"/>
          </a:xfrm>
          <a:custGeom>
            <a:avLst/>
            <a:gdLst/>
            <a:ahLst/>
            <a:cxnLst/>
            <a:rect l="l" t="t" r="r" b="b"/>
            <a:pathLst>
              <a:path w="3029999" h="3029999">
                <a:moveTo>
                  <a:pt x="0" y="0"/>
                </a:moveTo>
                <a:lnTo>
                  <a:pt x="3029999" y="0"/>
                </a:lnTo>
                <a:lnTo>
                  <a:pt x="3029999" y="3029998"/>
                </a:lnTo>
                <a:lnTo>
                  <a:pt x="0" y="3029998"/>
                </a:lnTo>
                <a:lnTo>
                  <a:pt x="0" y="0"/>
                </a:lnTo>
                <a:close/>
              </a:path>
            </a:pathLst>
          </a:custGeom>
          <a:blipFill>
            <a:blip r:embed="rId3"/>
            <a:stretch>
              <a:fillRect/>
            </a:stretch>
          </a:blipFill>
        </p:spPr>
        <p:txBody>
          <a:bodyPr/>
          <a:lstStyle/>
          <a:p>
            <a:endParaRPr lang="es-ES"/>
          </a:p>
        </p:txBody>
      </p:sp>
      <p:sp>
        <p:nvSpPr>
          <p:cNvPr id="44" name="Freeform 44"/>
          <p:cNvSpPr/>
          <p:nvPr/>
        </p:nvSpPr>
        <p:spPr>
          <a:xfrm>
            <a:off x="782282" y="2778322"/>
            <a:ext cx="3966286" cy="3966286"/>
          </a:xfrm>
          <a:custGeom>
            <a:avLst/>
            <a:gdLst/>
            <a:ahLst/>
            <a:cxnLst/>
            <a:rect l="l" t="t" r="r" b="b"/>
            <a:pathLst>
              <a:path w="3966286" h="3966286">
                <a:moveTo>
                  <a:pt x="0" y="0"/>
                </a:moveTo>
                <a:lnTo>
                  <a:pt x="3966286" y="0"/>
                </a:lnTo>
                <a:lnTo>
                  <a:pt x="3966286" y="3966286"/>
                </a:lnTo>
                <a:lnTo>
                  <a:pt x="0" y="3966286"/>
                </a:lnTo>
                <a:lnTo>
                  <a:pt x="0" y="0"/>
                </a:lnTo>
                <a:close/>
              </a:path>
            </a:pathLst>
          </a:custGeom>
          <a:blipFill>
            <a:blip r:embed="rId4"/>
            <a:stretch>
              <a:fillRect/>
            </a:stretch>
          </a:blipFill>
        </p:spPr>
        <p:txBody>
          <a:bodyPr/>
          <a:lstStyle/>
          <a:p>
            <a:endParaRPr lang="es-ES"/>
          </a:p>
        </p:txBody>
      </p:sp>
      <p:sp>
        <p:nvSpPr>
          <p:cNvPr id="45" name="Freeform 45"/>
          <p:cNvSpPr/>
          <p:nvPr/>
        </p:nvSpPr>
        <p:spPr>
          <a:xfrm>
            <a:off x="11201667" y="5041135"/>
            <a:ext cx="1452142" cy="1452142"/>
          </a:xfrm>
          <a:custGeom>
            <a:avLst/>
            <a:gdLst/>
            <a:ahLst/>
            <a:cxnLst/>
            <a:rect l="l" t="t" r="r" b="b"/>
            <a:pathLst>
              <a:path w="1452142" h="1452142">
                <a:moveTo>
                  <a:pt x="0" y="0"/>
                </a:moveTo>
                <a:lnTo>
                  <a:pt x="1452143" y="0"/>
                </a:lnTo>
                <a:lnTo>
                  <a:pt x="1452143" y="1452142"/>
                </a:lnTo>
                <a:lnTo>
                  <a:pt x="0" y="1452142"/>
                </a:lnTo>
                <a:lnTo>
                  <a:pt x="0" y="0"/>
                </a:lnTo>
                <a:close/>
              </a:path>
            </a:pathLst>
          </a:custGeom>
          <a:blipFill>
            <a:blip r:embed="rId5"/>
            <a:stretch>
              <a:fillRect/>
            </a:stretch>
          </a:blipFill>
        </p:spPr>
        <p:txBody>
          <a:bodyPr/>
          <a:lstStyle/>
          <a:p>
            <a:endParaRPr lang="es-ES"/>
          </a:p>
        </p:txBody>
      </p:sp>
      <p:sp>
        <p:nvSpPr>
          <p:cNvPr id="46" name="Freeform 46"/>
          <p:cNvSpPr/>
          <p:nvPr/>
        </p:nvSpPr>
        <p:spPr>
          <a:xfrm>
            <a:off x="15035060" y="4022619"/>
            <a:ext cx="2470658" cy="2470658"/>
          </a:xfrm>
          <a:custGeom>
            <a:avLst/>
            <a:gdLst/>
            <a:ahLst/>
            <a:cxnLst/>
            <a:rect l="l" t="t" r="r" b="b"/>
            <a:pathLst>
              <a:path w="2470658" h="2470658">
                <a:moveTo>
                  <a:pt x="0" y="0"/>
                </a:moveTo>
                <a:lnTo>
                  <a:pt x="2470658" y="0"/>
                </a:lnTo>
                <a:lnTo>
                  <a:pt x="2470658" y="2470658"/>
                </a:lnTo>
                <a:lnTo>
                  <a:pt x="0" y="2470658"/>
                </a:lnTo>
                <a:lnTo>
                  <a:pt x="0" y="0"/>
                </a:lnTo>
                <a:close/>
              </a:path>
            </a:pathLst>
          </a:custGeom>
          <a:blipFill>
            <a:blip r:embed="rId6"/>
            <a:stretch>
              <a:fillRect/>
            </a:stretch>
          </a:blipFill>
        </p:spPr>
        <p:txBody>
          <a:bodyPr/>
          <a:lstStyle/>
          <a:p>
            <a:endParaRPr lang="es-ES"/>
          </a:p>
        </p:txBody>
      </p:sp>
      <p:sp>
        <p:nvSpPr>
          <p:cNvPr id="47" name="TextBox 47"/>
          <p:cNvSpPr txBox="1"/>
          <p:nvPr/>
        </p:nvSpPr>
        <p:spPr>
          <a:xfrm>
            <a:off x="17259300" y="9258300"/>
            <a:ext cx="1028700" cy="1028700"/>
          </a:xfrm>
          <a:prstGeom prst="rect">
            <a:avLst/>
          </a:prstGeom>
        </p:spPr>
        <p:txBody>
          <a:bodyPr lIns="0" tIns="0" rIns="0" bIns="0" rtlCol="0" anchor="t">
            <a:spAutoFit/>
          </a:bodyPr>
          <a:lstStyle/>
          <a:p>
            <a:pPr algn="ctr">
              <a:lnSpc>
                <a:spcPts val="8399"/>
              </a:lnSpc>
              <a:spcBef>
                <a:spcPct val="0"/>
              </a:spcBef>
            </a:pPr>
            <a:r>
              <a:rPr lang="en-US" sz="5999">
                <a:solidFill>
                  <a:srgbClr val="FFFFFF"/>
                </a:solidFill>
                <a:latin typeface="Bantayog"/>
                <a:ea typeface="Bantayog"/>
                <a:cs typeface="Bantayog"/>
                <a:sym typeface="Bantayog"/>
              </a:rPr>
              <a:t>2</a:t>
            </a:r>
          </a:p>
        </p:txBody>
      </p:sp>
      <p:sp>
        <p:nvSpPr>
          <p:cNvPr id="48" name="TextBox 48"/>
          <p:cNvSpPr txBox="1"/>
          <p:nvPr/>
        </p:nvSpPr>
        <p:spPr>
          <a:xfrm>
            <a:off x="3682259" y="494206"/>
            <a:ext cx="10923483"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PARADIGMA INICIAL</a:t>
            </a:r>
          </a:p>
        </p:txBody>
      </p:sp>
    </p:spTree>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repeatCount="indefinite" accel="50000" decel="50000" fill="hold" nodeType="afterEffect">
                                  <p:stCondLst>
                                    <p:cond delay="0"/>
                                  </p:stCondLst>
                                  <p:childTnLst>
                                    <p:animMotion origin="layout" path="M 0.00052 0.00124 L 0.00052 0.00124 L 0.00911 -0.00154 C 0.01146 -0.00247 0.01371 -0.0037 0.01614 -0.00432 C 0.0184 -0.00509 0.02083 -0.00525 0.02317 -0.00571 C 0.02474 -0.00617 0.0263 -0.00663 0.02786 -0.0071 C 0.03845 -0.01528 0.02777 -0.00772 0.04192 -0.01543 C 0.05052 -0.02022 0.0408 -0.01682 0.05052 -0.0196 C 0.05208 -0.02099 0.05364 -0.02238 0.05521 -0.02376 C 0.05651 -0.02515 0.05764 -0.02685 0.05911 -0.02793 C 0.06553 -0.03302 0.06762 -0.03349 0.07396 -0.03626 C 0.07656 -0.03873 0.09062 -0.05077 0.09271 -0.05432 C 0.10356 -0.07376 0.08906 -0.04846 0.1013 -0.06821 C 0.10286 -0.07099 0.10425 -0.07407 0.10599 -0.07654 C 0.11102 -0.0841 0.10998 -0.0804 0.11536 -0.08626 C 0.12413 -0.09599 0.11762 -0.08997 0.12552 -0.10154 C 0.13802 -0.12022 0.12109 -0.09228 0.13646 -0.11265 C 0.14184 -0.11991 0.14201 -0.12315 0.14583 -0.13071 C 0.14678 -0.13272 0.148 -0.13426 0.14896 -0.13626 C 0.14965 -0.13796 0.14982 -0.14028 0.15052 -0.14182 C 0.15113 -0.14352 0.15208 -0.1446 0.15286 -0.14599 C 0.15338 -0.14738 0.1539 -0.14876 0.15442 -0.15015 C 0.15468 -0.15154 0.15468 -0.15324 0.15521 -0.15432 C 0.15581 -0.15602 0.15677 -0.1571 0.15755 -0.15849 L 0.15833 -0.15988 " pathEditMode="relative" ptsTypes="AAAAAAAAAAAAAAAAAAAAAAAAA">
                                      <p:cBhvr>
                                        <p:cTn id="6" dur="1300" fill="hold"/>
                                        <p:tgtEl>
                                          <p:spTgt spid="40"/>
                                        </p:tgtEl>
                                        <p:attrNameLst>
                                          <p:attrName>ppt_x</p:attrName>
                                          <p:attrName>ppt_y</p:attrName>
                                        </p:attrNameLst>
                                      </p:cBhvr>
                                    </p:animMotion>
                                  </p:childTnLst>
                                </p:cTn>
                              </p:par>
                            </p:childTnLst>
                          </p:cTn>
                        </p:par>
                        <p:par>
                          <p:cTn id="7" fill="hold">
                            <p:stCondLst>
                              <p:cond delay="1300"/>
                            </p:stCondLst>
                            <p:childTnLst>
                              <p:par>
                                <p:cTn id="8" presetID="1" presetClass="entr" presetSubtype="0" fill="hold" nodeType="afterEffect">
                                  <p:stCondLst>
                                    <p:cond delay="0"/>
                                  </p:stCondLst>
                                  <p:childTnLst>
                                    <p:set>
                                      <p:cBhvr>
                                        <p:cTn id="9" dur="1" fill="hold">
                                          <p:stCondLst>
                                            <p:cond delay="0"/>
                                          </p:stCondLst>
                                        </p:cTn>
                                        <p:tgtEl>
                                          <p:spTgt spid="34"/>
                                        </p:tgtEl>
                                        <p:attrNameLst>
                                          <p:attrName>style.visibility</p:attrName>
                                        </p:attrNameLst>
                                      </p:cBhvr>
                                      <p:to>
                                        <p:strVal val="visible"/>
                                      </p:to>
                                    </p:set>
                                  </p:childTnLst>
                                </p:cTn>
                              </p:par>
                            </p:childTnLst>
                          </p:cTn>
                        </p:par>
                        <p:par>
                          <p:cTn id="10" fill="hold">
                            <p:stCondLst>
                              <p:cond delay="1300"/>
                            </p:stCondLst>
                            <p:childTnLst>
                              <p:par>
                                <p:cTn id="11" presetID="0" presetClass="path" presetSubtype="0" repeatCount="indefinite" accel="50000" decel="50000" fill="hold" nodeType="afterEffect">
                                  <p:stCondLst>
                                    <p:cond delay="0"/>
                                  </p:stCondLst>
                                  <p:childTnLst>
                                    <p:animMotion origin="layout" path="M -0.00156 0.00463 L -0.00156 0.00463 C 0.00131 0.00494 0.00434 0.00386 0.00704 0.00586 C 0.01112 0.0091 0.01381 0.01651 0.01797 0.01975 C 0.02032 0.0216 0.02275 0.02299 0.02501 0.02531 C 0.02674 0.02716 0.02804 0.03009 0.02969 0.03225 C 0.03143 0.03472 0.03343 0.03657 0.03516 0.0392 C 0.03664 0.04167 0.03733 0.04568 0.03907 0.04753 C 0.04037 0.04907 0.04218 0.04846 0.04375 0.04892 C 0.05148 0.05494 0.05382 0.0571 0.06093 0.06142 C 0.06319 0.06296 0.06553 0.06466 0.06797 0.06559 C 0.06997 0.06651 0.07213 0.06651 0.07422 0.06697 C 0.07856 0.07037 0.08195 0.0733 0.08672 0.07531 C 0.08846 0.07608 0.09037 0.07623 0.09218 0.0767 C 0.09402 0.07809 0.09575 0.07994 0.09766 0.08086 C 0.09905 0.08164 0.10947 0.08349 0.11016 0.08364 C 0.11224 0.08457 0.11433 0.08518 0.11641 0.08642 C 0.11823 0.0875 0.11988 0.08997 0.12188 0.09059 C 0.1283 0.09275 0.1349 0.09321 0.14141 0.09475 C 0.14428 0.09552 0.14705 0.09691 0.15001 0.09753 C 0.15278 0.0983 0.15573 0.09846 0.1586 0.09892 C 0.16876 0.10077 0.16094 0.10031 0.17188 0.10031 " pathEditMode="relative" ptsTypes="AAAAAAAAAAAAAAAAAAAAAA">
                                      <p:cBhvr>
                                        <p:cTn id="12" dur="1300" fill="hold"/>
                                        <p:tgtEl>
                                          <p:spTgt spid="34"/>
                                        </p:tgtEl>
                                        <p:attrNameLst>
                                          <p:attrName>ppt_x</p:attrName>
                                          <p:attrName>ppt_y</p:attrName>
                                        </p:attrNameLst>
                                      </p:cBhvr>
                                    </p:animMotion>
                                  </p:childTnLst>
                                </p:cTn>
                              </p:par>
                            </p:childTnLst>
                          </p:cTn>
                        </p:par>
                        <p:par>
                          <p:cTn id="13" fill="hold">
                            <p:stCondLst>
                              <p:cond delay="2600"/>
                            </p:stCondLst>
                            <p:childTnLst>
                              <p:par>
                                <p:cTn id="14" presetID="1" presetClass="entr" presetSubtype="0" fill="hold" nodeType="afterEffect">
                                  <p:stCondLst>
                                    <p:cond delay="0"/>
                                  </p:stCondLst>
                                  <p:childTnLst>
                                    <p:set>
                                      <p:cBhvr>
                                        <p:cTn id="15" dur="1" fill="hold">
                                          <p:stCondLst>
                                            <p:cond delay="0"/>
                                          </p:stCondLst>
                                        </p:cTn>
                                        <p:tgtEl>
                                          <p:spTgt spid="37"/>
                                        </p:tgtEl>
                                        <p:attrNameLst>
                                          <p:attrName>style.visibility</p:attrName>
                                        </p:attrNameLst>
                                      </p:cBhvr>
                                      <p:to>
                                        <p:strVal val="visible"/>
                                      </p:to>
                                    </p:set>
                                  </p:childTnLst>
                                </p:cTn>
                              </p:par>
                            </p:childTnLst>
                          </p:cTn>
                        </p:par>
                        <p:par>
                          <p:cTn id="16" fill="hold">
                            <p:stCondLst>
                              <p:cond delay="2600"/>
                            </p:stCondLst>
                            <p:childTnLst>
                              <p:par>
                                <p:cTn id="17" presetID="0" presetClass="path" presetSubtype="0" repeatCount="indefinite" accel="50000" decel="50000" fill="hold" nodeType="afterEffect">
                                  <p:stCondLst>
                                    <p:cond delay="0"/>
                                  </p:stCondLst>
                                  <p:childTnLst>
                                    <p:animMotion origin="layout" path="M 0.00712 0.00155 L 0.00712 0.00155 C 0.01302 0.00324 0.01988 0.00494 0.02587 0.0071 C 0.02795 0.00803 0.03004 0.00895 0.03212 0.00988 C 0.03473 0.01127 0.03724 0.01327 0.03993 0.01405 C 0.04401 0.01559 0.04827 0.0159 0.05243 0.01682 L 0.05782 0.01821 C 0.08273 0.01775 0.11519 0.02315 0.14219 0.01266 C 0.16051 0.00571 0.15113 0.00972 0.16181 0.00016 C 0.16302 -0.00092 0.16441 -0.00139 0.16563 -0.00262 C 0.16702 -0.0037 0.16823 -0.00555 0.16962 -0.00679 C 0.17032 -0.0074 0.17197 -0.00802 0.17197 -0.00802 " pathEditMode="relative" ptsTypes="AAAAAAAAAAAA">
                                      <p:cBhvr>
                                        <p:cTn id="18" dur="1300" fill="hold"/>
                                        <p:tgtEl>
                                          <p:spTgt spid="37"/>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41088" y="8354648"/>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Freeform 14"/>
          <p:cNvSpPr/>
          <p:nvPr/>
        </p:nvSpPr>
        <p:spPr>
          <a:xfrm>
            <a:off x="9380129" y="6023013"/>
            <a:ext cx="855209" cy="1227893"/>
          </a:xfrm>
          <a:custGeom>
            <a:avLst/>
            <a:gdLst/>
            <a:ahLst/>
            <a:cxnLst/>
            <a:rect l="l" t="t" r="r" b="b"/>
            <a:pathLst>
              <a:path w="855209" h="1227893">
                <a:moveTo>
                  <a:pt x="0" y="1227893"/>
                </a:moveTo>
                <a:quadBezTo>
                  <a:pt x="818474" y="1125976"/>
                  <a:pt x="855209" y="0"/>
                </a:quadBezTo>
              </a:path>
            </a:pathLst>
          </a:custGeom>
          <a:ln w="38100" cap="flat">
            <a:solidFill>
              <a:srgbClr val="B9B9B9"/>
            </a:solidFill>
            <a:prstDash val="solid"/>
            <a:headEnd type="none" w="sm" len="sm"/>
            <a:tailEnd type="none" w="sm" len="sm"/>
          </a:ln>
        </p:spPr>
        <p:txBody>
          <a:bodyPr/>
          <a:lstStyle/>
          <a:p>
            <a:endParaRPr lang="es-ES"/>
          </a:p>
        </p:txBody>
      </p:sp>
      <p:sp>
        <p:nvSpPr>
          <p:cNvPr id="15" name="Freeform 15"/>
          <p:cNvSpPr/>
          <p:nvPr/>
        </p:nvSpPr>
        <p:spPr>
          <a:xfrm>
            <a:off x="6114358" y="5274604"/>
            <a:ext cx="2658408" cy="1988074"/>
          </a:xfrm>
          <a:custGeom>
            <a:avLst/>
            <a:gdLst/>
            <a:ahLst/>
            <a:cxnLst/>
            <a:rect l="l" t="t" r="r" b="b"/>
            <a:pathLst>
              <a:path w="2658408" h="1988074">
                <a:moveTo>
                  <a:pt x="0" y="0"/>
                </a:moveTo>
                <a:quadBezTo>
                  <a:pt x="746398" y="2141054"/>
                  <a:pt x="2658408" y="1976302"/>
                </a:quadBezTo>
              </a:path>
            </a:pathLst>
          </a:custGeom>
          <a:ln w="38100" cap="flat">
            <a:solidFill>
              <a:srgbClr val="B9B9B9"/>
            </a:solidFill>
            <a:prstDash val="solid"/>
            <a:headEnd type="none" w="sm" len="sm"/>
            <a:tailEnd type="none" w="sm" len="sm"/>
          </a:ln>
        </p:spPr>
        <p:txBody>
          <a:bodyPr/>
          <a:lstStyle/>
          <a:p>
            <a:endParaRPr lang="es-ES"/>
          </a:p>
        </p:txBody>
      </p:sp>
      <p:sp>
        <p:nvSpPr>
          <p:cNvPr id="16" name="Freeform 16"/>
          <p:cNvSpPr/>
          <p:nvPr/>
        </p:nvSpPr>
        <p:spPr>
          <a:xfrm>
            <a:off x="3682259" y="4531034"/>
            <a:ext cx="1151014" cy="747283"/>
          </a:xfrm>
          <a:custGeom>
            <a:avLst/>
            <a:gdLst/>
            <a:ahLst/>
            <a:cxnLst/>
            <a:rect l="l" t="t" r="r" b="b"/>
            <a:pathLst>
              <a:path w="1151014" h="747283">
                <a:moveTo>
                  <a:pt x="0" y="0"/>
                </a:moveTo>
                <a:quadBezTo>
                  <a:pt x="298899" y="799963"/>
                  <a:pt x="1151014" y="743570"/>
                </a:quadBezTo>
              </a:path>
            </a:pathLst>
          </a:custGeom>
          <a:ln w="38100" cap="flat">
            <a:solidFill>
              <a:srgbClr val="B9B9B9"/>
            </a:solidFill>
            <a:prstDash val="solid"/>
            <a:headEnd type="none" w="sm" len="sm"/>
            <a:tailEnd type="none" w="sm" len="sm"/>
          </a:ln>
        </p:spPr>
        <p:txBody>
          <a:bodyPr/>
          <a:lstStyle/>
          <a:p>
            <a:endParaRPr lang="es-ES"/>
          </a:p>
        </p:txBody>
      </p:sp>
      <p:sp>
        <p:nvSpPr>
          <p:cNvPr id="17" name="Freeform 17"/>
          <p:cNvSpPr/>
          <p:nvPr/>
        </p:nvSpPr>
        <p:spPr>
          <a:xfrm>
            <a:off x="9380129" y="5274604"/>
            <a:ext cx="2139147" cy="1998073"/>
          </a:xfrm>
          <a:custGeom>
            <a:avLst/>
            <a:gdLst/>
            <a:ahLst/>
            <a:cxnLst/>
            <a:rect l="l" t="t" r="r" b="b"/>
            <a:pathLst>
              <a:path w="2139147" h="1998073">
                <a:moveTo>
                  <a:pt x="0" y="1976302"/>
                </a:moveTo>
                <a:quadBezTo>
                  <a:pt x="1433625" y="2206638"/>
                  <a:pt x="2139147" y="0"/>
                </a:quadBezTo>
              </a:path>
            </a:pathLst>
          </a:custGeom>
          <a:ln w="38100" cap="flat">
            <a:solidFill>
              <a:srgbClr val="B9B9B9"/>
            </a:solidFill>
            <a:prstDash val="solid"/>
            <a:headEnd type="none" w="sm" len="sm"/>
            <a:tailEnd type="none" w="sm" len="sm"/>
          </a:ln>
        </p:spPr>
        <p:txBody>
          <a:bodyPr/>
          <a:lstStyle/>
          <a:p>
            <a:endParaRPr lang="es-ES"/>
          </a:p>
        </p:txBody>
      </p:sp>
      <p:sp>
        <p:nvSpPr>
          <p:cNvPr id="18" name="Freeform 18"/>
          <p:cNvSpPr/>
          <p:nvPr/>
        </p:nvSpPr>
        <p:spPr>
          <a:xfrm>
            <a:off x="13654787" y="2481975"/>
            <a:ext cx="3063661" cy="3063661"/>
          </a:xfrm>
          <a:custGeom>
            <a:avLst/>
            <a:gdLst/>
            <a:ahLst/>
            <a:cxnLst/>
            <a:rect l="l" t="t" r="r" b="b"/>
            <a:pathLst>
              <a:path w="3063661" h="3063661">
                <a:moveTo>
                  <a:pt x="0" y="0"/>
                </a:moveTo>
                <a:lnTo>
                  <a:pt x="3063661" y="0"/>
                </a:lnTo>
                <a:lnTo>
                  <a:pt x="3063661" y="3063661"/>
                </a:lnTo>
                <a:lnTo>
                  <a:pt x="0" y="3063661"/>
                </a:lnTo>
                <a:lnTo>
                  <a:pt x="0" y="0"/>
                </a:lnTo>
                <a:close/>
              </a:path>
            </a:pathLst>
          </a:custGeom>
          <a:blipFill>
            <a:blip r:embed="rId3"/>
            <a:stretch>
              <a:fillRect/>
            </a:stretch>
          </a:blipFill>
        </p:spPr>
        <p:txBody>
          <a:bodyPr/>
          <a:lstStyle/>
          <a:p>
            <a:endParaRPr lang="es-ES"/>
          </a:p>
        </p:txBody>
      </p:sp>
      <p:sp>
        <p:nvSpPr>
          <p:cNvPr id="19" name="Freeform 19"/>
          <p:cNvSpPr/>
          <p:nvPr/>
        </p:nvSpPr>
        <p:spPr>
          <a:xfrm>
            <a:off x="12770836" y="4995353"/>
            <a:ext cx="2415781" cy="618921"/>
          </a:xfrm>
          <a:custGeom>
            <a:avLst/>
            <a:gdLst/>
            <a:ahLst/>
            <a:cxnLst/>
            <a:rect l="l" t="t" r="r" b="b"/>
            <a:pathLst>
              <a:path w="2415781" h="618921">
                <a:moveTo>
                  <a:pt x="0" y="279251"/>
                </a:moveTo>
                <a:quadBezTo>
                  <a:pt x="1760863" y="1077429"/>
                  <a:pt x="2415781" y="0"/>
                </a:quadBezTo>
              </a:path>
            </a:pathLst>
          </a:custGeom>
          <a:ln w="38100" cap="flat">
            <a:solidFill>
              <a:srgbClr val="B9B9B9"/>
            </a:solidFill>
            <a:prstDash val="solid"/>
            <a:headEnd type="none" w="sm" len="sm"/>
            <a:tailEnd type="none" w="sm" len="sm"/>
          </a:ln>
        </p:spPr>
        <p:txBody>
          <a:bodyPr/>
          <a:lstStyle/>
          <a:p>
            <a:endParaRPr lang="es-ES"/>
          </a:p>
        </p:txBody>
      </p:sp>
      <p:grpSp>
        <p:nvGrpSpPr>
          <p:cNvPr id="20" name="Group 20"/>
          <p:cNvGrpSpPr/>
          <p:nvPr/>
        </p:nvGrpSpPr>
        <p:grpSpPr>
          <a:xfrm>
            <a:off x="14994644" y="4803380"/>
            <a:ext cx="383946" cy="383946"/>
            <a:chOff x="0" y="0"/>
            <a:chExt cx="812800" cy="812800"/>
          </a:xfrm>
        </p:grpSpPr>
        <p:sp>
          <p:nvSpPr>
            <p:cNvPr id="21" name="Freeform 2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22" name="TextBox 22"/>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grpSp>
        <p:nvGrpSpPr>
          <p:cNvPr id="23" name="Group 23"/>
          <p:cNvGrpSpPr/>
          <p:nvPr/>
        </p:nvGrpSpPr>
        <p:grpSpPr>
          <a:xfrm>
            <a:off x="11256444" y="5232747"/>
            <a:ext cx="383946" cy="383946"/>
            <a:chOff x="0" y="0"/>
            <a:chExt cx="812800" cy="812800"/>
          </a:xfrm>
        </p:grpSpPr>
        <p:sp>
          <p:nvSpPr>
            <p:cNvPr id="24" name="Freeform 2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25" name="TextBox 25"/>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grpSp>
        <p:nvGrpSpPr>
          <p:cNvPr id="26" name="Group 26"/>
          <p:cNvGrpSpPr/>
          <p:nvPr/>
        </p:nvGrpSpPr>
        <p:grpSpPr>
          <a:xfrm>
            <a:off x="9322877" y="7018506"/>
            <a:ext cx="383946" cy="383946"/>
            <a:chOff x="0" y="0"/>
            <a:chExt cx="812800" cy="812800"/>
          </a:xfrm>
        </p:grpSpPr>
        <p:sp>
          <p:nvSpPr>
            <p:cNvPr id="27" name="Freeform 2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28" name="TextBox 28"/>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grpSp>
        <p:nvGrpSpPr>
          <p:cNvPr id="29" name="Group 29"/>
          <p:cNvGrpSpPr/>
          <p:nvPr/>
        </p:nvGrpSpPr>
        <p:grpSpPr>
          <a:xfrm>
            <a:off x="3384037" y="4137563"/>
            <a:ext cx="383946" cy="383946"/>
            <a:chOff x="0" y="0"/>
            <a:chExt cx="812800" cy="812800"/>
          </a:xfrm>
        </p:grpSpPr>
        <p:sp>
          <p:nvSpPr>
            <p:cNvPr id="30" name="Freeform 3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31" name="TextBox 31"/>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grpSp>
        <p:nvGrpSpPr>
          <p:cNvPr id="32" name="Group 32"/>
          <p:cNvGrpSpPr/>
          <p:nvPr/>
        </p:nvGrpSpPr>
        <p:grpSpPr>
          <a:xfrm>
            <a:off x="6018298" y="5274604"/>
            <a:ext cx="383946" cy="383946"/>
            <a:chOff x="0" y="0"/>
            <a:chExt cx="812800" cy="812800"/>
          </a:xfrm>
        </p:grpSpPr>
        <p:sp>
          <p:nvSpPr>
            <p:cNvPr id="33" name="Freeform 3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34" name="TextBox 34"/>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sp>
        <p:nvSpPr>
          <p:cNvPr id="35" name="Freeform 35"/>
          <p:cNvSpPr/>
          <p:nvPr/>
        </p:nvSpPr>
        <p:spPr>
          <a:xfrm>
            <a:off x="3998548" y="4666572"/>
            <a:ext cx="3029999" cy="3029999"/>
          </a:xfrm>
          <a:custGeom>
            <a:avLst/>
            <a:gdLst/>
            <a:ahLst/>
            <a:cxnLst/>
            <a:rect l="l" t="t" r="r" b="b"/>
            <a:pathLst>
              <a:path w="3029999" h="3029999">
                <a:moveTo>
                  <a:pt x="0" y="0"/>
                </a:moveTo>
                <a:lnTo>
                  <a:pt x="3029998" y="0"/>
                </a:lnTo>
                <a:lnTo>
                  <a:pt x="3029998" y="3029999"/>
                </a:lnTo>
                <a:lnTo>
                  <a:pt x="0" y="3029999"/>
                </a:lnTo>
                <a:lnTo>
                  <a:pt x="0" y="0"/>
                </a:lnTo>
                <a:close/>
              </a:path>
            </a:pathLst>
          </a:custGeom>
          <a:blipFill>
            <a:blip r:embed="rId4"/>
            <a:stretch>
              <a:fillRect/>
            </a:stretch>
          </a:blipFill>
        </p:spPr>
        <p:txBody>
          <a:bodyPr/>
          <a:lstStyle/>
          <a:p>
            <a:endParaRPr lang="es-ES"/>
          </a:p>
        </p:txBody>
      </p:sp>
      <p:sp>
        <p:nvSpPr>
          <p:cNvPr id="36" name="Freeform 36"/>
          <p:cNvSpPr/>
          <p:nvPr/>
        </p:nvSpPr>
        <p:spPr>
          <a:xfrm>
            <a:off x="1098571" y="1846040"/>
            <a:ext cx="2899976" cy="2899976"/>
          </a:xfrm>
          <a:custGeom>
            <a:avLst/>
            <a:gdLst/>
            <a:ahLst/>
            <a:cxnLst/>
            <a:rect l="l" t="t" r="r" b="b"/>
            <a:pathLst>
              <a:path w="2899976" h="2899976">
                <a:moveTo>
                  <a:pt x="0" y="0"/>
                </a:moveTo>
                <a:lnTo>
                  <a:pt x="2899977" y="0"/>
                </a:lnTo>
                <a:lnTo>
                  <a:pt x="2899977" y="2899976"/>
                </a:lnTo>
                <a:lnTo>
                  <a:pt x="0" y="2899976"/>
                </a:lnTo>
                <a:lnTo>
                  <a:pt x="0" y="0"/>
                </a:lnTo>
                <a:close/>
              </a:path>
            </a:pathLst>
          </a:custGeom>
          <a:blipFill>
            <a:blip r:embed="rId5"/>
            <a:stretch>
              <a:fillRect/>
            </a:stretch>
          </a:blipFill>
        </p:spPr>
        <p:txBody>
          <a:bodyPr/>
          <a:lstStyle/>
          <a:p>
            <a:endParaRPr lang="es-ES"/>
          </a:p>
        </p:txBody>
      </p:sp>
      <p:sp>
        <p:nvSpPr>
          <p:cNvPr id="37" name="Freeform 37"/>
          <p:cNvSpPr/>
          <p:nvPr/>
        </p:nvSpPr>
        <p:spPr>
          <a:xfrm>
            <a:off x="8306626" y="7018506"/>
            <a:ext cx="1452142" cy="1452142"/>
          </a:xfrm>
          <a:custGeom>
            <a:avLst/>
            <a:gdLst/>
            <a:ahLst/>
            <a:cxnLst/>
            <a:rect l="l" t="t" r="r" b="b"/>
            <a:pathLst>
              <a:path w="1452142" h="1452142">
                <a:moveTo>
                  <a:pt x="0" y="0"/>
                </a:moveTo>
                <a:lnTo>
                  <a:pt x="1452142" y="0"/>
                </a:lnTo>
                <a:lnTo>
                  <a:pt x="1452142" y="1452143"/>
                </a:lnTo>
                <a:lnTo>
                  <a:pt x="0" y="1452143"/>
                </a:lnTo>
                <a:lnTo>
                  <a:pt x="0" y="0"/>
                </a:lnTo>
                <a:close/>
              </a:path>
            </a:pathLst>
          </a:custGeom>
          <a:blipFill>
            <a:blip r:embed="rId6"/>
            <a:stretch>
              <a:fillRect/>
            </a:stretch>
          </a:blipFill>
        </p:spPr>
        <p:txBody>
          <a:bodyPr/>
          <a:lstStyle/>
          <a:p>
            <a:endParaRPr lang="es-ES"/>
          </a:p>
        </p:txBody>
      </p:sp>
      <p:grpSp>
        <p:nvGrpSpPr>
          <p:cNvPr id="38" name="Group 38"/>
          <p:cNvGrpSpPr/>
          <p:nvPr/>
        </p:nvGrpSpPr>
        <p:grpSpPr>
          <a:xfrm>
            <a:off x="7803081" y="1846040"/>
            <a:ext cx="2681839" cy="4335532"/>
            <a:chOff x="0" y="0"/>
            <a:chExt cx="3575785" cy="5780709"/>
          </a:xfrm>
        </p:grpSpPr>
        <p:sp>
          <p:nvSpPr>
            <p:cNvPr id="39" name="Freeform 39"/>
            <p:cNvSpPr/>
            <p:nvPr/>
          </p:nvSpPr>
          <p:spPr>
            <a:xfrm>
              <a:off x="0" y="2486498"/>
              <a:ext cx="3294211" cy="3294211"/>
            </a:xfrm>
            <a:custGeom>
              <a:avLst/>
              <a:gdLst/>
              <a:ahLst/>
              <a:cxnLst/>
              <a:rect l="l" t="t" r="r" b="b"/>
              <a:pathLst>
                <a:path w="3294211" h="3294211">
                  <a:moveTo>
                    <a:pt x="0" y="0"/>
                  </a:moveTo>
                  <a:lnTo>
                    <a:pt x="3294211" y="0"/>
                  </a:lnTo>
                  <a:lnTo>
                    <a:pt x="3294211" y="3294211"/>
                  </a:lnTo>
                  <a:lnTo>
                    <a:pt x="0" y="3294211"/>
                  </a:lnTo>
                  <a:lnTo>
                    <a:pt x="0" y="0"/>
                  </a:lnTo>
                  <a:close/>
                </a:path>
              </a:pathLst>
            </a:custGeom>
            <a:blipFill>
              <a:blip r:embed="rId7"/>
              <a:stretch>
                <a:fillRect/>
              </a:stretch>
            </a:blipFill>
          </p:spPr>
          <p:txBody>
            <a:bodyPr/>
            <a:lstStyle/>
            <a:p>
              <a:endParaRPr lang="es-ES"/>
            </a:p>
          </p:txBody>
        </p:sp>
        <p:sp>
          <p:nvSpPr>
            <p:cNvPr id="40" name="Freeform 40"/>
            <p:cNvSpPr/>
            <p:nvPr/>
          </p:nvSpPr>
          <p:spPr>
            <a:xfrm>
              <a:off x="540365" y="0"/>
              <a:ext cx="3035420" cy="3035420"/>
            </a:xfrm>
            <a:custGeom>
              <a:avLst/>
              <a:gdLst/>
              <a:ahLst/>
              <a:cxnLst/>
              <a:rect l="l" t="t" r="r" b="b"/>
              <a:pathLst>
                <a:path w="3035420" h="3035420">
                  <a:moveTo>
                    <a:pt x="0" y="0"/>
                  </a:moveTo>
                  <a:lnTo>
                    <a:pt x="3035420" y="0"/>
                  </a:lnTo>
                  <a:lnTo>
                    <a:pt x="3035420" y="3035420"/>
                  </a:lnTo>
                  <a:lnTo>
                    <a:pt x="0" y="3035420"/>
                  </a:lnTo>
                  <a:lnTo>
                    <a:pt x="0" y="0"/>
                  </a:lnTo>
                  <a:close/>
                </a:path>
              </a:pathLst>
            </a:custGeom>
            <a:blipFill>
              <a:blip r:embed="rId8"/>
              <a:stretch>
                <a:fillRect/>
              </a:stretch>
            </a:blipFill>
          </p:spPr>
          <p:txBody>
            <a:bodyPr/>
            <a:lstStyle/>
            <a:p>
              <a:endParaRPr lang="es-ES"/>
            </a:p>
          </p:txBody>
        </p:sp>
      </p:grpSp>
      <p:sp>
        <p:nvSpPr>
          <p:cNvPr id="41" name="Freeform 41"/>
          <p:cNvSpPr/>
          <p:nvPr/>
        </p:nvSpPr>
        <p:spPr>
          <a:xfrm>
            <a:off x="10624788" y="4666572"/>
            <a:ext cx="3029999" cy="3029999"/>
          </a:xfrm>
          <a:custGeom>
            <a:avLst/>
            <a:gdLst/>
            <a:ahLst/>
            <a:cxnLst/>
            <a:rect l="l" t="t" r="r" b="b"/>
            <a:pathLst>
              <a:path w="3029999" h="3029999">
                <a:moveTo>
                  <a:pt x="0" y="0"/>
                </a:moveTo>
                <a:lnTo>
                  <a:pt x="3029999" y="0"/>
                </a:lnTo>
                <a:lnTo>
                  <a:pt x="3029999" y="3029999"/>
                </a:lnTo>
                <a:lnTo>
                  <a:pt x="0" y="3029999"/>
                </a:lnTo>
                <a:lnTo>
                  <a:pt x="0" y="0"/>
                </a:lnTo>
                <a:close/>
              </a:path>
            </a:pathLst>
          </a:custGeom>
          <a:blipFill>
            <a:blip r:embed="rId4"/>
            <a:stretch>
              <a:fillRect/>
            </a:stretch>
          </a:blipFill>
        </p:spPr>
        <p:txBody>
          <a:bodyPr/>
          <a:lstStyle/>
          <a:p>
            <a:endParaRPr lang="es-ES"/>
          </a:p>
        </p:txBody>
      </p:sp>
      <p:sp>
        <p:nvSpPr>
          <p:cNvPr id="42" name="TextBox 42"/>
          <p:cNvSpPr txBox="1"/>
          <p:nvPr/>
        </p:nvSpPr>
        <p:spPr>
          <a:xfrm>
            <a:off x="17259300" y="9258300"/>
            <a:ext cx="1028700" cy="1028700"/>
          </a:xfrm>
          <a:prstGeom prst="rect">
            <a:avLst/>
          </a:prstGeom>
        </p:spPr>
        <p:txBody>
          <a:bodyPr lIns="0" tIns="0" rIns="0" bIns="0" rtlCol="0" anchor="t">
            <a:spAutoFit/>
          </a:bodyPr>
          <a:lstStyle/>
          <a:p>
            <a:pPr algn="ctr">
              <a:lnSpc>
                <a:spcPts val="8399"/>
              </a:lnSpc>
              <a:spcBef>
                <a:spcPct val="0"/>
              </a:spcBef>
            </a:pPr>
            <a:r>
              <a:rPr lang="en-US" sz="5999">
                <a:solidFill>
                  <a:srgbClr val="FFFFFF"/>
                </a:solidFill>
                <a:latin typeface="Bantayog"/>
                <a:ea typeface="Bantayog"/>
                <a:cs typeface="Bantayog"/>
                <a:sym typeface="Bantayog"/>
              </a:rPr>
              <a:t>3</a:t>
            </a:r>
          </a:p>
        </p:txBody>
      </p:sp>
      <p:sp>
        <p:nvSpPr>
          <p:cNvPr id="43" name="TextBox 43"/>
          <p:cNvSpPr txBox="1"/>
          <p:nvPr/>
        </p:nvSpPr>
        <p:spPr>
          <a:xfrm>
            <a:off x="3682259" y="494206"/>
            <a:ext cx="10923483"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PARADIGMA ACTUAL</a:t>
            </a:r>
          </a:p>
        </p:txBody>
      </p:sp>
      <p:grpSp>
        <p:nvGrpSpPr>
          <p:cNvPr id="44" name="Group 44"/>
          <p:cNvGrpSpPr/>
          <p:nvPr/>
        </p:nvGrpSpPr>
        <p:grpSpPr>
          <a:xfrm>
            <a:off x="1688818" y="7968999"/>
            <a:ext cx="12155072" cy="2161202"/>
            <a:chOff x="0" y="-114300"/>
            <a:chExt cx="16206763" cy="2881603"/>
          </a:xfrm>
        </p:grpSpPr>
        <p:sp>
          <p:nvSpPr>
            <p:cNvPr id="45" name="AutoShape 45"/>
            <p:cNvSpPr/>
            <p:nvPr/>
          </p:nvSpPr>
          <p:spPr>
            <a:xfrm>
              <a:off x="1913843" y="2003263"/>
              <a:ext cx="3209955" cy="0"/>
            </a:xfrm>
            <a:prstGeom prst="line">
              <a:avLst/>
            </a:prstGeom>
            <a:ln w="190500" cap="flat">
              <a:solidFill>
                <a:srgbClr val="4D6BA7"/>
              </a:solidFill>
              <a:prstDash val="solid"/>
              <a:headEnd type="triangle" w="lg" len="med"/>
              <a:tailEnd type="triangle" w="lg" len="med"/>
            </a:ln>
          </p:spPr>
          <p:txBody>
            <a:bodyPr/>
            <a:lstStyle/>
            <a:p>
              <a:endParaRPr lang="es-ES" dirty="0"/>
            </a:p>
          </p:txBody>
        </p:sp>
        <p:sp>
          <p:nvSpPr>
            <p:cNvPr id="46" name="Freeform 46"/>
            <p:cNvSpPr/>
            <p:nvPr/>
          </p:nvSpPr>
          <p:spPr>
            <a:xfrm>
              <a:off x="14105432" y="1672938"/>
              <a:ext cx="1340069" cy="1010362"/>
            </a:xfrm>
            <a:custGeom>
              <a:avLst/>
              <a:gdLst/>
              <a:ahLst/>
              <a:cxnLst/>
              <a:rect l="l" t="t" r="r" b="b"/>
              <a:pathLst>
                <a:path w="1340069" h="1010362">
                  <a:moveTo>
                    <a:pt x="0" y="1010362"/>
                  </a:moveTo>
                  <a:quadBezTo>
                    <a:pt x="453397" y="-654910"/>
                    <a:pt x="1340070" y="424508"/>
                  </a:quadBezTo>
                </a:path>
              </a:pathLst>
            </a:custGeom>
            <a:ln w="105299" cap="flat">
              <a:solidFill>
                <a:srgbClr val="4D6BA7"/>
              </a:solidFill>
              <a:prstDash val="solid"/>
              <a:headEnd type="none" w="sm" len="sm"/>
              <a:tailEnd type="none" w="sm" len="sm"/>
            </a:ln>
          </p:spPr>
          <p:txBody>
            <a:bodyPr/>
            <a:lstStyle/>
            <a:p>
              <a:endParaRPr lang="es-ES"/>
            </a:p>
          </p:txBody>
        </p:sp>
        <p:sp>
          <p:nvSpPr>
            <p:cNvPr id="47" name="Freeform 47"/>
            <p:cNvSpPr/>
            <p:nvPr/>
          </p:nvSpPr>
          <p:spPr>
            <a:xfrm>
              <a:off x="14892083" y="2061119"/>
              <a:ext cx="652261" cy="479119"/>
            </a:xfrm>
            <a:custGeom>
              <a:avLst/>
              <a:gdLst/>
              <a:ahLst/>
              <a:cxnLst/>
              <a:rect l="l" t="t" r="r" b="b"/>
              <a:pathLst>
                <a:path w="652261" h="479119">
                  <a:moveTo>
                    <a:pt x="525242" y="0"/>
                  </a:moveTo>
                  <a:quadBezTo>
                    <a:pt x="940097" y="517094"/>
                    <a:pt x="0" y="476109"/>
                  </a:quadBezTo>
                </a:path>
              </a:pathLst>
            </a:custGeom>
            <a:ln w="105299" cap="flat">
              <a:solidFill>
                <a:srgbClr val="4D6BA7"/>
              </a:solidFill>
              <a:prstDash val="solid"/>
              <a:headEnd type="none" w="sm" len="sm"/>
              <a:tailEnd type="none" w="sm" len="sm"/>
            </a:ln>
          </p:spPr>
          <p:txBody>
            <a:bodyPr/>
            <a:lstStyle/>
            <a:p>
              <a:endParaRPr lang="es-ES"/>
            </a:p>
          </p:txBody>
        </p:sp>
        <p:sp>
          <p:nvSpPr>
            <p:cNvPr id="48" name="Freeform 48"/>
            <p:cNvSpPr/>
            <p:nvPr/>
          </p:nvSpPr>
          <p:spPr>
            <a:xfrm>
              <a:off x="13847391" y="1324356"/>
              <a:ext cx="1127509" cy="1213326"/>
            </a:xfrm>
            <a:custGeom>
              <a:avLst/>
              <a:gdLst/>
              <a:ahLst/>
              <a:cxnLst/>
              <a:rect l="l" t="t" r="r" b="b"/>
              <a:pathLst>
                <a:path w="1127509" h="1213326">
                  <a:moveTo>
                    <a:pt x="1127509" y="1213326"/>
                  </a:moveTo>
                  <a:quadBezTo>
                    <a:pt x="-592067" y="1065825"/>
                    <a:pt x="310901" y="0"/>
                  </a:quadBezTo>
                </a:path>
              </a:pathLst>
            </a:custGeom>
            <a:ln w="105299" cap="flat">
              <a:solidFill>
                <a:srgbClr val="4D6BA7"/>
              </a:solidFill>
              <a:prstDash val="solid"/>
              <a:headEnd type="none" w="sm" len="sm"/>
              <a:tailEnd type="none" w="sm" len="sm"/>
            </a:ln>
          </p:spPr>
          <p:txBody>
            <a:bodyPr/>
            <a:lstStyle/>
            <a:p>
              <a:endParaRPr lang="es-ES"/>
            </a:p>
          </p:txBody>
        </p:sp>
        <p:sp>
          <p:nvSpPr>
            <p:cNvPr id="49" name="Freeform 49"/>
            <p:cNvSpPr/>
            <p:nvPr/>
          </p:nvSpPr>
          <p:spPr>
            <a:xfrm>
              <a:off x="14149517" y="1247776"/>
              <a:ext cx="532633" cy="813343"/>
            </a:xfrm>
            <a:custGeom>
              <a:avLst/>
              <a:gdLst/>
              <a:ahLst/>
              <a:cxnLst/>
              <a:rect l="l" t="t" r="r" b="b"/>
              <a:pathLst>
                <a:path w="532633" h="813343">
                  <a:moveTo>
                    <a:pt x="0" y="85355"/>
                  </a:moveTo>
                  <a:quadBezTo>
                    <a:pt x="564607" y="-263484"/>
                    <a:pt x="530713" y="813343"/>
                  </a:quadBezTo>
                </a:path>
              </a:pathLst>
            </a:custGeom>
            <a:ln w="105299" cap="flat">
              <a:solidFill>
                <a:srgbClr val="4D6BA7"/>
              </a:solidFill>
              <a:prstDash val="solid"/>
              <a:headEnd type="none" w="sm" len="sm"/>
              <a:tailEnd type="none" w="sm" len="sm"/>
            </a:ln>
          </p:spPr>
          <p:txBody>
            <a:bodyPr/>
            <a:lstStyle/>
            <a:p>
              <a:endParaRPr lang="es-ES"/>
            </a:p>
          </p:txBody>
        </p:sp>
        <p:sp>
          <p:nvSpPr>
            <p:cNvPr id="50" name="Freeform 50"/>
            <p:cNvSpPr/>
            <p:nvPr/>
          </p:nvSpPr>
          <p:spPr>
            <a:xfrm>
              <a:off x="14678791" y="1413085"/>
              <a:ext cx="859181" cy="1354218"/>
            </a:xfrm>
            <a:custGeom>
              <a:avLst/>
              <a:gdLst/>
              <a:ahLst/>
              <a:cxnLst/>
              <a:rect l="l" t="t" r="r" b="b"/>
              <a:pathLst>
                <a:path w="859181" h="1354218">
                  <a:moveTo>
                    <a:pt x="1439" y="319145"/>
                  </a:moveTo>
                  <a:quadBezTo>
                    <a:pt x="-35160" y="2538159"/>
                    <a:pt x="859182" y="0"/>
                  </a:quadBezTo>
                </a:path>
              </a:pathLst>
            </a:custGeom>
            <a:ln w="105299" cap="flat">
              <a:solidFill>
                <a:srgbClr val="4D6BA7"/>
              </a:solidFill>
              <a:prstDash val="solid"/>
              <a:headEnd type="none" w="sm" len="sm"/>
              <a:tailEnd type="none" w="sm" len="sm"/>
            </a:ln>
          </p:spPr>
          <p:txBody>
            <a:bodyPr/>
            <a:lstStyle/>
            <a:p>
              <a:endParaRPr lang="es-ES"/>
            </a:p>
          </p:txBody>
        </p:sp>
        <p:sp>
          <p:nvSpPr>
            <p:cNvPr id="51" name="TextBox 51"/>
            <p:cNvSpPr txBox="1"/>
            <p:nvPr/>
          </p:nvSpPr>
          <p:spPr>
            <a:xfrm>
              <a:off x="13268764" y="-114300"/>
              <a:ext cx="2937999" cy="1223434"/>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CAOS</a:t>
              </a:r>
            </a:p>
          </p:txBody>
        </p:sp>
        <p:grpSp>
          <p:nvGrpSpPr>
            <p:cNvPr id="52" name="Group 52"/>
            <p:cNvGrpSpPr/>
            <p:nvPr/>
          </p:nvGrpSpPr>
          <p:grpSpPr>
            <a:xfrm>
              <a:off x="7400243" y="2015200"/>
              <a:ext cx="854181" cy="658229"/>
              <a:chOff x="-318168" y="0"/>
              <a:chExt cx="1054768" cy="812800"/>
            </a:xfrm>
          </p:grpSpPr>
          <p:sp>
            <p:nvSpPr>
              <p:cNvPr id="53" name="Freeform 53"/>
              <p:cNvSpPr/>
              <p:nvPr/>
            </p:nvSpPr>
            <p:spPr>
              <a:xfrm>
                <a:off x="-318168"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D6BA7"/>
              </a:solidFill>
            </p:spPr>
            <p:txBody>
              <a:bodyPr/>
              <a:lstStyle/>
              <a:p>
                <a:endParaRPr lang="es-ES"/>
              </a:p>
            </p:txBody>
          </p:sp>
          <p:sp>
            <p:nvSpPr>
              <p:cNvPr id="54" name="TextBox 54"/>
              <p:cNvSpPr txBox="1"/>
              <p:nvPr/>
            </p:nvSpPr>
            <p:spPr>
              <a:xfrm>
                <a:off x="76200" y="38100"/>
                <a:ext cx="660400" cy="698500"/>
              </a:xfrm>
              <a:prstGeom prst="rect">
                <a:avLst/>
              </a:prstGeom>
            </p:spPr>
            <p:txBody>
              <a:bodyPr lIns="73524" tIns="73524" rIns="73524" bIns="73524" rtlCol="0" anchor="ctr"/>
              <a:lstStyle/>
              <a:p>
                <a:pPr algn="ctr">
                  <a:lnSpc>
                    <a:spcPts val="2659"/>
                  </a:lnSpc>
                </a:pPr>
                <a:endParaRPr/>
              </a:p>
            </p:txBody>
          </p:sp>
        </p:grpSp>
        <p:grpSp>
          <p:nvGrpSpPr>
            <p:cNvPr id="55" name="Group 55"/>
            <p:cNvGrpSpPr/>
            <p:nvPr/>
          </p:nvGrpSpPr>
          <p:grpSpPr>
            <a:xfrm>
              <a:off x="11626061" y="2015200"/>
              <a:ext cx="801210" cy="658229"/>
              <a:chOff x="76200" y="0"/>
              <a:chExt cx="989358" cy="812800"/>
            </a:xfrm>
          </p:grpSpPr>
          <p:sp>
            <p:nvSpPr>
              <p:cNvPr id="56" name="Freeform 56"/>
              <p:cNvSpPr/>
              <p:nvPr/>
            </p:nvSpPr>
            <p:spPr>
              <a:xfrm>
                <a:off x="252758"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D6BA7"/>
              </a:solidFill>
            </p:spPr>
            <p:txBody>
              <a:bodyPr/>
              <a:lstStyle/>
              <a:p>
                <a:endParaRPr lang="es-ES"/>
              </a:p>
            </p:txBody>
          </p:sp>
          <p:sp>
            <p:nvSpPr>
              <p:cNvPr id="57" name="TextBox 57"/>
              <p:cNvSpPr txBox="1"/>
              <p:nvPr/>
            </p:nvSpPr>
            <p:spPr>
              <a:xfrm>
                <a:off x="76200" y="38100"/>
                <a:ext cx="660400" cy="698500"/>
              </a:xfrm>
              <a:prstGeom prst="rect">
                <a:avLst/>
              </a:prstGeom>
            </p:spPr>
            <p:txBody>
              <a:bodyPr lIns="73524" tIns="73524" rIns="73524" bIns="73524" rtlCol="0" anchor="ctr"/>
              <a:lstStyle/>
              <a:p>
                <a:pPr algn="ctr">
                  <a:lnSpc>
                    <a:spcPts val="2659"/>
                  </a:lnSpc>
                </a:pPr>
                <a:endParaRPr/>
              </a:p>
            </p:txBody>
          </p:sp>
        </p:grpSp>
        <p:grpSp>
          <p:nvGrpSpPr>
            <p:cNvPr id="58" name="Group 58"/>
            <p:cNvGrpSpPr/>
            <p:nvPr/>
          </p:nvGrpSpPr>
          <p:grpSpPr>
            <a:xfrm>
              <a:off x="9535335" y="1939406"/>
              <a:ext cx="809817" cy="809817"/>
              <a:chOff x="0" y="0"/>
              <a:chExt cx="812800" cy="812800"/>
            </a:xfrm>
          </p:grpSpPr>
          <p:sp>
            <p:nvSpPr>
              <p:cNvPr id="59" name="Freeform 5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D6BA7"/>
              </a:solidFill>
            </p:spPr>
            <p:txBody>
              <a:bodyPr/>
              <a:lstStyle/>
              <a:p>
                <a:endParaRPr lang="es-ES"/>
              </a:p>
            </p:txBody>
          </p:sp>
          <p:sp>
            <p:nvSpPr>
              <p:cNvPr id="60" name="TextBox 60"/>
              <p:cNvSpPr txBox="1"/>
              <p:nvPr/>
            </p:nvSpPr>
            <p:spPr>
              <a:xfrm>
                <a:off x="76200" y="38100"/>
                <a:ext cx="660400" cy="698500"/>
              </a:xfrm>
              <a:prstGeom prst="rect">
                <a:avLst/>
              </a:prstGeom>
            </p:spPr>
            <p:txBody>
              <a:bodyPr lIns="73524" tIns="73524" rIns="73524" bIns="73524" rtlCol="0" anchor="ctr"/>
              <a:lstStyle/>
              <a:p>
                <a:pPr algn="ctr">
                  <a:lnSpc>
                    <a:spcPts val="2659"/>
                  </a:lnSpc>
                </a:pPr>
                <a:endParaRPr/>
              </a:p>
            </p:txBody>
          </p:sp>
        </p:grpSp>
        <p:sp>
          <p:nvSpPr>
            <p:cNvPr id="62" name="AutoShape 62"/>
            <p:cNvSpPr/>
            <p:nvPr/>
          </p:nvSpPr>
          <p:spPr>
            <a:xfrm>
              <a:off x="10442763" y="2363366"/>
              <a:ext cx="1183299" cy="0"/>
            </a:xfrm>
            <a:prstGeom prst="line">
              <a:avLst/>
            </a:prstGeom>
            <a:ln w="114073" cap="flat">
              <a:solidFill>
                <a:srgbClr val="4D6BA7"/>
              </a:solidFill>
              <a:prstDash val="solid"/>
              <a:headEnd type="triangle" w="lg" len="med"/>
              <a:tailEnd type="triangle" w="lg" len="med"/>
            </a:ln>
          </p:spPr>
          <p:txBody>
            <a:bodyPr/>
            <a:lstStyle/>
            <a:p>
              <a:endParaRPr lang="es-ES"/>
            </a:p>
          </p:txBody>
        </p:sp>
        <p:sp>
          <p:nvSpPr>
            <p:cNvPr id="63" name="TextBox 63"/>
            <p:cNvSpPr txBox="1"/>
            <p:nvPr/>
          </p:nvSpPr>
          <p:spPr>
            <a:xfrm>
              <a:off x="0" y="-65245"/>
              <a:ext cx="6867945" cy="1223434"/>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BIDIRECCIONAL</a:t>
              </a:r>
            </a:p>
          </p:txBody>
        </p:sp>
        <p:sp>
          <p:nvSpPr>
            <p:cNvPr id="64" name="TextBox 64"/>
            <p:cNvSpPr txBox="1"/>
            <p:nvPr/>
          </p:nvSpPr>
          <p:spPr>
            <a:xfrm>
              <a:off x="7384847" y="676214"/>
              <a:ext cx="5110792" cy="1223434"/>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DISTRIBUIDO</a:t>
              </a:r>
            </a:p>
          </p:txBody>
        </p:sp>
      </p:grpSp>
      <p:sp>
        <p:nvSpPr>
          <p:cNvPr id="65" name="AutoShape 62">
            <a:extLst>
              <a:ext uri="{FF2B5EF4-FFF2-40B4-BE49-F238E27FC236}">
                <a16:creationId xmlns:a16="http://schemas.microsoft.com/office/drawing/2014/main" id="{8274893D-E1D7-81D4-7DF5-E315B81AF5C7}"/>
              </a:ext>
            </a:extLst>
          </p:cNvPr>
          <p:cNvSpPr/>
          <p:nvPr/>
        </p:nvSpPr>
        <p:spPr>
          <a:xfrm>
            <a:off x="7848600" y="9827248"/>
            <a:ext cx="887474" cy="0"/>
          </a:xfrm>
          <a:prstGeom prst="line">
            <a:avLst/>
          </a:prstGeom>
          <a:ln w="114073" cap="flat">
            <a:solidFill>
              <a:srgbClr val="4D6BA7"/>
            </a:solidFill>
            <a:prstDash val="solid"/>
            <a:headEnd type="triangle" w="lg" len="med"/>
            <a:tailEnd type="triangle" w="lg" len="med"/>
          </a:ln>
        </p:spPr>
        <p:txBody>
          <a:bodyPr/>
          <a:lstStyle/>
          <a:p>
            <a:endParaRPr lang="es-E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repeatCount="indefinite" accel="50000" decel="50000" fill="hold" nodeType="afterEffect">
                                  <p:stCondLst>
                                    <p:cond delay="0"/>
                                  </p:stCondLst>
                                  <p:childTnLst>
                                    <p:animMotion origin="layout" path="M 0.00443 0.01389 L 0.00443 0.01389 C 0.00582 0.02022 0.00999 0.04059 0.01224 0.04723 C 0.01346 0.05077 0.01554 0.0534 0.01693 0.05679 C 0.01867 0.06127 0.01979 0.06636 0.02162 0.07068 C 0.02448 0.07794 0.02726 0.08349 0.03177 0.08735 C 0.03273 0.08827 0.03386 0.08827 0.0349 0.08889 C 0.03672 0.08966 0.03854 0.09074 0.04037 0.09167 C 0.04966 0.09105 0.05903 0.09013 0.06849 0.09013 " pathEditMode="relative" ptsTypes="AAAAAAAAA">
                                      <p:cBhvr>
                                        <p:cTn id="6" dur="1300" fill="hold"/>
                                        <p:tgtEl>
                                          <p:spTgt spid="29"/>
                                        </p:tgtEl>
                                        <p:attrNameLst>
                                          <p:attrName>ppt_x</p:attrName>
                                          <p:attrName>ppt_y</p:attrName>
                                        </p:attrNameLst>
                                      </p:cBhvr>
                                    </p:animMotion>
                                  </p:childTnLst>
                                </p:cTn>
                              </p:par>
                            </p:childTnLst>
                          </p:cTn>
                        </p:par>
                        <p:par>
                          <p:cTn id="7" fill="hold">
                            <p:stCondLst>
                              <p:cond delay="1300"/>
                            </p:stCondLst>
                            <p:childTnLst>
                              <p:par>
                                <p:cTn id="8" presetID="1" presetClass="entr" presetSubtype="0" fill="hold" nodeType="afterEffect">
                                  <p:stCondLst>
                                    <p:cond delay="0"/>
                                  </p:stCondLst>
                                  <p:childTnLst>
                                    <p:set>
                                      <p:cBhvr>
                                        <p:cTn id="9" dur="1" fill="hold">
                                          <p:stCondLst>
                                            <p:cond delay="0"/>
                                          </p:stCondLst>
                                        </p:cTn>
                                        <p:tgtEl>
                                          <p:spTgt spid="20"/>
                                        </p:tgtEl>
                                        <p:attrNameLst>
                                          <p:attrName>style.visibility</p:attrName>
                                        </p:attrNameLst>
                                      </p:cBhvr>
                                      <p:to>
                                        <p:strVal val="visible"/>
                                      </p:to>
                                    </p:set>
                                  </p:childTnLst>
                                </p:cTn>
                              </p:par>
                            </p:childTnLst>
                          </p:cTn>
                        </p:par>
                        <p:par>
                          <p:cTn id="10" fill="hold">
                            <p:stCondLst>
                              <p:cond delay="1300"/>
                            </p:stCondLst>
                            <p:childTnLst>
                              <p:par>
                                <p:cTn id="11" presetID="0" presetClass="path" presetSubtype="0" repeatCount="indefinite" accel="50000" decel="50000" fill="hold" nodeType="afterEffect">
                                  <p:stCondLst>
                                    <p:cond delay="0"/>
                                  </p:stCondLst>
                                  <p:childTnLst>
                                    <p:animMotion origin="layout" path="M -0.00694 0.01435 L -0.00694 0.01435 C -0.00911 0.01898 -0.0112 0.02345 -0.01328 0.02824 C -0.01458 0.03133 -0.01545 0.03518 -0.0171 0.03796 C -0.01866 0.04043 -0.02092 0.0412 -0.02265 0.04352 C -0.02465 0.04629 -0.02552 0.05262 -0.02804 0.05324 C -0.03515 0.05494 -0.03177 0.05401 -0.03828 0.05602 C -0.03984 0.05694 -0.04132 0.05864 -0.04297 0.05879 C -0.0737 0.05972 -0.07014 0.06003 -0.08984 0.05463 L -0.09609 0.04907 C -0.09713 0.04815 -0.09818 0.04737 -0.09922 0.04629 C -0.10078 0.04444 -0.10225 0.04228 -0.1039 0.04074 C -0.1059 0.03858 -0.10824 0.03765 -0.11015 0.03518 C -0.11432 0.02947 -0.11198 0.03148 -0.1171 0.02963 C -0.11866 0.02824 -0.12022 0.02654 -0.12179 0.02546 C -0.12604 0.02253 -0.13073 0.0216 -0.13515 0.01991 C -0.13594 0.01944 -0.13672 0.01898 -0.13741 0.01852 " pathEditMode="relative" ptsTypes="AAAAAAAAAAAAAAAAA">
                                      <p:cBhvr>
                                        <p:cTn id="12" dur="1300" fill="hold"/>
                                        <p:tgtEl>
                                          <p:spTgt spid="20"/>
                                        </p:tgtEl>
                                        <p:attrNameLst>
                                          <p:attrName>ppt_x</p:attrName>
                                          <p:attrName>ppt_y</p:attrName>
                                        </p:attrNameLst>
                                      </p:cBhvr>
                                    </p:animMotion>
                                  </p:childTnLst>
                                </p:cTn>
                              </p:par>
                              <p:par>
                                <p:cTn id="13" presetID="1" presetClass="entr" presetSubtype="0" fill="hold" nodeType="withEffect">
                                  <p:stCondLst>
                                    <p:cond delay="0"/>
                                  </p:stCondLst>
                                  <p:childTnLst>
                                    <p:set>
                                      <p:cBhvr>
                                        <p:cTn id="14" dur="1" fill="hold">
                                          <p:stCondLst>
                                            <p:cond delay="0"/>
                                          </p:stCondLst>
                                        </p:cTn>
                                        <p:tgtEl>
                                          <p:spTgt spid="32"/>
                                        </p:tgtEl>
                                        <p:attrNameLst>
                                          <p:attrName>style.visibility</p:attrName>
                                        </p:attrNameLst>
                                      </p:cBhvr>
                                      <p:to>
                                        <p:strVal val="visible"/>
                                      </p:to>
                                    </p:set>
                                  </p:childTnLst>
                                </p:cTn>
                              </p:par>
                              <p:par>
                                <p:cTn id="15" presetID="0" presetClass="path" presetSubtype="0" repeatCount="indefinite" accel="50000" decel="50000" fill="hold" nodeType="withEffect">
                                  <p:stCondLst>
                                    <p:cond delay="0"/>
                                  </p:stCondLst>
                                  <p:childTnLst>
                                    <p:animMotion origin="layout" path="M 0.00183 0.01173 L 0.00183 0.01173 C 0.00408 0.01805 0.0066 0.02453 0.00877 0.03102 C 0.01528 0.05 0.01016 0.03811 0.01815 0.05879 C 0.02092 0.06589 0.02787 0.08225 0.03151 0.09074 C 0.03308 0.09444 0.0349 0.09784 0.0362 0.10185 C 0.03724 0.10509 0.03802 0.10864 0.03933 0.11157 C 0.04705 0.12994 0.03933 0.10632 0.04714 0.12685 C 0.04809 0.12947 0.04844 0.13271 0.0494 0.13518 C 0.05235 0.14244 0.05382 0.14259 0.05808 0.14629 C 0.05912 0.14815 0.05999 0.15031 0.0612 0.15185 C 0.0625 0.1537 0.06841 0.15941 0.06971 0.16018 C 0.07414 0.16296 0.07848 0.16605 0.08308 0.16713 C 0.08924 0.16867 0.09549 0.17068 0.10183 0.17129 C 0.10721 0.17191 0.11276 0.17222 0.11815 0.17268 C 0.12882 0.17515 0.12231 0.17407 0.13776 0.17407 " pathEditMode="relative" ptsTypes="AAAAAAAAAAAAAAAA">
                                      <p:cBhvr>
                                        <p:cTn id="16" dur="1300" fill="hold"/>
                                        <p:tgtEl>
                                          <p:spTgt spid="32"/>
                                        </p:tgtEl>
                                        <p:attrNameLst>
                                          <p:attrName>ppt_x</p:attrName>
                                          <p:attrName>ppt_y</p:attrName>
                                        </p:attrNameLst>
                                      </p:cBhvr>
                                    </p:animMotion>
                                  </p:childTnLst>
                                </p:cTn>
                              </p:par>
                            </p:childTnLst>
                          </p:cTn>
                        </p:par>
                        <p:par>
                          <p:cTn id="17" fill="hold">
                            <p:stCondLst>
                              <p:cond delay="2600"/>
                            </p:stCondLst>
                            <p:childTnLst>
                              <p:par>
                                <p:cTn id="18" presetID="1" presetClass="entr" presetSubtype="0" fill="hold" nodeType="afterEffect">
                                  <p:stCondLst>
                                    <p:cond delay="0"/>
                                  </p:stCondLst>
                                  <p:childTnLst>
                                    <p:set>
                                      <p:cBhvr>
                                        <p:cTn id="19" dur="1" fill="hold">
                                          <p:stCondLst>
                                            <p:cond delay="0"/>
                                          </p:stCondLst>
                                        </p:cTn>
                                        <p:tgtEl>
                                          <p:spTgt spid="23"/>
                                        </p:tgtEl>
                                        <p:attrNameLst>
                                          <p:attrName>style.visibility</p:attrName>
                                        </p:attrNameLst>
                                      </p:cBhvr>
                                      <p:to>
                                        <p:strVal val="visible"/>
                                      </p:to>
                                    </p:set>
                                  </p:childTnLst>
                                </p:cTn>
                              </p:par>
                            </p:childTnLst>
                          </p:cTn>
                        </p:par>
                        <p:par>
                          <p:cTn id="20" fill="hold">
                            <p:stCondLst>
                              <p:cond delay="2600"/>
                            </p:stCondLst>
                            <p:childTnLst>
                              <p:par>
                                <p:cTn id="21" presetID="0" presetClass="path" presetSubtype="0" repeatCount="indefinite" accel="50000" decel="50000" fill="hold" nodeType="afterEffect">
                                  <p:stCondLst>
                                    <p:cond delay="0"/>
                                  </p:stCondLst>
                                  <p:childTnLst>
                                    <p:animMotion origin="layout" path="M -0.00269 0.01158 L -0.00269 0.01158 C -0.00234 0.01945 -0.00104 0.03087 -0.00269 0.03936 C -0.00338 0.04321 -0.00486 0.04661 -0.00581 0.05047 C -0.0066 0.05386 -0.00833 0.06528 -0.00972 0.06991 C -0.01476 0.08704 -0.0138 0.08241 -0.01831 0.09491 C -0.0191 0.09707 -0.0197 0.0997 -0.02066 0.10186 C -0.02179 0.10433 -0.02335 0.10618 -0.02456 0.1088 C -0.02509 0.11004 -0.02743 0.11775 -0.02847 0.11991 C -0.02986 0.12284 -0.0316 0.12531 -0.03316 0.12825 C -0.03576 0.13334 -0.03689 0.13781 -0.04019 0.14213 C -0.04158 0.14383 -0.04331 0.14476 -0.04488 0.1463 C -0.04722 0.14846 -0.04939 0.15139 -0.05191 0.15325 C -0.05382 0.15463 -0.05607 0.15494 -0.05816 0.15602 C -0.07205 0.1625 -0.05755 0.15602 -0.06675 0.16019 C -0.07127 0.16467 -0.07404 0.16868 -0.07925 0.16991 C -0.08515 0.1713 -0.09722 0.17269 -0.09722 0.17269 C -0.10529 0.17624 -0.10139 0.17439 -0.10885 0.17825 " pathEditMode="relative" ptsTypes="AAAAAAAAAAAAAAAAAA">
                                      <p:cBhvr>
                                        <p:cTn id="22" dur="1300" fill="hold"/>
                                        <p:tgtEl>
                                          <p:spTgt spid="23"/>
                                        </p:tgtEl>
                                        <p:attrNameLst>
                                          <p:attrName>ppt_x</p:attrName>
                                          <p:attrName>ppt_y</p:attrName>
                                        </p:attrNameLst>
                                      </p:cBhvr>
                                    </p:animMotion>
                                  </p:childTnLst>
                                </p:cTn>
                              </p:par>
                              <p:par>
                                <p:cTn id="23" presetID="1" presetClass="entr" presetSubtype="0" fill="hold" nodeType="withEffect">
                                  <p:stCondLst>
                                    <p:cond delay="0"/>
                                  </p:stCondLst>
                                  <p:childTnLst>
                                    <p:set>
                                      <p:cBhvr>
                                        <p:cTn id="24" dur="1" fill="hold">
                                          <p:stCondLst>
                                            <p:cond delay="0"/>
                                          </p:stCondLst>
                                        </p:cTn>
                                        <p:tgtEl>
                                          <p:spTgt spid="26"/>
                                        </p:tgtEl>
                                        <p:attrNameLst>
                                          <p:attrName>style.visibility</p:attrName>
                                        </p:attrNameLst>
                                      </p:cBhvr>
                                      <p:to>
                                        <p:strVal val="visible"/>
                                      </p:to>
                                    </p:set>
                                  </p:childTnLst>
                                </p:cTn>
                              </p:par>
                              <p:par>
                                <p:cTn id="25" presetID="0" presetClass="path" presetSubtype="0" repeatCount="indefinite" accel="50000" decel="50000" fill="hold" nodeType="withEffect">
                                  <p:stCondLst>
                                    <p:cond delay="0"/>
                                  </p:stCondLst>
                                  <p:childTnLst>
                                    <p:animMotion origin="layout" path="M 0.00078 -0.00371 L 0.00078 -0.00371 C 0.0033 -0.00664 0.00582 -0.00973 0.00851 -0.0122 C 0.00999 -0.01343 0.01189 -0.01312 0.0132 -0.01497 C 0.01589 -0.01837 0.01754 -0.02408 0.02023 -0.02732 L 0.02257 -0.0301 C 0.027 -0.04059 0.02344 -0.03025 0.0257 -0.04399 C 0.02604 -0.04599 0.02691 -0.04769 0.02726 -0.04954 C 0.02795 -0.05278 0.02839 -0.05602 0.02882 -0.05942 C 0.02917 -0.06158 0.02917 -0.06405 0.0296 -0.06621 C 0.03264 -0.08025 0.03212 -0.07362 0.03507 -0.08442 C 0.03551 -0.08565 0.03568 -0.08704 0.03585 -0.08843 C 0.03681 -0.09522 0.03663 -0.09414 0.03663 -0.09954 " pathEditMode="relative" ptsTypes="AAAAAAAAAAAAA">
                                      <p:cBhvr>
                                        <p:cTn id="26" dur="1300" fill="hold"/>
                                        <p:tgtEl>
                                          <p:spTgt spid="26"/>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41088" y="8354648"/>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7" name="TextBox 17"/>
          <p:cNvSpPr txBox="1"/>
          <p:nvPr/>
        </p:nvSpPr>
        <p:spPr>
          <a:xfrm>
            <a:off x="17259300" y="9258300"/>
            <a:ext cx="1028700" cy="1028700"/>
          </a:xfrm>
          <a:prstGeom prst="rect">
            <a:avLst/>
          </a:prstGeom>
        </p:spPr>
        <p:txBody>
          <a:bodyPr lIns="0" tIns="0" rIns="0" bIns="0" rtlCol="0" anchor="t">
            <a:spAutoFit/>
          </a:bodyPr>
          <a:lstStyle/>
          <a:p>
            <a:pPr algn="ctr">
              <a:lnSpc>
                <a:spcPts val="8399"/>
              </a:lnSpc>
              <a:spcBef>
                <a:spcPct val="0"/>
              </a:spcBef>
            </a:pPr>
            <a:r>
              <a:rPr lang="en-US" sz="5999">
                <a:solidFill>
                  <a:srgbClr val="FFFFFF"/>
                </a:solidFill>
                <a:latin typeface="Bantayog"/>
                <a:ea typeface="Bantayog"/>
                <a:cs typeface="Bantayog"/>
                <a:sym typeface="Bantayog"/>
              </a:rPr>
              <a:t>3</a:t>
            </a:r>
          </a:p>
        </p:txBody>
      </p:sp>
      <p:sp>
        <p:nvSpPr>
          <p:cNvPr id="18" name="TextBox 18"/>
          <p:cNvSpPr txBox="1"/>
          <p:nvPr/>
        </p:nvSpPr>
        <p:spPr>
          <a:xfrm>
            <a:off x="3682259" y="494206"/>
            <a:ext cx="10923483"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PARADIGMA ACTUAL</a:t>
            </a:r>
          </a:p>
        </p:txBody>
      </p:sp>
      <p:sp>
        <p:nvSpPr>
          <p:cNvPr id="39" name="Freeform 39"/>
          <p:cNvSpPr/>
          <p:nvPr/>
        </p:nvSpPr>
        <p:spPr>
          <a:xfrm>
            <a:off x="9380129" y="6023013"/>
            <a:ext cx="855209" cy="1227893"/>
          </a:xfrm>
          <a:custGeom>
            <a:avLst/>
            <a:gdLst/>
            <a:ahLst/>
            <a:cxnLst/>
            <a:rect l="l" t="t" r="r" b="b"/>
            <a:pathLst>
              <a:path w="855209" h="1227893">
                <a:moveTo>
                  <a:pt x="0" y="1227893"/>
                </a:moveTo>
                <a:quadBezTo>
                  <a:pt x="818474" y="1125976"/>
                  <a:pt x="855209" y="0"/>
                </a:quadBezTo>
              </a:path>
            </a:pathLst>
          </a:custGeom>
          <a:ln w="38100" cap="flat">
            <a:solidFill>
              <a:srgbClr val="B9B9B9"/>
            </a:solidFill>
            <a:prstDash val="solid"/>
            <a:headEnd type="none" w="sm" len="sm"/>
            <a:tailEnd type="none" w="sm" len="sm"/>
          </a:ln>
        </p:spPr>
        <p:txBody>
          <a:bodyPr/>
          <a:lstStyle/>
          <a:p>
            <a:endParaRPr lang="es-ES"/>
          </a:p>
        </p:txBody>
      </p:sp>
      <p:sp>
        <p:nvSpPr>
          <p:cNvPr id="40" name="Freeform 40"/>
          <p:cNvSpPr/>
          <p:nvPr/>
        </p:nvSpPr>
        <p:spPr>
          <a:xfrm>
            <a:off x="6114358" y="5274604"/>
            <a:ext cx="2658408" cy="1988074"/>
          </a:xfrm>
          <a:custGeom>
            <a:avLst/>
            <a:gdLst/>
            <a:ahLst/>
            <a:cxnLst/>
            <a:rect l="l" t="t" r="r" b="b"/>
            <a:pathLst>
              <a:path w="2658408" h="1988074">
                <a:moveTo>
                  <a:pt x="0" y="0"/>
                </a:moveTo>
                <a:quadBezTo>
                  <a:pt x="746398" y="2141054"/>
                  <a:pt x="2658408" y="1976302"/>
                </a:quadBezTo>
              </a:path>
            </a:pathLst>
          </a:custGeom>
          <a:ln w="38100" cap="flat">
            <a:solidFill>
              <a:srgbClr val="B9B9B9"/>
            </a:solidFill>
            <a:prstDash val="solid"/>
            <a:headEnd type="none" w="sm" len="sm"/>
            <a:tailEnd type="none" w="sm" len="sm"/>
          </a:ln>
        </p:spPr>
        <p:txBody>
          <a:bodyPr/>
          <a:lstStyle/>
          <a:p>
            <a:endParaRPr lang="es-ES"/>
          </a:p>
        </p:txBody>
      </p:sp>
      <p:sp>
        <p:nvSpPr>
          <p:cNvPr id="41" name="Freeform 41"/>
          <p:cNvSpPr/>
          <p:nvPr/>
        </p:nvSpPr>
        <p:spPr>
          <a:xfrm>
            <a:off x="3682259" y="4531034"/>
            <a:ext cx="1151014" cy="747283"/>
          </a:xfrm>
          <a:custGeom>
            <a:avLst/>
            <a:gdLst/>
            <a:ahLst/>
            <a:cxnLst/>
            <a:rect l="l" t="t" r="r" b="b"/>
            <a:pathLst>
              <a:path w="1151014" h="747283">
                <a:moveTo>
                  <a:pt x="0" y="0"/>
                </a:moveTo>
                <a:quadBezTo>
                  <a:pt x="298899" y="799963"/>
                  <a:pt x="1151014" y="743570"/>
                </a:quadBezTo>
              </a:path>
            </a:pathLst>
          </a:custGeom>
          <a:ln w="38100" cap="flat">
            <a:solidFill>
              <a:srgbClr val="B9B9B9"/>
            </a:solidFill>
            <a:prstDash val="solid"/>
            <a:headEnd type="none" w="sm" len="sm"/>
            <a:tailEnd type="none" w="sm" len="sm"/>
          </a:ln>
        </p:spPr>
        <p:txBody>
          <a:bodyPr/>
          <a:lstStyle/>
          <a:p>
            <a:endParaRPr lang="es-ES"/>
          </a:p>
        </p:txBody>
      </p:sp>
      <p:sp>
        <p:nvSpPr>
          <p:cNvPr id="42" name="Freeform 42"/>
          <p:cNvSpPr/>
          <p:nvPr/>
        </p:nvSpPr>
        <p:spPr>
          <a:xfrm>
            <a:off x="9380129" y="5274604"/>
            <a:ext cx="2139147" cy="1998073"/>
          </a:xfrm>
          <a:custGeom>
            <a:avLst/>
            <a:gdLst/>
            <a:ahLst/>
            <a:cxnLst/>
            <a:rect l="l" t="t" r="r" b="b"/>
            <a:pathLst>
              <a:path w="2139147" h="1998073">
                <a:moveTo>
                  <a:pt x="0" y="1976302"/>
                </a:moveTo>
                <a:quadBezTo>
                  <a:pt x="1433625" y="2206638"/>
                  <a:pt x="2139147" y="0"/>
                </a:quadBezTo>
              </a:path>
            </a:pathLst>
          </a:custGeom>
          <a:ln w="38100" cap="flat">
            <a:solidFill>
              <a:srgbClr val="B9B9B9"/>
            </a:solidFill>
            <a:prstDash val="solid"/>
            <a:headEnd type="none" w="sm" len="sm"/>
            <a:tailEnd type="none" w="sm" len="sm"/>
          </a:ln>
        </p:spPr>
        <p:txBody>
          <a:bodyPr/>
          <a:lstStyle/>
          <a:p>
            <a:endParaRPr lang="es-ES"/>
          </a:p>
        </p:txBody>
      </p:sp>
      <p:sp>
        <p:nvSpPr>
          <p:cNvPr id="43" name="Freeform 43"/>
          <p:cNvSpPr/>
          <p:nvPr/>
        </p:nvSpPr>
        <p:spPr>
          <a:xfrm>
            <a:off x="13654787" y="2481975"/>
            <a:ext cx="3063661" cy="3063661"/>
          </a:xfrm>
          <a:custGeom>
            <a:avLst/>
            <a:gdLst/>
            <a:ahLst/>
            <a:cxnLst/>
            <a:rect l="l" t="t" r="r" b="b"/>
            <a:pathLst>
              <a:path w="3063661" h="3063661">
                <a:moveTo>
                  <a:pt x="0" y="0"/>
                </a:moveTo>
                <a:lnTo>
                  <a:pt x="3063661" y="0"/>
                </a:lnTo>
                <a:lnTo>
                  <a:pt x="3063661" y="3063661"/>
                </a:lnTo>
                <a:lnTo>
                  <a:pt x="0" y="3063661"/>
                </a:lnTo>
                <a:lnTo>
                  <a:pt x="0" y="0"/>
                </a:lnTo>
                <a:close/>
              </a:path>
            </a:pathLst>
          </a:custGeom>
          <a:blipFill>
            <a:blip r:embed="rId3"/>
            <a:stretch>
              <a:fillRect/>
            </a:stretch>
          </a:blipFill>
        </p:spPr>
        <p:txBody>
          <a:bodyPr/>
          <a:lstStyle/>
          <a:p>
            <a:endParaRPr lang="es-ES"/>
          </a:p>
        </p:txBody>
      </p:sp>
      <p:sp>
        <p:nvSpPr>
          <p:cNvPr id="44" name="Freeform 44"/>
          <p:cNvSpPr/>
          <p:nvPr/>
        </p:nvSpPr>
        <p:spPr>
          <a:xfrm>
            <a:off x="12770836" y="4995353"/>
            <a:ext cx="2415781" cy="618921"/>
          </a:xfrm>
          <a:custGeom>
            <a:avLst/>
            <a:gdLst/>
            <a:ahLst/>
            <a:cxnLst/>
            <a:rect l="l" t="t" r="r" b="b"/>
            <a:pathLst>
              <a:path w="2415781" h="618921">
                <a:moveTo>
                  <a:pt x="0" y="279251"/>
                </a:moveTo>
                <a:quadBezTo>
                  <a:pt x="1760863" y="1077429"/>
                  <a:pt x="2415781" y="0"/>
                </a:quadBezTo>
              </a:path>
            </a:pathLst>
          </a:custGeom>
          <a:ln w="38100" cap="flat">
            <a:solidFill>
              <a:srgbClr val="B9B9B9"/>
            </a:solidFill>
            <a:prstDash val="solid"/>
            <a:headEnd type="none" w="sm" len="sm"/>
            <a:tailEnd type="none" w="sm" len="sm"/>
          </a:ln>
        </p:spPr>
        <p:txBody>
          <a:bodyPr/>
          <a:lstStyle/>
          <a:p>
            <a:endParaRPr lang="es-ES"/>
          </a:p>
        </p:txBody>
      </p:sp>
      <p:grpSp>
        <p:nvGrpSpPr>
          <p:cNvPr id="45" name="Group 45"/>
          <p:cNvGrpSpPr/>
          <p:nvPr/>
        </p:nvGrpSpPr>
        <p:grpSpPr>
          <a:xfrm>
            <a:off x="10043365" y="5989598"/>
            <a:ext cx="383946" cy="383946"/>
            <a:chOff x="0" y="0"/>
            <a:chExt cx="812800" cy="812800"/>
          </a:xfrm>
        </p:grpSpPr>
        <p:sp>
          <p:nvSpPr>
            <p:cNvPr id="46" name="Freeform 4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47" name="TextBox 47"/>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sp>
        <p:nvSpPr>
          <p:cNvPr id="48" name="Freeform 48"/>
          <p:cNvSpPr/>
          <p:nvPr/>
        </p:nvSpPr>
        <p:spPr>
          <a:xfrm>
            <a:off x="3998548" y="4666572"/>
            <a:ext cx="3029999" cy="3029999"/>
          </a:xfrm>
          <a:custGeom>
            <a:avLst/>
            <a:gdLst/>
            <a:ahLst/>
            <a:cxnLst/>
            <a:rect l="l" t="t" r="r" b="b"/>
            <a:pathLst>
              <a:path w="3029999" h="3029999">
                <a:moveTo>
                  <a:pt x="0" y="0"/>
                </a:moveTo>
                <a:lnTo>
                  <a:pt x="3029998" y="0"/>
                </a:lnTo>
                <a:lnTo>
                  <a:pt x="3029998" y="3029999"/>
                </a:lnTo>
                <a:lnTo>
                  <a:pt x="0" y="3029999"/>
                </a:lnTo>
                <a:lnTo>
                  <a:pt x="0" y="0"/>
                </a:lnTo>
                <a:close/>
              </a:path>
            </a:pathLst>
          </a:custGeom>
          <a:blipFill>
            <a:blip r:embed="rId4"/>
            <a:stretch>
              <a:fillRect/>
            </a:stretch>
          </a:blipFill>
        </p:spPr>
        <p:txBody>
          <a:bodyPr/>
          <a:lstStyle/>
          <a:p>
            <a:endParaRPr lang="es-ES"/>
          </a:p>
        </p:txBody>
      </p:sp>
      <p:sp>
        <p:nvSpPr>
          <p:cNvPr id="49" name="Freeform 49"/>
          <p:cNvSpPr/>
          <p:nvPr/>
        </p:nvSpPr>
        <p:spPr>
          <a:xfrm>
            <a:off x="1098571" y="1846040"/>
            <a:ext cx="2899976" cy="2899976"/>
          </a:xfrm>
          <a:custGeom>
            <a:avLst/>
            <a:gdLst/>
            <a:ahLst/>
            <a:cxnLst/>
            <a:rect l="l" t="t" r="r" b="b"/>
            <a:pathLst>
              <a:path w="2899976" h="2899976">
                <a:moveTo>
                  <a:pt x="0" y="0"/>
                </a:moveTo>
                <a:lnTo>
                  <a:pt x="2899977" y="0"/>
                </a:lnTo>
                <a:lnTo>
                  <a:pt x="2899977" y="2899976"/>
                </a:lnTo>
                <a:lnTo>
                  <a:pt x="0" y="2899976"/>
                </a:lnTo>
                <a:lnTo>
                  <a:pt x="0" y="0"/>
                </a:lnTo>
                <a:close/>
              </a:path>
            </a:pathLst>
          </a:custGeom>
          <a:blipFill>
            <a:blip r:embed="rId5"/>
            <a:stretch>
              <a:fillRect/>
            </a:stretch>
          </a:blipFill>
        </p:spPr>
        <p:txBody>
          <a:bodyPr/>
          <a:lstStyle/>
          <a:p>
            <a:endParaRPr lang="es-ES"/>
          </a:p>
        </p:txBody>
      </p:sp>
      <p:sp>
        <p:nvSpPr>
          <p:cNvPr id="50" name="Freeform 50"/>
          <p:cNvSpPr/>
          <p:nvPr/>
        </p:nvSpPr>
        <p:spPr>
          <a:xfrm>
            <a:off x="8306626" y="7018506"/>
            <a:ext cx="1452142" cy="1452142"/>
          </a:xfrm>
          <a:custGeom>
            <a:avLst/>
            <a:gdLst/>
            <a:ahLst/>
            <a:cxnLst/>
            <a:rect l="l" t="t" r="r" b="b"/>
            <a:pathLst>
              <a:path w="1452142" h="1452142">
                <a:moveTo>
                  <a:pt x="0" y="0"/>
                </a:moveTo>
                <a:lnTo>
                  <a:pt x="1452142" y="0"/>
                </a:lnTo>
                <a:lnTo>
                  <a:pt x="1452142" y="1452143"/>
                </a:lnTo>
                <a:lnTo>
                  <a:pt x="0" y="1452143"/>
                </a:lnTo>
                <a:lnTo>
                  <a:pt x="0" y="0"/>
                </a:lnTo>
                <a:close/>
              </a:path>
            </a:pathLst>
          </a:custGeom>
          <a:blipFill>
            <a:blip r:embed="rId6"/>
            <a:stretch>
              <a:fillRect/>
            </a:stretch>
          </a:blipFill>
        </p:spPr>
        <p:txBody>
          <a:bodyPr/>
          <a:lstStyle/>
          <a:p>
            <a:endParaRPr lang="es-ES"/>
          </a:p>
        </p:txBody>
      </p:sp>
      <p:grpSp>
        <p:nvGrpSpPr>
          <p:cNvPr id="51" name="Group 51"/>
          <p:cNvGrpSpPr/>
          <p:nvPr/>
        </p:nvGrpSpPr>
        <p:grpSpPr>
          <a:xfrm>
            <a:off x="7803081" y="1846040"/>
            <a:ext cx="2681839" cy="4335532"/>
            <a:chOff x="0" y="0"/>
            <a:chExt cx="3575785" cy="5780709"/>
          </a:xfrm>
        </p:grpSpPr>
        <p:sp>
          <p:nvSpPr>
            <p:cNvPr id="52" name="Freeform 52"/>
            <p:cNvSpPr/>
            <p:nvPr/>
          </p:nvSpPr>
          <p:spPr>
            <a:xfrm>
              <a:off x="0" y="2486498"/>
              <a:ext cx="3294211" cy="3294211"/>
            </a:xfrm>
            <a:custGeom>
              <a:avLst/>
              <a:gdLst/>
              <a:ahLst/>
              <a:cxnLst/>
              <a:rect l="l" t="t" r="r" b="b"/>
              <a:pathLst>
                <a:path w="3294211" h="3294211">
                  <a:moveTo>
                    <a:pt x="0" y="0"/>
                  </a:moveTo>
                  <a:lnTo>
                    <a:pt x="3294211" y="0"/>
                  </a:lnTo>
                  <a:lnTo>
                    <a:pt x="3294211" y="3294211"/>
                  </a:lnTo>
                  <a:lnTo>
                    <a:pt x="0" y="3294211"/>
                  </a:lnTo>
                  <a:lnTo>
                    <a:pt x="0" y="0"/>
                  </a:lnTo>
                  <a:close/>
                </a:path>
              </a:pathLst>
            </a:custGeom>
            <a:blipFill>
              <a:blip r:embed="rId7"/>
              <a:stretch>
                <a:fillRect/>
              </a:stretch>
            </a:blipFill>
          </p:spPr>
          <p:txBody>
            <a:bodyPr/>
            <a:lstStyle/>
            <a:p>
              <a:endParaRPr lang="es-ES"/>
            </a:p>
          </p:txBody>
        </p:sp>
        <p:sp>
          <p:nvSpPr>
            <p:cNvPr id="53" name="Freeform 53"/>
            <p:cNvSpPr/>
            <p:nvPr/>
          </p:nvSpPr>
          <p:spPr>
            <a:xfrm>
              <a:off x="540365" y="0"/>
              <a:ext cx="3035420" cy="3035420"/>
            </a:xfrm>
            <a:custGeom>
              <a:avLst/>
              <a:gdLst/>
              <a:ahLst/>
              <a:cxnLst/>
              <a:rect l="l" t="t" r="r" b="b"/>
              <a:pathLst>
                <a:path w="3035420" h="3035420">
                  <a:moveTo>
                    <a:pt x="0" y="0"/>
                  </a:moveTo>
                  <a:lnTo>
                    <a:pt x="3035420" y="0"/>
                  </a:lnTo>
                  <a:lnTo>
                    <a:pt x="3035420" y="3035420"/>
                  </a:lnTo>
                  <a:lnTo>
                    <a:pt x="0" y="3035420"/>
                  </a:lnTo>
                  <a:lnTo>
                    <a:pt x="0" y="0"/>
                  </a:lnTo>
                  <a:close/>
                </a:path>
              </a:pathLst>
            </a:custGeom>
            <a:blipFill>
              <a:blip r:embed="rId8"/>
              <a:stretch>
                <a:fillRect/>
              </a:stretch>
            </a:blipFill>
          </p:spPr>
          <p:txBody>
            <a:bodyPr/>
            <a:lstStyle/>
            <a:p>
              <a:endParaRPr lang="es-ES"/>
            </a:p>
          </p:txBody>
        </p:sp>
      </p:grpSp>
      <p:sp>
        <p:nvSpPr>
          <p:cNvPr id="54" name="Freeform 54"/>
          <p:cNvSpPr/>
          <p:nvPr/>
        </p:nvSpPr>
        <p:spPr>
          <a:xfrm>
            <a:off x="10624788" y="4666572"/>
            <a:ext cx="3029999" cy="3029999"/>
          </a:xfrm>
          <a:custGeom>
            <a:avLst/>
            <a:gdLst/>
            <a:ahLst/>
            <a:cxnLst/>
            <a:rect l="l" t="t" r="r" b="b"/>
            <a:pathLst>
              <a:path w="3029999" h="3029999">
                <a:moveTo>
                  <a:pt x="0" y="0"/>
                </a:moveTo>
                <a:lnTo>
                  <a:pt x="3029999" y="0"/>
                </a:lnTo>
                <a:lnTo>
                  <a:pt x="3029999" y="3029999"/>
                </a:lnTo>
                <a:lnTo>
                  <a:pt x="0" y="3029999"/>
                </a:lnTo>
                <a:lnTo>
                  <a:pt x="0" y="0"/>
                </a:lnTo>
                <a:close/>
              </a:path>
            </a:pathLst>
          </a:custGeom>
          <a:blipFill>
            <a:blip r:embed="rId4"/>
            <a:stretch>
              <a:fillRect/>
            </a:stretch>
          </a:blipFill>
        </p:spPr>
        <p:txBody>
          <a:bodyPr/>
          <a:lstStyle/>
          <a:p>
            <a:endParaRPr lang="es-ES"/>
          </a:p>
        </p:txBody>
      </p:sp>
      <p:grpSp>
        <p:nvGrpSpPr>
          <p:cNvPr id="55" name="Group 55"/>
          <p:cNvGrpSpPr/>
          <p:nvPr/>
        </p:nvGrpSpPr>
        <p:grpSpPr>
          <a:xfrm>
            <a:off x="8388820" y="7058932"/>
            <a:ext cx="383946" cy="383946"/>
            <a:chOff x="0" y="0"/>
            <a:chExt cx="812800" cy="812800"/>
          </a:xfrm>
        </p:grpSpPr>
        <p:sp>
          <p:nvSpPr>
            <p:cNvPr id="56" name="Freeform 5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57" name="TextBox 57"/>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grpSp>
        <p:nvGrpSpPr>
          <p:cNvPr id="58" name="Group 58"/>
          <p:cNvGrpSpPr/>
          <p:nvPr/>
        </p:nvGrpSpPr>
        <p:grpSpPr>
          <a:xfrm>
            <a:off x="9322877" y="7058932"/>
            <a:ext cx="383946" cy="383946"/>
            <a:chOff x="0" y="0"/>
            <a:chExt cx="812800" cy="812800"/>
          </a:xfrm>
        </p:grpSpPr>
        <p:sp>
          <p:nvSpPr>
            <p:cNvPr id="59" name="Freeform 5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60" name="TextBox 60"/>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grpSp>
        <p:nvGrpSpPr>
          <p:cNvPr id="61" name="Group 44">
            <a:extLst>
              <a:ext uri="{FF2B5EF4-FFF2-40B4-BE49-F238E27FC236}">
                <a16:creationId xmlns:a16="http://schemas.microsoft.com/office/drawing/2014/main" id="{360C62F3-C3EC-CC43-C1B4-E7514893E955}"/>
              </a:ext>
            </a:extLst>
          </p:cNvPr>
          <p:cNvGrpSpPr/>
          <p:nvPr/>
        </p:nvGrpSpPr>
        <p:grpSpPr>
          <a:xfrm>
            <a:off x="1688818" y="7968999"/>
            <a:ext cx="12155072" cy="2161202"/>
            <a:chOff x="0" y="-114300"/>
            <a:chExt cx="16206763" cy="2881603"/>
          </a:xfrm>
        </p:grpSpPr>
        <p:sp>
          <p:nvSpPr>
            <p:cNvPr id="62" name="AutoShape 45">
              <a:extLst>
                <a:ext uri="{FF2B5EF4-FFF2-40B4-BE49-F238E27FC236}">
                  <a16:creationId xmlns:a16="http://schemas.microsoft.com/office/drawing/2014/main" id="{D189FD1C-A7A7-145D-9836-E3481AFDF3F3}"/>
                </a:ext>
              </a:extLst>
            </p:cNvPr>
            <p:cNvSpPr/>
            <p:nvPr/>
          </p:nvSpPr>
          <p:spPr>
            <a:xfrm>
              <a:off x="1913843" y="2003263"/>
              <a:ext cx="3209955" cy="0"/>
            </a:xfrm>
            <a:prstGeom prst="line">
              <a:avLst/>
            </a:prstGeom>
            <a:ln w="190500" cap="flat">
              <a:solidFill>
                <a:srgbClr val="4D6BA7"/>
              </a:solidFill>
              <a:prstDash val="solid"/>
              <a:headEnd type="triangle" w="lg" len="med"/>
              <a:tailEnd type="triangle" w="lg" len="med"/>
            </a:ln>
          </p:spPr>
          <p:txBody>
            <a:bodyPr/>
            <a:lstStyle/>
            <a:p>
              <a:endParaRPr lang="es-ES" dirty="0"/>
            </a:p>
          </p:txBody>
        </p:sp>
        <p:sp>
          <p:nvSpPr>
            <p:cNvPr id="63" name="Freeform 46">
              <a:extLst>
                <a:ext uri="{FF2B5EF4-FFF2-40B4-BE49-F238E27FC236}">
                  <a16:creationId xmlns:a16="http://schemas.microsoft.com/office/drawing/2014/main" id="{8C965BBB-D8BA-74F5-620D-621F9CB6677E}"/>
                </a:ext>
              </a:extLst>
            </p:cNvPr>
            <p:cNvSpPr/>
            <p:nvPr/>
          </p:nvSpPr>
          <p:spPr>
            <a:xfrm>
              <a:off x="14105432" y="1672938"/>
              <a:ext cx="1340069" cy="1010362"/>
            </a:xfrm>
            <a:custGeom>
              <a:avLst/>
              <a:gdLst/>
              <a:ahLst/>
              <a:cxnLst/>
              <a:rect l="l" t="t" r="r" b="b"/>
              <a:pathLst>
                <a:path w="1340069" h="1010362">
                  <a:moveTo>
                    <a:pt x="0" y="1010362"/>
                  </a:moveTo>
                  <a:quadBezTo>
                    <a:pt x="453397" y="-654910"/>
                    <a:pt x="1340070" y="424508"/>
                  </a:quadBezTo>
                </a:path>
              </a:pathLst>
            </a:custGeom>
            <a:ln w="105299" cap="flat">
              <a:solidFill>
                <a:srgbClr val="4D6BA7"/>
              </a:solidFill>
              <a:prstDash val="solid"/>
              <a:headEnd type="none" w="sm" len="sm"/>
              <a:tailEnd type="none" w="sm" len="sm"/>
            </a:ln>
          </p:spPr>
          <p:txBody>
            <a:bodyPr/>
            <a:lstStyle/>
            <a:p>
              <a:endParaRPr lang="es-ES"/>
            </a:p>
          </p:txBody>
        </p:sp>
        <p:sp>
          <p:nvSpPr>
            <p:cNvPr id="64" name="Freeform 47">
              <a:extLst>
                <a:ext uri="{FF2B5EF4-FFF2-40B4-BE49-F238E27FC236}">
                  <a16:creationId xmlns:a16="http://schemas.microsoft.com/office/drawing/2014/main" id="{6F9F41D8-716B-EEEC-C461-0A88E4EAAD42}"/>
                </a:ext>
              </a:extLst>
            </p:cNvPr>
            <p:cNvSpPr/>
            <p:nvPr/>
          </p:nvSpPr>
          <p:spPr>
            <a:xfrm>
              <a:off x="14892083" y="2061119"/>
              <a:ext cx="652261" cy="479119"/>
            </a:xfrm>
            <a:custGeom>
              <a:avLst/>
              <a:gdLst/>
              <a:ahLst/>
              <a:cxnLst/>
              <a:rect l="l" t="t" r="r" b="b"/>
              <a:pathLst>
                <a:path w="652261" h="479119">
                  <a:moveTo>
                    <a:pt x="525242" y="0"/>
                  </a:moveTo>
                  <a:quadBezTo>
                    <a:pt x="940097" y="517094"/>
                    <a:pt x="0" y="476109"/>
                  </a:quadBezTo>
                </a:path>
              </a:pathLst>
            </a:custGeom>
            <a:ln w="105299" cap="flat">
              <a:solidFill>
                <a:srgbClr val="4D6BA7"/>
              </a:solidFill>
              <a:prstDash val="solid"/>
              <a:headEnd type="none" w="sm" len="sm"/>
              <a:tailEnd type="none" w="sm" len="sm"/>
            </a:ln>
          </p:spPr>
          <p:txBody>
            <a:bodyPr/>
            <a:lstStyle/>
            <a:p>
              <a:endParaRPr lang="es-ES"/>
            </a:p>
          </p:txBody>
        </p:sp>
        <p:sp>
          <p:nvSpPr>
            <p:cNvPr id="65" name="Freeform 48">
              <a:extLst>
                <a:ext uri="{FF2B5EF4-FFF2-40B4-BE49-F238E27FC236}">
                  <a16:creationId xmlns:a16="http://schemas.microsoft.com/office/drawing/2014/main" id="{8C0F58E3-3F2E-7695-6CC0-132617676616}"/>
                </a:ext>
              </a:extLst>
            </p:cNvPr>
            <p:cNvSpPr/>
            <p:nvPr/>
          </p:nvSpPr>
          <p:spPr>
            <a:xfrm>
              <a:off x="13847391" y="1324356"/>
              <a:ext cx="1127509" cy="1213326"/>
            </a:xfrm>
            <a:custGeom>
              <a:avLst/>
              <a:gdLst/>
              <a:ahLst/>
              <a:cxnLst/>
              <a:rect l="l" t="t" r="r" b="b"/>
              <a:pathLst>
                <a:path w="1127509" h="1213326">
                  <a:moveTo>
                    <a:pt x="1127509" y="1213326"/>
                  </a:moveTo>
                  <a:quadBezTo>
                    <a:pt x="-592067" y="1065825"/>
                    <a:pt x="310901" y="0"/>
                  </a:quadBezTo>
                </a:path>
              </a:pathLst>
            </a:custGeom>
            <a:ln w="105299" cap="flat">
              <a:solidFill>
                <a:srgbClr val="4D6BA7"/>
              </a:solidFill>
              <a:prstDash val="solid"/>
              <a:headEnd type="none" w="sm" len="sm"/>
              <a:tailEnd type="none" w="sm" len="sm"/>
            </a:ln>
          </p:spPr>
          <p:txBody>
            <a:bodyPr/>
            <a:lstStyle/>
            <a:p>
              <a:endParaRPr lang="es-ES"/>
            </a:p>
          </p:txBody>
        </p:sp>
        <p:sp>
          <p:nvSpPr>
            <p:cNvPr id="66" name="Freeform 49">
              <a:extLst>
                <a:ext uri="{FF2B5EF4-FFF2-40B4-BE49-F238E27FC236}">
                  <a16:creationId xmlns:a16="http://schemas.microsoft.com/office/drawing/2014/main" id="{655D77F4-828C-4705-EE1C-DDDA411E2181}"/>
                </a:ext>
              </a:extLst>
            </p:cNvPr>
            <p:cNvSpPr/>
            <p:nvPr/>
          </p:nvSpPr>
          <p:spPr>
            <a:xfrm>
              <a:off x="14149517" y="1247776"/>
              <a:ext cx="532633" cy="813343"/>
            </a:xfrm>
            <a:custGeom>
              <a:avLst/>
              <a:gdLst/>
              <a:ahLst/>
              <a:cxnLst/>
              <a:rect l="l" t="t" r="r" b="b"/>
              <a:pathLst>
                <a:path w="532633" h="813343">
                  <a:moveTo>
                    <a:pt x="0" y="85355"/>
                  </a:moveTo>
                  <a:quadBezTo>
                    <a:pt x="564607" y="-263484"/>
                    <a:pt x="530713" y="813343"/>
                  </a:quadBezTo>
                </a:path>
              </a:pathLst>
            </a:custGeom>
            <a:ln w="105299" cap="flat">
              <a:solidFill>
                <a:srgbClr val="4D6BA7"/>
              </a:solidFill>
              <a:prstDash val="solid"/>
              <a:headEnd type="none" w="sm" len="sm"/>
              <a:tailEnd type="none" w="sm" len="sm"/>
            </a:ln>
          </p:spPr>
          <p:txBody>
            <a:bodyPr/>
            <a:lstStyle/>
            <a:p>
              <a:endParaRPr lang="es-ES"/>
            </a:p>
          </p:txBody>
        </p:sp>
        <p:sp>
          <p:nvSpPr>
            <p:cNvPr id="67" name="Freeform 50">
              <a:extLst>
                <a:ext uri="{FF2B5EF4-FFF2-40B4-BE49-F238E27FC236}">
                  <a16:creationId xmlns:a16="http://schemas.microsoft.com/office/drawing/2014/main" id="{C0DCF958-1648-62B6-0C1D-F24C17FBF8B2}"/>
                </a:ext>
              </a:extLst>
            </p:cNvPr>
            <p:cNvSpPr/>
            <p:nvPr/>
          </p:nvSpPr>
          <p:spPr>
            <a:xfrm>
              <a:off x="14678791" y="1413085"/>
              <a:ext cx="859181" cy="1354218"/>
            </a:xfrm>
            <a:custGeom>
              <a:avLst/>
              <a:gdLst/>
              <a:ahLst/>
              <a:cxnLst/>
              <a:rect l="l" t="t" r="r" b="b"/>
              <a:pathLst>
                <a:path w="859181" h="1354218">
                  <a:moveTo>
                    <a:pt x="1439" y="319145"/>
                  </a:moveTo>
                  <a:quadBezTo>
                    <a:pt x="-35160" y="2538159"/>
                    <a:pt x="859182" y="0"/>
                  </a:quadBezTo>
                </a:path>
              </a:pathLst>
            </a:custGeom>
            <a:ln w="105299" cap="flat">
              <a:solidFill>
                <a:srgbClr val="4D6BA7"/>
              </a:solidFill>
              <a:prstDash val="solid"/>
              <a:headEnd type="none" w="sm" len="sm"/>
              <a:tailEnd type="none" w="sm" len="sm"/>
            </a:ln>
          </p:spPr>
          <p:txBody>
            <a:bodyPr/>
            <a:lstStyle/>
            <a:p>
              <a:endParaRPr lang="es-ES"/>
            </a:p>
          </p:txBody>
        </p:sp>
        <p:sp>
          <p:nvSpPr>
            <p:cNvPr id="68" name="TextBox 51">
              <a:extLst>
                <a:ext uri="{FF2B5EF4-FFF2-40B4-BE49-F238E27FC236}">
                  <a16:creationId xmlns:a16="http://schemas.microsoft.com/office/drawing/2014/main" id="{801151DC-8061-44B2-47BB-79F4C5843749}"/>
                </a:ext>
              </a:extLst>
            </p:cNvPr>
            <p:cNvSpPr txBox="1"/>
            <p:nvPr/>
          </p:nvSpPr>
          <p:spPr>
            <a:xfrm>
              <a:off x="13268764" y="-114300"/>
              <a:ext cx="2937999" cy="1223434"/>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CAOS</a:t>
              </a:r>
            </a:p>
          </p:txBody>
        </p:sp>
        <p:grpSp>
          <p:nvGrpSpPr>
            <p:cNvPr id="69" name="Group 52">
              <a:extLst>
                <a:ext uri="{FF2B5EF4-FFF2-40B4-BE49-F238E27FC236}">
                  <a16:creationId xmlns:a16="http://schemas.microsoft.com/office/drawing/2014/main" id="{A44B16D4-9BEC-18EE-22DE-9190B0EE9969}"/>
                </a:ext>
              </a:extLst>
            </p:cNvPr>
            <p:cNvGrpSpPr/>
            <p:nvPr/>
          </p:nvGrpSpPr>
          <p:grpSpPr>
            <a:xfrm>
              <a:off x="7400243" y="2015200"/>
              <a:ext cx="854181" cy="658229"/>
              <a:chOff x="-318168" y="0"/>
              <a:chExt cx="1054768" cy="812800"/>
            </a:xfrm>
          </p:grpSpPr>
          <p:sp>
            <p:nvSpPr>
              <p:cNvPr id="79" name="Freeform 53">
                <a:extLst>
                  <a:ext uri="{FF2B5EF4-FFF2-40B4-BE49-F238E27FC236}">
                    <a16:creationId xmlns:a16="http://schemas.microsoft.com/office/drawing/2014/main" id="{6DC02A0E-7DEB-96D5-F986-D6ED92B1B2BC}"/>
                  </a:ext>
                </a:extLst>
              </p:cNvPr>
              <p:cNvSpPr/>
              <p:nvPr/>
            </p:nvSpPr>
            <p:spPr>
              <a:xfrm>
                <a:off x="-318168"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D6BA7"/>
              </a:solidFill>
            </p:spPr>
            <p:txBody>
              <a:bodyPr/>
              <a:lstStyle/>
              <a:p>
                <a:endParaRPr lang="es-ES"/>
              </a:p>
            </p:txBody>
          </p:sp>
          <p:sp>
            <p:nvSpPr>
              <p:cNvPr id="80" name="TextBox 54">
                <a:extLst>
                  <a:ext uri="{FF2B5EF4-FFF2-40B4-BE49-F238E27FC236}">
                    <a16:creationId xmlns:a16="http://schemas.microsoft.com/office/drawing/2014/main" id="{A78EC440-988E-3148-42BF-00C75BE6E2B8}"/>
                  </a:ext>
                </a:extLst>
              </p:cNvPr>
              <p:cNvSpPr txBox="1"/>
              <p:nvPr/>
            </p:nvSpPr>
            <p:spPr>
              <a:xfrm>
                <a:off x="76200" y="38100"/>
                <a:ext cx="660400" cy="698500"/>
              </a:xfrm>
              <a:prstGeom prst="rect">
                <a:avLst/>
              </a:prstGeom>
            </p:spPr>
            <p:txBody>
              <a:bodyPr lIns="73524" tIns="73524" rIns="73524" bIns="73524" rtlCol="0" anchor="ctr"/>
              <a:lstStyle/>
              <a:p>
                <a:pPr algn="ctr">
                  <a:lnSpc>
                    <a:spcPts val="2659"/>
                  </a:lnSpc>
                </a:pPr>
                <a:endParaRPr/>
              </a:p>
            </p:txBody>
          </p:sp>
        </p:grpSp>
        <p:grpSp>
          <p:nvGrpSpPr>
            <p:cNvPr id="70" name="Group 55">
              <a:extLst>
                <a:ext uri="{FF2B5EF4-FFF2-40B4-BE49-F238E27FC236}">
                  <a16:creationId xmlns:a16="http://schemas.microsoft.com/office/drawing/2014/main" id="{2A979823-B246-99E8-10A6-E42D6B03A0D5}"/>
                </a:ext>
              </a:extLst>
            </p:cNvPr>
            <p:cNvGrpSpPr/>
            <p:nvPr/>
          </p:nvGrpSpPr>
          <p:grpSpPr>
            <a:xfrm>
              <a:off x="11626061" y="2015200"/>
              <a:ext cx="801210" cy="658229"/>
              <a:chOff x="76200" y="0"/>
              <a:chExt cx="989358" cy="812800"/>
            </a:xfrm>
          </p:grpSpPr>
          <p:sp>
            <p:nvSpPr>
              <p:cNvPr id="77" name="Freeform 56">
                <a:extLst>
                  <a:ext uri="{FF2B5EF4-FFF2-40B4-BE49-F238E27FC236}">
                    <a16:creationId xmlns:a16="http://schemas.microsoft.com/office/drawing/2014/main" id="{E196A84A-582D-9B87-AD93-F211D5DA9B79}"/>
                  </a:ext>
                </a:extLst>
              </p:cNvPr>
              <p:cNvSpPr/>
              <p:nvPr/>
            </p:nvSpPr>
            <p:spPr>
              <a:xfrm>
                <a:off x="252758"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D6BA7"/>
              </a:solidFill>
            </p:spPr>
            <p:txBody>
              <a:bodyPr/>
              <a:lstStyle/>
              <a:p>
                <a:endParaRPr lang="es-ES"/>
              </a:p>
            </p:txBody>
          </p:sp>
          <p:sp>
            <p:nvSpPr>
              <p:cNvPr id="78" name="TextBox 57">
                <a:extLst>
                  <a:ext uri="{FF2B5EF4-FFF2-40B4-BE49-F238E27FC236}">
                    <a16:creationId xmlns:a16="http://schemas.microsoft.com/office/drawing/2014/main" id="{CC2ABDCE-CBFE-385F-EDEE-D007B766AE3A}"/>
                  </a:ext>
                </a:extLst>
              </p:cNvPr>
              <p:cNvSpPr txBox="1"/>
              <p:nvPr/>
            </p:nvSpPr>
            <p:spPr>
              <a:xfrm>
                <a:off x="76200" y="38100"/>
                <a:ext cx="660400" cy="698500"/>
              </a:xfrm>
              <a:prstGeom prst="rect">
                <a:avLst/>
              </a:prstGeom>
            </p:spPr>
            <p:txBody>
              <a:bodyPr lIns="73524" tIns="73524" rIns="73524" bIns="73524" rtlCol="0" anchor="ctr"/>
              <a:lstStyle/>
              <a:p>
                <a:pPr algn="ctr">
                  <a:lnSpc>
                    <a:spcPts val="2659"/>
                  </a:lnSpc>
                </a:pPr>
                <a:endParaRPr/>
              </a:p>
            </p:txBody>
          </p:sp>
        </p:grpSp>
        <p:grpSp>
          <p:nvGrpSpPr>
            <p:cNvPr id="71" name="Group 58">
              <a:extLst>
                <a:ext uri="{FF2B5EF4-FFF2-40B4-BE49-F238E27FC236}">
                  <a16:creationId xmlns:a16="http://schemas.microsoft.com/office/drawing/2014/main" id="{33CEEAF0-1C44-6D61-889F-12F7D30F1137}"/>
                </a:ext>
              </a:extLst>
            </p:cNvPr>
            <p:cNvGrpSpPr/>
            <p:nvPr/>
          </p:nvGrpSpPr>
          <p:grpSpPr>
            <a:xfrm>
              <a:off x="9535335" y="1939406"/>
              <a:ext cx="809817" cy="809817"/>
              <a:chOff x="0" y="0"/>
              <a:chExt cx="812800" cy="812800"/>
            </a:xfrm>
          </p:grpSpPr>
          <p:sp>
            <p:nvSpPr>
              <p:cNvPr id="75" name="Freeform 59">
                <a:extLst>
                  <a:ext uri="{FF2B5EF4-FFF2-40B4-BE49-F238E27FC236}">
                    <a16:creationId xmlns:a16="http://schemas.microsoft.com/office/drawing/2014/main" id="{9E7F3A6B-383B-E99C-B2EB-1A5657C16838}"/>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D6BA7"/>
              </a:solidFill>
            </p:spPr>
            <p:txBody>
              <a:bodyPr/>
              <a:lstStyle/>
              <a:p>
                <a:endParaRPr lang="es-ES"/>
              </a:p>
            </p:txBody>
          </p:sp>
          <p:sp>
            <p:nvSpPr>
              <p:cNvPr id="76" name="TextBox 60">
                <a:extLst>
                  <a:ext uri="{FF2B5EF4-FFF2-40B4-BE49-F238E27FC236}">
                    <a16:creationId xmlns:a16="http://schemas.microsoft.com/office/drawing/2014/main" id="{BDEA6EED-5203-B586-8112-438B91E5A58D}"/>
                  </a:ext>
                </a:extLst>
              </p:cNvPr>
              <p:cNvSpPr txBox="1"/>
              <p:nvPr/>
            </p:nvSpPr>
            <p:spPr>
              <a:xfrm>
                <a:off x="76200" y="38100"/>
                <a:ext cx="660400" cy="698500"/>
              </a:xfrm>
              <a:prstGeom prst="rect">
                <a:avLst/>
              </a:prstGeom>
            </p:spPr>
            <p:txBody>
              <a:bodyPr lIns="73524" tIns="73524" rIns="73524" bIns="73524" rtlCol="0" anchor="ctr"/>
              <a:lstStyle/>
              <a:p>
                <a:pPr algn="ctr">
                  <a:lnSpc>
                    <a:spcPts val="2659"/>
                  </a:lnSpc>
                </a:pPr>
                <a:endParaRPr/>
              </a:p>
            </p:txBody>
          </p:sp>
        </p:grpSp>
        <p:sp>
          <p:nvSpPr>
            <p:cNvPr id="72" name="AutoShape 62">
              <a:extLst>
                <a:ext uri="{FF2B5EF4-FFF2-40B4-BE49-F238E27FC236}">
                  <a16:creationId xmlns:a16="http://schemas.microsoft.com/office/drawing/2014/main" id="{DE8ABBE1-EDDF-FCE7-0D79-89C87BECA00D}"/>
                </a:ext>
              </a:extLst>
            </p:cNvPr>
            <p:cNvSpPr/>
            <p:nvPr/>
          </p:nvSpPr>
          <p:spPr>
            <a:xfrm>
              <a:off x="10442763" y="2363366"/>
              <a:ext cx="1183299" cy="0"/>
            </a:xfrm>
            <a:prstGeom prst="line">
              <a:avLst/>
            </a:prstGeom>
            <a:ln w="114073" cap="flat">
              <a:solidFill>
                <a:srgbClr val="4D6BA7"/>
              </a:solidFill>
              <a:prstDash val="solid"/>
              <a:headEnd type="triangle" w="lg" len="med"/>
              <a:tailEnd type="triangle" w="lg" len="med"/>
            </a:ln>
          </p:spPr>
          <p:txBody>
            <a:bodyPr/>
            <a:lstStyle/>
            <a:p>
              <a:endParaRPr lang="es-ES"/>
            </a:p>
          </p:txBody>
        </p:sp>
        <p:sp>
          <p:nvSpPr>
            <p:cNvPr id="73" name="TextBox 63">
              <a:extLst>
                <a:ext uri="{FF2B5EF4-FFF2-40B4-BE49-F238E27FC236}">
                  <a16:creationId xmlns:a16="http://schemas.microsoft.com/office/drawing/2014/main" id="{34040EB2-8B38-0AC8-6182-9DBBD035D102}"/>
                </a:ext>
              </a:extLst>
            </p:cNvPr>
            <p:cNvSpPr txBox="1"/>
            <p:nvPr/>
          </p:nvSpPr>
          <p:spPr>
            <a:xfrm>
              <a:off x="0" y="-65245"/>
              <a:ext cx="6867945" cy="1223434"/>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BIDIRECCIONAL</a:t>
              </a:r>
            </a:p>
          </p:txBody>
        </p:sp>
        <p:sp>
          <p:nvSpPr>
            <p:cNvPr id="74" name="TextBox 64">
              <a:extLst>
                <a:ext uri="{FF2B5EF4-FFF2-40B4-BE49-F238E27FC236}">
                  <a16:creationId xmlns:a16="http://schemas.microsoft.com/office/drawing/2014/main" id="{7EC0EC94-AC16-CF4A-8DE2-A697114B6709}"/>
                </a:ext>
              </a:extLst>
            </p:cNvPr>
            <p:cNvSpPr txBox="1"/>
            <p:nvPr/>
          </p:nvSpPr>
          <p:spPr>
            <a:xfrm>
              <a:off x="7384847" y="676214"/>
              <a:ext cx="5110792" cy="1223434"/>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DISTRIBUIDO</a:t>
              </a:r>
            </a:p>
          </p:txBody>
        </p:sp>
      </p:grpSp>
      <p:sp>
        <p:nvSpPr>
          <p:cNvPr id="81" name="AutoShape 62">
            <a:extLst>
              <a:ext uri="{FF2B5EF4-FFF2-40B4-BE49-F238E27FC236}">
                <a16:creationId xmlns:a16="http://schemas.microsoft.com/office/drawing/2014/main" id="{BA7C2BAD-61A7-CCAD-2824-913A91B44CA6}"/>
              </a:ext>
            </a:extLst>
          </p:cNvPr>
          <p:cNvSpPr/>
          <p:nvPr/>
        </p:nvSpPr>
        <p:spPr>
          <a:xfrm>
            <a:off x="7848600" y="9827248"/>
            <a:ext cx="887474" cy="0"/>
          </a:xfrm>
          <a:prstGeom prst="line">
            <a:avLst/>
          </a:prstGeom>
          <a:ln w="114073" cap="flat">
            <a:solidFill>
              <a:srgbClr val="4D6BA7"/>
            </a:solidFill>
            <a:prstDash val="solid"/>
            <a:headEnd type="triangle" w="lg" len="med"/>
            <a:tailEnd type="triangle" w="lg" len="med"/>
          </a:ln>
        </p:spPr>
        <p:txBody>
          <a:bodyPr/>
          <a:lstStyle/>
          <a:p>
            <a:endParaRPr lang="es-E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45"/>
                                        </p:tgtEl>
                                        <p:attrNameLst>
                                          <p:attrName>style.visibility</p:attrName>
                                        </p:attrNameLst>
                                      </p:cBhvr>
                                      <p:to>
                                        <p:strVal val="visible"/>
                                      </p:to>
                                    </p:set>
                                  </p:childTnLst>
                                </p:cTn>
                              </p:par>
                            </p:childTnLst>
                          </p:cTn>
                        </p:par>
                        <p:par>
                          <p:cTn id="7" fill="hold">
                            <p:stCondLst>
                              <p:cond delay="0"/>
                            </p:stCondLst>
                            <p:childTnLst>
                              <p:par>
                                <p:cTn id="8" presetID="0" presetClass="path" presetSubtype="0" repeatCount="indefinite" accel="50000" decel="50000" fill="hold" nodeType="afterEffect">
                                  <p:stCondLst>
                                    <p:cond delay="0"/>
                                  </p:stCondLst>
                                  <p:childTnLst>
                                    <p:animMotion origin="layout" path="M -0.00183 0.00463 L -0.00183 0.00463 C -0.00157 0.01064 -0.00079 0.01651 -0.00105 0.02268 C -0.00183 0.04259 -0.00244 0.03935 -0.00495 0.05185 C -0.00556 0.05447 -0.00565 0.05756 -0.00651 0.06018 C -0.00704 0.06157 -0.00816 0.06172 -0.00886 0.06296 C -0.00981 0.0645 -0.01025 0.06697 -0.0112 0.06851 C -0.01207 0.06975 -0.01346 0.0699 -0.01433 0.07129 C -0.01711 0.07546 -0.01867 0.08302 -0.02214 0.08518 C -0.02292 0.08564 -0.02379 0.0858 -0.02448 0.08657 C -0.02613 0.08811 -0.02744 0.09105 -0.02917 0.09213 L -0.03386 0.0949 L -0.0362 0.09629 C -0.03724 0.09737 -0.04731 0.11018 -0.04948 0.11018 L -0.05026 0.11018 " pathEditMode="relative" ptsTypes="AAAAAAAAAAAAAAA">
                                      <p:cBhvr>
                                        <p:cTn id="9" dur="1300" fill="hold"/>
                                        <p:tgtEl>
                                          <p:spTgt spid="45"/>
                                        </p:tgtEl>
                                        <p:attrNameLst>
                                          <p:attrName>ppt_x</p:attrName>
                                          <p:attrName>ppt_y</p:attrName>
                                        </p:attrNameLst>
                                      </p:cBhvr>
                                    </p:animMotion>
                                  </p:childTnLst>
                                </p:cTn>
                              </p:par>
                            </p:childTnLst>
                          </p:cTn>
                        </p:par>
                        <p:par>
                          <p:cTn id="10" fill="hold">
                            <p:stCondLst>
                              <p:cond delay="1300"/>
                            </p:stCondLst>
                            <p:childTnLst>
                              <p:par>
                                <p:cTn id="11" presetID="1" presetClass="entr" presetSubtype="0" fill="hold" nodeType="afterEffect">
                                  <p:stCondLst>
                                    <p:cond delay="0"/>
                                  </p:stCondLst>
                                  <p:childTnLst>
                                    <p:set>
                                      <p:cBhvr>
                                        <p:cTn id="12" dur="1" fill="hold">
                                          <p:stCondLst>
                                            <p:cond delay="0"/>
                                          </p:stCondLst>
                                        </p:cTn>
                                        <p:tgtEl>
                                          <p:spTgt spid="58"/>
                                        </p:tgtEl>
                                        <p:attrNameLst>
                                          <p:attrName>style.visibility</p:attrName>
                                        </p:attrNameLst>
                                      </p:cBhvr>
                                      <p:to>
                                        <p:strVal val="visible"/>
                                      </p:to>
                                    </p:set>
                                  </p:childTnLst>
                                </p:cTn>
                              </p:par>
                              <p:par>
                                <p:cTn id="13" presetID="0" presetClass="path" presetSubtype="0" repeatCount="indefinite" accel="50000" decel="50000" fill="hold" nodeType="withEffect">
                                  <p:stCondLst>
                                    <p:cond delay="0"/>
                                  </p:stCondLst>
                                  <p:childTnLst>
                                    <p:animMotion origin="layout" path="M -0.00156 0.01189 L -0.00156 0.01189 C 0.00313 0.01065 0.01762 0.00757 0.02422 0.00494 C 0.02769 0.0034 0.03038 0.00093 0.0336 -0.002 C 0.0349 -0.00339 0.03611 -0.00509 0.03742 -0.00617 C 0.03872 -0.0074 0.04002 -0.00802 0.04141 -0.00895 C 0.04419 -0.01311 0.04731 -0.01682 0.04992 -0.02145 C 0.0513 -0.02376 0.05252 -0.02623 0.05391 -0.02839 C 0.06146 -0.04043 0.06736 -0.04552 0.07179 -0.06311 C 0.07283 -0.06728 0.07379 -0.0716 0.07492 -0.07561 C 0.07665 -0.08132 0.07865 -0.08672 0.08047 -0.09228 C 0.08151 -0.09552 0.08255 -0.09876 0.0836 -0.102 C 0.0849 -0.10617 0.08637 -0.11018 0.08742 -0.1145 C 0.08846 -0.11867 0.0895 -0.12299 0.09054 -0.127 C 0.0921 -0.13271 0.09419 -0.1378 0.09523 -0.14367 C 0.0961 -0.1483 0.09775 -0.15787 0.09922 -0.16172 C 0.1 -0.16404 0.10139 -0.16527 0.10235 -0.16728 C 0.10304 -0.16898 0.1033 -0.17114 0.10391 -0.17284 C 0.10434 -0.17438 0.10495 -0.17561 0.10547 -0.177 " pathEditMode="relative" ptsTypes="AAAAAAAAAAAAAAAAAAA">
                                      <p:cBhvr>
                                        <p:cTn id="14" dur="1300" fill="hold"/>
                                        <p:tgtEl>
                                          <p:spTgt spid="58"/>
                                        </p:tgtEl>
                                        <p:attrNameLst>
                                          <p:attrName>ppt_x</p:attrName>
                                          <p:attrName>ppt_y</p:attrName>
                                        </p:attrNameLst>
                                      </p:cBhvr>
                                    </p:animMotion>
                                  </p:childTnLst>
                                </p:cTn>
                              </p:par>
                              <p:par>
                                <p:cTn id="15" presetID="1" presetClass="entr" presetSubtype="0" fill="hold" nodeType="withEffect">
                                  <p:stCondLst>
                                    <p:cond delay="0"/>
                                  </p:stCondLst>
                                  <p:childTnLst>
                                    <p:set>
                                      <p:cBhvr>
                                        <p:cTn id="16" dur="1" fill="hold">
                                          <p:stCondLst>
                                            <p:cond delay="0"/>
                                          </p:stCondLst>
                                        </p:cTn>
                                        <p:tgtEl>
                                          <p:spTgt spid="55"/>
                                        </p:tgtEl>
                                        <p:attrNameLst>
                                          <p:attrName>style.visibility</p:attrName>
                                        </p:attrNameLst>
                                      </p:cBhvr>
                                      <p:to>
                                        <p:strVal val="visible"/>
                                      </p:to>
                                    </p:set>
                                  </p:childTnLst>
                                </p:cTn>
                              </p:par>
                              <p:par>
                                <p:cTn id="17" presetID="0" presetClass="path" presetSubtype="0" repeatCount="indefinite" accel="50000" decel="50000" fill="hold" nodeType="withEffect">
                                  <p:stCondLst>
                                    <p:cond delay="0"/>
                                  </p:stCondLst>
                                  <p:childTnLst>
                                    <p:animMotion origin="layout" path="M 0.00738 -0.00061 L 0.00738 -0.00061 L -0.0184 -0.00339 C -0.02013 -0.0037 -0.02812 -0.0074 -0.02864 -0.00771 C -0.03177 -0.00926 -0.03472 -0.01219 -0.03802 -0.01327 L -0.0427 -0.0145 C -0.04531 -0.01635 -0.04774 -0.01898 -0.05052 -0.02006 C -0.05156 -0.02068 -0.0526 -0.02083 -0.05364 -0.0216 C -0.0552 -0.02268 -0.05668 -0.02453 -0.05833 -0.02561 C -0.05928 -0.02638 -0.06041 -0.02654 -0.06145 -0.02716 C -0.06224 -0.02747 -0.06302 -0.02808 -0.06371 -0.02839 C -0.0651 -0.03024 -0.06632 -0.0324 -0.0677 -0.03395 C -0.07257 -0.03981 -0.06944 -0.03302 -0.07465 -0.04228 C -0.07586 -0.04444 -0.07665 -0.04722 -0.07777 -0.04938 C -0.07847 -0.05046 -0.07942 -0.05108 -0.0802 -0.05216 C -0.08593 -0.05972 -0.08194 -0.05571 -0.08715 -0.06049 C -0.08802 -0.06234 -0.08862 -0.06419 -0.08958 -0.06605 C -0.09123 -0.06929 -0.09357 -0.07191 -0.09496 -0.07561 C -0.096 -0.07839 -0.09704 -0.08132 -0.09809 -0.08395 C -0.09913 -0.08642 -0.10026 -0.08858 -0.10121 -0.09105 C -0.10399 -0.09784 -0.10642 -0.10493 -0.10902 -0.11172 C -0.11007 -0.1145 -0.11102 -0.11743 -0.11215 -0.12006 C -0.11866 -0.13503 -0.11579 -0.12855 -0.12083 -0.1395 C -0.12187 -0.14197 -0.12317 -0.14382 -0.12395 -0.1466 C -0.12448 -0.14845 -0.12482 -0.15046 -0.12552 -0.15216 C -0.12612 -0.1537 -0.12717 -0.15463 -0.12777 -0.15617 C -0.13203 -0.16635 -0.12803 -0.16064 -0.13246 -0.16605 C -0.13281 -0.16728 -0.1329 -0.16882 -0.13333 -0.17006 C -0.13394 -0.17222 -0.13515 -0.17361 -0.13559 -0.17561 C -0.13619 -0.17824 -0.13611 -0.18132 -0.13645 -0.18395 C -0.13663 -0.18549 -0.13715 -0.18811 -0.13715 -0.18811 " pathEditMode="relative" ptsTypes="AAAAAAAAAAAAAAAAAAAAAAAAAAAAAAA">
                                      <p:cBhvr>
                                        <p:cTn id="18" dur="1300" fill="hold"/>
                                        <p:tgtEl>
                                          <p:spTgt spid="55"/>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a:grpSpLocks/>
          </p:cNvGrpSpPr>
          <p:nvPr/>
        </p:nvGrpSpPr>
        <p:grpSpPr>
          <a:xfrm rot="-2570167">
            <a:off x="-1135601" y="-3063714"/>
            <a:ext cx="5983240" cy="3369636"/>
            <a:chOff x="0" y="0"/>
            <a:chExt cx="744168" cy="419100"/>
          </a:xfrm>
        </p:grpSpPr>
        <p:sp>
          <p:nvSpPr>
            <p:cNvPr id="3" name="Freeform 3"/>
            <p:cNvSpPr>
              <a:spLocks/>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a:spLocks/>
            </p:cNvSpPr>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a:grpSpLocks/>
          </p:cNvGrpSpPr>
          <p:nvPr/>
        </p:nvGrpSpPr>
        <p:grpSpPr>
          <a:xfrm rot="-2570167">
            <a:off x="-4641088" y="8354648"/>
            <a:ext cx="6252050" cy="3864704"/>
            <a:chOff x="0" y="0"/>
            <a:chExt cx="744168" cy="460007"/>
          </a:xfrm>
        </p:grpSpPr>
        <p:sp>
          <p:nvSpPr>
            <p:cNvPr id="6" name="Freeform 6"/>
            <p:cNvSpPr>
              <a:spLocks/>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a:spLocks/>
            </p:cNvSpPr>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a:grpSpLocks/>
          </p:cNvGrpSpPr>
          <p:nvPr/>
        </p:nvGrpSpPr>
        <p:grpSpPr>
          <a:xfrm rot="-2570167">
            <a:off x="16189262" y="-3106762"/>
            <a:ext cx="9679118" cy="4948927"/>
            <a:chOff x="0" y="0"/>
            <a:chExt cx="836041" cy="427467"/>
          </a:xfrm>
        </p:grpSpPr>
        <p:sp>
          <p:nvSpPr>
            <p:cNvPr id="9" name="Freeform 9"/>
            <p:cNvSpPr>
              <a:spLocks/>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a:spLocks/>
            </p:cNvSpPr>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a:grpSpLocks/>
          </p:cNvGrpSpPr>
          <p:nvPr/>
        </p:nvGrpSpPr>
        <p:grpSpPr>
          <a:xfrm rot="-2570167">
            <a:off x="12379941" y="9017924"/>
            <a:ext cx="7467555" cy="4043454"/>
            <a:chOff x="0" y="0"/>
            <a:chExt cx="928780" cy="502906"/>
          </a:xfrm>
        </p:grpSpPr>
        <p:sp>
          <p:nvSpPr>
            <p:cNvPr id="12" name="Freeform 12"/>
            <p:cNvSpPr>
              <a:spLocks/>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a:spLocks/>
            </p:cNvSpPr>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Freeform 14"/>
          <p:cNvSpPr/>
          <p:nvPr/>
        </p:nvSpPr>
        <p:spPr>
          <a:xfrm>
            <a:off x="2790718" y="2529451"/>
            <a:ext cx="12307202" cy="6728849"/>
          </a:xfrm>
          <a:custGeom>
            <a:avLst/>
            <a:gdLst/>
            <a:ahLst/>
            <a:cxnLst/>
            <a:rect l="l" t="t" r="r" b="b"/>
            <a:pathLst>
              <a:path w="12307202" h="6728849">
                <a:moveTo>
                  <a:pt x="0" y="0"/>
                </a:moveTo>
                <a:lnTo>
                  <a:pt x="12307202" y="0"/>
                </a:lnTo>
                <a:lnTo>
                  <a:pt x="12307202" y="6728849"/>
                </a:lnTo>
                <a:lnTo>
                  <a:pt x="0" y="6728849"/>
                </a:lnTo>
                <a:lnTo>
                  <a:pt x="0" y="0"/>
                </a:lnTo>
                <a:close/>
              </a:path>
            </a:pathLst>
          </a:custGeom>
          <a:blipFill>
            <a:blip r:embed="rId3"/>
            <a:stretch>
              <a:fillRect l="-28651" r="-11090"/>
            </a:stretch>
          </a:blipFill>
        </p:spPr>
        <p:txBody>
          <a:bodyPr/>
          <a:lstStyle/>
          <a:p>
            <a:endParaRPr lang="es-ES"/>
          </a:p>
        </p:txBody>
      </p:sp>
      <p:sp>
        <p:nvSpPr>
          <p:cNvPr id="15" name="TextBox 15"/>
          <p:cNvSpPr txBox="1"/>
          <p:nvPr/>
        </p:nvSpPr>
        <p:spPr>
          <a:xfrm>
            <a:off x="17259300" y="9258300"/>
            <a:ext cx="1028700" cy="1028700"/>
          </a:xfrm>
          <a:prstGeom prst="rect">
            <a:avLst/>
          </a:prstGeom>
        </p:spPr>
        <p:txBody>
          <a:bodyPr lIns="0" tIns="0" rIns="0" bIns="0" rtlCol="0" anchor="t">
            <a:spAutoFit/>
          </a:bodyPr>
          <a:lstStyle/>
          <a:p>
            <a:pPr algn="ctr">
              <a:lnSpc>
                <a:spcPts val="8399"/>
              </a:lnSpc>
              <a:spcBef>
                <a:spcPct val="0"/>
              </a:spcBef>
            </a:pPr>
            <a:r>
              <a:rPr lang="en-US" sz="5999">
                <a:solidFill>
                  <a:srgbClr val="FFFFFF"/>
                </a:solidFill>
                <a:latin typeface="Bantayog"/>
                <a:ea typeface="Bantayog"/>
                <a:cs typeface="Bantayog"/>
                <a:sym typeface="Bantayog"/>
              </a:rPr>
              <a:t>4</a:t>
            </a:r>
          </a:p>
        </p:txBody>
      </p:sp>
      <p:sp>
        <p:nvSpPr>
          <p:cNvPr id="16" name="TextBox 16"/>
          <p:cNvSpPr txBox="1"/>
          <p:nvPr/>
        </p:nvSpPr>
        <p:spPr>
          <a:xfrm>
            <a:off x="3682259" y="494206"/>
            <a:ext cx="10923483" cy="154305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DATOS DE EUROSTAT</a:t>
            </a:r>
          </a:p>
        </p:txBody>
      </p:sp>
      <p:sp>
        <p:nvSpPr>
          <p:cNvPr id="17" name="TextBox 17"/>
          <p:cNvSpPr txBox="1"/>
          <p:nvPr/>
        </p:nvSpPr>
        <p:spPr>
          <a:xfrm>
            <a:off x="5881651" y="8683625"/>
            <a:ext cx="6524697" cy="781050"/>
          </a:xfrm>
          <a:prstGeom prst="rect">
            <a:avLst/>
          </a:prstGeom>
        </p:spPr>
        <p:txBody>
          <a:bodyPr lIns="0" tIns="0" rIns="0" bIns="0" rtlCol="0" anchor="t">
            <a:spAutoFit/>
          </a:bodyPr>
          <a:lstStyle/>
          <a:p>
            <a:pPr algn="ctr">
              <a:lnSpc>
                <a:spcPts val="6299"/>
              </a:lnSpc>
              <a:spcBef>
                <a:spcPct val="0"/>
              </a:spcBef>
            </a:pPr>
            <a:r>
              <a:rPr lang="en-US" sz="4500" dirty="0">
                <a:solidFill>
                  <a:srgbClr val="4D6BA7"/>
                </a:solidFill>
                <a:latin typeface="Bantayog"/>
                <a:ea typeface="Bantayog"/>
                <a:cs typeface="Bantayog"/>
                <a:sym typeface="Bantayog"/>
              </a:rPr>
              <a:t>FUENTE ALEASOFT</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grpSp>
        <p:nvGrpSpPr>
          <p:cNvPr id="14" name="Group 14"/>
          <p:cNvGrpSpPr/>
          <p:nvPr/>
        </p:nvGrpSpPr>
        <p:grpSpPr>
          <a:xfrm>
            <a:off x="1380538" y="2366864"/>
            <a:ext cx="15526923" cy="7467698"/>
            <a:chOff x="0" y="0"/>
            <a:chExt cx="20702564" cy="9956931"/>
          </a:xfrm>
        </p:grpSpPr>
        <p:sp>
          <p:nvSpPr>
            <p:cNvPr id="15" name="TextBox 15"/>
            <p:cNvSpPr txBox="1"/>
            <p:nvPr/>
          </p:nvSpPr>
          <p:spPr>
            <a:xfrm>
              <a:off x="6999788" y="-114300"/>
              <a:ext cx="5764752" cy="25188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SISTEMA DIGITALIZADO</a:t>
              </a:r>
            </a:p>
          </p:txBody>
        </p:sp>
        <p:sp>
          <p:nvSpPr>
            <p:cNvPr id="16" name="AutoShape 16"/>
            <p:cNvSpPr/>
            <p:nvPr/>
          </p:nvSpPr>
          <p:spPr>
            <a:xfrm>
              <a:off x="9882164" y="2510358"/>
              <a:ext cx="0" cy="2598459"/>
            </a:xfrm>
            <a:prstGeom prst="line">
              <a:avLst/>
            </a:prstGeom>
            <a:ln w="254000" cap="flat">
              <a:solidFill>
                <a:srgbClr val="4D6BA7"/>
              </a:solidFill>
              <a:prstDash val="solid"/>
              <a:headEnd type="none" w="sm" len="sm"/>
              <a:tailEnd type="triangle" w="lg" len="med"/>
            </a:ln>
          </p:spPr>
          <p:txBody>
            <a:bodyPr/>
            <a:lstStyle/>
            <a:p>
              <a:endParaRPr lang="es-ES"/>
            </a:p>
          </p:txBody>
        </p:sp>
        <p:sp>
          <p:nvSpPr>
            <p:cNvPr id="17" name="TextBox 17"/>
            <p:cNvSpPr txBox="1"/>
            <p:nvPr/>
          </p:nvSpPr>
          <p:spPr>
            <a:xfrm>
              <a:off x="6999788" y="5096116"/>
              <a:ext cx="5764752" cy="25188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CONTADORES INTELIGENTES</a:t>
              </a:r>
            </a:p>
          </p:txBody>
        </p:sp>
        <p:sp>
          <p:nvSpPr>
            <p:cNvPr id="18" name="TextBox 18"/>
            <p:cNvSpPr txBox="1"/>
            <p:nvPr/>
          </p:nvSpPr>
          <p:spPr>
            <a:xfrm>
              <a:off x="0" y="3140720"/>
              <a:ext cx="4617221"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SENSORES</a:t>
              </a:r>
            </a:p>
          </p:txBody>
        </p:sp>
        <p:sp>
          <p:nvSpPr>
            <p:cNvPr id="19" name="TextBox 19"/>
            <p:cNvSpPr txBox="1"/>
            <p:nvPr/>
          </p:nvSpPr>
          <p:spPr>
            <a:xfrm>
              <a:off x="14937812" y="2589983"/>
              <a:ext cx="5764752" cy="25188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SISTEMAS DISTRIBUIDOS</a:t>
              </a:r>
            </a:p>
          </p:txBody>
        </p:sp>
        <p:sp>
          <p:nvSpPr>
            <p:cNvPr id="20" name="AutoShape 20"/>
            <p:cNvSpPr/>
            <p:nvPr/>
          </p:nvSpPr>
          <p:spPr>
            <a:xfrm>
              <a:off x="12854343" y="2380287"/>
              <a:ext cx="1837388" cy="1837388"/>
            </a:xfrm>
            <a:prstGeom prst="line">
              <a:avLst/>
            </a:prstGeom>
            <a:ln w="254000" cap="flat">
              <a:solidFill>
                <a:srgbClr val="4D6BA7"/>
              </a:solidFill>
              <a:prstDash val="solid"/>
              <a:headEnd type="none" w="sm" len="sm"/>
              <a:tailEnd type="triangle" w="lg" len="med"/>
            </a:ln>
          </p:spPr>
          <p:txBody>
            <a:bodyPr/>
            <a:lstStyle/>
            <a:p>
              <a:endParaRPr lang="es-ES"/>
            </a:p>
          </p:txBody>
        </p:sp>
        <p:sp>
          <p:nvSpPr>
            <p:cNvPr id="21" name="AutoShape 21"/>
            <p:cNvSpPr/>
            <p:nvPr/>
          </p:nvSpPr>
          <p:spPr>
            <a:xfrm flipH="1">
              <a:off x="5072598" y="2380287"/>
              <a:ext cx="1837388" cy="1837388"/>
            </a:xfrm>
            <a:prstGeom prst="line">
              <a:avLst/>
            </a:prstGeom>
            <a:ln w="254000" cap="flat">
              <a:solidFill>
                <a:srgbClr val="4D6BA7"/>
              </a:solidFill>
              <a:prstDash val="solid"/>
              <a:headEnd type="none" w="sm" len="sm"/>
              <a:tailEnd type="triangle" w="lg" len="med"/>
            </a:ln>
          </p:spPr>
          <p:txBody>
            <a:bodyPr/>
            <a:lstStyle/>
            <a:p>
              <a:endParaRPr lang="es-ES"/>
            </a:p>
          </p:txBody>
        </p:sp>
        <p:sp>
          <p:nvSpPr>
            <p:cNvPr id="22" name="Freeform 22"/>
            <p:cNvSpPr/>
            <p:nvPr/>
          </p:nvSpPr>
          <p:spPr>
            <a:xfrm>
              <a:off x="979965" y="4470345"/>
              <a:ext cx="2657290" cy="2657290"/>
            </a:xfrm>
            <a:custGeom>
              <a:avLst/>
              <a:gdLst/>
              <a:ahLst/>
              <a:cxnLst/>
              <a:rect l="l" t="t" r="r" b="b"/>
              <a:pathLst>
                <a:path w="2657290" h="2657290">
                  <a:moveTo>
                    <a:pt x="0" y="0"/>
                  </a:moveTo>
                  <a:lnTo>
                    <a:pt x="2657290" y="0"/>
                  </a:lnTo>
                  <a:lnTo>
                    <a:pt x="2657290" y="2657290"/>
                  </a:lnTo>
                  <a:lnTo>
                    <a:pt x="0" y="2657290"/>
                  </a:lnTo>
                  <a:lnTo>
                    <a:pt x="0" y="0"/>
                  </a:lnTo>
                  <a:close/>
                </a:path>
              </a:pathLst>
            </a:custGeom>
            <a:blipFill>
              <a:blip r:embed="rId3"/>
              <a:stretch>
                <a:fillRect/>
              </a:stretch>
            </a:blipFill>
          </p:spPr>
          <p:txBody>
            <a:bodyPr/>
            <a:lstStyle/>
            <a:p>
              <a:endParaRPr lang="es-ES"/>
            </a:p>
          </p:txBody>
        </p:sp>
        <p:sp>
          <p:nvSpPr>
            <p:cNvPr id="23" name="Freeform 23"/>
            <p:cNvSpPr/>
            <p:nvPr/>
          </p:nvSpPr>
          <p:spPr>
            <a:xfrm>
              <a:off x="8761974" y="7716550"/>
              <a:ext cx="2240381" cy="2240381"/>
            </a:xfrm>
            <a:custGeom>
              <a:avLst/>
              <a:gdLst/>
              <a:ahLst/>
              <a:cxnLst/>
              <a:rect l="l" t="t" r="r" b="b"/>
              <a:pathLst>
                <a:path w="2240381" h="2240381">
                  <a:moveTo>
                    <a:pt x="0" y="0"/>
                  </a:moveTo>
                  <a:lnTo>
                    <a:pt x="2240381" y="0"/>
                  </a:lnTo>
                  <a:lnTo>
                    <a:pt x="2240381" y="2240381"/>
                  </a:lnTo>
                  <a:lnTo>
                    <a:pt x="0" y="2240381"/>
                  </a:lnTo>
                  <a:lnTo>
                    <a:pt x="0" y="0"/>
                  </a:lnTo>
                  <a:close/>
                </a:path>
              </a:pathLst>
            </a:custGeom>
            <a:blipFill>
              <a:blip r:embed="rId4"/>
              <a:stretch>
                <a:fillRect/>
              </a:stretch>
            </a:blipFill>
          </p:spPr>
          <p:txBody>
            <a:bodyPr/>
            <a:lstStyle/>
            <a:p>
              <a:endParaRPr lang="es-ES"/>
            </a:p>
          </p:txBody>
        </p:sp>
        <p:sp>
          <p:nvSpPr>
            <p:cNvPr id="24" name="Freeform 24"/>
            <p:cNvSpPr/>
            <p:nvPr/>
          </p:nvSpPr>
          <p:spPr>
            <a:xfrm>
              <a:off x="16651360" y="5210416"/>
              <a:ext cx="2337658" cy="2337658"/>
            </a:xfrm>
            <a:custGeom>
              <a:avLst/>
              <a:gdLst/>
              <a:ahLst/>
              <a:cxnLst/>
              <a:rect l="l" t="t" r="r" b="b"/>
              <a:pathLst>
                <a:path w="2337658" h="2337658">
                  <a:moveTo>
                    <a:pt x="0" y="0"/>
                  </a:moveTo>
                  <a:lnTo>
                    <a:pt x="2337657" y="0"/>
                  </a:lnTo>
                  <a:lnTo>
                    <a:pt x="2337657" y="2337658"/>
                  </a:lnTo>
                  <a:lnTo>
                    <a:pt x="0" y="2337658"/>
                  </a:lnTo>
                  <a:lnTo>
                    <a:pt x="0" y="0"/>
                  </a:lnTo>
                  <a:close/>
                </a:path>
              </a:pathLst>
            </a:custGeom>
            <a:blipFill>
              <a:blip r:embed="rId5"/>
              <a:stretch>
                <a:fillRect/>
              </a:stretch>
            </a:blipFill>
          </p:spPr>
          <p:txBody>
            <a:bodyPr/>
            <a:lstStyle/>
            <a:p>
              <a:endParaRPr lang="es-ES"/>
            </a:p>
          </p:txBody>
        </p:sp>
      </p:grpSp>
      <p:sp>
        <p:nvSpPr>
          <p:cNvPr id="25" name="TextBox 25"/>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5</a:t>
            </a:r>
          </a:p>
        </p:txBody>
      </p:sp>
      <p:sp>
        <p:nvSpPr>
          <p:cNvPr id="26" name="TextBox 26"/>
          <p:cNvSpPr txBox="1"/>
          <p:nvPr/>
        </p:nvSpPr>
        <p:spPr>
          <a:xfrm>
            <a:off x="5635795" y="494348"/>
            <a:ext cx="7142880"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SMART GRIDS</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6</a:t>
            </a:r>
          </a:p>
        </p:txBody>
      </p:sp>
      <p:sp>
        <p:nvSpPr>
          <p:cNvPr id="15" name="TextBox 15"/>
          <p:cNvSpPr txBox="1"/>
          <p:nvPr/>
        </p:nvSpPr>
        <p:spPr>
          <a:xfrm>
            <a:off x="5635795" y="494348"/>
            <a:ext cx="7142880"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SMART GRIDS</a:t>
            </a:r>
          </a:p>
        </p:txBody>
      </p:sp>
      <p:grpSp>
        <p:nvGrpSpPr>
          <p:cNvPr id="16" name="Group 16"/>
          <p:cNvGrpSpPr/>
          <p:nvPr/>
        </p:nvGrpSpPr>
        <p:grpSpPr>
          <a:xfrm>
            <a:off x="1573765" y="2910327"/>
            <a:ext cx="15491087" cy="2774950"/>
            <a:chOff x="0" y="0"/>
            <a:chExt cx="20654783" cy="3699933"/>
          </a:xfrm>
        </p:grpSpPr>
        <p:sp>
          <p:nvSpPr>
            <p:cNvPr id="17" name="TextBox 17"/>
            <p:cNvSpPr txBox="1"/>
            <p:nvPr/>
          </p:nvSpPr>
          <p:spPr>
            <a:xfrm>
              <a:off x="10093647" y="-114300"/>
              <a:ext cx="10561136" cy="38142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INTEGRA DINÁMICAMENTE LAS ACCIONES DE LOS USUARIOS CONTECTADOS</a:t>
              </a:r>
            </a:p>
          </p:txBody>
        </p:sp>
        <p:sp>
          <p:nvSpPr>
            <p:cNvPr id="18" name="TextBox 18"/>
            <p:cNvSpPr txBox="1"/>
            <p:nvPr/>
          </p:nvSpPr>
          <p:spPr>
            <a:xfrm>
              <a:off x="0" y="-114300"/>
              <a:ext cx="7775135" cy="38142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INTEGRA SISTEMAS DE INFORMACIÓN Y CONTROL</a:t>
              </a:r>
            </a:p>
          </p:txBody>
        </p:sp>
      </p:grpSp>
      <p:grpSp>
        <p:nvGrpSpPr>
          <p:cNvPr id="19" name="Group 19"/>
          <p:cNvGrpSpPr/>
          <p:nvPr/>
        </p:nvGrpSpPr>
        <p:grpSpPr>
          <a:xfrm>
            <a:off x="2122877" y="5883542"/>
            <a:ext cx="12826876" cy="3498582"/>
            <a:chOff x="0" y="0"/>
            <a:chExt cx="17102501" cy="4664776"/>
          </a:xfrm>
        </p:grpSpPr>
        <p:sp>
          <p:nvSpPr>
            <p:cNvPr id="20" name="AutoShape 20"/>
            <p:cNvSpPr/>
            <p:nvPr/>
          </p:nvSpPr>
          <p:spPr>
            <a:xfrm>
              <a:off x="3177859" y="89803"/>
              <a:ext cx="1837388" cy="1837388"/>
            </a:xfrm>
            <a:prstGeom prst="line">
              <a:avLst/>
            </a:prstGeom>
            <a:ln w="254000" cap="flat">
              <a:solidFill>
                <a:srgbClr val="4D6BA7"/>
              </a:solidFill>
              <a:prstDash val="solid"/>
              <a:headEnd type="none" w="sm" len="sm"/>
              <a:tailEnd type="triangle" w="lg" len="med"/>
            </a:ln>
          </p:spPr>
          <p:txBody>
            <a:bodyPr/>
            <a:lstStyle/>
            <a:p>
              <a:endParaRPr lang="es-ES"/>
            </a:p>
          </p:txBody>
        </p:sp>
        <p:sp>
          <p:nvSpPr>
            <p:cNvPr id="21" name="TextBox 21"/>
            <p:cNvSpPr txBox="1"/>
            <p:nvPr/>
          </p:nvSpPr>
          <p:spPr>
            <a:xfrm>
              <a:off x="0" y="2664526"/>
              <a:ext cx="17102501" cy="200025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ALGORITMOS COMPLEJOS</a:t>
              </a:r>
            </a:p>
          </p:txBody>
        </p:sp>
        <p:sp>
          <p:nvSpPr>
            <p:cNvPr id="22" name="AutoShape 22"/>
            <p:cNvSpPr/>
            <p:nvPr/>
          </p:nvSpPr>
          <p:spPr>
            <a:xfrm flipH="1">
              <a:off x="13260839" y="179605"/>
              <a:ext cx="1837388" cy="1837388"/>
            </a:xfrm>
            <a:prstGeom prst="line">
              <a:avLst/>
            </a:prstGeom>
            <a:ln w="254000" cap="flat">
              <a:solidFill>
                <a:srgbClr val="4D6BA7"/>
              </a:solidFill>
              <a:prstDash val="solid"/>
              <a:headEnd type="none" w="sm" len="sm"/>
              <a:tailEnd type="triangle" w="lg" len="med"/>
            </a:ln>
          </p:spPr>
          <p:txBody>
            <a:bodyPr/>
            <a:lstStyle/>
            <a:p>
              <a:endParaRPr lang="es-ES"/>
            </a:p>
          </p:txBody>
        </p:sp>
      </p:gr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 calcmode="lin" valueType="num">
                                      <p:cBhvr>
                                        <p:cTn id="7" dur="500" fill="hold"/>
                                        <p:tgtEl>
                                          <p:spTgt spid="19"/>
                                        </p:tgtEl>
                                        <p:attrNameLst>
                                          <p:attrName>ppt_w</p:attrName>
                                        </p:attrNameLst>
                                      </p:cBhvr>
                                      <p:tavLst>
                                        <p:tav tm="0">
                                          <p:val>
                                            <p:fltVal val="0"/>
                                          </p:val>
                                        </p:tav>
                                        <p:tav tm="100000">
                                          <p:val>
                                            <p:strVal val="#ppt_w"/>
                                          </p:val>
                                        </p:tav>
                                      </p:tavLst>
                                    </p:anim>
                                    <p:anim calcmode="lin" valueType="num">
                                      <p:cBhvr>
                                        <p:cTn id="8" dur="500" fill="hold"/>
                                        <p:tgtEl>
                                          <p:spTgt spid="1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7</a:t>
            </a:r>
          </a:p>
        </p:txBody>
      </p:sp>
      <p:sp>
        <p:nvSpPr>
          <p:cNvPr id="15" name="TextBox 15"/>
          <p:cNvSpPr txBox="1"/>
          <p:nvPr/>
        </p:nvSpPr>
        <p:spPr>
          <a:xfrm>
            <a:off x="2819456" y="494348"/>
            <a:ext cx="12649088"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INTELIGENCIA ARTIFICIAL</a:t>
            </a:r>
          </a:p>
        </p:txBody>
      </p:sp>
      <p:grpSp>
        <p:nvGrpSpPr>
          <p:cNvPr id="16" name="Group 16"/>
          <p:cNvGrpSpPr/>
          <p:nvPr/>
        </p:nvGrpSpPr>
        <p:grpSpPr>
          <a:xfrm>
            <a:off x="5763782" y="2283941"/>
            <a:ext cx="11495518" cy="6537966"/>
            <a:chOff x="0" y="0"/>
            <a:chExt cx="15327357" cy="8717287"/>
          </a:xfrm>
        </p:grpSpPr>
        <p:sp>
          <p:nvSpPr>
            <p:cNvPr id="17" name="TextBox 17"/>
            <p:cNvSpPr txBox="1"/>
            <p:nvPr/>
          </p:nvSpPr>
          <p:spPr>
            <a:xfrm>
              <a:off x="1543518" y="-114300"/>
              <a:ext cx="5926880" cy="25188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APRENDIZAJE AUTOMÁTICO</a:t>
              </a:r>
            </a:p>
          </p:txBody>
        </p:sp>
        <p:sp>
          <p:nvSpPr>
            <p:cNvPr id="18" name="TextBox 18"/>
            <p:cNvSpPr txBox="1"/>
            <p:nvPr/>
          </p:nvSpPr>
          <p:spPr>
            <a:xfrm>
              <a:off x="1008496" y="6198454"/>
              <a:ext cx="6996922" cy="25188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APRENDIZAJE NO SUPERVISADO</a:t>
              </a:r>
            </a:p>
          </p:txBody>
        </p:sp>
        <p:sp>
          <p:nvSpPr>
            <p:cNvPr id="19" name="TextBox 19"/>
            <p:cNvSpPr txBox="1"/>
            <p:nvPr/>
          </p:nvSpPr>
          <p:spPr>
            <a:xfrm>
              <a:off x="9141074" y="3698445"/>
              <a:ext cx="6186284" cy="25188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APRENDIZAJE POR REFUERZO</a:t>
              </a:r>
            </a:p>
          </p:txBody>
        </p:sp>
        <p:sp>
          <p:nvSpPr>
            <p:cNvPr id="20" name="AutoShape 20"/>
            <p:cNvSpPr/>
            <p:nvPr/>
          </p:nvSpPr>
          <p:spPr>
            <a:xfrm flipH="1">
              <a:off x="89803" y="2894052"/>
              <a:ext cx="1837388" cy="1837388"/>
            </a:xfrm>
            <a:prstGeom prst="line">
              <a:avLst/>
            </a:prstGeom>
            <a:ln w="254000" cap="flat">
              <a:solidFill>
                <a:srgbClr val="4D6BA7"/>
              </a:solidFill>
              <a:prstDash val="solid"/>
              <a:headEnd type="none" w="sm" len="sm"/>
              <a:tailEnd type="triangle" w="lg" len="med"/>
            </a:ln>
          </p:spPr>
          <p:txBody>
            <a:bodyPr/>
            <a:lstStyle/>
            <a:p>
              <a:endParaRPr lang="es-ES"/>
            </a:p>
          </p:txBody>
        </p:sp>
        <p:sp>
          <p:nvSpPr>
            <p:cNvPr id="21" name="AutoShape 21"/>
            <p:cNvSpPr/>
            <p:nvPr/>
          </p:nvSpPr>
          <p:spPr>
            <a:xfrm>
              <a:off x="7213883" y="2983854"/>
              <a:ext cx="1837388" cy="1837388"/>
            </a:xfrm>
            <a:prstGeom prst="line">
              <a:avLst/>
            </a:prstGeom>
            <a:ln w="254000" cap="flat">
              <a:solidFill>
                <a:srgbClr val="4D6BA7"/>
              </a:solidFill>
              <a:prstDash val="solid"/>
              <a:headEnd type="none" w="sm" len="sm"/>
              <a:tailEnd type="triangle" w="lg" len="med"/>
            </a:ln>
          </p:spPr>
          <p:txBody>
            <a:bodyPr/>
            <a:lstStyle/>
            <a:p>
              <a:endParaRPr lang="es-ES"/>
            </a:p>
          </p:txBody>
        </p:sp>
        <p:sp>
          <p:nvSpPr>
            <p:cNvPr id="22" name="AutoShape 22"/>
            <p:cNvSpPr/>
            <p:nvPr/>
          </p:nvSpPr>
          <p:spPr>
            <a:xfrm>
              <a:off x="4506957" y="2894052"/>
              <a:ext cx="0" cy="2598459"/>
            </a:xfrm>
            <a:prstGeom prst="line">
              <a:avLst/>
            </a:prstGeom>
            <a:ln w="254000" cap="flat">
              <a:solidFill>
                <a:srgbClr val="4D6BA7"/>
              </a:solidFill>
              <a:prstDash val="solid"/>
              <a:headEnd type="none" w="sm" len="sm"/>
              <a:tailEnd type="triangle" w="lg" len="med"/>
            </a:ln>
          </p:spPr>
          <p:txBody>
            <a:bodyPr/>
            <a:lstStyle/>
            <a:p>
              <a:endParaRPr lang="es-ES"/>
            </a:p>
          </p:txBody>
        </p:sp>
      </p:grpSp>
      <p:grpSp>
        <p:nvGrpSpPr>
          <p:cNvPr id="24" name="Group 24"/>
          <p:cNvGrpSpPr/>
          <p:nvPr/>
        </p:nvGrpSpPr>
        <p:grpSpPr>
          <a:xfrm>
            <a:off x="731920" y="4472664"/>
            <a:ext cx="4998393" cy="3086124"/>
            <a:chOff x="0" y="0"/>
            <a:chExt cx="757924" cy="467960"/>
          </a:xfrm>
        </p:grpSpPr>
        <p:sp>
          <p:nvSpPr>
            <p:cNvPr id="25" name="Freeform 25"/>
            <p:cNvSpPr/>
            <p:nvPr/>
          </p:nvSpPr>
          <p:spPr>
            <a:xfrm>
              <a:off x="0" y="0"/>
              <a:ext cx="757924" cy="467960"/>
            </a:xfrm>
            <a:custGeom>
              <a:avLst/>
              <a:gdLst/>
              <a:ahLst/>
              <a:cxnLst/>
              <a:rect l="l" t="t" r="r" b="b"/>
              <a:pathLst>
                <a:path w="757924" h="467960">
                  <a:moveTo>
                    <a:pt x="378962" y="0"/>
                  </a:moveTo>
                  <a:cubicBezTo>
                    <a:pt x="169667" y="0"/>
                    <a:pt x="0" y="104756"/>
                    <a:pt x="0" y="233980"/>
                  </a:cubicBezTo>
                  <a:cubicBezTo>
                    <a:pt x="0" y="363204"/>
                    <a:pt x="169667" y="467960"/>
                    <a:pt x="378962" y="467960"/>
                  </a:cubicBezTo>
                  <a:cubicBezTo>
                    <a:pt x="588257" y="467960"/>
                    <a:pt x="757924" y="363204"/>
                    <a:pt x="757924" y="233980"/>
                  </a:cubicBezTo>
                  <a:cubicBezTo>
                    <a:pt x="757924" y="104756"/>
                    <a:pt x="588257" y="0"/>
                    <a:pt x="378962" y="0"/>
                  </a:cubicBezTo>
                  <a:close/>
                </a:path>
              </a:pathLst>
            </a:custGeom>
            <a:solidFill>
              <a:srgbClr val="DBE7FF"/>
            </a:solidFill>
            <a:ln w="38100" cap="sq">
              <a:solidFill>
                <a:srgbClr val="203660"/>
              </a:solidFill>
              <a:prstDash val="solid"/>
              <a:miter/>
            </a:ln>
          </p:spPr>
          <p:txBody>
            <a:bodyPr/>
            <a:lstStyle/>
            <a:p>
              <a:endParaRPr lang="es-ES"/>
            </a:p>
          </p:txBody>
        </p:sp>
        <p:sp>
          <p:nvSpPr>
            <p:cNvPr id="26" name="TextBox 26"/>
            <p:cNvSpPr txBox="1"/>
            <p:nvPr/>
          </p:nvSpPr>
          <p:spPr>
            <a:xfrm>
              <a:off x="71055" y="5771"/>
              <a:ext cx="615814" cy="418318"/>
            </a:xfrm>
            <a:prstGeom prst="rect">
              <a:avLst/>
            </a:prstGeom>
          </p:spPr>
          <p:txBody>
            <a:bodyPr lIns="50800" tIns="50800" rIns="50800" bIns="50800" rtlCol="0" anchor="ctr"/>
            <a:lstStyle/>
            <a:p>
              <a:pPr algn="ctr">
                <a:lnSpc>
                  <a:spcPts val="2659"/>
                </a:lnSpc>
              </a:pPr>
              <a:endParaRPr/>
            </a:p>
          </p:txBody>
        </p:sp>
      </p:grpSp>
      <p:sp>
        <p:nvSpPr>
          <p:cNvPr id="27" name="TextBox 27"/>
          <p:cNvSpPr txBox="1"/>
          <p:nvPr/>
        </p:nvSpPr>
        <p:spPr>
          <a:xfrm>
            <a:off x="1028699" y="5129381"/>
            <a:ext cx="4445159" cy="1889124"/>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APRENDIZAJE SUPERVISADO</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9" presetClass="entr" presetSubtype="0" decel="10000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 calcmode="lin" valueType="num">
                                      <p:cBhvr>
                                        <p:cTn id="7" dur="500" fill="hold"/>
                                        <p:tgtEl>
                                          <p:spTgt spid="24"/>
                                        </p:tgtEl>
                                        <p:attrNameLst>
                                          <p:attrName>ppt_w</p:attrName>
                                        </p:attrNameLst>
                                      </p:cBhvr>
                                      <p:tavLst>
                                        <p:tav tm="0">
                                          <p:val>
                                            <p:fltVal val="0"/>
                                          </p:val>
                                        </p:tav>
                                        <p:tav tm="100000">
                                          <p:val>
                                            <p:strVal val="#ppt_w"/>
                                          </p:val>
                                        </p:tav>
                                      </p:tavLst>
                                    </p:anim>
                                    <p:anim calcmode="lin" valueType="num">
                                      <p:cBhvr>
                                        <p:cTn id="8" dur="500" fill="hold"/>
                                        <p:tgtEl>
                                          <p:spTgt spid="24"/>
                                        </p:tgtEl>
                                        <p:attrNameLst>
                                          <p:attrName>ppt_h</p:attrName>
                                        </p:attrNameLst>
                                      </p:cBhvr>
                                      <p:tavLst>
                                        <p:tav tm="0">
                                          <p:val>
                                            <p:fltVal val="0"/>
                                          </p:val>
                                        </p:tav>
                                        <p:tav tm="100000">
                                          <p:val>
                                            <p:strVal val="#ppt_h"/>
                                          </p:val>
                                        </p:tav>
                                      </p:tavLst>
                                    </p:anim>
                                    <p:anim calcmode="lin" valueType="num">
                                      <p:cBhvr>
                                        <p:cTn id="9" dur="500" fill="hold"/>
                                        <p:tgtEl>
                                          <p:spTgt spid="24"/>
                                        </p:tgtEl>
                                        <p:attrNameLst>
                                          <p:attrName>style.rotation</p:attrName>
                                        </p:attrNameLst>
                                      </p:cBhvr>
                                      <p:tavLst>
                                        <p:tav tm="0">
                                          <p:val>
                                            <p:fltVal val="360"/>
                                          </p:val>
                                        </p:tav>
                                        <p:tav tm="100000">
                                          <p:val>
                                            <p:fltVal val="0"/>
                                          </p:val>
                                        </p:tav>
                                      </p:tavLst>
                                    </p:anim>
                                    <p:animEffect transition="in" filter="fade">
                                      <p:cBhvr>
                                        <p:cTn id="10"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grpSp>
        <p:nvGrpSpPr>
          <p:cNvPr id="14" name="Group 14"/>
          <p:cNvGrpSpPr/>
          <p:nvPr/>
        </p:nvGrpSpPr>
        <p:grpSpPr>
          <a:xfrm>
            <a:off x="3832393" y="3595133"/>
            <a:ext cx="4664032" cy="4145569"/>
            <a:chOff x="0" y="0"/>
            <a:chExt cx="6218709" cy="5527425"/>
          </a:xfrm>
        </p:grpSpPr>
        <p:sp>
          <p:nvSpPr>
            <p:cNvPr id="15" name="Freeform 15"/>
            <p:cNvSpPr/>
            <p:nvPr/>
          </p:nvSpPr>
          <p:spPr>
            <a:xfrm>
              <a:off x="1491376" y="2291469"/>
              <a:ext cx="3235956" cy="3235956"/>
            </a:xfrm>
            <a:custGeom>
              <a:avLst/>
              <a:gdLst/>
              <a:ahLst/>
              <a:cxnLst/>
              <a:rect l="l" t="t" r="r" b="b"/>
              <a:pathLst>
                <a:path w="3235956" h="3235956">
                  <a:moveTo>
                    <a:pt x="0" y="0"/>
                  </a:moveTo>
                  <a:lnTo>
                    <a:pt x="3235957" y="0"/>
                  </a:lnTo>
                  <a:lnTo>
                    <a:pt x="3235957" y="3235956"/>
                  </a:lnTo>
                  <a:lnTo>
                    <a:pt x="0" y="3235956"/>
                  </a:lnTo>
                  <a:lnTo>
                    <a:pt x="0" y="0"/>
                  </a:lnTo>
                  <a:close/>
                </a:path>
              </a:pathLst>
            </a:custGeom>
            <a:blipFill>
              <a:blip r:embed="rId3"/>
              <a:stretch>
                <a:fillRect/>
              </a:stretch>
            </a:blipFill>
          </p:spPr>
          <p:txBody>
            <a:bodyPr/>
            <a:lstStyle/>
            <a:p>
              <a:endParaRPr lang="es-ES"/>
            </a:p>
          </p:txBody>
        </p:sp>
        <p:sp>
          <p:nvSpPr>
            <p:cNvPr id="16" name="TextBox 16"/>
            <p:cNvSpPr txBox="1"/>
            <p:nvPr/>
          </p:nvSpPr>
          <p:spPr>
            <a:xfrm>
              <a:off x="0" y="-114300"/>
              <a:ext cx="6218709"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CLASIFICACIÓN</a:t>
              </a:r>
            </a:p>
          </p:txBody>
        </p:sp>
      </p:grpSp>
      <p:grpSp>
        <p:nvGrpSpPr>
          <p:cNvPr id="18" name="Group 18"/>
          <p:cNvGrpSpPr/>
          <p:nvPr/>
        </p:nvGrpSpPr>
        <p:grpSpPr>
          <a:xfrm>
            <a:off x="9424886" y="2768127"/>
            <a:ext cx="5457217" cy="5457217"/>
            <a:chOff x="0" y="0"/>
            <a:chExt cx="812800" cy="812800"/>
          </a:xfrm>
        </p:grpSpPr>
        <p:sp>
          <p:nvSpPr>
            <p:cNvPr id="19" name="Freeform 1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DBE7FF"/>
            </a:solidFill>
            <a:ln w="38100" cap="sq">
              <a:solidFill>
                <a:srgbClr val="4D6BA7"/>
              </a:solidFill>
              <a:prstDash val="solid"/>
              <a:miter/>
            </a:ln>
          </p:spPr>
          <p:txBody>
            <a:bodyPr/>
            <a:lstStyle/>
            <a:p>
              <a:endParaRPr lang="es-ES"/>
            </a:p>
          </p:txBody>
        </p:sp>
        <p:sp>
          <p:nvSpPr>
            <p:cNvPr id="20" name="TextBox 20"/>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sp>
        <p:nvSpPr>
          <p:cNvPr id="21" name="TextBox 21"/>
          <p:cNvSpPr txBox="1"/>
          <p:nvPr/>
        </p:nvSpPr>
        <p:spPr>
          <a:xfrm>
            <a:off x="9791575" y="3509408"/>
            <a:ext cx="4664032" cy="917575"/>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REGRESIÓN</a:t>
            </a:r>
          </a:p>
        </p:txBody>
      </p:sp>
      <p:sp>
        <p:nvSpPr>
          <p:cNvPr id="22" name="Freeform 22"/>
          <p:cNvSpPr/>
          <p:nvPr/>
        </p:nvSpPr>
        <p:spPr>
          <a:xfrm>
            <a:off x="10910107" y="5313734"/>
            <a:ext cx="2426967" cy="2426967"/>
          </a:xfrm>
          <a:custGeom>
            <a:avLst/>
            <a:gdLst/>
            <a:ahLst/>
            <a:cxnLst/>
            <a:rect l="l" t="t" r="r" b="b"/>
            <a:pathLst>
              <a:path w="3235956" h="3235956">
                <a:moveTo>
                  <a:pt x="0" y="0"/>
                </a:moveTo>
                <a:lnTo>
                  <a:pt x="3235957" y="0"/>
                </a:lnTo>
                <a:lnTo>
                  <a:pt x="3235957" y="3235956"/>
                </a:lnTo>
                <a:lnTo>
                  <a:pt x="0" y="3235956"/>
                </a:lnTo>
                <a:lnTo>
                  <a:pt x="0" y="0"/>
                </a:lnTo>
                <a:close/>
              </a:path>
            </a:pathLst>
          </a:custGeom>
          <a:blipFill>
            <a:blip r:embed="rId4"/>
            <a:stretch>
              <a:fillRect/>
            </a:stretch>
          </a:blipFill>
        </p:spPr>
        <p:txBody>
          <a:bodyPr/>
          <a:lstStyle/>
          <a:p>
            <a:endParaRPr lang="es-ES"/>
          </a:p>
        </p:txBody>
      </p:sp>
      <p:sp>
        <p:nvSpPr>
          <p:cNvPr id="23" name="TextBox 23"/>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8</a:t>
            </a:r>
          </a:p>
        </p:txBody>
      </p:sp>
      <p:sp>
        <p:nvSpPr>
          <p:cNvPr id="24" name="TextBox 24"/>
          <p:cNvSpPr txBox="1"/>
          <p:nvPr/>
        </p:nvSpPr>
        <p:spPr>
          <a:xfrm>
            <a:off x="2046677" y="494348"/>
            <a:ext cx="13845006"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APRENDIZAJE SUPERVISADO</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9" presetClass="entr" presetSubtype="0" decel="10000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 calcmode="lin" valueType="num">
                                      <p:cBhvr>
                                        <p:cTn id="7" dur="500" fill="hold"/>
                                        <p:tgtEl>
                                          <p:spTgt spid="18"/>
                                        </p:tgtEl>
                                        <p:attrNameLst>
                                          <p:attrName>ppt_w</p:attrName>
                                        </p:attrNameLst>
                                      </p:cBhvr>
                                      <p:tavLst>
                                        <p:tav tm="0">
                                          <p:val>
                                            <p:fltVal val="0"/>
                                          </p:val>
                                        </p:tav>
                                        <p:tav tm="100000">
                                          <p:val>
                                            <p:strVal val="#ppt_w"/>
                                          </p:val>
                                        </p:tav>
                                      </p:tavLst>
                                    </p:anim>
                                    <p:anim calcmode="lin" valueType="num">
                                      <p:cBhvr>
                                        <p:cTn id="8" dur="500" fill="hold"/>
                                        <p:tgtEl>
                                          <p:spTgt spid="18"/>
                                        </p:tgtEl>
                                        <p:attrNameLst>
                                          <p:attrName>ppt_h</p:attrName>
                                        </p:attrNameLst>
                                      </p:cBhvr>
                                      <p:tavLst>
                                        <p:tav tm="0">
                                          <p:val>
                                            <p:fltVal val="0"/>
                                          </p:val>
                                        </p:tav>
                                        <p:tav tm="100000">
                                          <p:val>
                                            <p:strVal val="#ppt_h"/>
                                          </p:val>
                                        </p:tav>
                                      </p:tavLst>
                                    </p:anim>
                                    <p:anim calcmode="lin" valueType="num">
                                      <p:cBhvr>
                                        <p:cTn id="9" dur="500" fill="hold"/>
                                        <p:tgtEl>
                                          <p:spTgt spid="18"/>
                                        </p:tgtEl>
                                        <p:attrNameLst>
                                          <p:attrName>style.rotation</p:attrName>
                                        </p:attrNameLst>
                                      </p:cBhvr>
                                      <p:tavLst>
                                        <p:tav tm="0">
                                          <p:val>
                                            <p:fltVal val="360"/>
                                          </p:val>
                                        </p:tav>
                                        <p:tav tm="100000">
                                          <p:val>
                                            <p:fltVal val="0"/>
                                          </p:val>
                                        </p:tav>
                                      </p:tavLst>
                                    </p:anim>
                                    <p:animEffect transition="in" filter="fade">
                                      <p:cBhvr>
                                        <p:cTn id="10"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grpSp>
        <p:nvGrpSpPr>
          <p:cNvPr id="14" name="Group 14"/>
          <p:cNvGrpSpPr/>
          <p:nvPr/>
        </p:nvGrpSpPr>
        <p:grpSpPr>
          <a:xfrm>
            <a:off x="2629164" y="3084430"/>
            <a:ext cx="13029672" cy="4701799"/>
            <a:chOff x="0" y="0"/>
            <a:chExt cx="17372896" cy="6269065"/>
          </a:xfrm>
        </p:grpSpPr>
        <p:sp>
          <p:nvSpPr>
            <p:cNvPr id="15" name="Freeform 15"/>
            <p:cNvSpPr/>
            <p:nvPr/>
          </p:nvSpPr>
          <p:spPr>
            <a:xfrm>
              <a:off x="13411311" y="3016896"/>
              <a:ext cx="3252169" cy="3252169"/>
            </a:xfrm>
            <a:custGeom>
              <a:avLst/>
              <a:gdLst/>
              <a:ahLst/>
              <a:cxnLst/>
              <a:rect l="l" t="t" r="r" b="b"/>
              <a:pathLst>
                <a:path w="3252169" h="3252169">
                  <a:moveTo>
                    <a:pt x="0" y="0"/>
                  </a:moveTo>
                  <a:lnTo>
                    <a:pt x="3252169" y="0"/>
                  </a:lnTo>
                  <a:lnTo>
                    <a:pt x="3252169" y="3252169"/>
                  </a:lnTo>
                  <a:lnTo>
                    <a:pt x="0" y="3252169"/>
                  </a:lnTo>
                  <a:lnTo>
                    <a:pt x="0" y="0"/>
                  </a:lnTo>
                  <a:close/>
                </a:path>
              </a:pathLst>
            </a:custGeom>
            <a:blipFill>
              <a:blip r:embed="rId3"/>
              <a:stretch>
                <a:fillRect/>
              </a:stretch>
            </a:blipFill>
          </p:spPr>
          <p:txBody>
            <a:bodyPr/>
            <a:lstStyle/>
            <a:p>
              <a:endParaRPr lang="es-ES"/>
            </a:p>
          </p:txBody>
        </p:sp>
        <p:sp>
          <p:nvSpPr>
            <p:cNvPr id="16" name="Freeform 16"/>
            <p:cNvSpPr/>
            <p:nvPr/>
          </p:nvSpPr>
          <p:spPr>
            <a:xfrm>
              <a:off x="7060363" y="3016896"/>
              <a:ext cx="3252169" cy="3252169"/>
            </a:xfrm>
            <a:custGeom>
              <a:avLst/>
              <a:gdLst/>
              <a:ahLst/>
              <a:cxnLst/>
              <a:rect l="l" t="t" r="r" b="b"/>
              <a:pathLst>
                <a:path w="3252169" h="3252169">
                  <a:moveTo>
                    <a:pt x="0" y="0"/>
                  </a:moveTo>
                  <a:lnTo>
                    <a:pt x="3252169" y="0"/>
                  </a:lnTo>
                  <a:lnTo>
                    <a:pt x="3252169" y="3252169"/>
                  </a:lnTo>
                  <a:lnTo>
                    <a:pt x="0" y="3252169"/>
                  </a:lnTo>
                  <a:lnTo>
                    <a:pt x="0" y="0"/>
                  </a:lnTo>
                  <a:close/>
                </a:path>
              </a:pathLst>
            </a:custGeom>
            <a:blipFill>
              <a:blip r:embed="rId4"/>
              <a:stretch>
                <a:fillRect/>
              </a:stretch>
            </a:blipFill>
          </p:spPr>
          <p:txBody>
            <a:bodyPr/>
            <a:lstStyle/>
            <a:p>
              <a:endParaRPr lang="es-ES"/>
            </a:p>
          </p:txBody>
        </p:sp>
        <p:sp>
          <p:nvSpPr>
            <p:cNvPr id="17" name="TextBox 17"/>
            <p:cNvSpPr txBox="1"/>
            <p:nvPr/>
          </p:nvSpPr>
          <p:spPr>
            <a:xfrm>
              <a:off x="0" y="-114300"/>
              <a:ext cx="4078624" cy="25188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RANDOM FOREST</a:t>
              </a:r>
            </a:p>
          </p:txBody>
        </p:sp>
        <p:sp>
          <p:nvSpPr>
            <p:cNvPr id="18" name="TextBox 18"/>
            <p:cNvSpPr txBox="1"/>
            <p:nvPr/>
          </p:nvSpPr>
          <p:spPr>
            <a:xfrm>
              <a:off x="6647136" y="533400"/>
              <a:ext cx="4078624"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XGBOOST</a:t>
              </a:r>
            </a:p>
          </p:txBody>
        </p:sp>
        <p:sp>
          <p:nvSpPr>
            <p:cNvPr id="19" name="TextBox 19"/>
            <p:cNvSpPr txBox="1"/>
            <p:nvPr/>
          </p:nvSpPr>
          <p:spPr>
            <a:xfrm>
              <a:off x="12701895" y="-114300"/>
              <a:ext cx="4671000" cy="25188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RED NEURONAL</a:t>
              </a:r>
            </a:p>
          </p:txBody>
        </p:sp>
        <p:sp>
          <p:nvSpPr>
            <p:cNvPr id="20" name="Freeform 20"/>
            <p:cNvSpPr/>
            <p:nvPr/>
          </p:nvSpPr>
          <p:spPr>
            <a:xfrm>
              <a:off x="413227" y="3016896"/>
              <a:ext cx="3252169" cy="3252169"/>
            </a:xfrm>
            <a:custGeom>
              <a:avLst/>
              <a:gdLst/>
              <a:ahLst/>
              <a:cxnLst/>
              <a:rect l="l" t="t" r="r" b="b"/>
              <a:pathLst>
                <a:path w="3252169" h="3252169">
                  <a:moveTo>
                    <a:pt x="0" y="0"/>
                  </a:moveTo>
                  <a:lnTo>
                    <a:pt x="3252170" y="0"/>
                  </a:lnTo>
                  <a:lnTo>
                    <a:pt x="3252170" y="3252169"/>
                  </a:lnTo>
                  <a:lnTo>
                    <a:pt x="0" y="3252169"/>
                  </a:lnTo>
                  <a:lnTo>
                    <a:pt x="0" y="0"/>
                  </a:lnTo>
                  <a:close/>
                </a:path>
              </a:pathLst>
            </a:custGeom>
            <a:blipFill>
              <a:blip r:embed="rId5"/>
              <a:stretch>
                <a:fillRect/>
              </a:stretch>
            </a:blipFill>
          </p:spPr>
          <p:txBody>
            <a:bodyPr/>
            <a:lstStyle/>
            <a:p>
              <a:endParaRPr lang="es-ES"/>
            </a:p>
          </p:txBody>
        </p:sp>
      </p:grpSp>
      <p:sp>
        <p:nvSpPr>
          <p:cNvPr id="21" name="TextBox 21"/>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9</a:t>
            </a:r>
          </a:p>
        </p:txBody>
      </p:sp>
      <p:sp>
        <p:nvSpPr>
          <p:cNvPr id="22" name="TextBox 22"/>
          <p:cNvSpPr txBox="1"/>
          <p:nvPr/>
        </p:nvSpPr>
        <p:spPr>
          <a:xfrm>
            <a:off x="2919116" y="494348"/>
            <a:ext cx="12449768"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MODELOS UTILIZADOS</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dirty="0"/>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10</a:t>
            </a:r>
          </a:p>
        </p:txBody>
      </p:sp>
      <p:grpSp>
        <p:nvGrpSpPr>
          <p:cNvPr id="52" name="Grupo 51">
            <a:extLst>
              <a:ext uri="{FF2B5EF4-FFF2-40B4-BE49-F238E27FC236}">
                <a16:creationId xmlns:a16="http://schemas.microsoft.com/office/drawing/2014/main" id="{E50FC087-ACC3-C85F-C97A-8F76D7DF5B73}"/>
              </a:ext>
            </a:extLst>
          </p:cNvPr>
          <p:cNvGrpSpPr/>
          <p:nvPr/>
        </p:nvGrpSpPr>
        <p:grpSpPr>
          <a:xfrm>
            <a:off x="2014159" y="2564737"/>
            <a:ext cx="6524841" cy="2531584"/>
            <a:chOff x="333159" y="2601417"/>
            <a:chExt cx="6524841" cy="2531584"/>
          </a:xfrm>
        </p:grpSpPr>
        <p:grpSp>
          <p:nvGrpSpPr>
            <p:cNvPr id="17" name="Group 17"/>
            <p:cNvGrpSpPr/>
            <p:nvPr/>
          </p:nvGrpSpPr>
          <p:grpSpPr>
            <a:xfrm>
              <a:off x="333159" y="2601417"/>
              <a:ext cx="6524841" cy="2531584"/>
              <a:chOff x="0" y="-38100"/>
              <a:chExt cx="1718477" cy="666755"/>
            </a:xfrm>
          </p:grpSpPr>
          <p:sp>
            <p:nvSpPr>
              <p:cNvPr id="18" name="Freeform 18"/>
              <p:cNvSpPr/>
              <p:nvPr/>
            </p:nvSpPr>
            <p:spPr>
              <a:xfrm>
                <a:off x="0" y="0"/>
                <a:ext cx="1718477" cy="503837"/>
              </a:xfrm>
              <a:custGeom>
                <a:avLst/>
                <a:gdLst/>
                <a:ahLst/>
                <a:cxnLst/>
                <a:rect l="l" t="t" r="r" b="b"/>
                <a:pathLst>
                  <a:path w="1538203" h="347059">
                    <a:moveTo>
                      <a:pt x="43744" y="0"/>
                    </a:moveTo>
                    <a:lnTo>
                      <a:pt x="1494458" y="0"/>
                    </a:lnTo>
                    <a:cubicBezTo>
                      <a:pt x="1506060" y="0"/>
                      <a:pt x="1517187" y="4609"/>
                      <a:pt x="1525390" y="12812"/>
                    </a:cubicBezTo>
                    <a:cubicBezTo>
                      <a:pt x="1533594" y="21016"/>
                      <a:pt x="1538203" y="32143"/>
                      <a:pt x="1538203" y="43744"/>
                    </a:cubicBezTo>
                    <a:lnTo>
                      <a:pt x="1538203" y="303314"/>
                    </a:lnTo>
                    <a:cubicBezTo>
                      <a:pt x="1538203" y="314916"/>
                      <a:pt x="1533594" y="326043"/>
                      <a:pt x="1525390" y="334246"/>
                    </a:cubicBezTo>
                    <a:cubicBezTo>
                      <a:pt x="1517187" y="342450"/>
                      <a:pt x="1506060" y="347059"/>
                      <a:pt x="1494458" y="347059"/>
                    </a:cubicBezTo>
                    <a:lnTo>
                      <a:pt x="43744" y="347059"/>
                    </a:lnTo>
                    <a:cubicBezTo>
                      <a:pt x="32143" y="347059"/>
                      <a:pt x="21016" y="342450"/>
                      <a:pt x="12812" y="334246"/>
                    </a:cubicBezTo>
                    <a:cubicBezTo>
                      <a:pt x="4609" y="326043"/>
                      <a:pt x="0" y="314916"/>
                      <a:pt x="0" y="303314"/>
                    </a:cubicBezTo>
                    <a:lnTo>
                      <a:pt x="0" y="43744"/>
                    </a:lnTo>
                    <a:cubicBezTo>
                      <a:pt x="0" y="32143"/>
                      <a:pt x="4609" y="21016"/>
                      <a:pt x="12812" y="12812"/>
                    </a:cubicBezTo>
                    <a:cubicBezTo>
                      <a:pt x="21016" y="4609"/>
                      <a:pt x="32143" y="0"/>
                      <a:pt x="43744" y="0"/>
                    </a:cubicBezTo>
                    <a:close/>
                  </a:path>
                </a:pathLst>
              </a:custGeom>
              <a:solidFill>
                <a:srgbClr val="4D6BA7"/>
              </a:solidFill>
            </p:spPr>
            <p:txBody>
              <a:bodyPr/>
              <a:lstStyle/>
              <a:p>
                <a:endParaRPr lang="es-ES"/>
              </a:p>
            </p:txBody>
          </p:sp>
          <p:sp>
            <p:nvSpPr>
              <p:cNvPr id="19" name="TextBox 19"/>
              <p:cNvSpPr txBox="1"/>
              <p:nvPr/>
            </p:nvSpPr>
            <p:spPr>
              <a:xfrm>
                <a:off x="0" y="-38100"/>
                <a:ext cx="1573503" cy="666755"/>
              </a:xfrm>
              <a:prstGeom prst="rect">
                <a:avLst/>
              </a:prstGeom>
            </p:spPr>
            <p:txBody>
              <a:bodyPr lIns="50800" tIns="50800" rIns="50800" bIns="50800" rtlCol="0" anchor="ctr"/>
              <a:lstStyle/>
              <a:p>
                <a:pPr algn="ctr">
                  <a:lnSpc>
                    <a:spcPts val="2659"/>
                  </a:lnSpc>
                </a:pPr>
                <a:endParaRPr/>
              </a:p>
            </p:txBody>
          </p:sp>
        </p:grpSp>
        <p:sp>
          <p:nvSpPr>
            <p:cNvPr id="20" name="TextBox 20"/>
            <p:cNvSpPr txBox="1"/>
            <p:nvPr/>
          </p:nvSpPr>
          <p:spPr>
            <a:xfrm>
              <a:off x="661783" y="2926493"/>
              <a:ext cx="5866265" cy="1375826"/>
            </a:xfrm>
            <a:prstGeom prst="rect">
              <a:avLst/>
            </a:prstGeom>
          </p:spPr>
          <p:txBody>
            <a:bodyPr wrap="square" lIns="0" tIns="0" rIns="0" bIns="0" rtlCol="0" anchor="t">
              <a:spAutoFit/>
            </a:bodyPr>
            <a:lstStyle/>
            <a:p>
              <a:pPr algn="ctr">
                <a:lnSpc>
                  <a:spcPts val="5600"/>
                </a:lnSpc>
                <a:spcBef>
                  <a:spcPct val="0"/>
                </a:spcBef>
              </a:pPr>
              <a:r>
                <a:rPr lang="en-US" sz="4000" dirty="0">
                  <a:solidFill>
                    <a:srgbClr val="FFFFFF"/>
                  </a:solidFill>
                  <a:latin typeface="Bantayog"/>
                  <a:ea typeface="Bantayog"/>
                  <a:cs typeface="Bantayog"/>
                  <a:sym typeface="Bantayog"/>
                </a:rPr>
                <a:t>ANÁLISIS E INVESTIGACIÓN DE TECNOLOGÍAS</a:t>
              </a:r>
            </a:p>
          </p:txBody>
        </p:sp>
      </p:grpSp>
      <p:grpSp>
        <p:nvGrpSpPr>
          <p:cNvPr id="56" name="Grupo 55">
            <a:extLst>
              <a:ext uri="{FF2B5EF4-FFF2-40B4-BE49-F238E27FC236}">
                <a16:creationId xmlns:a16="http://schemas.microsoft.com/office/drawing/2014/main" id="{04DBA9A3-ABD6-4029-7016-06413FBFEA26}"/>
              </a:ext>
            </a:extLst>
          </p:cNvPr>
          <p:cNvGrpSpPr/>
          <p:nvPr/>
        </p:nvGrpSpPr>
        <p:grpSpPr>
          <a:xfrm>
            <a:off x="2664217" y="5512351"/>
            <a:ext cx="5062150" cy="1682121"/>
            <a:chOff x="7830537" y="3005364"/>
            <a:chExt cx="5062150" cy="1682121"/>
          </a:xfrm>
        </p:grpSpPr>
        <p:grpSp>
          <p:nvGrpSpPr>
            <p:cNvPr id="21" name="Group 21"/>
            <p:cNvGrpSpPr/>
            <p:nvPr/>
          </p:nvGrpSpPr>
          <p:grpSpPr>
            <a:xfrm>
              <a:off x="7830537" y="3005364"/>
              <a:ext cx="5062150" cy="1682121"/>
              <a:chOff x="0" y="0"/>
              <a:chExt cx="1333241" cy="443028"/>
            </a:xfrm>
          </p:grpSpPr>
          <p:sp>
            <p:nvSpPr>
              <p:cNvPr id="22" name="Freeform 22"/>
              <p:cNvSpPr/>
              <p:nvPr/>
            </p:nvSpPr>
            <p:spPr>
              <a:xfrm>
                <a:off x="0" y="0"/>
                <a:ext cx="1333241" cy="443028"/>
              </a:xfrm>
              <a:custGeom>
                <a:avLst/>
                <a:gdLst/>
                <a:ahLst/>
                <a:cxnLst/>
                <a:rect l="l" t="t" r="r" b="b"/>
                <a:pathLst>
                  <a:path w="1333241" h="443028">
                    <a:moveTo>
                      <a:pt x="50469" y="0"/>
                    </a:moveTo>
                    <a:lnTo>
                      <a:pt x="1282772" y="0"/>
                    </a:lnTo>
                    <a:cubicBezTo>
                      <a:pt x="1296157" y="0"/>
                      <a:pt x="1308994" y="5317"/>
                      <a:pt x="1318459" y="14782"/>
                    </a:cubicBezTo>
                    <a:cubicBezTo>
                      <a:pt x="1327924" y="24247"/>
                      <a:pt x="1333241" y="37084"/>
                      <a:pt x="1333241" y="50469"/>
                    </a:cubicBezTo>
                    <a:lnTo>
                      <a:pt x="1333241" y="392558"/>
                    </a:lnTo>
                    <a:cubicBezTo>
                      <a:pt x="1333241" y="420432"/>
                      <a:pt x="1310645" y="443028"/>
                      <a:pt x="1282772" y="443028"/>
                    </a:cubicBezTo>
                    <a:lnTo>
                      <a:pt x="50469" y="443028"/>
                    </a:lnTo>
                    <a:cubicBezTo>
                      <a:pt x="22596" y="443028"/>
                      <a:pt x="0" y="420432"/>
                      <a:pt x="0" y="392558"/>
                    </a:cubicBezTo>
                    <a:lnTo>
                      <a:pt x="0" y="50469"/>
                    </a:lnTo>
                    <a:cubicBezTo>
                      <a:pt x="0" y="22596"/>
                      <a:pt x="22596" y="0"/>
                      <a:pt x="50469" y="0"/>
                    </a:cubicBezTo>
                    <a:close/>
                  </a:path>
                </a:pathLst>
              </a:custGeom>
              <a:solidFill>
                <a:srgbClr val="4D6BA7"/>
              </a:solidFill>
            </p:spPr>
            <p:txBody>
              <a:bodyPr/>
              <a:lstStyle/>
              <a:p>
                <a:endParaRPr lang="es-ES"/>
              </a:p>
            </p:txBody>
          </p:sp>
          <p:sp>
            <p:nvSpPr>
              <p:cNvPr id="23" name="TextBox 23"/>
              <p:cNvSpPr txBox="1"/>
              <p:nvPr/>
            </p:nvSpPr>
            <p:spPr>
              <a:xfrm>
                <a:off x="0" y="-38100"/>
                <a:ext cx="1333241" cy="481128"/>
              </a:xfrm>
              <a:prstGeom prst="rect">
                <a:avLst/>
              </a:prstGeom>
            </p:spPr>
            <p:txBody>
              <a:bodyPr lIns="50800" tIns="50800" rIns="50800" bIns="50800" rtlCol="0" anchor="ctr"/>
              <a:lstStyle/>
              <a:p>
                <a:pPr algn="ctr">
                  <a:lnSpc>
                    <a:spcPts val="2659"/>
                  </a:lnSpc>
                </a:pPr>
                <a:endParaRPr/>
              </a:p>
            </p:txBody>
          </p:sp>
        </p:grpSp>
        <p:sp>
          <p:nvSpPr>
            <p:cNvPr id="24" name="TextBox 24"/>
            <p:cNvSpPr txBox="1"/>
            <p:nvPr/>
          </p:nvSpPr>
          <p:spPr>
            <a:xfrm>
              <a:off x="8092653" y="3128081"/>
              <a:ext cx="4537919" cy="1372393"/>
            </a:xfrm>
            <a:prstGeom prst="rect">
              <a:avLst/>
            </a:prstGeom>
          </p:spPr>
          <p:txBody>
            <a:bodyPr lIns="0" tIns="0" rIns="0" bIns="0" rtlCol="0" anchor="t">
              <a:spAutoFit/>
            </a:bodyPr>
            <a:lstStyle/>
            <a:p>
              <a:pPr algn="ctr">
                <a:lnSpc>
                  <a:spcPts val="5600"/>
                </a:lnSpc>
                <a:spcBef>
                  <a:spcPct val="0"/>
                </a:spcBef>
              </a:pPr>
              <a:r>
                <a:rPr lang="en-US" sz="4000" dirty="0">
                  <a:solidFill>
                    <a:srgbClr val="FFFFFF"/>
                  </a:solidFill>
                  <a:latin typeface="Bantayog"/>
                  <a:ea typeface="Bantayog"/>
                  <a:cs typeface="Bantayog"/>
                  <a:sym typeface="Bantayog"/>
                </a:rPr>
                <a:t>ENTRENAMIENTO DE MODELOS</a:t>
              </a:r>
            </a:p>
          </p:txBody>
        </p:sp>
      </p:grpSp>
      <p:grpSp>
        <p:nvGrpSpPr>
          <p:cNvPr id="55" name="Grupo 54">
            <a:extLst>
              <a:ext uri="{FF2B5EF4-FFF2-40B4-BE49-F238E27FC236}">
                <a16:creationId xmlns:a16="http://schemas.microsoft.com/office/drawing/2014/main" id="{5E6F8D3F-A756-72FF-2EE3-88814D91A2FA}"/>
              </a:ext>
            </a:extLst>
          </p:cNvPr>
          <p:cNvGrpSpPr/>
          <p:nvPr/>
        </p:nvGrpSpPr>
        <p:grpSpPr>
          <a:xfrm>
            <a:off x="10482650" y="5544499"/>
            <a:ext cx="5062150" cy="1682121"/>
            <a:chOff x="12892688" y="4880370"/>
            <a:chExt cx="5062150" cy="1682121"/>
          </a:xfrm>
        </p:grpSpPr>
        <p:grpSp>
          <p:nvGrpSpPr>
            <p:cNvPr id="25" name="Group 25"/>
            <p:cNvGrpSpPr/>
            <p:nvPr/>
          </p:nvGrpSpPr>
          <p:grpSpPr>
            <a:xfrm>
              <a:off x="12892688" y="4880370"/>
              <a:ext cx="5062150" cy="1682121"/>
              <a:chOff x="0" y="0"/>
              <a:chExt cx="1333241" cy="443028"/>
            </a:xfrm>
          </p:grpSpPr>
          <p:sp>
            <p:nvSpPr>
              <p:cNvPr id="26" name="Freeform 26"/>
              <p:cNvSpPr/>
              <p:nvPr/>
            </p:nvSpPr>
            <p:spPr>
              <a:xfrm>
                <a:off x="0" y="0"/>
                <a:ext cx="1333241" cy="443028"/>
              </a:xfrm>
              <a:custGeom>
                <a:avLst/>
                <a:gdLst/>
                <a:ahLst/>
                <a:cxnLst/>
                <a:rect l="l" t="t" r="r" b="b"/>
                <a:pathLst>
                  <a:path w="1333241" h="443028">
                    <a:moveTo>
                      <a:pt x="50469" y="0"/>
                    </a:moveTo>
                    <a:lnTo>
                      <a:pt x="1282772" y="0"/>
                    </a:lnTo>
                    <a:cubicBezTo>
                      <a:pt x="1296157" y="0"/>
                      <a:pt x="1308994" y="5317"/>
                      <a:pt x="1318459" y="14782"/>
                    </a:cubicBezTo>
                    <a:cubicBezTo>
                      <a:pt x="1327924" y="24247"/>
                      <a:pt x="1333241" y="37084"/>
                      <a:pt x="1333241" y="50469"/>
                    </a:cubicBezTo>
                    <a:lnTo>
                      <a:pt x="1333241" y="392558"/>
                    </a:lnTo>
                    <a:cubicBezTo>
                      <a:pt x="1333241" y="420432"/>
                      <a:pt x="1310645" y="443028"/>
                      <a:pt x="1282772" y="443028"/>
                    </a:cubicBezTo>
                    <a:lnTo>
                      <a:pt x="50469" y="443028"/>
                    </a:lnTo>
                    <a:cubicBezTo>
                      <a:pt x="22596" y="443028"/>
                      <a:pt x="0" y="420432"/>
                      <a:pt x="0" y="392558"/>
                    </a:cubicBezTo>
                    <a:lnTo>
                      <a:pt x="0" y="50469"/>
                    </a:lnTo>
                    <a:cubicBezTo>
                      <a:pt x="0" y="22596"/>
                      <a:pt x="22596" y="0"/>
                      <a:pt x="50469" y="0"/>
                    </a:cubicBezTo>
                    <a:close/>
                  </a:path>
                </a:pathLst>
              </a:custGeom>
              <a:solidFill>
                <a:srgbClr val="4D6BA7"/>
              </a:solidFill>
            </p:spPr>
            <p:txBody>
              <a:bodyPr/>
              <a:lstStyle/>
              <a:p>
                <a:endParaRPr lang="es-ES"/>
              </a:p>
            </p:txBody>
          </p:sp>
          <p:sp>
            <p:nvSpPr>
              <p:cNvPr id="27" name="TextBox 27"/>
              <p:cNvSpPr txBox="1"/>
              <p:nvPr/>
            </p:nvSpPr>
            <p:spPr>
              <a:xfrm>
                <a:off x="0" y="-38100"/>
                <a:ext cx="1333241" cy="481128"/>
              </a:xfrm>
              <a:prstGeom prst="rect">
                <a:avLst/>
              </a:prstGeom>
            </p:spPr>
            <p:txBody>
              <a:bodyPr lIns="50800" tIns="50800" rIns="50800" bIns="50800" rtlCol="0" anchor="ctr"/>
              <a:lstStyle/>
              <a:p>
                <a:pPr algn="ctr">
                  <a:lnSpc>
                    <a:spcPts val="2659"/>
                  </a:lnSpc>
                </a:pPr>
                <a:endParaRPr/>
              </a:p>
            </p:txBody>
          </p:sp>
        </p:grpSp>
        <p:sp>
          <p:nvSpPr>
            <p:cNvPr id="28" name="TextBox 28"/>
            <p:cNvSpPr txBox="1"/>
            <p:nvPr/>
          </p:nvSpPr>
          <p:spPr>
            <a:xfrm>
              <a:off x="13154804" y="5003087"/>
              <a:ext cx="4537919" cy="1372393"/>
            </a:xfrm>
            <a:prstGeom prst="rect">
              <a:avLst/>
            </a:prstGeom>
          </p:spPr>
          <p:txBody>
            <a:bodyPr lIns="0" tIns="0" rIns="0" bIns="0" rtlCol="0" anchor="t">
              <a:spAutoFit/>
            </a:bodyPr>
            <a:lstStyle/>
            <a:p>
              <a:pPr algn="ctr">
                <a:lnSpc>
                  <a:spcPts val="5600"/>
                </a:lnSpc>
                <a:spcBef>
                  <a:spcPct val="0"/>
                </a:spcBef>
              </a:pPr>
              <a:r>
                <a:rPr lang="en-US" sz="4000" dirty="0">
                  <a:solidFill>
                    <a:srgbClr val="FFFFFF"/>
                  </a:solidFill>
                  <a:latin typeface="Bantayog"/>
                  <a:ea typeface="Bantayog"/>
                  <a:cs typeface="Bantayog"/>
                  <a:sym typeface="Bantayog"/>
                </a:rPr>
                <a:t>OPTIMIZACIÓN DE HIPERPARÁMETROS</a:t>
              </a:r>
            </a:p>
          </p:txBody>
        </p:sp>
      </p:grpSp>
      <p:grpSp>
        <p:nvGrpSpPr>
          <p:cNvPr id="53" name="Grupo 52">
            <a:extLst>
              <a:ext uri="{FF2B5EF4-FFF2-40B4-BE49-F238E27FC236}">
                <a16:creationId xmlns:a16="http://schemas.microsoft.com/office/drawing/2014/main" id="{D9FC5D80-CA17-C7BC-ED07-723427D9620D}"/>
              </a:ext>
            </a:extLst>
          </p:cNvPr>
          <p:cNvGrpSpPr/>
          <p:nvPr/>
        </p:nvGrpSpPr>
        <p:grpSpPr>
          <a:xfrm>
            <a:off x="10258266" y="2746549"/>
            <a:ext cx="5432333" cy="1868020"/>
            <a:chOff x="1792308" y="5062562"/>
            <a:chExt cx="5432333" cy="1868020"/>
          </a:xfrm>
        </p:grpSpPr>
        <p:grpSp>
          <p:nvGrpSpPr>
            <p:cNvPr id="29" name="Group 29"/>
            <p:cNvGrpSpPr/>
            <p:nvPr/>
          </p:nvGrpSpPr>
          <p:grpSpPr>
            <a:xfrm>
              <a:off x="1792308" y="5062562"/>
              <a:ext cx="5432333" cy="1868020"/>
              <a:chOff x="0" y="0"/>
              <a:chExt cx="1538203" cy="347059"/>
            </a:xfrm>
          </p:grpSpPr>
          <p:sp>
            <p:nvSpPr>
              <p:cNvPr id="30" name="Freeform 30"/>
              <p:cNvSpPr/>
              <p:nvPr/>
            </p:nvSpPr>
            <p:spPr>
              <a:xfrm>
                <a:off x="0" y="0"/>
                <a:ext cx="1538203" cy="347059"/>
              </a:xfrm>
              <a:custGeom>
                <a:avLst/>
                <a:gdLst/>
                <a:ahLst/>
                <a:cxnLst/>
                <a:rect l="l" t="t" r="r" b="b"/>
                <a:pathLst>
                  <a:path w="1538203" h="347059">
                    <a:moveTo>
                      <a:pt x="43744" y="0"/>
                    </a:moveTo>
                    <a:lnTo>
                      <a:pt x="1494458" y="0"/>
                    </a:lnTo>
                    <a:cubicBezTo>
                      <a:pt x="1506060" y="0"/>
                      <a:pt x="1517187" y="4609"/>
                      <a:pt x="1525390" y="12812"/>
                    </a:cubicBezTo>
                    <a:cubicBezTo>
                      <a:pt x="1533594" y="21016"/>
                      <a:pt x="1538203" y="32143"/>
                      <a:pt x="1538203" y="43744"/>
                    </a:cubicBezTo>
                    <a:lnTo>
                      <a:pt x="1538203" y="303314"/>
                    </a:lnTo>
                    <a:cubicBezTo>
                      <a:pt x="1538203" y="314916"/>
                      <a:pt x="1533594" y="326043"/>
                      <a:pt x="1525390" y="334246"/>
                    </a:cubicBezTo>
                    <a:cubicBezTo>
                      <a:pt x="1517187" y="342450"/>
                      <a:pt x="1506060" y="347059"/>
                      <a:pt x="1494458" y="347059"/>
                    </a:cubicBezTo>
                    <a:lnTo>
                      <a:pt x="43744" y="347059"/>
                    </a:lnTo>
                    <a:cubicBezTo>
                      <a:pt x="32143" y="347059"/>
                      <a:pt x="21016" y="342450"/>
                      <a:pt x="12812" y="334246"/>
                    </a:cubicBezTo>
                    <a:cubicBezTo>
                      <a:pt x="4609" y="326043"/>
                      <a:pt x="0" y="314916"/>
                      <a:pt x="0" y="303314"/>
                    </a:cubicBezTo>
                    <a:lnTo>
                      <a:pt x="0" y="43744"/>
                    </a:lnTo>
                    <a:cubicBezTo>
                      <a:pt x="0" y="32143"/>
                      <a:pt x="4609" y="21016"/>
                      <a:pt x="12812" y="12812"/>
                    </a:cubicBezTo>
                    <a:cubicBezTo>
                      <a:pt x="21016" y="4609"/>
                      <a:pt x="32143" y="0"/>
                      <a:pt x="43744" y="0"/>
                    </a:cubicBezTo>
                    <a:close/>
                  </a:path>
                </a:pathLst>
              </a:custGeom>
              <a:solidFill>
                <a:srgbClr val="4D6BA7"/>
              </a:solidFill>
            </p:spPr>
            <p:txBody>
              <a:bodyPr/>
              <a:lstStyle/>
              <a:p>
                <a:endParaRPr lang="es-ES"/>
              </a:p>
            </p:txBody>
          </p:sp>
          <p:sp>
            <p:nvSpPr>
              <p:cNvPr id="31" name="TextBox 31"/>
              <p:cNvSpPr txBox="1"/>
              <p:nvPr/>
            </p:nvSpPr>
            <p:spPr>
              <a:xfrm>
                <a:off x="0" y="-38100"/>
                <a:ext cx="1538203" cy="385159"/>
              </a:xfrm>
              <a:prstGeom prst="rect">
                <a:avLst/>
              </a:prstGeom>
            </p:spPr>
            <p:txBody>
              <a:bodyPr lIns="50800" tIns="50800" rIns="50800" bIns="50800" rtlCol="0" anchor="ctr"/>
              <a:lstStyle/>
              <a:p>
                <a:pPr algn="ctr">
                  <a:lnSpc>
                    <a:spcPts val="2659"/>
                  </a:lnSpc>
                </a:pPr>
                <a:endParaRPr/>
              </a:p>
            </p:txBody>
          </p:sp>
        </p:grpSp>
        <p:sp>
          <p:nvSpPr>
            <p:cNvPr id="32" name="TextBox 32"/>
            <p:cNvSpPr txBox="1"/>
            <p:nvPr/>
          </p:nvSpPr>
          <p:spPr>
            <a:xfrm>
              <a:off x="1986098" y="5291674"/>
              <a:ext cx="5024302" cy="1375826"/>
            </a:xfrm>
            <a:prstGeom prst="rect">
              <a:avLst/>
            </a:prstGeom>
          </p:spPr>
          <p:txBody>
            <a:bodyPr lIns="0" tIns="0" rIns="0" bIns="0" rtlCol="0" anchor="t">
              <a:spAutoFit/>
            </a:bodyPr>
            <a:lstStyle/>
            <a:p>
              <a:pPr algn="ctr">
                <a:lnSpc>
                  <a:spcPts val="5600"/>
                </a:lnSpc>
                <a:spcBef>
                  <a:spcPct val="0"/>
                </a:spcBef>
              </a:pPr>
              <a:r>
                <a:rPr lang="en-US" sz="4000" dirty="0">
                  <a:solidFill>
                    <a:srgbClr val="FFFFFF"/>
                  </a:solidFill>
                  <a:latin typeface="Bantayog"/>
                  <a:ea typeface="Bantayog"/>
                  <a:cs typeface="Bantayog"/>
                  <a:sym typeface="Bantayog"/>
                </a:rPr>
                <a:t>INGENIERÍA DE DATOS Y PREPROCESAMIENTO</a:t>
              </a:r>
            </a:p>
          </p:txBody>
        </p:sp>
      </p:grpSp>
      <p:grpSp>
        <p:nvGrpSpPr>
          <p:cNvPr id="54" name="Grupo 53">
            <a:extLst>
              <a:ext uri="{FF2B5EF4-FFF2-40B4-BE49-F238E27FC236}">
                <a16:creationId xmlns:a16="http://schemas.microsoft.com/office/drawing/2014/main" id="{A8B685B4-A1E1-3ED5-C4FE-1F03557BF964}"/>
              </a:ext>
            </a:extLst>
          </p:cNvPr>
          <p:cNvGrpSpPr/>
          <p:nvPr/>
        </p:nvGrpSpPr>
        <p:grpSpPr>
          <a:xfrm>
            <a:off x="6172946" y="7816470"/>
            <a:ext cx="5942106" cy="1826782"/>
            <a:chOff x="8002494" y="7696427"/>
            <a:chExt cx="5942106" cy="1826782"/>
          </a:xfrm>
        </p:grpSpPr>
        <p:grpSp>
          <p:nvGrpSpPr>
            <p:cNvPr id="42" name="Group 42"/>
            <p:cNvGrpSpPr/>
            <p:nvPr/>
          </p:nvGrpSpPr>
          <p:grpSpPr>
            <a:xfrm>
              <a:off x="8002494" y="7696427"/>
              <a:ext cx="5942106" cy="1826782"/>
              <a:chOff x="0" y="0"/>
              <a:chExt cx="1089850" cy="443028"/>
            </a:xfrm>
          </p:grpSpPr>
          <p:sp>
            <p:nvSpPr>
              <p:cNvPr id="43" name="Freeform 43"/>
              <p:cNvSpPr/>
              <p:nvPr/>
            </p:nvSpPr>
            <p:spPr>
              <a:xfrm>
                <a:off x="0" y="0"/>
                <a:ext cx="1089850" cy="443028"/>
              </a:xfrm>
              <a:custGeom>
                <a:avLst/>
                <a:gdLst/>
                <a:ahLst/>
                <a:cxnLst/>
                <a:rect l="l" t="t" r="r" b="b"/>
                <a:pathLst>
                  <a:path w="1089850" h="443028">
                    <a:moveTo>
                      <a:pt x="61740" y="0"/>
                    </a:moveTo>
                    <a:lnTo>
                      <a:pt x="1028109" y="0"/>
                    </a:lnTo>
                    <a:cubicBezTo>
                      <a:pt x="1044484" y="0"/>
                      <a:pt x="1060188" y="6505"/>
                      <a:pt x="1071766" y="18083"/>
                    </a:cubicBezTo>
                    <a:cubicBezTo>
                      <a:pt x="1083345" y="29662"/>
                      <a:pt x="1089850" y="45366"/>
                      <a:pt x="1089850" y="61740"/>
                    </a:cubicBezTo>
                    <a:lnTo>
                      <a:pt x="1089850" y="381287"/>
                    </a:lnTo>
                    <a:cubicBezTo>
                      <a:pt x="1089850" y="415386"/>
                      <a:pt x="1062208" y="443028"/>
                      <a:pt x="1028109" y="443028"/>
                    </a:cubicBezTo>
                    <a:lnTo>
                      <a:pt x="61740" y="443028"/>
                    </a:lnTo>
                    <a:cubicBezTo>
                      <a:pt x="45366" y="443028"/>
                      <a:pt x="29662" y="436523"/>
                      <a:pt x="18083" y="424944"/>
                    </a:cubicBezTo>
                    <a:cubicBezTo>
                      <a:pt x="6505" y="413366"/>
                      <a:pt x="0" y="397662"/>
                      <a:pt x="0" y="381287"/>
                    </a:cubicBezTo>
                    <a:lnTo>
                      <a:pt x="0" y="61740"/>
                    </a:lnTo>
                    <a:cubicBezTo>
                      <a:pt x="0" y="45366"/>
                      <a:pt x="6505" y="29662"/>
                      <a:pt x="18083" y="18083"/>
                    </a:cubicBezTo>
                    <a:cubicBezTo>
                      <a:pt x="29662" y="6505"/>
                      <a:pt x="45366" y="0"/>
                      <a:pt x="61740" y="0"/>
                    </a:cubicBezTo>
                    <a:close/>
                  </a:path>
                </a:pathLst>
              </a:custGeom>
              <a:solidFill>
                <a:srgbClr val="4D6BA7"/>
              </a:solidFill>
            </p:spPr>
            <p:txBody>
              <a:bodyPr/>
              <a:lstStyle/>
              <a:p>
                <a:endParaRPr lang="es-ES"/>
              </a:p>
            </p:txBody>
          </p:sp>
          <p:sp>
            <p:nvSpPr>
              <p:cNvPr id="44" name="TextBox 44"/>
              <p:cNvSpPr txBox="1"/>
              <p:nvPr/>
            </p:nvSpPr>
            <p:spPr>
              <a:xfrm>
                <a:off x="0" y="-38100"/>
                <a:ext cx="1089850" cy="481128"/>
              </a:xfrm>
              <a:prstGeom prst="rect">
                <a:avLst/>
              </a:prstGeom>
            </p:spPr>
            <p:txBody>
              <a:bodyPr lIns="50800" tIns="50800" rIns="50800" bIns="50800" rtlCol="0" anchor="ctr"/>
              <a:lstStyle/>
              <a:p>
                <a:pPr algn="ctr">
                  <a:lnSpc>
                    <a:spcPts val="2659"/>
                  </a:lnSpc>
                </a:pPr>
                <a:endParaRPr/>
              </a:p>
            </p:txBody>
          </p:sp>
        </p:grpSp>
        <p:sp>
          <p:nvSpPr>
            <p:cNvPr id="45" name="TextBox 45"/>
            <p:cNvSpPr txBox="1"/>
            <p:nvPr/>
          </p:nvSpPr>
          <p:spPr>
            <a:xfrm>
              <a:off x="8258522" y="7921905"/>
              <a:ext cx="5430049" cy="1375826"/>
            </a:xfrm>
            <a:prstGeom prst="rect">
              <a:avLst/>
            </a:prstGeom>
          </p:spPr>
          <p:txBody>
            <a:bodyPr wrap="square" lIns="0" tIns="0" rIns="0" bIns="0" rtlCol="0" anchor="t">
              <a:spAutoFit/>
            </a:bodyPr>
            <a:lstStyle/>
            <a:p>
              <a:pPr algn="ctr">
                <a:lnSpc>
                  <a:spcPts val="5600"/>
                </a:lnSpc>
                <a:spcBef>
                  <a:spcPct val="0"/>
                </a:spcBef>
              </a:pPr>
              <a:r>
                <a:rPr lang="en-US" sz="4000" dirty="0">
                  <a:solidFill>
                    <a:srgbClr val="FFFFFF"/>
                  </a:solidFill>
                  <a:latin typeface="Bantayog"/>
                  <a:ea typeface="Bantayog"/>
                  <a:cs typeface="Bantayog"/>
                  <a:sym typeface="Bantayog"/>
                </a:rPr>
                <a:t>EVALUACIÓN Y ANÁLISIS DE RESULTADOS</a:t>
              </a:r>
            </a:p>
          </p:txBody>
        </p:sp>
      </p:grpSp>
      <p:sp>
        <p:nvSpPr>
          <p:cNvPr id="51" name="TextBox 15">
            <a:extLst>
              <a:ext uri="{FF2B5EF4-FFF2-40B4-BE49-F238E27FC236}">
                <a16:creationId xmlns:a16="http://schemas.microsoft.com/office/drawing/2014/main" id="{15301673-4E1F-846B-68F5-E88146118CDE}"/>
              </a:ext>
            </a:extLst>
          </p:cNvPr>
          <p:cNvSpPr txBox="1"/>
          <p:nvPr/>
        </p:nvSpPr>
        <p:spPr>
          <a:xfrm>
            <a:off x="6307551" y="494348"/>
            <a:ext cx="5672897" cy="154305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OBJETIVOS</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Freeform 14"/>
          <p:cNvSpPr/>
          <p:nvPr/>
        </p:nvSpPr>
        <p:spPr>
          <a:xfrm>
            <a:off x="7072036" y="2717016"/>
            <a:ext cx="2195789" cy="2545842"/>
          </a:xfrm>
          <a:custGeom>
            <a:avLst/>
            <a:gdLst/>
            <a:ahLst/>
            <a:cxnLst/>
            <a:rect l="l" t="t" r="r" b="b"/>
            <a:pathLst>
              <a:path w="2195789" h="2545842">
                <a:moveTo>
                  <a:pt x="0" y="0"/>
                </a:moveTo>
                <a:lnTo>
                  <a:pt x="2195789" y="0"/>
                </a:lnTo>
                <a:lnTo>
                  <a:pt x="2195789" y="2545842"/>
                </a:lnTo>
                <a:lnTo>
                  <a:pt x="0" y="2545842"/>
                </a:lnTo>
                <a:lnTo>
                  <a:pt x="0" y="0"/>
                </a:lnTo>
                <a:close/>
              </a:path>
            </a:pathLst>
          </a:custGeom>
          <a:blipFill>
            <a:blip r:embed="rId3"/>
            <a:stretch>
              <a:fillRect/>
            </a:stretch>
          </a:blipFill>
        </p:spPr>
        <p:txBody>
          <a:bodyPr/>
          <a:lstStyle/>
          <a:p>
            <a:endParaRPr lang="es-ES"/>
          </a:p>
        </p:txBody>
      </p:sp>
      <p:sp>
        <p:nvSpPr>
          <p:cNvPr id="15" name="Freeform 15"/>
          <p:cNvSpPr/>
          <p:nvPr/>
        </p:nvSpPr>
        <p:spPr>
          <a:xfrm>
            <a:off x="10455758" y="2597658"/>
            <a:ext cx="5657427" cy="2545842"/>
          </a:xfrm>
          <a:custGeom>
            <a:avLst/>
            <a:gdLst/>
            <a:ahLst/>
            <a:cxnLst/>
            <a:rect l="l" t="t" r="r" b="b"/>
            <a:pathLst>
              <a:path w="5657427" h="2545842">
                <a:moveTo>
                  <a:pt x="0" y="0"/>
                </a:moveTo>
                <a:lnTo>
                  <a:pt x="5657427" y="0"/>
                </a:lnTo>
                <a:lnTo>
                  <a:pt x="5657427" y="2545842"/>
                </a:lnTo>
                <a:lnTo>
                  <a:pt x="0" y="2545842"/>
                </a:lnTo>
                <a:lnTo>
                  <a:pt x="0" y="0"/>
                </a:lnTo>
                <a:close/>
              </a:path>
            </a:pathLst>
          </a:custGeom>
          <a:blipFill>
            <a:blip r:embed="rId4"/>
            <a:stretch>
              <a:fillRect/>
            </a:stretch>
          </a:blipFill>
        </p:spPr>
        <p:txBody>
          <a:bodyPr/>
          <a:lstStyle/>
          <a:p>
            <a:endParaRPr lang="es-ES"/>
          </a:p>
        </p:txBody>
      </p:sp>
      <p:sp>
        <p:nvSpPr>
          <p:cNvPr id="16" name="Freeform 16"/>
          <p:cNvSpPr/>
          <p:nvPr/>
        </p:nvSpPr>
        <p:spPr>
          <a:xfrm>
            <a:off x="1028700" y="5262858"/>
            <a:ext cx="7315200" cy="2953512"/>
          </a:xfrm>
          <a:custGeom>
            <a:avLst/>
            <a:gdLst/>
            <a:ahLst/>
            <a:cxnLst/>
            <a:rect l="l" t="t" r="r" b="b"/>
            <a:pathLst>
              <a:path w="7315200" h="2953512">
                <a:moveTo>
                  <a:pt x="0" y="0"/>
                </a:moveTo>
                <a:lnTo>
                  <a:pt x="7315200" y="0"/>
                </a:lnTo>
                <a:lnTo>
                  <a:pt x="7315200" y="2953512"/>
                </a:lnTo>
                <a:lnTo>
                  <a:pt x="0" y="295351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s-ES"/>
          </a:p>
        </p:txBody>
      </p:sp>
      <p:sp>
        <p:nvSpPr>
          <p:cNvPr id="17" name="Freeform 17"/>
          <p:cNvSpPr/>
          <p:nvPr/>
        </p:nvSpPr>
        <p:spPr>
          <a:xfrm>
            <a:off x="9944100" y="5705475"/>
            <a:ext cx="7315200" cy="1755648"/>
          </a:xfrm>
          <a:custGeom>
            <a:avLst/>
            <a:gdLst/>
            <a:ahLst/>
            <a:cxnLst/>
            <a:rect l="l" t="t" r="r" b="b"/>
            <a:pathLst>
              <a:path w="7315200" h="1755648">
                <a:moveTo>
                  <a:pt x="0" y="0"/>
                </a:moveTo>
                <a:lnTo>
                  <a:pt x="7315200" y="0"/>
                </a:lnTo>
                <a:lnTo>
                  <a:pt x="7315200" y="1755648"/>
                </a:lnTo>
                <a:lnTo>
                  <a:pt x="0" y="1755648"/>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s-ES"/>
          </a:p>
        </p:txBody>
      </p:sp>
      <p:sp>
        <p:nvSpPr>
          <p:cNvPr id="18" name="Freeform 18"/>
          <p:cNvSpPr/>
          <p:nvPr/>
        </p:nvSpPr>
        <p:spPr>
          <a:xfrm>
            <a:off x="5481017" y="7805219"/>
            <a:ext cx="7315200" cy="2098824"/>
          </a:xfrm>
          <a:custGeom>
            <a:avLst/>
            <a:gdLst/>
            <a:ahLst/>
            <a:cxnLst/>
            <a:rect l="l" t="t" r="r" b="b"/>
            <a:pathLst>
              <a:path w="7315200" h="2098824">
                <a:moveTo>
                  <a:pt x="0" y="0"/>
                </a:moveTo>
                <a:lnTo>
                  <a:pt x="7315200" y="0"/>
                </a:lnTo>
                <a:lnTo>
                  <a:pt x="7315200" y="2098824"/>
                </a:lnTo>
                <a:lnTo>
                  <a:pt x="0" y="2098824"/>
                </a:lnTo>
                <a:lnTo>
                  <a:pt x="0" y="0"/>
                </a:lnTo>
                <a:close/>
              </a:path>
            </a:pathLst>
          </a:custGeom>
          <a:blipFill>
            <a:blip>
              <a:extLst>
                <a:ext uri="{96DAC541-7B7A-43D3-8B79-37D633B846F1}">
                  <asvg:svgBlip xmlns:asvg="http://schemas.microsoft.com/office/drawing/2016/SVG/main" r:embed="rId7"/>
                </a:ext>
              </a:extLst>
            </a:blip>
            <a:stretch>
              <a:fillRect/>
            </a:stretch>
          </a:blipFill>
        </p:spPr>
        <p:txBody>
          <a:bodyPr/>
          <a:lstStyle/>
          <a:p>
            <a:endParaRPr lang="es-ES"/>
          </a:p>
        </p:txBody>
      </p:sp>
      <p:sp>
        <p:nvSpPr>
          <p:cNvPr id="19" name="Freeform 19"/>
          <p:cNvSpPr/>
          <p:nvPr/>
        </p:nvSpPr>
        <p:spPr>
          <a:xfrm>
            <a:off x="2997027" y="2890805"/>
            <a:ext cx="2198265" cy="2198265"/>
          </a:xfrm>
          <a:custGeom>
            <a:avLst/>
            <a:gdLst/>
            <a:ahLst/>
            <a:cxnLst/>
            <a:rect l="l" t="t" r="r" b="b"/>
            <a:pathLst>
              <a:path w="2198265" h="2198265">
                <a:moveTo>
                  <a:pt x="0" y="0"/>
                </a:moveTo>
                <a:lnTo>
                  <a:pt x="2198265" y="0"/>
                </a:lnTo>
                <a:lnTo>
                  <a:pt x="2198265" y="2198265"/>
                </a:lnTo>
                <a:lnTo>
                  <a:pt x="0" y="2198265"/>
                </a:lnTo>
                <a:lnTo>
                  <a:pt x="0" y="0"/>
                </a:lnTo>
                <a:close/>
              </a:path>
            </a:pathLst>
          </a:custGeom>
          <a:blipFill>
            <a:blip r:embed="rId8"/>
            <a:stretch>
              <a:fillRect/>
            </a:stretch>
          </a:blipFill>
        </p:spPr>
        <p:txBody>
          <a:bodyPr/>
          <a:lstStyle/>
          <a:p>
            <a:endParaRPr lang="es-ES"/>
          </a:p>
        </p:txBody>
      </p:sp>
      <p:sp>
        <p:nvSpPr>
          <p:cNvPr id="20" name="TextBox 20"/>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11</a:t>
            </a:r>
          </a:p>
        </p:txBody>
      </p:sp>
      <p:sp>
        <p:nvSpPr>
          <p:cNvPr id="21" name="TextBox 21"/>
          <p:cNvSpPr txBox="1"/>
          <p:nvPr/>
        </p:nvSpPr>
        <p:spPr>
          <a:xfrm>
            <a:off x="5709592" y="494348"/>
            <a:ext cx="6868815"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TECNOLOGÍAS</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Freeform 14"/>
          <p:cNvSpPr/>
          <p:nvPr/>
        </p:nvSpPr>
        <p:spPr>
          <a:xfrm>
            <a:off x="2293764" y="2994290"/>
            <a:ext cx="5475460" cy="2956748"/>
          </a:xfrm>
          <a:custGeom>
            <a:avLst/>
            <a:gdLst/>
            <a:ahLst/>
            <a:cxnLst/>
            <a:rect l="l" t="t" r="r" b="b"/>
            <a:pathLst>
              <a:path w="5475460" h="2956748">
                <a:moveTo>
                  <a:pt x="0" y="0"/>
                </a:moveTo>
                <a:lnTo>
                  <a:pt x="5475460" y="0"/>
                </a:lnTo>
                <a:lnTo>
                  <a:pt x="5475460" y="2956748"/>
                </a:lnTo>
                <a:lnTo>
                  <a:pt x="0" y="2956748"/>
                </a:lnTo>
                <a:lnTo>
                  <a:pt x="0" y="0"/>
                </a:lnTo>
                <a:close/>
              </a:path>
            </a:pathLst>
          </a:custGeom>
          <a:blipFill>
            <a:blip r:embed="rId3"/>
            <a:stretch>
              <a:fillRect/>
            </a:stretch>
          </a:blipFill>
        </p:spPr>
        <p:txBody>
          <a:bodyPr/>
          <a:lstStyle/>
          <a:p>
            <a:endParaRPr lang="es-ES"/>
          </a:p>
        </p:txBody>
      </p:sp>
      <p:sp>
        <p:nvSpPr>
          <p:cNvPr id="15" name="Freeform 15"/>
          <p:cNvSpPr/>
          <p:nvPr/>
        </p:nvSpPr>
        <p:spPr>
          <a:xfrm>
            <a:off x="12001155" y="2837427"/>
            <a:ext cx="3049717" cy="3270474"/>
          </a:xfrm>
          <a:custGeom>
            <a:avLst/>
            <a:gdLst/>
            <a:ahLst/>
            <a:cxnLst/>
            <a:rect l="l" t="t" r="r" b="b"/>
            <a:pathLst>
              <a:path w="3049717" h="3270474">
                <a:moveTo>
                  <a:pt x="0" y="0"/>
                </a:moveTo>
                <a:lnTo>
                  <a:pt x="3049717" y="0"/>
                </a:lnTo>
                <a:lnTo>
                  <a:pt x="3049717" y="3270475"/>
                </a:lnTo>
                <a:lnTo>
                  <a:pt x="0" y="3270475"/>
                </a:lnTo>
                <a:lnTo>
                  <a:pt x="0" y="0"/>
                </a:lnTo>
                <a:close/>
              </a:path>
            </a:pathLst>
          </a:custGeom>
          <a:blipFill>
            <a:blip r:embed="rId4"/>
            <a:stretch>
              <a:fillRect/>
            </a:stretch>
          </a:blipFill>
        </p:spPr>
        <p:txBody>
          <a:bodyPr/>
          <a:lstStyle/>
          <a:p>
            <a:endParaRPr lang="es-ES"/>
          </a:p>
        </p:txBody>
      </p:sp>
      <p:sp>
        <p:nvSpPr>
          <p:cNvPr id="16" name="Freeform 16"/>
          <p:cNvSpPr/>
          <p:nvPr/>
        </p:nvSpPr>
        <p:spPr>
          <a:xfrm>
            <a:off x="5445116" y="7112947"/>
            <a:ext cx="7397767" cy="2145353"/>
          </a:xfrm>
          <a:custGeom>
            <a:avLst/>
            <a:gdLst/>
            <a:ahLst/>
            <a:cxnLst/>
            <a:rect l="l" t="t" r="r" b="b"/>
            <a:pathLst>
              <a:path w="7397767" h="2145353">
                <a:moveTo>
                  <a:pt x="0" y="0"/>
                </a:moveTo>
                <a:lnTo>
                  <a:pt x="7397768" y="0"/>
                </a:lnTo>
                <a:lnTo>
                  <a:pt x="7397768" y="2145353"/>
                </a:lnTo>
                <a:lnTo>
                  <a:pt x="0" y="2145353"/>
                </a:lnTo>
                <a:lnTo>
                  <a:pt x="0" y="0"/>
                </a:lnTo>
                <a:close/>
              </a:path>
            </a:pathLst>
          </a:custGeom>
          <a:blipFill>
            <a:blip r:embed="rId5"/>
            <a:stretch>
              <a:fillRect/>
            </a:stretch>
          </a:blipFill>
        </p:spPr>
        <p:txBody>
          <a:bodyPr/>
          <a:lstStyle/>
          <a:p>
            <a:endParaRPr lang="es-ES"/>
          </a:p>
        </p:txBody>
      </p:sp>
      <p:sp>
        <p:nvSpPr>
          <p:cNvPr id="17" name="TextBox 17"/>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12</a:t>
            </a:r>
          </a:p>
        </p:txBody>
      </p:sp>
      <p:sp>
        <p:nvSpPr>
          <p:cNvPr id="18" name="TextBox 18"/>
          <p:cNvSpPr txBox="1"/>
          <p:nvPr/>
        </p:nvSpPr>
        <p:spPr>
          <a:xfrm>
            <a:off x="5709592" y="494348"/>
            <a:ext cx="6868815"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TECNOLOGÍAS</a:t>
            </a:r>
          </a:p>
        </p:txBody>
      </p:sp>
    </p:spTree>
  </p:cSld>
  <p:clrMapOvr>
    <a:masterClrMapping/>
  </p:clrMapOvr>
  <p:transition spd="slow">
    <p:wipe/>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Freeform 14"/>
          <p:cNvSpPr/>
          <p:nvPr/>
        </p:nvSpPr>
        <p:spPr>
          <a:xfrm>
            <a:off x="4201477" y="1879833"/>
            <a:ext cx="11596092" cy="8407167"/>
          </a:xfrm>
          <a:custGeom>
            <a:avLst/>
            <a:gdLst/>
            <a:ahLst/>
            <a:cxnLst/>
            <a:rect l="l" t="t" r="r" b="b"/>
            <a:pathLst>
              <a:path w="11596092" h="8407167">
                <a:moveTo>
                  <a:pt x="0" y="0"/>
                </a:moveTo>
                <a:lnTo>
                  <a:pt x="11596092" y="0"/>
                </a:lnTo>
                <a:lnTo>
                  <a:pt x="11596092" y="8407167"/>
                </a:lnTo>
                <a:lnTo>
                  <a:pt x="0" y="8407167"/>
                </a:lnTo>
                <a:lnTo>
                  <a:pt x="0" y="0"/>
                </a:lnTo>
                <a:close/>
              </a:path>
            </a:pathLst>
          </a:custGeom>
          <a:blipFill>
            <a:blip r:embed="rId3"/>
            <a:stretch>
              <a:fillRect/>
            </a:stretch>
          </a:blipFill>
        </p:spPr>
        <p:txBody>
          <a:bodyPr/>
          <a:lstStyle/>
          <a:p>
            <a:endParaRPr lang="es-ES"/>
          </a:p>
        </p:txBody>
      </p:sp>
      <p:sp>
        <p:nvSpPr>
          <p:cNvPr id="15" name="TextBox 15"/>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13</a:t>
            </a:r>
          </a:p>
        </p:txBody>
      </p:sp>
      <p:sp>
        <p:nvSpPr>
          <p:cNvPr id="16" name="TextBox 16"/>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ADQUISICIÓN DE DATOS</a:t>
            </a:r>
          </a:p>
        </p:txBody>
      </p:sp>
      <p:grpSp>
        <p:nvGrpSpPr>
          <p:cNvPr id="21" name="Grupo 20">
            <a:extLst>
              <a:ext uri="{FF2B5EF4-FFF2-40B4-BE49-F238E27FC236}">
                <a16:creationId xmlns:a16="http://schemas.microsoft.com/office/drawing/2014/main" id="{2121814D-C161-BC53-67AF-04DC53780BB5}"/>
              </a:ext>
            </a:extLst>
          </p:cNvPr>
          <p:cNvGrpSpPr/>
          <p:nvPr/>
        </p:nvGrpSpPr>
        <p:grpSpPr>
          <a:xfrm>
            <a:off x="941163" y="2444007"/>
            <a:ext cx="3234700" cy="5574090"/>
            <a:chOff x="941163" y="2444007"/>
            <a:chExt cx="3234700" cy="5574090"/>
          </a:xfrm>
        </p:grpSpPr>
        <p:sp>
          <p:nvSpPr>
            <p:cNvPr id="19" name="TextBox 19"/>
            <p:cNvSpPr txBox="1"/>
            <p:nvPr/>
          </p:nvSpPr>
          <p:spPr>
            <a:xfrm>
              <a:off x="941163" y="2444007"/>
              <a:ext cx="3058968" cy="3832225"/>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DATOS DE UN DÍA CADA 5 MINUTOS</a:t>
              </a:r>
            </a:p>
          </p:txBody>
        </p:sp>
        <p:sp>
          <p:nvSpPr>
            <p:cNvPr id="20" name="Freeform 28">
              <a:extLst>
                <a:ext uri="{FF2B5EF4-FFF2-40B4-BE49-F238E27FC236}">
                  <a16:creationId xmlns:a16="http://schemas.microsoft.com/office/drawing/2014/main" id="{37037910-450D-113C-309B-5F1015AEE58B}"/>
                </a:ext>
              </a:extLst>
            </p:cNvPr>
            <p:cNvSpPr/>
            <p:nvPr/>
          </p:nvSpPr>
          <p:spPr>
            <a:xfrm rot="16200000" flipV="1">
              <a:off x="2495185" y="6337418"/>
              <a:ext cx="1675924" cy="1685433"/>
            </a:xfrm>
            <a:custGeom>
              <a:avLst/>
              <a:gdLst/>
              <a:ahLst/>
              <a:cxnLst/>
              <a:rect l="l" t="t" r="r" b="b"/>
              <a:pathLst>
                <a:path w="2052290" h="2317890">
                  <a:moveTo>
                    <a:pt x="0" y="0"/>
                  </a:moveTo>
                  <a:lnTo>
                    <a:pt x="0" y="2013090"/>
                  </a:lnTo>
                  <a:cubicBezTo>
                    <a:pt x="0" y="2181426"/>
                    <a:pt x="136463" y="2317890"/>
                    <a:pt x="304800" y="2317890"/>
                  </a:cubicBezTo>
                  <a:lnTo>
                    <a:pt x="2052290" y="2317890"/>
                  </a:lnTo>
                </a:path>
              </a:pathLst>
            </a:custGeom>
            <a:ln w="254000" cap="flat">
              <a:solidFill>
                <a:srgbClr val="4D6BA7"/>
              </a:solidFill>
              <a:prstDash val="solid"/>
              <a:headEnd type="none" w="sm" len="sm"/>
              <a:tailEnd type="triangle" w="lg" len="med"/>
            </a:ln>
          </p:spPr>
          <p:txBody>
            <a:bodyPr/>
            <a:lstStyle/>
            <a:p>
              <a:endParaRPr lang="es-ES" dirty="0"/>
            </a:p>
          </p:txBody>
        </p:sp>
      </p:gr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4"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 calcmode="lin" valueType="num">
                                      <p:cBhvr additive="base">
                                        <p:cTn id="7" dur="500"/>
                                        <p:tgtEl>
                                          <p:spTgt spid="21"/>
                                        </p:tgtEl>
                                        <p:attrNameLst>
                                          <p:attrName>ppt_y</p:attrName>
                                        </p:attrNameLst>
                                      </p:cBhvr>
                                      <p:tavLst>
                                        <p:tav tm="0">
                                          <p:val>
                                            <p:strVal val="#ppt_y+#ppt_h*1.125000"/>
                                          </p:val>
                                        </p:tav>
                                        <p:tav tm="100000">
                                          <p:val>
                                            <p:strVal val="#ppt_y"/>
                                          </p:val>
                                        </p:tav>
                                      </p:tavLst>
                                    </p:anim>
                                    <p:animEffect transition="in" filter="wipe(up)">
                                      <p:cBhvr>
                                        <p:cTn id="8"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2085975"/>
          </a:xfrm>
          <a:prstGeom prst="rect">
            <a:avLst/>
          </a:prstGeom>
        </p:spPr>
        <p:txBody>
          <a:bodyPr lIns="0" tIns="0" rIns="0" bIns="0" rtlCol="0" anchor="t">
            <a:spAutoFit/>
          </a:bodyPr>
          <a:lstStyle/>
          <a:p>
            <a:pPr algn="ctr">
              <a:lnSpc>
                <a:spcPts val="8399"/>
              </a:lnSpc>
            </a:pPr>
            <a:r>
              <a:rPr lang="en-US" sz="5999" dirty="0">
                <a:solidFill>
                  <a:srgbClr val="FFFFFF"/>
                </a:solidFill>
                <a:latin typeface="Bantayog"/>
                <a:ea typeface="Bantayog"/>
                <a:cs typeface="Bantayog"/>
                <a:sym typeface="Bantayog"/>
              </a:rPr>
              <a:t>14</a:t>
            </a:r>
          </a:p>
          <a:p>
            <a:pPr algn="ctr">
              <a:lnSpc>
                <a:spcPts val="8399"/>
              </a:lnSpc>
              <a:spcBef>
                <a:spcPct val="0"/>
              </a:spcBef>
            </a:pPr>
            <a:endParaRPr lang="en-US" sz="5999" dirty="0">
              <a:solidFill>
                <a:srgbClr val="FFFFFF"/>
              </a:solidFill>
              <a:latin typeface="Bantayog"/>
              <a:ea typeface="Bantayog"/>
              <a:cs typeface="Bantayog"/>
              <a:sym typeface="Bantayog"/>
            </a:endParaRPr>
          </a:p>
        </p:txBody>
      </p:sp>
      <p:sp>
        <p:nvSpPr>
          <p:cNvPr id="15" name="TextBox 15"/>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ADQUISICIÓN DE DATOS</a:t>
            </a:r>
          </a:p>
        </p:txBody>
      </p:sp>
      <p:grpSp>
        <p:nvGrpSpPr>
          <p:cNvPr id="16" name="Group 16"/>
          <p:cNvGrpSpPr/>
          <p:nvPr/>
        </p:nvGrpSpPr>
        <p:grpSpPr>
          <a:xfrm>
            <a:off x="4136715" y="4307732"/>
            <a:ext cx="7017986" cy="4594833"/>
            <a:chOff x="0" y="0"/>
            <a:chExt cx="9357315" cy="6126444"/>
          </a:xfrm>
        </p:grpSpPr>
        <p:sp>
          <p:nvSpPr>
            <p:cNvPr id="17" name="AutoShape 17"/>
            <p:cNvSpPr/>
            <p:nvPr/>
          </p:nvSpPr>
          <p:spPr>
            <a:xfrm>
              <a:off x="0" y="127000"/>
              <a:ext cx="2598459" cy="0"/>
            </a:xfrm>
            <a:prstGeom prst="line">
              <a:avLst/>
            </a:prstGeom>
            <a:ln w="254000" cap="flat">
              <a:solidFill>
                <a:srgbClr val="4D6BA7"/>
              </a:solidFill>
              <a:prstDash val="solid"/>
              <a:headEnd type="none" w="sm" len="sm"/>
              <a:tailEnd type="triangle" w="lg" len="med"/>
            </a:ln>
          </p:spPr>
          <p:txBody>
            <a:bodyPr/>
            <a:lstStyle/>
            <a:p>
              <a:endParaRPr lang="es-ES"/>
            </a:p>
          </p:txBody>
        </p:sp>
        <p:sp>
          <p:nvSpPr>
            <p:cNvPr id="18" name="AutoShape 18"/>
            <p:cNvSpPr/>
            <p:nvPr/>
          </p:nvSpPr>
          <p:spPr>
            <a:xfrm>
              <a:off x="9230315" y="2654585"/>
              <a:ext cx="0" cy="1787820"/>
            </a:xfrm>
            <a:prstGeom prst="line">
              <a:avLst/>
            </a:prstGeom>
            <a:ln w="254000" cap="flat">
              <a:solidFill>
                <a:srgbClr val="4D6BA7"/>
              </a:solidFill>
              <a:prstDash val="solid"/>
              <a:headEnd type="none" w="sm" len="sm"/>
              <a:tailEnd type="triangle" w="lg" len="med"/>
            </a:ln>
          </p:spPr>
          <p:txBody>
            <a:bodyPr/>
            <a:lstStyle/>
            <a:p>
              <a:endParaRPr lang="es-ES"/>
            </a:p>
          </p:txBody>
        </p:sp>
        <p:sp>
          <p:nvSpPr>
            <p:cNvPr id="19" name="AutoShape 19"/>
            <p:cNvSpPr/>
            <p:nvPr/>
          </p:nvSpPr>
          <p:spPr>
            <a:xfrm flipH="1">
              <a:off x="2012597" y="5999444"/>
              <a:ext cx="1787820" cy="0"/>
            </a:xfrm>
            <a:prstGeom prst="line">
              <a:avLst/>
            </a:prstGeom>
            <a:ln w="254000" cap="flat">
              <a:solidFill>
                <a:srgbClr val="4D6BA7"/>
              </a:solidFill>
              <a:prstDash val="solid"/>
              <a:headEnd type="none" w="sm" len="sm"/>
              <a:tailEnd type="triangle" w="lg" len="med"/>
            </a:ln>
          </p:spPr>
          <p:txBody>
            <a:bodyPr/>
            <a:lstStyle/>
            <a:p>
              <a:endParaRPr lang="es-ES"/>
            </a:p>
          </p:txBody>
        </p:sp>
      </p:grpSp>
      <p:sp>
        <p:nvSpPr>
          <p:cNvPr id="20" name="TextBox 20"/>
          <p:cNvSpPr txBox="1"/>
          <p:nvPr/>
        </p:nvSpPr>
        <p:spPr>
          <a:xfrm>
            <a:off x="1951269" y="7791315"/>
            <a:ext cx="3593112" cy="1917700"/>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105.120 MUESTRAS</a:t>
            </a:r>
          </a:p>
        </p:txBody>
      </p:sp>
      <p:sp>
        <p:nvSpPr>
          <p:cNvPr id="21" name="TextBox 21"/>
          <p:cNvSpPr txBox="1"/>
          <p:nvPr/>
        </p:nvSpPr>
        <p:spPr>
          <a:xfrm>
            <a:off x="6987028" y="7791315"/>
            <a:ext cx="8335346" cy="1917700"/>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DATOS DE UN AÑO CADA 5 MINUTOS</a:t>
            </a:r>
          </a:p>
        </p:txBody>
      </p:sp>
      <p:sp>
        <p:nvSpPr>
          <p:cNvPr id="22" name="TextBox 22"/>
          <p:cNvSpPr txBox="1"/>
          <p:nvPr/>
        </p:nvSpPr>
        <p:spPr>
          <a:xfrm>
            <a:off x="9433674" y="2099419"/>
            <a:ext cx="3058968" cy="946150"/>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SCRIPTS</a:t>
            </a:r>
          </a:p>
        </p:txBody>
      </p:sp>
      <p:grpSp>
        <p:nvGrpSpPr>
          <p:cNvPr id="23" name="Group 23"/>
          <p:cNvGrpSpPr/>
          <p:nvPr/>
        </p:nvGrpSpPr>
        <p:grpSpPr>
          <a:xfrm>
            <a:off x="6329444" y="3150021"/>
            <a:ext cx="9267428" cy="2858565"/>
            <a:chOff x="0" y="0"/>
            <a:chExt cx="12356571" cy="3811420"/>
          </a:xfrm>
        </p:grpSpPr>
        <p:grpSp>
          <p:nvGrpSpPr>
            <p:cNvPr id="24" name="Group 24"/>
            <p:cNvGrpSpPr/>
            <p:nvPr/>
          </p:nvGrpSpPr>
          <p:grpSpPr>
            <a:xfrm>
              <a:off x="0" y="0"/>
              <a:ext cx="12356571" cy="3811420"/>
              <a:chOff x="0" y="0"/>
              <a:chExt cx="2440804" cy="752873"/>
            </a:xfrm>
          </p:grpSpPr>
          <p:sp>
            <p:nvSpPr>
              <p:cNvPr id="25" name="Freeform 25"/>
              <p:cNvSpPr/>
              <p:nvPr/>
            </p:nvSpPr>
            <p:spPr>
              <a:xfrm>
                <a:off x="0" y="0"/>
                <a:ext cx="2440804" cy="752873"/>
              </a:xfrm>
              <a:custGeom>
                <a:avLst/>
                <a:gdLst/>
                <a:ahLst/>
                <a:cxnLst/>
                <a:rect l="l" t="t" r="r" b="b"/>
                <a:pathLst>
                  <a:path w="2440804" h="752873">
                    <a:moveTo>
                      <a:pt x="27568" y="0"/>
                    </a:moveTo>
                    <a:lnTo>
                      <a:pt x="2413236" y="0"/>
                    </a:lnTo>
                    <a:cubicBezTo>
                      <a:pt x="2420548" y="0"/>
                      <a:pt x="2427560" y="2904"/>
                      <a:pt x="2432730" y="8074"/>
                    </a:cubicBezTo>
                    <a:cubicBezTo>
                      <a:pt x="2437900" y="13244"/>
                      <a:pt x="2440804" y="20256"/>
                      <a:pt x="2440804" y="27568"/>
                    </a:cubicBezTo>
                    <a:lnTo>
                      <a:pt x="2440804" y="725305"/>
                    </a:lnTo>
                    <a:cubicBezTo>
                      <a:pt x="2440804" y="732617"/>
                      <a:pt x="2437900" y="739629"/>
                      <a:pt x="2432730" y="744799"/>
                    </a:cubicBezTo>
                    <a:cubicBezTo>
                      <a:pt x="2427560" y="749969"/>
                      <a:pt x="2420548" y="752873"/>
                      <a:pt x="2413236" y="752873"/>
                    </a:cubicBezTo>
                    <a:lnTo>
                      <a:pt x="27568" y="752873"/>
                    </a:lnTo>
                    <a:cubicBezTo>
                      <a:pt x="12343" y="752873"/>
                      <a:pt x="0" y="740531"/>
                      <a:pt x="0" y="725305"/>
                    </a:cubicBezTo>
                    <a:lnTo>
                      <a:pt x="0" y="27568"/>
                    </a:lnTo>
                    <a:cubicBezTo>
                      <a:pt x="0" y="20256"/>
                      <a:pt x="2904" y="13244"/>
                      <a:pt x="8074" y="8074"/>
                    </a:cubicBezTo>
                    <a:cubicBezTo>
                      <a:pt x="13244" y="2904"/>
                      <a:pt x="20256" y="0"/>
                      <a:pt x="27568" y="0"/>
                    </a:cubicBezTo>
                    <a:close/>
                  </a:path>
                </a:pathLst>
              </a:custGeom>
              <a:solidFill>
                <a:srgbClr val="DBE7FF"/>
              </a:solidFill>
              <a:ln w="38100" cap="rnd">
                <a:solidFill>
                  <a:srgbClr val="4D6BA7"/>
                </a:solidFill>
                <a:prstDash val="solid"/>
                <a:round/>
              </a:ln>
            </p:spPr>
            <p:txBody>
              <a:bodyPr/>
              <a:lstStyle/>
              <a:p>
                <a:endParaRPr lang="es-ES"/>
              </a:p>
            </p:txBody>
          </p:sp>
          <p:sp>
            <p:nvSpPr>
              <p:cNvPr id="26" name="TextBox 26"/>
              <p:cNvSpPr txBox="1"/>
              <p:nvPr/>
            </p:nvSpPr>
            <p:spPr>
              <a:xfrm>
                <a:off x="0" y="-38100"/>
                <a:ext cx="2440804" cy="790973"/>
              </a:xfrm>
              <a:prstGeom prst="rect">
                <a:avLst/>
              </a:prstGeom>
            </p:spPr>
            <p:txBody>
              <a:bodyPr lIns="50800" tIns="50800" rIns="50800" bIns="50800" rtlCol="0" anchor="ctr"/>
              <a:lstStyle/>
              <a:p>
                <a:pPr algn="ctr">
                  <a:lnSpc>
                    <a:spcPts val="2659"/>
                  </a:lnSpc>
                </a:pPr>
                <a:endParaRPr/>
              </a:p>
            </p:txBody>
          </p:sp>
        </p:grpSp>
        <p:sp>
          <p:nvSpPr>
            <p:cNvPr id="27" name="Freeform 27"/>
            <p:cNvSpPr/>
            <p:nvPr/>
          </p:nvSpPr>
          <p:spPr>
            <a:xfrm>
              <a:off x="4077425" y="686014"/>
              <a:ext cx="8279146" cy="2439391"/>
            </a:xfrm>
            <a:custGeom>
              <a:avLst/>
              <a:gdLst/>
              <a:ahLst/>
              <a:cxnLst/>
              <a:rect l="l" t="t" r="r" b="b"/>
              <a:pathLst>
                <a:path w="8279146" h="2439391">
                  <a:moveTo>
                    <a:pt x="0" y="0"/>
                  </a:moveTo>
                  <a:lnTo>
                    <a:pt x="8279146" y="0"/>
                  </a:lnTo>
                  <a:lnTo>
                    <a:pt x="8279146" y="2439392"/>
                  </a:lnTo>
                  <a:lnTo>
                    <a:pt x="0" y="2439392"/>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s-ES"/>
            </a:p>
          </p:txBody>
        </p:sp>
        <p:sp>
          <p:nvSpPr>
            <p:cNvPr id="28" name="Freeform 28"/>
            <p:cNvSpPr/>
            <p:nvPr/>
          </p:nvSpPr>
          <p:spPr>
            <a:xfrm>
              <a:off x="441407" y="440200"/>
              <a:ext cx="2931020" cy="2931020"/>
            </a:xfrm>
            <a:custGeom>
              <a:avLst/>
              <a:gdLst/>
              <a:ahLst/>
              <a:cxnLst/>
              <a:rect l="l" t="t" r="r" b="b"/>
              <a:pathLst>
                <a:path w="2931020" h="2931020">
                  <a:moveTo>
                    <a:pt x="0" y="0"/>
                  </a:moveTo>
                  <a:lnTo>
                    <a:pt x="2931020" y="0"/>
                  </a:lnTo>
                  <a:lnTo>
                    <a:pt x="2931020" y="2931020"/>
                  </a:lnTo>
                  <a:lnTo>
                    <a:pt x="0" y="2931020"/>
                  </a:lnTo>
                  <a:lnTo>
                    <a:pt x="0" y="0"/>
                  </a:lnTo>
                  <a:close/>
                </a:path>
              </a:pathLst>
            </a:custGeom>
            <a:blipFill>
              <a:blip r:embed="rId4"/>
              <a:stretch>
                <a:fillRect/>
              </a:stretch>
            </a:blipFill>
          </p:spPr>
          <p:txBody>
            <a:bodyPr/>
            <a:lstStyle/>
            <a:p>
              <a:endParaRPr lang="es-ES"/>
            </a:p>
          </p:txBody>
        </p:sp>
      </p:grpSp>
      <p:sp>
        <p:nvSpPr>
          <p:cNvPr id="30" name="TextBox 19">
            <a:extLst>
              <a:ext uri="{FF2B5EF4-FFF2-40B4-BE49-F238E27FC236}">
                <a16:creationId xmlns:a16="http://schemas.microsoft.com/office/drawing/2014/main" id="{E304450E-1575-C41C-BBC5-6C91D88F176B}"/>
              </a:ext>
            </a:extLst>
          </p:cNvPr>
          <p:cNvSpPr txBox="1"/>
          <p:nvPr/>
        </p:nvSpPr>
        <p:spPr>
          <a:xfrm>
            <a:off x="941163" y="2444007"/>
            <a:ext cx="3058968" cy="3832225"/>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DATOS DE UN DÍA CADA 5 MINUTOS</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15</a:t>
            </a:r>
          </a:p>
        </p:txBody>
      </p:sp>
      <p:sp>
        <p:nvSpPr>
          <p:cNvPr id="15" name="TextBox 15"/>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ADQUISICIÓN DE DATOS</a:t>
            </a:r>
          </a:p>
        </p:txBody>
      </p:sp>
      <p:grpSp>
        <p:nvGrpSpPr>
          <p:cNvPr id="16" name="Group 16"/>
          <p:cNvGrpSpPr/>
          <p:nvPr/>
        </p:nvGrpSpPr>
        <p:grpSpPr>
          <a:xfrm>
            <a:off x="416725" y="2072177"/>
            <a:ext cx="16714375" cy="5416502"/>
            <a:chOff x="0" y="-347873"/>
            <a:chExt cx="22285833" cy="7222003"/>
          </a:xfrm>
        </p:grpSpPr>
        <p:grpSp>
          <p:nvGrpSpPr>
            <p:cNvPr id="17" name="Group 17"/>
            <p:cNvGrpSpPr/>
            <p:nvPr/>
          </p:nvGrpSpPr>
          <p:grpSpPr>
            <a:xfrm>
              <a:off x="0" y="-347873"/>
              <a:ext cx="22285833" cy="7222003"/>
              <a:chOff x="0" y="-38100"/>
              <a:chExt cx="2440804" cy="790973"/>
            </a:xfrm>
          </p:grpSpPr>
          <p:sp>
            <p:nvSpPr>
              <p:cNvPr id="18" name="Freeform 18"/>
              <p:cNvSpPr/>
              <p:nvPr/>
            </p:nvSpPr>
            <p:spPr>
              <a:xfrm>
                <a:off x="0" y="0"/>
                <a:ext cx="2440804" cy="752873"/>
              </a:xfrm>
              <a:custGeom>
                <a:avLst/>
                <a:gdLst/>
                <a:ahLst/>
                <a:cxnLst/>
                <a:rect l="l" t="t" r="r" b="b"/>
                <a:pathLst>
                  <a:path w="2440804" h="752873">
                    <a:moveTo>
                      <a:pt x="15285" y="0"/>
                    </a:moveTo>
                    <a:lnTo>
                      <a:pt x="2425519" y="0"/>
                    </a:lnTo>
                    <a:cubicBezTo>
                      <a:pt x="2429573" y="0"/>
                      <a:pt x="2433461" y="1610"/>
                      <a:pt x="2436327" y="4477"/>
                    </a:cubicBezTo>
                    <a:cubicBezTo>
                      <a:pt x="2439194" y="7343"/>
                      <a:pt x="2440804" y="11231"/>
                      <a:pt x="2440804" y="15285"/>
                    </a:cubicBezTo>
                    <a:lnTo>
                      <a:pt x="2440804" y="737588"/>
                    </a:lnTo>
                    <a:cubicBezTo>
                      <a:pt x="2440804" y="741642"/>
                      <a:pt x="2439194" y="745530"/>
                      <a:pt x="2436327" y="748396"/>
                    </a:cubicBezTo>
                    <a:cubicBezTo>
                      <a:pt x="2433461" y="751263"/>
                      <a:pt x="2429573" y="752873"/>
                      <a:pt x="2425519" y="752873"/>
                    </a:cubicBezTo>
                    <a:lnTo>
                      <a:pt x="15285" y="752873"/>
                    </a:lnTo>
                    <a:cubicBezTo>
                      <a:pt x="11231" y="752873"/>
                      <a:pt x="7343" y="751263"/>
                      <a:pt x="4477" y="748396"/>
                    </a:cubicBezTo>
                    <a:cubicBezTo>
                      <a:pt x="1610" y="745530"/>
                      <a:pt x="0" y="741642"/>
                      <a:pt x="0" y="737588"/>
                    </a:cubicBezTo>
                    <a:lnTo>
                      <a:pt x="0" y="15285"/>
                    </a:lnTo>
                    <a:cubicBezTo>
                      <a:pt x="0" y="11231"/>
                      <a:pt x="1610" y="7343"/>
                      <a:pt x="4477" y="4477"/>
                    </a:cubicBezTo>
                    <a:cubicBezTo>
                      <a:pt x="7343" y="1610"/>
                      <a:pt x="11231" y="0"/>
                      <a:pt x="15285" y="0"/>
                    </a:cubicBezTo>
                    <a:close/>
                  </a:path>
                </a:pathLst>
              </a:custGeom>
              <a:solidFill>
                <a:srgbClr val="DBE7FF"/>
              </a:solidFill>
              <a:ln w="38100" cap="rnd">
                <a:solidFill>
                  <a:srgbClr val="4D6BA7"/>
                </a:solidFill>
                <a:prstDash val="solid"/>
                <a:round/>
              </a:ln>
            </p:spPr>
            <p:txBody>
              <a:bodyPr/>
              <a:lstStyle/>
              <a:p>
                <a:endParaRPr lang="es-ES" dirty="0"/>
              </a:p>
            </p:txBody>
          </p:sp>
          <p:sp>
            <p:nvSpPr>
              <p:cNvPr id="19" name="TextBox 19"/>
              <p:cNvSpPr txBox="1"/>
              <p:nvPr/>
            </p:nvSpPr>
            <p:spPr>
              <a:xfrm>
                <a:off x="0" y="-38100"/>
                <a:ext cx="2440804" cy="790973"/>
              </a:xfrm>
              <a:prstGeom prst="rect">
                <a:avLst/>
              </a:prstGeom>
            </p:spPr>
            <p:txBody>
              <a:bodyPr lIns="91621" tIns="91621" rIns="91621" bIns="91621" rtlCol="0" anchor="ctr"/>
              <a:lstStyle/>
              <a:p>
                <a:pPr algn="ctr">
                  <a:lnSpc>
                    <a:spcPts val="2659"/>
                  </a:lnSpc>
                </a:pPr>
                <a:endParaRPr/>
              </a:p>
            </p:txBody>
          </p:sp>
        </p:grpSp>
        <p:sp>
          <p:nvSpPr>
            <p:cNvPr id="20" name="Freeform 20"/>
            <p:cNvSpPr/>
            <p:nvPr/>
          </p:nvSpPr>
          <p:spPr>
            <a:xfrm>
              <a:off x="15798366" y="779199"/>
              <a:ext cx="6183361" cy="1821883"/>
            </a:xfrm>
            <a:custGeom>
              <a:avLst/>
              <a:gdLst/>
              <a:ahLst/>
              <a:cxnLst/>
              <a:rect l="l" t="t" r="r" b="b"/>
              <a:pathLst>
                <a:path w="6183361" h="1821883">
                  <a:moveTo>
                    <a:pt x="0" y="0"/>
                  </a:moveTo>
                  <a:lnTo>
                    <a:pt x="6183361" y="0"/>
                  </a:lnTo>
                  <a:lnTo>
                    <a:pt x="6183361" y="1821883"/>
                  </a:lnTo>
                  <a:lnTo>
                    <a:pt x="0" y="1821883"/>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s-ES"/>
            </a:p>
          </p:txBody>
        </p:sp>
        <p:sp>
          <p:nvSpPr>
            <p:cNvPr id="21" name="Freeform 21"/>
            <p:cNvSpPr/>
            <p:nvPr/>
          </p:nvSpPr>
          <p:spPr>
            <a:xfrm>
              <a:off x="6625238" y="522365"/>
              <a:ext cx="2335551" cy="2335551"/>
            </a:xfrm>
            <a:custGeom>
              <a:avLst/>
              <a:gdLst/>
              <a:ahLst/>
              <a:cxnLst/>
              <a:rect l="l" t="t" r="r" b="b"/>
              <a:pathLst>
                <a:path w="2335551" h="2335551">
                  <a:moveTo>
                    <a:pt x="0" y="0"/>
                  </a:moveTo>
                  <a:lnTo>
                    <a:pt x="2335550" y="0"/>
                  </a:lnTo>
                  <a:lnTo>
                    <a:pt x="2335550" y="2335551"/>
                  </a:lnTo>
                  <a:lnTo>
                    <a:pt x="0" y="2335551"/>
                  </a:lnTo>
                  <a:lnTo>
                    <a:pt x="0" y="0"/>
                  </a:lnTo>
                  <a:close/>
                </a:path>
              </a:pathLst>
            </a:custGeom>
            <a:blipFill>
              <a:blip r:embed="rId4"/>
              <a:stretch>
                <a:fillRect/>
              </a:stretch>
            </a:blipFill>
          </p:spPr>
          <p:txBody>
            <a:bodyPr/>
            <a:lstStyle/>
            <a:p>
              <a:endParaRPr lang="es-ES"/>
            </a:p>
          </p:txBody>
        </p:sp>
      </p:grpSp>
      <p:grpSp>
        <p:nvGrpSpPr>
          <p:cNvPr id="22" name="Group 22"/>
          <p:cNvGrpSpPr/>
          <p:nvPr/>
        </p:nvGrpSpPr>
        <p:grpSpPr>
          <a:xfrm>
            <a:off x="565806" y="2553443"/>
            <a:ext cx="16061367" cy="4643438"/>
            <a:chOff x="0" y="-95250"/>
            <a:chExt cx="21415156" cy="6191250"/>
          </a:xfrm>
        </p:grpSpPr>
        <p:sp>
          <p:nvSpPr>
            <p:cNvPr id="23" name="TextBox 23"/>
            <p:cNvSpPr txBox="1"/>
            <p:nvPr/>
          </p:nvSpPr>
          <p:spPr>
            <a:xfrm>
              <a:off x="0" y="-95250"/>
              <a:ext cx="5847192" cy="3143250"/>
            </a:xfrm>
            <a:prstGeom prst="rect">
              <a:avLst/>
            </a:prstGeom>
          </p:spPr>
          <p:txBody>
            <a:bodyPr lIns="0" tIns="0" rIns="0" bIns="0" rtlCol="0" anchor="t">
              <a:spAutoFit/>
            </a:bodyPr>
            <a:lstStyle/>
            <a:p>
              <a:pPr algn="ctr">
                <a:lnSpc>
                  <a:spcPts val="6299"/>
                </a:lnSpc>
                <a:spcBef>
                  <a:spcPct val="0"/>
                </a:spcBef>
              </a:pPr>
              <a:r>
                <a:rPr lang="en-US" sz="4500">
                  <a:solidFill>
                    <a:srgbClr val="4D6BA7"/>
                  </a:solidFill>
                  <a:latin typeface="Bantayog"/>
                  <a:ea typeface="Bantayog"/>
                  <a:cs typeface="Bantayog"/>
                  <a:sym typeface="Bantayog"/>
                </a:rPr>
                <a:t>VARIACIONES ALEATORIAS DE POTENCIAS</a:t>
              </a:r>
            </a:p>
          </p:txBody>
        </p:sp>
        <p:sp>
          <p:nvSpPr>
            <p:cNvPr id="25" name="TextBox 25"/>
            <p:cNvSpPr txBox="1"/>
            <p:nvPr/>
          </p:nvSpPr>
          <p:spPr>
            <a:xfrm>
              <a:off x="4749094" y="2952750"/>
              <a:ext cx="5569029" cy="3143250"/>
            </a:xfrm>
            <a:prstGeom prst="rect">
              <a:avLst/>
            </a:prstGeom>
          </p:spPr>
          <p:txBody>
            <a:bodyPr lIns="0" tIns="0" rIns="0" bIns="0" rtlCol="0" anchor="t">
              <a:spAutoFit/>
            </a:bodyPr>
            <a:lstStyle/>
            <a:p>
              <a:pPr algn="ctr">
                <a:lnSpc>
                  <a:spcPts val="6299"/>
                </a:lnSpc>
                <a:spcBef>
                  <a:spcPct val="0"/>
                </a:spcBef>
              </a:pPr>
              <a:r>
                <a:rPr lang="en-US" sz="4500">
                  <a:solidFill>
                    <a:srgbClr val="4D6BA7"/>
                  </a:solidFill>
                  <a:latin typeface="Bantayog"/>
                  <a:ea typeface="Bantayog"/>
                  <a:cs typeface="Bantayog"/>
                  <a:sym typeface="Bantayog"/>
                </a:rPr>
                <a:t>DATOS DE POTENCIAS PARA UN AÑO</a:t>
              </a:r>
            </a:p>
          </p:txBody>
        </p:sp>
        <p:sp>
          <p:nvSpPr>
            <p:cNvPr id="26" name="TextBox 26"/>
            <p:cNvSpPr txBox="1"/>
            <p:nvPr/>
          </p:nvSpPr>
          <p:spPr>
            <a:xfrm>
              <a:off x="9335658" y="210085"/>
              <a:ext cx="5569029" cy="2076450"/>
            </a:xfrm>
            <a:prstGeom prst="rect">
              <a:avLst/>
            </a:prstGeom>
          </p:spPr>
          <p:txBody>
            <a:bodyPr lIns="0" tIns="0" rIns="0" bIns="0" rtlCol="0" anchor="t">
              <a:spAutoFit/>
            </a:bodyPr>
            <a:lstStyle/>
            <a:p>
              <a:pPr algn="ctr">
                <a:lnSpc>
                  <a:spcPts val="6299"/>
                </a:lnSpc>
                <a:spcBef>
                  <a:spcPct val="0"/>
                </a:spcBef>
              </a:pPr>
              <a:r>
                <a:rPr lang="en-US" sz="4500">
                  <a:solidFill>
                    <a:srgbClr val="4D6BA7"/>
                  </a:solidFill>
                  <a:latin typeface="Bantayog"/>
                  <a:ea typeface="Bantayog"/>
                  <a:cs typeface="Bantayog"/>
                  <a:sym typeface="Bantayog"/>
                </a:rPr>
                <a:t>FLUJO DE CARGAS ÓPTIMO</a:t>
              </a:r>
            </a:p>
          </p:txBody>
        </p:sp>
        <p:sp>
          <p:nvSpPr>
            <p:cNvPr id="27" name="TextBox 27"/>
            <p:cNvSpPr txBox="1"/>
            <p:nvPr/>
          </p:nvSpPr>
          <p:spPr>
            <a:xfrm>
              <a:off x="15846127" y="3486150"/>
              <a:ext cx="5569029" cy="2076450"/>
            </a:xfrm>
            <a:prstGeom prst="rect">
              <a:avLst/>
            </a:prstGeom>
          </p:spPr>
          <p:txBody>
            <a:bodyPr lIns="0" tIns="0" rIns="0" bIns="0" rtlCol="0" anchor="t">
              <a:spAutoFit/>
            </a:bodyPr>
            <a:lstStyle/>
            <a:p>
              <a:pPr algn="ctr">
                <a:lnSpc>
                  <a:spcPts val="6299"/>
                </a:lnSpc>
                <a:spcBef>
                  <a:spcPct val="0"/>
                </a:spcBef>
              </a:pPr>
              <a:r>
                <a:rPr lang="en-US" sz="4500">
                  <a:solidFill>
                    <a:srgbClr val="4D6BA7"/>
                  </a:solidFill>
                  <a:latin typeface="Bantayog"/>
                  <a:ea typeface="Bantayog"/>
                  <a:cs typeface="Bantayog"/>
                  <a:sym typeface="Bantayog"/>
                </a:rPr>
                <a:t>TENSIONES Y PÉRDIDAS</a:t>
              </a:r>
            </a:p>
          </p:txBody>
        </p:sp>
        <p:sp>
          <p:nvSpPr>
            <p:cNvPr id="28" name="Freeform 28"/>
            <p:cNvSpPr/>
            <p:nvPr/>
          </p:nvSpPr>
          <p:spPr>
            <a:xfrm>
              <a:off x="14195679" y="2254110"/>
              <a:ext cx="2052290" cy="2317890"/>
            </a:xfrm>
            <a:custGeom>
              <a:avLst/>
              <a:gdLst/>
              <a:ahLst/>
              <a:cxnLst/>
              <a:rect l="l" t="t" r="r" b="b"/>
              <a:pathLst>
                <a:path w="2052290" h="2317890">
                  <a:moveTo>
                    <a:pt x="0" y="0"/>
                  </a:moveTo>
                  <a:lnTo>
                    <a:pt x="0" y="2013090"/>
                  </a:lnTo>
                  <a:cubicBezTo>
                    <a:pt x="0" y="2181426"/>
                    <a:pt x="136463" y="2317890"/>
                    <a:pt x="304800" y="2317890"/>
                  </a:cubicBezTo>
                  <a:lnTo>
                    <a:pt x="2052290" y="2317890"/>
                  </a:lnTo>
                </a:path>
              </a:pathLst>
            </a:custGeom>
            <a:ln w="254000" cap="flat">
              <a:solidFill>
                <a:srgbClr val="4D6BA7"/>
              </a:solidFill>
              <a:prstDash val="solid"/>
              <a:headEnd type="none" w="sm" len="sm"/>
              <a:tailEnd type="triangle" w="lg" len="med"/>
            </a:ln>
          </p:spPr>
          <p:txBody>
            <a:bodyPr/>
            <a:lstStyle/>
            <a:p>
              <a:endParaRPr lang="es-ES" dirty="0"/>
            </a:p>
          </p:txBody>
        </p:sp>
      </p:grpSp>
      <p:grpSp>
        <p:nvGrpSpPr>
          <p:cNvPr id="30" name="Group 30"/>
          <p:cNvGrpSpPr/>
          <p:nvPr/>
        </p:nvGrpSpPr>
        <p:grpSpPr>
          <a:xfrm>
            <a:off x="2634232" y="7484825"/>
            <a:ext cx="11655473" cy="2222770"/>
            <a:chOff x="0" y="0"/>
            <a:chExt cx="15540631" cy="2963694"/>
          </a:xfrm>
        </p:grpSpPr>
        <p:sp>
          <p:nvSpPr>
            <p:cNvPr id="31" name="TextBox 31"/>
            <p:cNvSpPr txBox="1"/>
            <p:nvPr/>
          </p:nvSpPr>
          <p:spPr>
            <a:xfrm>
              <a:off x="0" y="963444"/>
              <a:ext cx="13839694" cy="200025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PROCESO HEREDADO</a:t>
              </a:r>
            </a:p>
          </p:txBody>
        </p:sp>
        <p:sp>
          <p:nvSpPr>
            <p:cNvPr id="32" name="Freeform 32"/>
            <p:cNvSpPr/>
            <p:nvPr/>
          </p:nvSpPr>
          <p:spPr>
            <a:xfrm>
              <a:off x="13839693" y="0"/>
              <a:ext cx="1573938" cy="2049294"/>
            </a:xfrm>
            <a:custGeom>
              <a:avLst/>
              <a:gdLst/>
              <a:ahLst/>
              <a:cxnLst/>
              <a:rect l="l" t="t" r="r" b="b"/>
              <a:pathLst>
                <a:path w="1573938" h="2049294">
                  <a:moveTo>
                    <a:pt x="0" y="2049294"/>
                  </a:moveTo>
                  <a:lnTo>
                    <a:pt x="1269138" y="2049294"/>
                  </a:lnTo>
                  <a:cubicBezTo>
                    <a:pt x="1349977" y="2049294"/>
                    <a:pt x="1427504" y="2017181"/>
                    <a:pt x="1484665" y="1960020"/>
                  </a:cubicBezTo>
                  <a:cubicBezTo>
                    <a:pt x="1541825" y="1902859"/>
                    <a:pt x="1573938" y="1825332"/>
                    <a:pt x="1573938" y="1744494"/>
                  </a:cubicBezTo>
                  <a:lnTo>
                    <a:pt x="1573938" y="0"/>
                  </a:lnTo>
                </a:path>
              </a:pathLst>
            </a:custGeom>
            <a:ln w="254000" cap="flat">
              <a:solidFill>
                <a:srgbClr val="4D6BA7"/>
              </a:solidFill>
              <a:prstDash val="solid"/>
              <a:headEnd type="none" w="sm" len="sm"/>
              <a:tailEnd type="triangle" w="lg" len="med"/>
            </a:ln>
          </p:spPr>
          <p:txBody>
            <a:bodyPr/>
            <a:lstStyle/>
            <a:p>
              <a:endParaRPr lang="es-ES"/>
            </a:p>
          </p:txBody>
        </p:sp>
      </p:grpSp>
      <p:sp>
        <p:nvSpPr>
          <p:cNvPr id="35" name="Freeform 28">
            <a:extLst>
              <a:ext uri="{FF2B5EF4-FFF2-40B4-BE49-F238E27FC236}">
                <a16:creationId xmlns:a16="http://schemas.microsoft.com/office/drawing/2014/main" id="{B60DDC36-8C27-4EA0-FD21-37F4243C9028}"/>
              </a:ext>
            </a:extLst>
          </p:cNvPr>
          <p:cNvSpPr/>
          <p:nvPr/>
        </p:nvSpPr>
        <p:spPr>
          <a:xfrm rot="16200000">
            <a:off x="8320152" y="4727621"/>
            <a:ext cx="1593087" cy="1107056"/>
          </a:xfrm>
          <a:custGeom>
            <a:avLst/>
            <a:gdLst/>
            <a:ahLst/>
            <a:cxnLst/>
            <a:rect l="l" t="t" r="r" b="b"/>
            <a:pathLst>
              <a:path w="2052290" h="2317890">
                <a:moveTo>
                  <a:pt x="0" y="0"/>
                </a:moveTo>
                <a:lnTo>
                  <a:pt x="0" y="2013090"/>
                </a:lnTo>
                <a:cubicBezTo>
                  <a:pt x="0" y="2181426"/>
                  <a:pt x="136463" y="2317890"/>
                  <a:pt x="304800" y="2317890"/>
                </a:cubicBezTo>
                <a:lnTo>
                  <a:pt x="2052290" y="2317890"/>
                </a:lnTo>
              </a:path>
            </a:pathLst>
          </a:custGeom>
          <a:ln w="254000" cap="flat">
            <a:solidFill>
              <a:srgbClr val="4D6BA7"/>
            </a:solidFill>
            <a:prstDash val="solid"/>
            <a:headEnd type="none" w="sm" len="sm"/>
            <a:tailEnd type="triangle" w="lg" len="med"/>
          </a:ln>
        </p:spPr>
        <p:txBody>
          <a:bodyPr/>
          <a:lstStyle/>
          <a:p>
            <a:endParaRPr lang="es-ES" dirty="0"/>
          </a:p>
        </p:txBody>
      </p:sp>
      <p:sp>
        <p:nvSpPr>
          <p:cNvPr id="37" name="Freeform 28">
            <a:extLst>
              <a:ext uri="{FF2B5EF4-FFF2-40B4-BE49-F238E27FC236}">
                <a16:creationId xmlns:a16="http://schemas.microsoft.com/office/drawing/2014/main" id="{1342189D-3A51-0227-BEB4-3D95BFA97D6A}"/>
              </a:ext>
            </a:extLst>
          </p:cNvPr>
          <p:cNvSpPr/>
          <p:nvPr/>
        </p:nvSpPr>
        <p:spPr>
          <a:xfrm>
            <a:off x="2328710" y="4970637"/>
            <a:ext cx="1593087" cy="1107056"/>
          </a:xfrm>
          <a:custGeom>
            <a:avLst/>
            <a:gdLst/>
            <a:ahLst/>
            <a:cxnLst/>
            <a:rect l="l" t="t" r="r" b="b"/>
            <a:pathLst>
              <a:path w="2052290" h="2317890">
                <a:moveTo>
                  <a:pt x="0" y="0"/>
                </a:moveTo>
                <a:lnTo>
                  <a:pt x="0" y="2013090"/>
                </a:lnTo>
                <a:cubicBezTo>
                  <a:pt x="0" y="2181426"/>
                  <a:pt x="136463" y="2317890"/>
                  <a:pt x="304800" y="2317890"/>
                </a:cubicBezTo>
                <a:lnTo>
                  <a:pt x="2052290" y="2317890"/>
                </a:lnTo>
              </a:path>
            </a:pathLst>
          </a:custGeom>
          <a:ln w="254000" cap="flat">
            <a:solidFill>
              <a:srgbClr val="4D6BA7"/>
            </a:solidFill>
            <a:prstDash val="solid"/>
            <a:headEnd type="none" w="sm" len="sm"/>
            <a:tailEnd type="triangle" w="lg" len="med"/>
          </a:ln>
        </p:spPr>
        <p:txBody>
          <a:bodyPr/>
          <a:lstStyle/>
          <a:p>
            <a:endParaRPr lang="es-ES"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4"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 calcmode="lin" valueType="num">
                                      <p:cBhvr additive="base">
                                        <p:cTn id="7" dur="500"/>
                                        <p:tgtEl>
                                          <p:spTgt spid="30"/>
                                        </p:tgtEl>
                                        <p:attrNameLst>
                                          <p:attrName>ppt_y</p:attrName>
                                        </p:attrNameLst>
                                      </p:cBhvr>
                                      <p:tavLst>
                                        <p:tav tm="0">
                                          <p:val>
                                            <p:strVal val="#ppt_y+#ppt_h*1.125000"/>
                                          </p:val>
                                        </p:tav>
                                        <p:tav tm="100000">
                                          <p:val>
                                            <p:strVal val="#ppt_y"/>
                                          </p:val>
                                        </p:tav>
                                      </p:tavLst>
                                    </p:anim>
                                    <p:animEffect transition="in" filter="wipe(up)">
                                      <p:cBhvr>
                                        <p:cTn id="8"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16</a:t>
            </a:r>
          </a:p>
        </p:txBody>
      </p:sp>
      <p:sp>
        <p:nvSpPr>
          <p:cNvPr id="15" name="TextBox 15"/>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DATASET ENTRADA</a:t>
            </a:r>
          </a:p>
        </p:txBody>
      </p:sp>
      <p:graphicFrame>
        <p:nvGraphicFramePr>
          <p:cNvPr id="16" name="Table 16"/>
          <p:cNvGraphicFramePr>
            <a:graphicFrameLocks noGrp="1"/>
          </p:cNvGraphicFramePr>
          <p:nvPr/>
        </p:nvGraphicFramePr>
        <p:xfrm>
          <a:off x="603115" y="2257628"/>
          <a:ext cx="15868248" cy="5399280"/>
        </p:xfrm>
        <a:graphic>
          <a:graphicData uri="http://schemas.openxmlformats.org/drawingml/2006/table">
            <a:tbl>
              <a:tblPr/>
              <a:tblGrid>
                <a:gridCol w="1983531">
                  <a:extLst>
                    <a:ext uri="{9D8B030D-6E8A-4147-A177-3AD203B41FA5}">
                      <a16:colId xmlns:a16="http://schemas.microsoft.com/office/drawing/2014/main" val="20000"/>
                    </a:ext>
                  </a:extLst>
                </a:gridCol>
                <a:gridCol w="1983531">
                  <a:extLst>
                    <a:ext uri="{9D8B030D-6E8A-4147-A177-3AD203B41FA5}">
                      <a16:colId xmlns:a16="http://schemas.microsoft.com/office/drawing/2014/main" val="20001"/>
                    </a:ext>
                  </a:extLst>
                </a:gridCol>
                <a:gridCol w="1983531">
                  <a:extLst>
                    <a:ext uri="{9D8B030D-6E8A-4147-A177-3AD203B41FA5}">
                      <a16:colId xmlns:a16="http://schemas.microsoft.com/office/drawing/2014/main" val="20002"/>
                    </a:ext>
                  </a:extLst>
                </a:gridCol>
                <a:gridCol w="1983531">
                  <a:extLst>
                    <a:ext uri="{9D8B030D-6E8A-4147-A177-3AD203B41FA5}">
                      <a16:colId xmlns:a16="http://schemas.microsoft.com/office/drawing/2014/main" val="20003"/>
                    </a:ext>
                  </a:extLst>
                </a:gridCol>
                <a:gridCol w="1983531">
                  <a:extLst>
                    <a:ext uri="{9D8B030D-6E8A-4147-A177-3AD203B41FA5}">
                      <a16:colId xmlns:a16="http://schemas.microsoft.com/office/drawing/2014/main" val="20004"/>
                    </a:ext>
                  </a:extLst>
                </a:gridCol>
                <a:gridCol w="1983531">
                  <a:extLst>
                    <a:ext uri="{9D8B030D-6E8A-4147-A177-3AD203B41FA5}">
                      <a16:colId xmlns:a16="http://schemas.microsoft.com/office/drawing/2014/main" val="20005"/>
                    </a:ext>
                  </a:extLst>
                </a:gridCol>
                <a:gridCol w="1983531">
                  <a:extLst>
                    <a:ext uri="{9D8B030D-6E8A-4147-A177-3AD203B41FA5}">
                      <a16:colId xmlns:a16="http://schemas.microsoft.com/office/drawing/2014/main" val="20006"/>
                    </a:ext>
                  </a:extLst>
                </a:gridCol>
                <a:gridCol w="1983531">
                  <a:extLst>
                    <a:ext uri="{9D8B030D-6E8A-4147-A177-3AD203B41FA5}">
                      <a16:colId xmlns:a16="http://schemas.microsoft.com/office/drawing/2014/main" val="20007"/>
                    </a:ext>
                  </a:extLst>
                </a:gridCol>
              </a:tblGrid>
              <a:tr h="802968">
                <a:tc>
                  <a:txBody>
                    <a:bodyPr/>
                    <a:lstStyle/>
                    <a:p>
                      <a:pPr algn="ctr">
                        <a:lnSpc>
                          <a:spcPts val="5599"/>
                        </a:lnSpc>
                        <a:defRPr/>
                      </a:pPr>
                      <a:r>
                        <a:rPr lang="en-US" sz="3999">
                          <a:solidFill>
                            <a:srgbClr val="000000"/>
                          </a:solidFill>
                          <a:latin typeface="Bantayog"/>
                          <a:ea typeface="Bantayog"/>
                          <a:cs typeface="Bantayog"/>
                          <a:sym typeface="Bantayog"/>
                        </a:rPr>
                        <a:t>Index</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4D6BA7"/>
                    </a:solidFill>
                  </a:tcPr>
                </a:tc>
                <a:tc>
                  <a:txBody>
                    <a:bodyPr/>
                    <a:lstStyle/>
                    <a:p>
                      <a:pPr algn="ctr">
                        <a:lnSpc>
                          <a:spcPts val="5599"/>
                        </a:lnSpc>
                        <a:defRPr/>
                      </a:pPr>
                      <a:r>
                        <a:rPr lang="en-US" sz="3999">
                          <a:solidFill>
                            <a:srgbClr val="000000"/>
                          </a:solidFill>
                          <a:latin typeface="Bantayog"/>
                          <a:ea typeface="Bantayog"/>
                          <a:cs typeface="Bantayog"/>
                          <a:sym typeface="Bantayog"/>
                        </a:rPr>
                        <a:t>P1</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4D6BA7"/>
                    </a:solidFill>
                  </a:tcPr>
                </a:tc>
                <a:tc>
                  <a:txBody>
                    <a:bodyPr/>
                    <a:lstStyle/>
                    <a:p>
                      <a:pPr algn="ctr">
                        <a:lnSpc>
                          <a:spcPts val="5599"/>
                        </a:lnSpc>
                        <a:defRPr/>
                      </a:pPr>
                      <a:r>
                        <a:rPr lang="en-US" sz="3999">
                          <a:solidFill>
                            <a:srgbClr val="000000"/>
                          </a:solidFill>
                          <a:latin typeface="Bantayog"/>
                          <a:ea typeface="Bantayog"/>
                          <a:cs typeface="Bantayog"/>
                          <a:sym typeface="Bantayog"/>
                        </a:rPr>
                        <a:t>Q1</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4D6BA7"/>
                    </a:solidFill>
                  </a:tcPr>
                </a:tc>
                <a:tc>
                  <a:txBody>
                    <a:bodyPr/>
                    <a:lstStyle/>
                    <a:p>
                      <a:pPr algn="ctr">
                        <a:lnSpc>
                          <a:spcPts val="5599"/>
                        </a:lnSpc>
                        <a:defRPr/>
                      </a:pPr>
                      <a:r>
                        <a:rPr lang="en-US" sz="3999">
                          <a:solidFill>
                            <a:srgbClr val="000000"/>
                          </a:solidFill>
                          <a:latin typeface="Bantayog"/>
                          <a:ea typeface="Bantayog"/>
                          <a:cs typeface="Bantayog"/>
                          <a:sym typeface="Bantayog"/>
                        </a:rPr>
                        <a:t>P2</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4D6BA7"/>
                    </a:solidFill>
                  </a:tcPr>
                </a:tc>
                <a:tc>
                  <a:txBody>
                    <a:bodyPr/>
                    <a:lstStyle/>
                    <a:p>
                      <a:pPr algn="ctr">
                        <a:lnSpc>
                          <a:spcPts val="5599"/>
                        </a:lnSpc>
                        <a:defRPr/>
                      </a:pPr>
                      <a:r>
                        <a:rPr lang="en-US" sz="3999">
                          <a:solidFill>
                            <a:srgbClr val="000000"/>
                          </a:solidFill>
                          <a:latin typeface="Bantayog"/>
                          <a:ea typeface="Bantayog"/>
                          <a:cs typeface="Bantayog"/>
                          <a:sym typeface="Bantayog"/>
                        </a:rPr>
                        <a:t>Q2</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4D6BA7"/>
                    </a:solidFill>
                  </a:tcPr>
                </a:tc>
                <a:tc>
                  <a:txBody>
                    <a:bodyPr/>
                    <a:lstStyle/>
                    <a:p>
                      <a:pPr algn="ctr">
                        <a:lnSpc>
                          <a:spcPts val="5599"/>
                        </a:lnSpc>
                        <a:defRPr/>
                      </a:pPr>
                      <a:r>
                        <a:rPr lang="en-US" sz="3999">
                          <a:solidFill>
                            <a:srgbClr val="000000"/>
                          </a:solidFill>
                          <a:latin typeface="Bantayog"/>
                          <a:ea typeface="Bantayog"/>
                          <a:cs typeface="Bantayog"/>
                          <a:sym typeface="Bantayog"/>
                        </a:rPr>
                        <a:t>P3</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4D6BA7"/>
                    </a:solidFill>
                  </a:tcPr>
                </a:tc>
                <a:tc>
                  <a:txBody>
                    <a:bodyPr/>
                    <a:lstStyle/>
                    <a:p>
                      <a:pPr algn="ctr">
                        <a:lnSpc>
                          <a:spcPts val="5599"/>
                        </a:lnSpc>
                        <a:defRPr/>
                      </a:pPr>
                      <a:r>
                        <a:rPr lang="en-US" sz="3999">
                          <a:solidFill>
                            <a:srgbClr val="000000"/>
                          </a:solidFill>
                          <a:latin typeface="Bantayog"/>
                          <a:ea typeface="Bantayog"/>
                          <a:cs typeface="Bantayog"/>
                          <a:sym typeface="Bantayog"/>
                        </a:rPr>
                        <a:t>Q3</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4D6BA7"/>
                    </a:solidFill>
                  </a:tcPr>
                </a:tc>
                <a:tc>
                  <a:txBody>
                    <a:bodyPr/>
                    <a:lstStyle/>
                    <a:p>
                      <a:pPr algn="ctr">
                        <a:lnSpc>
                          <a:spcPts val="5599"/>
                        </a:lnSpc>
                        <a:defRPr/>
                      </a:pPr>
                      <a:r>
                        <a:rPr lang="en-US" sz="3999">
                          <a:solidFill>
                            <a:srgbClr val="000000"/>
                          </a:solidFill>
                          <a:latin typeface="Bantayog"/>
                          <a:ea typeface="Bantayog"/>
                          <a:cs typeface="Bantayog"/>
                          <a:sym typeface="Bantayog"/>
                        </a:rPr>
                        <a:t>P4</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4D6BA7"/>
                    </a:solidFill>
                  </a:tcPr>
                </a:tc>
                <a:extLst>
                  <a:ext uri="{0D108BD9-81ED-4DB2-BD59-A6C34878D82A}">
                    <a16:rowId xmlns:a16="http://schemas.microsoft.com/office/drawing/2014/main" val="10000"/>
                  </a:ext>
                </a:extLst>
              </a:tr>
              <a:tr h="1510344">
                <a:tc>
                  <a:txBody>
                    <a:bodyPr/>
                    <a:lstStyle/>
                    <a:p>
                      <a:pPr algn="ctr">
                        <a:lnSpc>
                          <a:spcPts val="5599"/>
                        </a:lnSpc>
                        <a:defRPr/>
                      </a:pPr>
                      <a:r>
                        <a:rPr lang="en-US" sz="3999">
                          <a:solidFill>
                            <a:srgbClr val="000000"/>
                          </a:solidFill>
                          <a:latin typeface="Bantayog"/>
                          <a:ea typeface="Bantayog"/>
                          <a:cs typeface="Bantayog"/>
                          <a:sym typeface="Bantayog"/>
                        </a:rPr>
                        <a:t>day1_min0003</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DBE7FF"/>
                    </a:solidFill>
                  </a:tcPr>
                </a:tc>
                <a:tc>
                  <a:txBody>
                    <a:bodyPr/>
                    <a:lstStyle/>
                    <a:p>
                      <a:pPr algn="ctr">
                        <a:lnSpc>
                          <a:spcPts val="5599"/>
                        </a:lnSpc>
                        <a:defRPr/>
                      </a:pPr>
                      <a:r>
                        <a:rPr lang="en-US" sz="3999">
                          <a:solidFill>
                            <a:srgbClr val="000000"/>
                          </a:solidFill>
                          <a:latin typeface="Bantayog"/>
                          <a:ea typeface="Bantayog"/>
                          <a:cs typeface="Bantayog"/>
                          <a:sym typeface="Bantayog"/>
                        </a:rPr>
                        <a:t>5,5235</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DBE7FF"/>
                    </a:solidFill>
                  </a:tcPr>
                </a:tc>
                <a:tc>
                  <a:txBody>
                    <a:bodyPr/>
                    <a:lstStyle/>
                    <a:p>
                      <a:pPr algn="ctr">
                        <a:lnSpc>
                          <a:spcPts val="5599"/>
                        </a:lnSpc>
                        <a:defRPr/>
                      </a:pPr>
                      <a:r>
                        <a:rPr lang="en-US" sz="3999">
                          <a:solidFill>
                            <a:srgbClr val="000000"/>
                          </a:solidFill>
                          <a:latin typeface="Bantayog"/>
                          <a:ea typeface="Bantayog"/>
                          <a:cs typeface="Bantayog"/>
                          <a:sym typeface="Bantayog"/>
                        </a:rPr>
                        <a:t>2,7253</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DBE7FF"/>
                    </a:solidFill>
                  </a:tcPr>
                </a:tc>
                <a:tc>
                  <a:txBody>
                    <a:bodyPr/>
                    <a:lstStyle/>
                    <a:p>
                      <a:pPr algn="ctr">
                        <a:lnSpc>
                          <a:spcPts val="5599"/>
                        </a:lnSpc>
                        <a:defRPr/>
                      </a:pPr>
                      <a:r>
                        <a:rPr lang="en-US" sz="3999">
                          <a:solidFill>
                            <a:srgbClr val="000000"/>
                          </a:solidFill>
                          <a:latin typeface="Bantayog"/>
                          <a:ea typeface="Bantayog"/>
                          <a:cs typeface="Bantayog"/>
                          <a:sym typeface="Bantayog"/>
                        </a:rPr>
                        <a:t>0,0000</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DBE7FF"/>
                    </a:solidFill>
                  </a:tcPr>
                </a:tc>
                <a:tc>
                  <a:txBody>
                    <a:bodyPr/>
                    <a:lstStyle/>
                    <a:p>
                      <a:pPr algn="ctr">
                        <a:lnSpc>
                          <a:spcPts val="5599"/>
                        </a:lnSpc>
                        <a:defRPr/>
                      </a:pPr>
                      <a:r>
                        <a:rPr lang="en-US" sz="3999">
                          <a:solidFill>
                            <a:srgbClr val="000000"/>
                          </a:solidFill>
                          <a:latin typeface="Bantayog"/>
                          <a:ea typeface="Bantayog"/>
                          <a:cs typeface="Bantayog"/>
                          <a:sym typeface="Bantayog"/>
                        </a:rPr>
                        <a:t>0,0000</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DBE7FF"/>
                    </a:solidFill>
                  </a:tcPr>
                </a:tc>
                <a:tc>
                  <a:txBody>
                    <a:bodyPr/>
                    <a:lstStyle/>
                    <a:p>
                      <a:pPr algn="ctr">
                        <a:lnSpc>
                          <a:spcPts val="5599"/>
                        </a:lnSpc>
                        <a:defRPr/>
                      </a:pPr>
                      <a:r>
                        <a:rPr lang="en-US" sz="3999">
                          <a:solidFill>
                            <a:srgbClr val="000000"/>
                          </a:solidFill>
                          <a:latin typeface="Bantayog"/>
                          <a:ea typeface="Bantayog"/>
                          <a:cs typeface="Bantayog"/>
                          <a:sym typeface="Bantayog"/>
                        </a:rPr>
                        <a:t>0,1507</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DBE7FF"/>
                    </a:solidFill>
                  </a:tcPr>
                </a:tc>
                <a:tc>
                  <a:txBody>
                    <a:bodyPr/>
                    <a:lstStyle/>
                    <a:p>
                      <a:pPr algn="ctr">
                        <a:lnSpc>
                          <a:spcPts val="5599"/>
                        </a:lnSpc>
                        <a:defRPr/>
                      </a:pPr>
                      <a:r>
                        <a:rPr lang="en-US" sz="3999">
                          <a:solidFill>
                            <a:srgbClr val="000000"/>
                          </a:solidFill>
                          <a:latin typeface="Bantayog"/>
                          <a:ea typeface="Bantayog"/>
                          <a:cs typeface="Bantayog"/>
                          <a:sym typeface="Bantayog"/>
                        </a:rPr>
                        <a:t>0,0602</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DBE7FF"/>
                    </a:solidFill>
                  </a:tcPr>
                </a:tc>
                <a:tc>
                  <a:txBody>
                    <a:bodyPr/>
                    <a:lstStyle/>
                    <a:p>
                      <a:pPr algn="ctr">
                        <a:lnSpc>
                          <a:spcPts val="5599"/>
                        </a:lnSpc>
                        <a:defRPr/>
                      </a:pPr>
                      <a:r>
                        <a:rPr lang="en-US" sz="3999">
                          <a:solidFill>
                            <a:srgbClr val="000000"/>
                          </a:solidFill>
                          <a:latin typeface="Bantayog"/>
                          <a:ea typeface="Bantayog"/>
                          <a:cs typeface="Bantayog"/>
                          <a:sym typeface="Bantayog"/>
                        </a:rPr>
                        <a:t>0,1103</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DBE7FF"/>
                    </a:solidFill>
                  </a:tcPr>
                </a:tc>
                <a:extLst>
                  <a:ext uri="{0D108BD9-81ED-4DB2-BD59-A6C34878D82A}">
                    <a16:rowId xmlns:a16="http://schemas.microsoft.com/office/drawing/2014/main" val="10001"/>
                  </a:ext>
                </a:extLst>
              </a:tr>
              <a:tr h="1510344">
                <a:tc>
                  <a:txBody>
                    <a:bodyPr/>
                    <a:lstStyle/>
                    <a:p>
                      <a:pPr algn="ctr">
                        <a:lnSpc>
                          <a:spcPts val="5599"/>
                        </a:lnSpc>
                        <a:defRPr/>
                      </a:pPr>
                      <a:r>
                        <a:rPr lang="en-US" sz="3999">
                          <a:solidFill>
                            <a:srgbClr val="000000"/>
                          </a:solidFill>
                          <a:latin typeface="Bantayog"/>
                          <a:ea typeface="Bantayog"/>
                          <a:cs typeface="Bantayog"/>
                          <a:sym typeface="Bantayog"/>
                        </a:rPr>
                        <a:t>day1_min0008</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DBE7FF"/>
                    </a:solidFill>
                  </a:tcPr>
                </a:tc>
                <a:tc>
                  <a:txBody>
                    <a:bodyPr/>
                    <a:lstStyle/>
                    <a:p>
                      <a:pPr algn="ctr">
                        <a:lnSpc>
                          <a:spcPts val="5599"/>
                        </a:lnSpc>
                        <a:defRPr/>
                      </a:pPr>
                      <a:r>
                        <a:rPr lang="en-US" sz="3999">
                          <a:solidFill>
                            <a:srgbClr val="000000"/>
                          </a:solidFill>
                          <a:latin typeface="Bantayog"/>
                          <a:ea typeface="Bantayog"/>
                          <a:cs typeface="Bantayog"/>
                          <a:sym typeface="Bantayog"/>
                        </a:rPr>
                        <a:t>5,5235</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DBE7FF"/>
                    </a:solidFill>
                  </a:tcPr>
                </a:tc>
                <a:tc>
                  <a:txBody>
                    <a:bodyPr/>
                    <a:lstStyle/>
                    <a:p>
                      <a:pPr algn="ctr">
                        <a:lnSpc>
                          <a:spcPts val="5599"/>
                        </a:lnSpc>
                        <a:defRPr/>
                      </a:pPr>
                      <a:r>
                        <a:rPr lang="en-US" sz="3999">
                          <a:solidFill>
                            <a:srgbClr val="000000"/>
                          </a:solidFill>
                          <a:latin typeface="Bantayog"/>
                          <a:ea typeface="Bantayog"/>
                          <a:cs typeface="Bantayog"/>
                          <a:sym typeface="Bantayog"/>
                        </a:rPr>
                        <a:t>2,7253</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DBE7FF"/>
                    </a:solidFill>
                  </a:tcPr>
                </a:tc>
                <a:tc>
                  <a:txBody>
                    <a:bodyPr/>
                    <a:lstStyle/>
                    <a:p>
                      <a:pPr algn="ctr">
                        <a:lnSpc>
                          <a:spcPts val="5599"/>
                        </a:lnSpc>
                        <a:defRPr/>
                      </a:pPr>
                      <a:r>
                        <a:rPr lang="en-US" sz="3999">
                          <a:solidFill>
                            <a:srgbClr val="000000"/>
                          </a:solidFill>
                          <a:latin typeface="Bantayog"/>
                          <a:ea typeface="Bantayog"/>
                          <a:cs typeface="Bantayog"/>
                          <a:sym typeface="Bantayog"/>
                        </a:rPr>
                        <a:t>0,0000</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DBE7FF"/>
                    </a:solidFill>
                  </a:tcPr>
                </a:tc>
                <a:tc>
                  <a:txBody>
                    <a:bodyPr/>
                    <a:lstStyle/>
                    <a:p>
                      <a:pPr algn="ctr">
                        <a:lnSpc>
                          <a:spcPts val="5599"/>
                        </a:lnSpc>
                        <a:defRPr/>
                      </a:pPr>
                      <a:r>
                        <a:rPr lang="en-US" sz="3999">
                          <a:solidFill>
                            <a:srgbClr val="000000"/>
                          </a:solidFill>
                          <a:latin typeface="Bantayog"/>
                          <a:ea typeface="Bantayog"/>
                          <a:cs typeface="Bantayog"/>
                          <a:sym typeface="Bantayog"/>
                        </a:rPr>
                        <a:t>0,0000</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DBE7FF"/>
                    </a:solidFill>
                  </a:tcPr>
                </a:tc>
                <a:tc>
                  <a:txBody>
                    <a:bodyPr/>
                    <a:lstStyle/>
                    <a:p>
                      <a:pPr algn="ctr">
                        <a:lnSpc>
                          <a:spcPts val="5599"/>
                        </a:lnSpc>
                        <a:defRPr/>
                      </a:pPr>
                      <a:r>
                        <a:rPr lang="en-US" sz="3999">
                          <a:solidFill>
                            <a:srgbClr val="000000"/>
                          </a:solidFill>
                          <a:latin typeface="Bantayog"/>
                          <a:ea typeface="Bantayog"/>
                          <a:cs typeface="Bantayog"/>
                          <a:sym typeface="Bantayog"/>
                        </a:rPr>
                        <a:t>0,1507</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DBE7FF"/>
                    </a:solidFill>
                  </a:tcPr>
                </a:tc>
                <a:tc>
                  <a:txBody>
                    <a:bodyPr/>
                    <a:lstStyle/>
                    <a:p>
                      <a:pPr algn="ctr">
                        <a:lnSpc>
                          <a:spcPts val="5599"/>
                        </a:lnSpc>
                        <a:defRPr/>
                      </a:pPr>
                      <a:r>
                        <a:rPr lang="en-US" sz="3999">
                          <a:solidFill>
                            <a:srgbClr val="000000"/>
                          </a:solidFill>
                          <a:latin typeface="Bantayog"/>
                          <a:ea typeface="Bantayog"/>
                          <a:cs typeface="Bantayog"/>
                          <a:sym typeface="Bantayog"/>
                        </a:rPr>
                        <a:t>0,0602</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DBE7FF"/>
                    </a:solidFill>
                  </a:tcPr>
                </a:tc>
                <a:tc>
                  <a:txBody>
                    <a:bodyPr/>
                    <a:lstStyle/>
                    <a:p>
                      <a:pPr algn="ctr">
                        <a:lnSpc>
                          <a:spcPts val="5599"/>
                        </a:lnSpc>
                        <a:defRPr/>
                      </a:pPr>
                      <a:r>
                        <a:rPr lang="en-US" sz="3999">
                          <a:solidFill>
                            <a:srgbClr val="000000"/>
                          </a:solidFill>
                          <a:latin typeface="Bantayog"/>
                          <a:ea typeface="Bantayog"/>
                          <a:cs typeface="Bantayog"/>
                          <a:sym typeface="Bantayog"/>
                        </a:rPr>
                        <a:t>0,1103</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DBE7FF"/>
                    </a:solidFill>
                  </a:tcPr>
                </a:tc>
                <a:extLst>
                  <a:ext uri="{0D108BD9-81ED-4DB2-BD59-A6C34878D82A}">
                    <a16:rowId xmlns:a16="http://schemas.microsoft.com/office/drawing/2014/main" val="10002"/>
                  </a:ext>
                </a:extLst>
              </a:tr>
              <a:tr h="1510344">
                <a:tc>
                  <a:txBody>
                    <a:bodyPr/>
                    <a:lstStyle/>
                    <a:p>
                      <a:pPr algn="ctr">
                        <a:lnSpc>
                          <a:spcPts val="5599"/>
                        </a:lnSpc>
                        <a:defRPr/>
                      </a:pPr>
                      <a:r>
                        <a:rPr lang="en-US" sz="3999">
                          <a:solidFill>
                            <a:srgbClr val="000000"/>
                          </a:solidFill>
                          <a:latin typeface="Bantayog"/>
                          <a:ea typeface="Bantayog"/>
                          <a:cs typeface="Bantayog"/>
                          <a:sym typeface="Bantayog"/>
                        </a:rPr>
                        <a:t>day1_min0013</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DBE7FF"/>
                    </a:solidFill>
                  </a:tcPr>
                </a:tc>
                <a:tc>
                  <a:txBody>
                    <a:bodyPr/>
                    <a:lstStyle/>
                    <a:p>
                      <a:pPr algn="ctr">
                        <a:lnSpc>
                          <a:spcPts val="5599"/>
                        </a:lnSpc>
                        <a:defRPr/>
                      </a:pPr>
                      <a:r>
                        <a:rPr lang="en-US" sz="3999">
                          <a:solidFill>
                            <a:srgbClr val="000000"/>
                          </a:solidFill>
                          <a:latin typeface="Bantayog"/>
                          <a:ea typeface="Bantayog"/>
                          <a:cs typeface="Bantayog"/>
                          <a:sym typeface="Bantayog"/>
                        </a:rPr>
                        <a:t>5,4248</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DBE7FF"/>
                    </a:solidFill>
                  </a:tcPr>
                </a:tc>
                <a:tc>
                  <a:txBody>
                    <a:bodyPr/>
                    <a:lstStyle/>
                    <a:p>
                      <a:pPr algn="ctr">
                        <a:lnSpc>
                          <a:spcPts val="5599"/>
                        </a:lnSpc>
                        <a:defRPr/>
                      </a:pPr>
                      <a:r>
                        <a:rPr lang="en-US" sz="3999">
                          <a:solidFill>
                            <a:srgbClr val="000000"/>
                          </a:solidFill>
                          <a:latin typeface="Bantayog"/>
                          <a:ea typeface="Bantayog"/>
                          <a:cs typeface="Bantayog"/>
                          <a:sym typeface="Bantayog"/>
                        </a:rPr>
                        <a:t>2,6642</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DBE7FF"/>
                    </a:solidFill>
                  </a:tcPr>
                </a:tc>
                <a:tc>
                  <a:txBody>
                    <a:bodyPr/>
                    <a:lstStyle/>
                    <a:p>
                      <a:pPr algn="ctr">
                        <a:lnSpc>
                          <a:spcPts val="5599"/>
                        </a:lnSpc>
                        <a:defRPr/>
                      </a:pPr>
                      <a:r>
                        <a:rPr lang="en-US" sz="3999">
                          <a:solidFill>
                            <a:srgbClr val="000000"/>
                          </a:solidFill>
                          <a:latin typeface="Bantayog"/>
                          <a:ea typeface="Bantayog"/>
                          <a:cs typeface="Bantayog"/>
                          <a:sym typeface="Bantayog"/>
                        </a:rPr>
                        <a:t>0,0000</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DBE7FF"/>
                    </a:solidFill>
                  </a:tcPr>
                </a:tc>
                <a:tc>
                  <a:txBody>
                    <a:bodyPr/>
                    <a:lstStyle/>
                    <a:p>
                      <a:pPr algn="ctr">
                        <a:lnSpc>
                          <a:spcPts val="5599"/>
                        </a:lnSpc>
                        <a:defRPr/>
                      </a:pPr>
                      <a:r>
                        <a:rPr lang="en-US" sz="3999">
                          <a:solidFill>
                            <a:srgbClr val="000000"/>
                          </a:solidFill>
                          <a:latin typeface="Bantayog"/>
                          <a:ea typeface="Bantayog"/>
                          <a:cs typeface="Bantayog"/>
                          <a:sym typeface="Bantayog"/>
                        </a:rPr>
                        <a:t>0,0000</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DBE7FF"/>
                    </a:solidFill>
                  </a:tcPr>
                </a:tc>
                <a:tc>
                  <a:txBody>
                    <a:bodyPr/>
                    <a:lstStyle/>
                    <a:p>
                      <a:pPr algn="ctr">
                        <a:lnSpc>
                          <a:spcPts val="5599"/>
                        </a:lnSpc>
                        <a:defRPr/>
                      </a:pPr>
                      <a:r>
                        <a:rPr lang="en-US" sz="3999">
                          <a:solidFill>
                            <a:srgbClr val="000000"/>
                          </a:solidFill>
                          <a:latin typeface="Bantayog"/>
                          <a:ea typeface="Bantayog"/>
                          <a:cs typeface="Bantayog"/>
                          <a:sym typeface="Bantayog"/>
                        </a:rPr>
                        <a:t>0,1489</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DBE7FF"/>
                    </a:solidFill>
                  </a:tcPr>
                </a:tc>
                <a:tc>
                  <a:txBody>
                    <a:bodyPr/>
                    <a:lstStyle/>
                    <a:p>
                      <a:pPr algn="ctr">
                        <a:lnSpc>
                          <a:spcPts val="5599"/>
                        </a:lnSpc>
                        <a:defRPr/>
                      </a:pPr>
                      <a:r>
                        <a:rPr lang="en-US" sz="3999">
                          <a:solidFill>
                            <a:srgbClr val="000000"/>
                          </a:solidFill>
                          <a:latin typeface="Bantayog"/>
                          <a:ea typeface="Bantayog"/>
                          <a:cs typeface="Bantayog"/>
                          <a:sym typeface="Bantayog"/>
                        </a:rPr>
                        <a:t>0,0591</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DBE7FF"/>
                    </a:solidFill>
                  </a:tcPr>
                </a:tc>
                <a:tc>
                  <a:txBody>
                    <a:bodyPr/>
                    <a:lstStyle/>
                    <a:p>
                      <a:pPr algn="ctr">
                        <a:lnSpc>
                          <a:spcPts val="5599"/>
                        </a:lnSpc>
                        <a:defRPr/>
                      </a:pPr>
                      <a:r>
                        <a:rPr lang="en-US" sz="3999">
                          <a:solidFill>
                            <a:srgbClr val="000000"/>
                          </a:solidFill>
                          <a:latin typeface="Bantayog"/>
                          <a:ea typeface="Bantayog"/>
                          <a:cs typeface="Bantayog"/>
                          <a:sym typeface="Bantayog"/>
                        </a:rPr>
                        <a:t>0,1075</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DBE7FF"/>
                    </a:solidFill>
                  </a:tcPr>
                </a:tc>
                <a:extLst>
                  <a:ext uri="{0D108BD9-81ED-4DB2-BD59-A6C34878D82A}">
                    <a16:rowId xmlns:a16="http://schemas.microsoft.com/office/drawing/2014/main" val="10003"/>
                  </a:ext>
                </a:extLst>
              </a:tr>
            </a:tbl>
          </a:graphicData>
        </a:graphic>
      </p:graphicFrame>
      <p:sp>
        <p:nvSpPr>
          <p:cNvPr id="17" name="TextBox 17"/>
          <p:cNvSpPr txBox="1"/>
          <p:nvPr/>
        </p:nvSpPr>
        <p:spPr>
          <a:xfrm>
            <a:off x="2802439" y="7867853"/>
            <a:ext cx="11010453" cy="781050"/>
          </a:xfrm>
          <a:prstGeom prst="rect">
            <a:avLst/>
          </a:prstGeom>
        </p:spPr>
        <p:txBody>
          <a:bodyPr lIns="0" tIns="0" rIns="0" bIns="0" rtlCol="0" anchor="t">
            <a:spAutoFit/>
          </a:bodyPr>
          <a:lstStyle/>
          <a:p>
            <a:pPr algn="ctr">
              <a:lnSpc>
                <a:spcPts val="6299"/>
              </a:lnSpc>
              <a:spcBef>
                <a:spcPct val="0"/>
              </a:spcBef>
            </a:pPr>
            <a:r>
              <a:rPr lang="en-US" sz="4500">
                <a:solidFill>
                  <a:srgbClr val="4D6BA7"/>
                </a:solidFill>
                <a:latin typeface="Bantayog"/>
                <a:ea typeface="Bantayog"/>
                <a:cs typeface="Bantayog"/>
                <a:sym typeface="Bantayog"/>
              </a:rPr>
              <a:t>*EXTRACTO DE ALGUNA COLUMNAS*</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Freeform 14"/>
          <p:cNvSpPr/>
          <p:nvPr/>
        </p:nvSpPr>
        <p:spPr>
          <a:xfrm>
            <a:off x="6523915" y="2037397"/>
            <a:ext cx="5240170" cy="7865171"/>
          </a:xfrm>
          <a:custGeom>
            <a:avLst/>
            <a:gdLst/>
            <a:ahLst/>
            <a:cxnLst/>
            <a:rect l="l" t="t" r="r" b="b"/>
            <a:pathLst>
              <a:path w="5240170" h="7865171">
                <a:moveTo>
                  <a:pt x="0" y="0"/>
                </a:moveTo>
                <a:lnTo>
                  <a:pt x="5240170" y="0"/>
                </a:lnTo>
                <a:lnTo>
                  <a:pt x="5240170" y="7865172"/>
                </a:lnTo>
                <a:lnTo>
                  <a:pt x="0" y="7865172"/>
                </a:lnTo>
                <a:lnTo>
                  <a:pt x="0" y="0"/>
                </a:lnTo>
                <a:close/>
              </a:path>
            </a:pathLst>
          </a:custGeom>
          <a:blipFill>
            <a:blip r:embed="rId3"/>
            <a:stretch>
              <a:fillRect/>
            </a:stretch>
          </a:blipFill>
        </p:spPr>
        <p:txBody>
          <a:bodyPr/>
          <a:lstStyle/>
          <a:p>
            <a:endParaRPr lang="es-ES"/>
          </a:p>
        </p:txBody>
      </p:sp>
      <p:sp>
        <p:nvSpPr>
          <p:cNvPr id="15" name="TextBox 15"/>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17</a:t>
            </a:r>
          </a:p>
        </p:txBody>
      </p:sp>
      <p:sp>
        <p:nvSpPr>
          <p:cNvPr id="16" name="TextBox 16"/>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DATASET ENTRADA</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Freeform 14"/>
          <p:cNvSpPr/>
          <p:nvPr/>
        </p:nvSpPr>
        <p:spPr>
          <a:xfrm>
            <a:off x="766487" y="1880386"/>
            <a:ext cx="16287022" cy="24445811"/>
          </a:xfrm>
          <a:custGeom>
            <a:avLst/>
            <a:gdLst/>
            <a:ahLst/>
            <a:cxnLst/>
            <a:rect l="l" t="t" r="r" b="b"/>
            <a:pathLst>
              <a:path w="16287022" h="24445811">
                <a:moveTo>
                  <a:pt x="0" y="0"/>
                </a:moveTo>
                <a:lnTo>
                  <a:pt x="16287022" y="0"/>
                </a:lnTo>
                <a:lnTo>
                  <a:pt x="16287022" y="24445811"/>
                </a:lnTo>
                <a:lnTo>
                  <a:pt x="0" y="24445811"/>
                </a:lnTo>
                <a:lnTo>
                  <a:pt x="0" y="0"/>
                </a:lnTo>
                <a:close/>
              </a:path>
            </a:pathLst>
          </a:custGeom>
          <a:blipFill>
            <a:blip r:embed="rId2"/>
            <a:stretch>
              <a:fillRect/>
            </a:stretch>
          </a:blipFill>
        </p:spPr>
        <p:txBody>
          <a:bodyPr/>
          <a:lstStyle/>
          <a:p>
            <a:endParaRPr lang="es-ES"/>
          </a:p>
        </p:txBody>
      </p:sp>
      <p:sp>
        <p:nvSpPr>
          <p:cNvPr id="15" name="TextBox 15"/>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17</a:t>
            </a:r>
          </a:p>
        </p:txBody>
      </p:sp>
      <p:sp>
        <p:nvSpPr>
          <p:cNvPr id="16" name="TextBox 16"/>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DATASET ENTRADA</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Freeform 14"/>
          <p:cNvSpPr/>
          <p:nvPr/>
        </p:nvSpPr>
        <p:spPr>
          <a:xfrm>
            <a:off x="766487" y="-7921691"/>
            <a:ext cx="16287022" cy="24445811"/>
          </a:xfrm>
          <a:custGeom>
            <a:avLst/>
            <a:gdLst/>
            <a:ahLst/>
            <a:cxnLst/>
            <a:rect l="l" t="t" r="r" b="b"/>
            <a:pathLst>
              <a:path w="16287022" h="24445811">
                <a:moveTo>
                  <a:pt x="0" y="0"/>
                </a:moveTo>
                <a:lnTo>
                  <a:pt x="16287022" y="0"/>
                </a:lnTo>
                <a:lnTo>
                  <a:pt x="16287022" y="24445811"/>
                </a:lnTo>
                <a:lnTo>
                  <a:pt x="0" y="24445811"/>
                </a:lnTo>
                <a:lnTo>
                  <a:pt x="0" y="0"/>
                </a:lnTo>
                <a:close/>
              </a:path>
            </a:pathLst>
          </a:custGeom>
          <a:blipFill>
            <a:blip r:embed="rId2"/>
            <a:stretch>
              <a:fillRect/>
            </a:stretch>
          </a:blipFill>
        </p:spPr>
        <p:txBody>
          <a:bodyPr/>
          <a:lstStyle/>
          <a:p>
            <a:endParaRPr lang="es-ES"/>
          </a:p>
        </p:txBody>
      </p:sp>
      <p:sp>
        <p:nvSpPr>
          <p:cNvPr id="15" name="TextBox 15"/>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Freeform 14"/>
          <p:cNvSpPr/>
          <p:nvPr/>
        </p:nvSpPr>
        <p:spPr>
          <a:xfrm>
            <a:off x="766487" y="-14287500"/>
            <a:ext cx="16287022" cy="24445811"/>
          </a:xfrm>
          <a:custGeom>
            <a:avLst/>
            <a:gdLst/>
            <a:ahLst/>
            <a:cxnLst/>
            <a:rect l="l" t="t" r="r" b="b"/>
            <a:pathLst>
              <a:path w="16287022" h="24445811">
                <a:moveTo>
                  <a:pt x="0" y="0"/>
                </a:moveTo>
                <a:lnTo>
                  <a:pt x="16287022" y="0"/>
                </a:lnTo>
                <a:lnTo>
                  <a:pt x="16287022" y="24445811"/>
                </a:lnTo>
                <a:lnTo>
                  <a:pt x="0" y="24445811"/>
                </a:lnTo>
                <a:lnTo>
                  <a:pt x="0" y="0"/>
                </a:lnTo>
                <a:close/>
              </a:path>
            </a:pathLst>
          </a:custGeom>
          <a:blipFill>
            <a:blip r:embed="rId2"/>
            <a:stretch>
              <a:fillRect/>
            </a:stretch>
          </a:blipFill>
        </p:spPr>
        <p:txBody>
          <a:bodyPr/>
          <a:lstStyle/>
          <a:p>
            <a:endParaRPr lang="es-ES"/>
          </a:p>
        </p:txBody>
      </p:sp>
      <p:sp>
        <p:nvSpPr>
          <p:cNvPr id="15" name="TextBox 15"/>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18</a:t>
            </a:r>
          </a:p>
        </p:txBody>
      </p:sp>
      <p:sp>
        <p:nvSpPr>
          <p:cNvPr id="15" name="TextBox 15"/>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DATASET SALIDA</a:t>
            </a:r>
          </a:p>
        </p:txBody>
      </p:sp>
      <p:graphicFrame>
        <p:nvGraphicFramePr>
          <p:cNvPr id="16" name="Table 16"/>
          <p:cNvGraphicFramePr>
            <a:graphicFrameLocks noGrp="1"/>
          </p:cNvGraphicFramePr>
          <p:nvPr/>
        </p:nvGraphicFramePr>
        <p:xfrm>
          <a:off x="627434" y="2246765"/>
          <a:ext cx="15868248" cy="5399280"/>
        </p:xfrm>
        <a:graphic>
          <a:graphicData uri="http://schemas.openxmlformats.org/drawingml/2006/table">
            <a:tbl>
              <a:tblPr/>
              <a:tblGrid>
                <a:gridCol w="1983531">
                  <a:extLst>
                    <a:ext uri="{9D8B030D-6E8A-4147-A177-3AD203B41FA5}">
                      <a16:colId xmlns:a16="http://schemas.microsoft.com/office/drawing/2014/main" val="20000"/>
                    </a:ext>
                  </a:extLst>
                </a:gridCol>
                <a:gridCol w="1983531">
                  <a:extLst>
                    <a:ext uri="{9D8B030D-6E8A-4147-A177-3AD203B41FA5}">
                      <a16:colId xmlns:a16="http://schemas.microsoft.com/office/drawing/2014/main" val="20001"/>
                    </a:ext>
                  </a:extLst>
                </a:gridCol>
                <a:gridCol w="1983531">
                  <a:extLst>
                    <a:ext uri="{9D8B030D-6E8A-4147-A177-3AD203B41FA5}">
                      <a16:colId xmlns:a16="http://schemas.microsoft.com/office/drawing/2014/main" val="20002"/>
                    </a:ext>
                  </a:extLst>
                </a:gridCol>
                <a:gridCol w="1983531">
                  <a:extLst>
                    <a:ext uri="{9D8B030D-6E8A-4147-A177-3AD203B41FA5}">
                      <a16:colId xmlns:a16="http://schemas.microsoft.com/office/drawing/2014/main" val="20003"/>
                    </a:ext>
                  </a:extLst>
                </a:gridCol>
                <a:gridCol w="1983531">
                  <a:extLst>
                    <a:ext uri="{9D8B030D-6E8A-4147-A177-3AD203B41FA5}">
                      <a16:colId xmlns:a16="http://schemas.microsoft.com/office/drawing/2014/main" val="20004"/>
                    </a:ext>
                  </a:extLst>
                </a:gridCol>
                <a:gridCol w="1983531">
                  <a:extLst>
                    <a:ext uri="{9D8B030D-6E8A-4147-A177-3AD203B41FA5}">
                      <a16:colId xmlns:a16="http://schemas.microsoft.com/office/drawing/2014/main" val="20005"/>
                    </a:ext>
                  </a:extLst>
                </a:gridCol>
                <a:gridCol w="1983531">
                  <a:extLst>
                    <a:ext uri="{9D8B030D-6E8A-4147-A177-3AD203B41FA5}">
                      <a16:colId xmlns:a16="http://schemas.microsoft.com/office/drawing/2014/main" val="20006"/>
                    </a:ext>
                  </a:extLst>
                </a:gridCol>
                <a:gridCol w="1983531">
                  <a:extLst>
                    <a:ext uri="{9D8B030D-6E8A-4147-A177-3AD203B41FA5}">
                      <a16:colId xmlns:a16="http://schemas.microsoft.com/office/drawing/2014/main" val="20007"/>
                    </a:ext>
                  </a:extLst>
                </a:gridCol>
              </a:tblGrid>
              <a:tr h="802968">
                <a:tc>
                  <a:txBody>
                    <a:bodyPr/>
                    <a:lstStyle/>
                    <a:p>
                      <a:pPr algn="ctr">
                        <a:lnSpc>
                          <a:spcPts val="5599"/>
                        </a:lnSpc>
                        <a:defRPr/>
                      </a:pPr>
                      <a:r>
                        <a:rPr lang="en-US" sz="3999">
                          <a:solidFill>
                            <a:srgbClr val="000000"/>
                          </a:solidFill>
                          <a:latin typeface="Bantayog"/>
                          <a:ea typeface="Bantayog"/>
                          <a:cs typeface="Bantayog"/>
                          <a:sym typeface="Bantayog"/>
                        </a:rPr>
                        <a:t>Index</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4D6BA7"/>
                    </a:solidFill>
                  </a:tcPr>
                </a:tc>
                <a:tc>
                  <a:txBody>
                    <a:bodyPr/>
                    <a:lstStyle/>
                    <a:p>
                      <a:pPr algn="ctr">
                        <a:lnSpc>
                          <a:spcPts val="5599"/>
                        </a:lnSpc>
                        <a:defRPr/>
                      </a:pPr>
                      <a:r>
                        <a:rPr lang="en-US" sz="3999">
                          <a:solidFill>
                            <a:srgbClr val="000000"/>
                          </a:solidFill>
                          <a:latin typeface="Bantayog"/>
                          <a:ea typeface="Bantayog"/>
                          <a:cs typeface="Bantayog"/>
                          <a:sym typeface="Bantayog"/>
                        </a:rPr>
                        <a:t>V1</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4D6BA7"/>
                    </a:solidFill>
                  </a:tcPr>
                </a:tc>
                <a:tc>
                  <a:txBody>
                    <a:bodyPr/>
                    <a:lstStyle/>
                    <a:p>
                      <a:pPr algn="ctr">
                        <a:lnSpc>
                          <a:spcPts val="5599"/>
                        </a:lnSpc>
                        <a:defRPr/>
                      </a:pPr>
                      <a:r>
                        <a:rPr lang="en-US" sz="3999">
                          <a:solidFill>
                            <a:srgbClr val="000000"/>
                          </a:solidFill>
                          <a:latin typeface="Bantayog"/>
                          <a:ea typeface="Bantayog"/>
                          <a:cs typeface="Bantayog"/>
                          <a:sym typeface="Bantayog"/>
                        </a:rPr>
                        <a:t>V2</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4D6BA7"/>
                    </a:solidFill>
                  </a:tcPr>
                </a:tc>
                <a:tc>
                  <a:txBody>
                    <a:bodyPr/>
                    <a:lstStyle/>
                    <a:p>
                      <a:pPr algn="ctr">
                        <a:lnSpc>
                          <a:spcPts val="5599"/>
                        </a:lnSpc>
                        <a:defRPr/>
                      </a:pPr>
                      <a:r>
                        <a:rPr lang="en-US" sz="3999">
                          <a:solidFill>
                            <a:srgbClr val="000000"/>
                          </a:solidFill>
                          <a:latin typeface="Bantayog"/>
                          <a:ea typeface="Bantayog"/>
                          <a:cs typeface="Bantayog"/>
                          <a:sym typeface="Bantayog"/>
                        </a:rPr>
                        <a:t>V3</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4D6BA7"/>
                    </a:solidFill>
                  </a:tcPr>
                </a:tc>
                <a:tc>
                  <a:txBody>
                    <a:bodyPr/>
                    <a:lstStyle/>
                    <a:p>
                      <a:pPr algn="ctr">
                        <a:lnSpc>
                          <a:spcPts val="5599"/>
                        </a:lnSpc>
                        <a:defRPr/>
                      </a:pPr>
                      <a:r>
                        <a:rPr lang="en-US" sz="3999">
                          <a:solidFill>
                            <a:srgbClr val="000000"/>
                          </a:solidFill>
                          <a:latin typeface="Bantayog"/>
                          <a:ea typeface="Bantayog"/>
                          <a:cs typeface="Bantayog"/>
                          <a:sym typeface="Bantayog"/>
                        </a:rPr>
                        <a:t>I0_12</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4D6BA7"/>
                    </a:solidFill>
                  </a:tcPr>
                </a:tc>
                <a:tc>
                  <a:txBody>
                    <a:bodyPr/>
                    <a:lstStyle/>
                    <a:p>
                      <a:pPr algn="ctr">
                        <a:lnSpc>
                          <a:spcPts val="5599"/>
                        </a:lnSpc>
                        <a:defRPr/>
                      </a:pPr>
                      <a:r>
                        <a:rPr lang="en-US" sz="3999">
                          <a:solidFill>
                            <a:srgbClr val="000000"/>
                          </a:solidFill>
                          <a:latin typeface="Bantayog"/>
                          <a:ea typeface="Bantayog"/>
                          <a:cs typeface="Bantayog"/>
                          <a:sym typeface="Bantayog"/>
                        </a:rPr>
                        <a:t>I1_2</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4D6BA7"/>
                    </a:solidFill>
                  </a:tcPr>
                </a:tc>
                <a:tc>
                  <a:txBody>
                    <a:bodyPr/>
                    <a:lstStyle/>
                    <a:p>
                      <a:pPr algn="ctr">
                        <a:lnSpc>
                          <a:spcPts val="5599"/>
                        </a:lnSpc>
                        <a:defRPr/>
                      </a:pPr>
                      <a:r>
                        <a:rPr lang="en-US" sz="3999">
                          <a:solidFill>
                            <a:srgbClr val="000000"/>
                          </a:solidFill>
                          <a:latin typeface="Bantayog"/>
                          <a:ea typeface="Bantayog"/>
                          <a:cs typeface="Bantayog"/>
                          <a:sym typeface="Bantayog"/>
                        </a:rPr>
                        <a:t>PERD</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4D6BA7"/>
                    </a:solidFill>
                  </a:tcPr>
                </a:tc>
                <a:tc>
                  <a:txBody>
                    <a:bodyPr/>
                    <a:lstStyle/>
                    <a:p>
                      <a:pPr algn="ctr">
                        <a:lnSpc>
                          <a:spcPts val="5599"/>
                        </a:lnSpc>
                        <a:defRPr/>
                      </a:pPr>
                      <a:r>
                        <a:rPr lang="en-US" sz="3999">
                          <a:solidFill>
                            <a:srgbClr val="000000"/>
                          </a:solidFill>
                          <a:latin typeface="Bantayog"/>
                          <a:ea typeface="Bantayog"/>
                          <a:cs typeface="Bantayog"/>
                          <a:sym typeface="Bantayog"/>
                        </a:rPr>
                        <a:t>QGEN7</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4D6BA7"/>
                    </a:solidFill>
                  </a:tcPr>
                </a:tc>
                <a:extLst>
                  <a:ext uri="{0D108BD9-81ED-4DB2-BD59-A6C34878D82A}">
                    <a16:rowId xmlns:a16="http://schemas.microsoft.com/office/drawing/2014/main" val="10000"/>
                  </a:ext>
                </a:extLst>
              </a:tr>
              <a:tr h="1510344">
                <a:tc>
                  <a:txBody>
                    <a:bodyPr/>
                    <a:lstStyle/>
                    <a:p>
                      <a:pPr algn="ctr">
                        <a:lnSpc>
                          <a:spcPts val="5599"/>
                        </a:lnSpc>
                        <a:defRPr/>
                      </a:pPr>
                      <a:r>
                        <a:rPr lang="en-US" sz="3999">
                          <a:solidFill>
                            <a:srgbClr val="000000"/>
                          </a:solidFill>
                          <a:latin typeface="Bantayog"/>
                          <a:ea typeface="Bantayog"/>
                          <a:cs typeface="Bantayog"/>
                          <a:sym typeface="Bantayog"/>
                        </a:rPr>
                        <a:t>day1_min0003</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DBE7FF"/>
                    </a:solidFill>
                  </a:tcPr>
                </a:tc>
                <a:tc>
                  <a:txBody>
                    <a:bodyPr/>
                    <a:lstStyle/>
                    <a:p>
                      <a:pPr algn="ctr">
                        <a:lnSpc>
                          <a:spcPts val="5599"/>
                        </a:lnSpc>
                        <a:defRPr/>
                      </a:pPr>
                      <a:r>
                        <a:rPr lang="en-US" sz="3999">
                          <a:solidFill>
                            <a:srgbClr val="000000"/>
                          </a:solidFill>
                          <a:latin typeface="Bantayog"/>
                          <a:ea typeface="Bantayog"/>
                          <a:cs typeface="Bantayog"/>
                          <a:sym typeface="Bantayog"/>
                        </a:rPr>
                        <a:t>1</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DBE7FF"/>
                    </a:solidFill>
                  </a:tcPr>
                </a:tc>
                <a:tc>
                  <a:txBody>
                    <a:bodyPr/>
                    <a:lstStyle/>
                    <a:p>
                      <a:pPr algn="ctr">
                        <a:lnSpc>
                          <a:spcPts val="5599"/>
                        </a:lnSpc>
                        <a:defRPr/>
                      </a:pPr>
                      <a:r>
                        <a:rPr lang="en-US" sz="3999">
                          <a:solidFill>
                            <a:srgbClr val="000000"/>
                          </a:solidFill>
                          <a:latin typeface="Bantayog"/>
                          <a:ea typeface="Bantayog"/>
                          <a:cs typeface="Bantayog"/>
                          <a:sym typeface="Bantayog"/>
                        </a:rPr>
                        <a:t>0,9888</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DBE7FF"/>
                    </a:solidFill>
                  </a:tcPr>
                </a:tc>
                <a:tc>
                  <a:txBody>
                    <a:bodyPr/>
                    <a:lstStyle/>
                    <a:p>
                      <a:pPr algn="ctr">
                        <a:lnSpc>
                          <a:spcPts val="5599"/>
                        </a:lnSpc>
                        <a:defRPr/>
                      </a:pPr>
                      <a:r>
                        <a:rPr lang="en-US" sz="3999">
                          <a:solidFill>
                            <a:srgbClr val="000000"/>
                          </a:solidFill>
                          <a:latin typeface="Bantayog"/>
                          <a:ea typeface="Bantayog"/>
                          <a:cs typeface="Bantayog"/>
                          <a:sym typeface="Bantayog"/>
                        </a:rPr>
                        <a:t>0,9884</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DBE7FF"/>
                    </a:solidFill>
                  </a:tcPr>
                </a:tc>
                <a:tc>
                  <a:txBody>
                    <a:bodyPr/>
                    <a:lstStyle/>
                    <a:p>
                      <a:pPr algn="ctr">
                        <a:lnSpc>
                          <a:spcPts val="5599"/>
                        </a:lnSpc>
                        <a:defRPr/>
                      </a:pPr>
                      <a:r>
                        <a:rPr lang="en-US" sz="3999">
                          <a:solidFill>
                            <a:srgbClr val="000000"/>
                          </a:solidFill>
                          <a:latin typeface="Bantayog"/>
                          <a:ea typeface="Bantayog"/>
                          <a:cs typeface="Bantayog"/>
                          <a:sym typeface="Bantayog"/>
                        </a:rPr>
                        <a:t>0,8406</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DBE7FF"/>
                    </a:solidFill>
                  </a:tcPr>
                </a:tc>
                <a:tc>
                  <a:txBody>
                    <a:bodyPr/>
                    <a:lstStyle/>
                    <a:p>
                      <a:pPr algn="ctr">
                        <a:lnSpc>
                          <a:spcPts val="5599"/>
                        </a:lnSpc>
                        <a:defRPr/>
                      </a:pPr>
                      <a:r>
                        <a:rPr lang="en-US" sz="3999">
                          <a:solidFill>
                            <a:srgbClr val="000000"/>
                          </a:solidFill>
                          <a:latin typeface="Bantayog"/>
                          <a:ea typeface="Bantayog"/>
                          <a:cs typeface="Bantayog"/>
                          <a:sym typeface="Bantayog"/>
                        </a:rPr>
                        <a:t>0,6228</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DBE7FF"/>
                    </a:solidFill>
                  </a:tcPr>
                </a:tc>
                <a:tc>
                  <a:txBody>
                    <a:bodyPr/>
                    <a:lstStyle/>
                    <a:p>
                      <a:pPr algn="ctr">
                        <a:lnSpc>
                          <a:spcPts val="5599"/>
                        </a:lnSpc>
                        <a:defRPr/>
                      </a:pPr>
                      <a:r>
                        <a:rPr lang="en-US" sz="3999">
                          <a:solidFill>
                            <a:srgbClr val="000000"/>
                          </a:solidFill>
                          <a:latin typeface="Bantayog"/>
                          <a:ea typeface="Bantayog"/>
                          <a:cs typeface="Bantayog"/>
                          <a:sym typeface="Bantayog"/>
                        </a:rPr>
                        <a:t>2,58</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DBE7FF"/>
                    </a:solidFill>
                  </a:tcPr>
                </a:tc>
                <a:tc>
                  <a:txBody>
                    <a:bodyPr/>
                    <a:lstStyle/>
                    <a:p>
                      <a:pPr algn="ctr">
                        <a:lnSpc>
                          <a:spcPts val="5599"/>
                        </a:lnSpc>
                        <a:defRPr/>
                      </a:pPr>
                      <a:r>
                        <a:rPr lang="en-US" sz="3999">
                          <a:solidFill>
                            <a:srgbClr val="000000"/>
                          </a:solidFill>
                          <a:latin typeface="Bantayog"/>
                          <a:ea typeface="Bantayog"/>
                          <a:cs typeface="Bantayog"/>
                          <a:sym typeface="Bantayog"/>
                        </a:rPr>
                        <a:t>0,11</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DBE7FF"/>
                    </a:solidFill>
                  </a:tcPr>
                </a:tc>
                <a:extLst>
                  <a:ext uri="{0D108BD9-81ED-4DB2-BD59-A6C34878D82A}">
                    <a16:rowId xmlns:a16="http://schemas.microsoft.com/office/drawing/2014/main" val="10001"/>
                  </a:ext>
                </a:extLst>
              </a:tr>
              <a:tr h="1510344">
                <a:tc>
                  <a:txBody>
                    <a:bodyPr/>
                    <a:lstStyle/>
                    <a:p>
                      <a:pPr algn="ctr">
                        <a:lnSpc>
                          <a:spcPts val="5599"/>
                        </a:lnSpc>
                        <a:defRPr/>
                      </a:pPr>
                      <a:r>
                        <a:rPr lang="en-US" sz="3999">
                          <a:solidFill>
                            <a:srgbClr val="000000"/>
                          </a:solidFill>
                          <a:latin typeface="Bantayog"/>
                          <a:ea typeface="Bantayog"/>
                          <a:cs typeface="Bantayog"/>
                          <a:sym typeface="Bantayog"/>
                        </a:rPr>
                        <a:t>day1_min0008</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DBE7FF"/>
                    </a:solidFill>
                  </a:tcPr>
                </a:tc>
                <a:tc>
                  <a:txBody>
                    <a:bodyPr/>
                    <a:lstStyle/>
                    <a:p>
                      <a:pPr algn="ctr">
                        <a:lnSpc>
                          <a:spcPts val="5599"/>
                        </a:lnSpc>
                        <a:defRPr/>
                      </a:pPr>
                      <a:r>
                        <a:rPr lang="en-US" sz="3999">
                          <a:solidFill>
                            <a:srgbClr val="000000"/>
                          </a:solidFill>
                          <a:latin typeface="Bantayog"/>
                          <a:ea typeface="Bantayog"/>
                          <a:cs typeface="Bantayog"/>
                          <a:sym typeface="Bantayog"/>
                        </a:rPr>
                        <a:t>1</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DBE7FF"/>
                    </a:solidFill>
                  </a:tcPr>
                </a:tc>
                <a:tc>
                  <a:txBody>
                    <a:bodyPr/>
                    <a:lstStyle/>
                    <a:p>
                      <a:pPr algn="ctr">
                        <a:lnSpc>
                          <a:spcPts val="5599"/>
                        </a:lnSpc>
                        <a:defRPr/>
                      </a:pPr>
                      <a:r>
                        <a:rPr lang="en-US" sz="3999">
                          <a:solidFill>
                            <a:srgbClr val="000000"/>
                          </a:solidFill>
                          <a:latin typeface="Bantayog"/>
                          <a:ea typeface="Bantayog"/>
                          <a:cs typeface="Bantayog"/>
                          <a:sym typeface="Bantayog"/>
                        </a:rPr>
                        <a:t>0,9888</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DBE7FF"/>
                    </a:solidFill>
                  </a:tcPr>
                </a:tc>
                <a:tc>
                  <a:txBody>
                    <a:bodyPr/>
                    <a:lstStyle/>
                    <a:p>
                      <a:pPr algn="ctr">
                        <a:lnSpc>
                          <a:spcPts val="5599"/>
                        </a:lnSpc>
                        <a:defRPr/>
                      </a:pPr>
                      <a:r>
                        <a:rPr lang="en-US" sz="3999">
                          <a:solidFill>
                            <a:srgbClr val="000000"/>
                          </a:solidFill>
                          <a:latin typeface="Bantayog"/>
                          <a:ea typeface="Bantayog"/>
                          <a:cs typeface="Bantayog"/>
                          <a:sym typeface="Bantayog"/>
                        </a:rPr>
                        <a:t>0,9884</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DBE7FF"/>
                    </a:solidFill>
                  </a:tcPr>
                </a:tc>
                <a:tc>
                  <a:txBody>
                    <a:bodyPr/>
                    <a:lstStyle/>
                    <a:p>
                      <a:pPr algn="ctr">
                        <a:lnSpc>
                          <a:spcPts val="5599"/>
                        </a:lnSpc>
                        <a:defRPr/>
                      </a:pPr>
                      <a:r>
                        <a:rPr lang="en-US" sz="3999">
                          <a:solidFill>
                            <a:srgbClr val="000000"/>
                          </a:solidFill>
                          <a:latin typeface="Bantayog"/>
                          <a:ea typeface="Bantayog"/>
                          <a:cs typeface="Bantayog"/>
                          <a:sym typeface="Bantayog"/>
                        </a:rPr>
                        <a:t>0,8405</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DBE7FF"/>
                    </a:solidFill>
                  </a:tcPr>
                </a:tc>
                <a:tc>
                  <a:txBody>
                    <a:bodyPr/>
                    <a:lstStyle/>
                    <a:p>
                      <a:pPr algn="ctr">
                        <a:lnSpc>
                          <a:spcPts val="5599"/>
                        </a:lnSpc>
                        <a:defRPr/>
                      </a:pPr>
                      <a:r>
                        <a:rPr lang="en-US" sz="3999">
                          <a:solidFill>
                            <a:srgbClr val="000000"/>
                          </a:solidFill>
                          <a:latin typeface="Bantayog"/>
                          <a:ea typeface="Bantayog"/>
                          <a:cs typeface="Bantayog"/>
                          <a:sym typeface="Bantayog"/>
                        </a:rPr>
                        <a:t>0,6228</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DBE7FF"/>
                    </a:solidFill>
                  </a:tcPr>
                </a:tc>
                <a:tc>
                  <a:txBody>
                    <a:bodyPr/>
                    <a:lstStyle/>
                    <a:p>
                      <a:pPr algn="ctr">
                        <a:lnSpc>
                          <a:spcPts val="5599"/>
                        </a:lnSpc>
                        <a:defRPr/>
                      </a:pPr>
                      <a:r>
                        <a:rPr lang="en-US" sz="3999">
                          <a:solidFill>
                            <a:srgbClr val="000000"/>
                          </a:solidFill>
                          <a:latin typeface="Bantayog"/>
                          <a:ea typeface="Bantayog"/>
                          <a:cs typeface="Bantayog"/>
                          <a:sym typeface="Bantayog"/>
                        </a:rPr>
                        <a:t>2,58</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DBE7FF"/>
                    </a:solidFill>
                  </a:tcPr>
                </a:tc>
                <a:tc>
                  <a:txBody>
                    <a:bodyPr/>
                    <a:lstStyle/>
                    <a:p>
                      <a:pPr algn="ctr">
                        <a:lnSpc>
                          <a:spcPts val="5599"/>
                        </a:lnSpc>
                        <a:defRPr/>
                      </a:pPr>
                      <a:r>
                        <a:rPr lang="en-US" sz="3999">
                          <a:solidFill>
                            <a:srgbClr val="000000"/>
                          </a:solidFill>
                          <a:latin typeface="Bantayog"/>
                          <a:ea typeface="Bantayog"/>
                          <a:cs typeface="Bantayog"/>
                          <a:sym typeface="Bantayog"/>
                        </a:rPr>
                        <a:t>0,11</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DBE7FF"/>
                    </a:solidFill>
                  </a:tcPr>
                </a:tc>
                <a:extLst>
                  <a:ext uri="{0D108BD9-81ED-4DB2-BD59-A6C34878D82A}">
                    <a16:rowId xmlns:a16="http://schemas.microsoft.com/office/drawing/2014/main" val="10002"/>
                  </a:ext>
                </a:extLst>
              </a:tr>
              <a:tr h="1510344">
                <a:tc>
                  <a:txBody>
                    <a:bodyPr/>
                    <a:lstStyle/>
                    <a:p>
                      <a:pPr algn="ctr">
                        <a:lnSpc>
                          <a:spcPts val="5599"/>
                        </a:lnSpc>
                        <a:defRPr/>
                      </a:pPr>
                      <a:r>
                        <a:rPr lang="en-US" sz="3999">
                          <a:solidFill>
                            <a:srgbClr val="000000"/>
                          </a:solidFill>
                          <a:latin typeface="Bantayog"/>
                          <a:ea typeface="Bantayog"/>
                          <a:cs typeface="Bantayog"/>
                          <a:sym typeface="Bantayog"/>
                        </a:rPr>
                        <a:t>day1_min0013</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DBE7FF"/>
                    </a:solidFill>
                  </a:tcPr>
                </a:tc>
                <a:tc>
                  <a:txBody>
                    <a:bodyPr/>
                    <a:lstStyle/>
                    <a:p>
                      <a:pPr algn="ctr">
                        <a:lnSpc>
                          <a:spcPts val="5599"/>
                        </a:lnSpc>
                        <a:defRPr/>
                      </a:pPr>
                      <a:r>
                        <a:rPr lang="en-US" sz="3999">
                          <a:solidFill>
                            <a:srgbClr val="000000"/>
                          </a:solidFill>
                          <a:latin typeface="Bantayog"/>
                          <a:ea typeface="Bantayog"/>
                          <a:cs typeface="Bantayog"/>
                          <a:sym typeface="Bantayog"/>
                        </a:rPr>
                        <a:t>1</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DBE7FF"/>
                    </a:solidFill>
                  </a:tcPr>
                </a:tc>
                <a:tc>
                  <a:txBody>
                    <a:bodyPr/>
                    <a:lstStyle/>
                    <a:p>
                      <a:pPr algn="ctr">
                        <a:lnSpc>
                          <a:spcPts val="5599"/>
                        </a:lnSpc>
                        <a:defRPr/>
                      </a:pPr>
                      <a:r>
                        <a:rPr lang="en-US" sz="3999">
                          <a:solidFill>
                            <a:srgbClr val="000000"/>
                          </a:solidFill>
                          <a:latin typeface="Bantayog"/>
                          <a:ea typeface="Bantayog"/>
                          <a:cs typeface="Bantayog"/>
                          <a:sym typeface="Bantayog"/>
                        </a:rPr>
                        <a:t>0,989</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DBE7FF"/>
                    </a:solidFill>
                  </a:tcPr>
                </a:tc>
                <a:tc>
                  <a:txBody>
                    <a:bodyPr/>
                    <a:lstStyle/>
                    <a:p>
                      <a:pPr algn="ctr">
                        <a:lnSpc>
                          <a:spcPts val="5599"/>
                        </a:lnSpc>
                        <a:defRPr/>
                      </a:pPr>
                      <a:r>
                        <a:rPr lang="en-US" sz="3999">
                          <a:solidFill>
                            <a:srgbClr val="000000"/>
                          </a:solidFill>
                          <a:latin typeface="Bantayog"/>
                          <a:ea typeface="Bantayog"/>
                          <a:cs typeface="Bantayog"/>
                          <a:sym typeface="Bantayog"/>
                        </a:rPr>
                        <a:t>0,9887</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DBE7FF"/>
                    </a:solidFill>
                  </a:tcPr>
                </a:tc>
                <a:tc>
                  <a:txBody>
                    <a:bodyPr/>
                    <a:lstStyle/>
                    <a:p>
                      <a:pPr algn="ctr">
                        <a:lnSpc>
                          <a:spcPts val="5599"/>
                        </a:lnSpc>
                        <a:defRPr/>
                      </a:pPr>
                      <a:r>
                        <a:rPr lang="en-US" sz="3999">
                          <a:solidFill>
                            <a:srgbClr val="000000"/>
                          </a:solidFill>
                          <a:latin typeface="Bantayog"/>
                          <a:ea typeface="Bantayog"/>
                          <a:cs typeface="Bantayog"/>
                          <a:sym typeface="Bantayog"/>
                        </a:rPr>
                        <a:t>0,8259</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DBE7FF"/>
                    </a:solidFill>
                  </a:tcPr>
                </a:tc>
                <a:tc>
                  <a:txBody>
                    <a:bodyPr/>
                    <a:lstStyle/>
                    <a:p>
                      <a:pPr algn="ctr">
                        <a:lnSpc>
                          <a:spcPts val="5599"/>
                        </a:lnSpc>
                        <a:defRPr/>
                      </a:pPr>
                      <a:r>
                        <a:rPr lang="en-US" sz="3999">
                          <a:solidFill>
                            <a:srgbClr val="000000"/>
                          </a:solidFill>
                          <a:latin typeface="Bantayog"/>
                          <a:ea typeface="Bantayog"/>
                          <a:cs typeface="Bantayog"/>
                          <a:sym typeface="Bantayog"/>
                        </a:rPr>
                        <a:t>0,6110</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DBE7FF"/>
                    </a:solidFill>
                  </a:tcPr>
                </a:tc>
                <a:tc>
                  <a:txBody>
                    <a:bodyPr/>
                    <a:lstStyle/>
                    <a:p>
                      <a:pPr algn="ctr">
                        <a:lnSpc>
                          <a:spcPts val="5599"/>
                        </a:lnSpc>
                        <a:defRPr/>
                      </a:pPr>
                      <a:r>
                        <a:rPr lang="en-US" sz="3999">
                          <a:solidFill>
                            <a:srgbClr val="000000"/>
                          </a:solidFill>
                          <a:latin typeface="Bantayog"/>
                          <a:ea typeface="Bantayog"/>
                          <a:cs typeface="Bantayog"/>
                          <a:sym typeface="Bantayog"/>
                        </a:rPr>
                        <a:t>2,54</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DBE7FF"/>
                    </a:solidFill>
                  </a:tcPr>
                </a:tc>
                <a:tc>
                  <a:txBody>
                    <a:bodyPr/>
                    <a:lstStyle/>
                    <a:p>
                      <a:pPr algn="ctr">
                        <a:lnSpc>
                          <a:spcPts val="5599"/>
                        </a:lnSpc>
                        <a:defRPr/>
                      </a:pPr>
                      <a:r>
                        <a:rPr lang="en-US" sz="3999">
                          <a:solidFill>
                            <a:srgbClr val="000000"/>
                          </a:solidFill>
                          <a:latin typeface="Bantayog"/>
                          <a:ea typeface="Bantayog"/>
                          <a:cs typeface="Bantayog"/>
                          <a:sym typeface="Bantayog"/>
                        </a:rPr>
                        <a:t>0,11</a:t>
                      </a:r>
                      <a:endParaRPr lang="en-US" sz="1100"/>
                    </a:p>
                  </a:txBody>
                  <a:tcPr marL="76200" marR="76200" marT="76200" marB="76200" anchor="ctr">
                    <a:lnL w="19050" cap="flat" cmpd="sng" algn="ctr">
                      <a:solidFill>
                        <a:srgbClr val="203660"/>
                      </a:solidFill>
                      <a:prstDash val="solid"/>
                      <a:round/>
                      <a:headEnd type="none" w="med" len="med"/>
                      <a:tailEnd type="none" w="med" len="med"/>
                    </a:lnL>
                    <a:lnR w="19050" cap="flat" cmpd="sng" algn="ctr">
                      <a:solidFill>
                        <a:srgbClr val="203660"/>
                      </a:solidFill>
                      <a:prstDash val="solid"/>
                      <a:round/>
                      <a:headEnd type="none" w="med" len="med"/>
                      <a:tailEnd type="none" w="med" len="med"/>
                    </a:lnR>
                    <a:lnT w="19050" cap="flat" cmpd="sng" algn="ctr">
                      <a:solidFill>
                        <a:srgbClr val="203660"/>
                      </a:solidFill>
                      <a:prstDash val="solid"/>
                      <a:round/>
                      <a:headEnd type="none" w="med" len="med"/>
                      <a:tailEnd type="none" w="med" len="med"/>
                    </a:lnT>
                    <a:lnB w="19050" cap="flat" cmpd="sng" algn="ctr">
                      <a:solidFill>
                        <a:srgbClr val="203660"/>
                      </a:solidFill>
                      <a:prstDash val="solid"/>
                      <a:round/>
                      <a:headEnd type="none" w="med" len="med"/>
                      <a:tailEnd type="none" w="med" len="med"/>
                    </a:lnB>
                    <a:solidFill>
                      <a:srgbClr val="DBE7FF"/>
                    </a:solidFill>
                  </a:tcPr>
                </a:tc>
                <a:extLst>
                  <a:ext uri="{0D108BD9-81ED-4DB2-BD59-A6C34878D82A}">
                    <a16:rowId xmlns:a16="http://schemas.microsoft.com/office/drawing/2014/main" val="10003"/>
                  </a:ext>
                </a:extLst>
              </a:tr>
            </a:tbl>
          </a:graphicData>
        </a:graphic>
      </p:graphicFrame>
      <p:sp>
        <p:nvSpPr>
          <p:cNvPr id="17" name="TextBox 17"/>
          <p:cNvSpPr txBox="1"/>
          <p:nvPr/>
        </p:nvSpPr>
        <p:spPr>
          <a:xfrm>
            <a:off x="2802439" y="7867853"/>
            <a:ext cx="11010453" cy="781050"/>
          </a:xfrm>
          <a:prstGeom prst="rect">
            <a:avLst/>
          </a:prstGeom>
        </p:spPr>
        <p:txBody>
          <a:bodyPr lIns="0" tIns="0" rIns="0" bIns="0" rtlCol="0" anchor="t">
            <a:spAutoFit/>
          </a:bodyPr>
          <a:lstStyle/>
          <a:p>
            <a:pPr algn="ctr">
              <a:lnSpc>
                <a:spcPts val="6299"/>
              </a:lnSpc>
              <a:spcBef>
                <a:spcPct val="0"/>
              </a:spcBef>
            </a:pPr>
            <a:r>
              <a:rPr lang="en-US" sz="4500">
                <a:solidFill>
                  <a:srgbClr val="4D6BA7"/>
                </a:solidFill>
                <a:latin typeface="Bantayog"/>
                <a:ea typeface="Bantayog"/>
                <a:cs typeface="Bantayog"/>
                <a:sym typeface="Bantayog"/>
              </a:rPr>
              <a:t>*EXTRACTO DE ALGUNA COLUMNAS*</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Freeform 14"/>
          <p:cNvSpPr/>
          <p:nvPr/>
        </p:nvSpPr>
        <p:spPr>
          <a:xfrm>
            <a:off x="6522459" y="2037397"/>
            <a:ext cx="5243082" cy="7869541"/>
          </a:xfrm>
          <a:custGeom>
            <a:avLst/>
            <a:gdLst/>
            <a:ahLst/>
            <a:cxnLst/>
            <a:rect l="l" t="t" r="r" b="b"/>
            <a:pathLst>
              <a:path w="5243082" h="7869541">
                <a:moveTo>
                  <a:pt x="0" y="0"/>
                </a:moveTo>
                <a:lnTo>
                  <a:pt x="5243082" y="0"/>
                </a:lnTo>
                <a:lnTo>
                  <a:pt x="5243082" y="7869542"/>
                </a:lnTo>
                <a:lnTo>
                  <a:pt x="0" y="7869542"/>
                </a:lnTo>
                <a:lnTo>
                  <a:pt x="0" y="0"/>
                </a:lnTo>
                <a:close/>
              </a:path>
            </a:pathLst>
          </a:custGeom>
          <a:blipFill>
            <a:blip r:embed="rId2"/>
            <a:stretch>
              <a:fillRect/>
            </a:stretch>
          </a:blipFill>
        </p:spPr>
        <p:txBody>
          <a:bodyPr/>
          <a:lstStyle/>
          <a:p>
            <a:endParaRPr lang="es-ES"/>
          </a:p>
        </p:txBody>
      </p:sp>
      <p:sp>
        <p:nvSpPr>
          <p:cNvPr id="15" name="TextBox 15"/>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19</a:t>
            </a:r>
          </a:p>
        </p:txBody>
      </p:sp>
      <p:sp>
        <p:nvSpPr>
          <p:cNvPr id="16" name="TextBox 16"/>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DATASET SALIDA</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Freeform 14"/>
          <p:cNvSpPr/>
          <p:nvPr/>
        </p:nvSpPr>
        <p:spPr>
          <a:xfrm>
            <a:off x="663913" y="2037397"/>
            <a:ext cx="16377716" cy="24581938"/>
          </a:xfrm>
          <a:custGeom>
            <a:avLst/>
            <a:gdLst/>
            <a:ahLst/>
            <a:cxnLst/>
            <a:rect l="l" t="t" r="r" b="b"/>
            <a:pathLst>
              <a:path w="16377716" h="24581938">
                <a:moveTo>
                  <a:pt x="0" y="0"/>
                </a:moveTo>
                <a:lnTo>
                  <a:pt x="16377716" y="0"/>
                </a:lnTo>
                <a:lnTo>
                  <a:pt x="16377716" y="24581939"/>
                </a:lnTo>
                <a:lnTo>
                  <a:pt x="0" y="24581939"/>
                </a:lnTo>
                <a:lnTo>
                  <a:pt x="0" y="0"/>
                </a:lnTo>
                <a:close/>
              </a:path>
            </a:pathLst>
          </a:custGeom>
          <a:blipFill>
            <a:blip r:embed="rId2"/>
            <a:stretch>
              <a:fillRect/>
            </a:stretch>
          </a:blipFill>
        </p:spPr>
        <p:txBody>
          <a:bodyPr/>
          <a:lstStyle/>
          <a:p>
            <a:endParaRPr lang="es-ES"/>
          </a:p>
        </p:txBody>
      </p:sp>
      <p:sp>
        <p:nvSpPr>
          <p:cNvPr id="15" name="TextBox 15"/>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19</a:t>
            </a:r>
          </a:p>
        </p:txBody>
      </p:sp>
      <p:sp>
        <p:nvSpPr>
          <p:cNvPr id="16" name="TextBox 16"/>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DATASET SALIDA</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Freeform 14"/>
          <p:cNvSpPr/>
          <p:nvPr/>
        </p:nvSpPr>
        <p:spPr>
          <a:xfrm>
            <a:off x="614073" y="-8399905"/>
            <a:ext cx="16377716" cy="24581938"/>
          </a:xfrm>
          <a:custGeom>
            <a:avLst/>
            <a:gdLst/>
            <a:ahLst/>
            <a:cxnLst/>
            <a:rect l="l" t="t" r="r" b="b"/>
            <a:pathLst>
              <a:path w="16377716" h="24581938">
                <a:moveTo>
                  <a:pt x="0" y="0"/>
                </a:moveTo>
                <a:lnTo>
                  <a:pt x="16377716" y="0"/>
                </a:lnTo>
                <a:lnTo>
                  <a:pt x="16377716" y="24581938"/>
                </a:lnTo>
                <a:lnTo>
                  <a:pt x="0" y="24581938"/>
                </a:lnTo>
                <a:lnTo>
                  <a:pt x="0" y="0"/>
                </a:lnTo>
                <a:close/>
              </a:path>
            </a:pathLst>
          </a:custGeom>
          <a:blipFill>
            <a:blip r:embed="rId2"/>
            <a:stretch>
              <a:fillRect/>
            </a:stretch>
          </a:blipFill>
        </p:spPr>
        <p:txBody>
          <a:bodyPr/>
          <a:lstStyle/>
          <a:p>
            <a:endParaRPr lang="es-ES"/>
          </a:p>
        </p:txBody>
      </p:sp>
      <p:sp>
        <p:nvSpPr>
          <p:cNvPr id="15" name="TextBox 15"/>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19</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Freeform 14"/>
          <p:cNvSpPr/>
          <p:nvPr/>
        </p:nvSpPr>
        <p:spPr>
          <a:xfrm>
            <a:off x="565435" y="-14747376"/>
            <a:ext cx="16377716" cy="24581938"/>
          </a:xfrm>
          <a:custGeom>
            <a:avLst/>
            <a:gdLst/>
            <a:ahLst/>
            <a:cxnLst/>
            <a:rect l="l" t="t" r="r" b="b"/>
            <a:pathLst>
              <a:path w="16377716" h="24581938">
                <a:moveTo>
                  <a:pt x="0" y="0"/>
                </a:moveTo>
                <a:lnTo>
                  <a:pt x="16377716" y="0"/>
                </a:lnTo>
                <a:lnTo>
                  <a:pt x="16377716" y="24581938"/>
                </a:lnTo>
                <a:lnTo>
                  <a:pt x="0" y="24581938"/>
                </a:lnTo>
                <a:lnTo>
                  <a:pt x="0" y="0"/>
                </a:lnTo>
                <a:close/>
              </a:path>
            </a:pathLst>
          </a:custGeom>
          <a:blipFill>
            <a:blip r:embed="rId2"/>
            <a:stretch>
              <a:fillRect/>
            </a:stretch>
          </a:blipFill>
        </p:spPr>
        <p:txBody>
          <a:bodyPr/>
          <a:lstStyle/>
          <a:p>
            <a:endParaRPr lang="es-ES"/>
          </a:p>
        </p:txBody>
      </p:sp>
      <p:sp>
        <p:nvSpPr>
          <p:cNvPr id="15" name="TextBox 15"/>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19</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20</a:t>
            </a:r>
          </a:p>
        </p:txBody>
      </p:sp>
      <p:sp>
        <p:nvSpPr>
          <p:cNvPr id="15" name="TextBox 15"/>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VALIDACIÓN Y MÉTRICAS</a:t>
            </a:r>
          </a:p>
        </p:txBody>
      </p:sp>
      <p:grpSp>
        <p:nvGrpSpPr>
          <p:cNvPr id="16" name="Group 16"/>
          <p:cNvGrpSpPr/>
          <p:nvPr/>
        </p:nvGrpSpPr>
        <p:grpSpPr>
          <a:xfrm>
            <a:off x="919827" y="2303834"/>
            <a:ext cx="16853824" cy="7002091"/>
            <a:chOff x="0" y="0"/>
            <a:chExt cx="22471764" cy="9336121"/>
          </a:xfrm>
        </p:grpSpPr>
        <p:grpSp>
          <p:nvGrpSpPr>
            <p:cNvPr id="17" name="Group 17"/>
            <p:cNvGrpSpPr/>
            <p:nvPr/>
          </p:nvGrpSpPr>
          <p:grpSpPr>
            <a:xfrm>
              <a:off x="0" y="460040"/>
              <a:ext cx="1604067" cy="1604067"/>
              <a:chOff x="0" y="0"/>
              <a:chExt cx="812800" cy="812800"/>
            </a:xfrm>
          </p:grpSpPr>
          <p:sp>
            <p:nvSpPr>
              <p:cNvPr id="18" name="Freeform 1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D6BA7"/>
              </a:solidFill>
            </p:spPr>
            <p:txBody>
              <a:bodyPr/>
              <a:lstStyle/>
              <a:p>
                <a:endParaRPr lang="es-ES"/>
              </a:p>
            </p:txBody>
          </p:sp>
          <p:sp>
            <p:nvSpPr>
              <p:cNvPr id="19" name="TextBox 19"/>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sp>
          <p:nvSpPr>
            <p:cNvPr id="20" name="Freeform 20"/>
            <p:cNvSpPr/>
            <p:nvPr/>
          </p:nvSpPr>
          <p:spPr>
            <a:xfrm>
              <a:off x="1453685" y="1201116"/>
              <a:ext cx="1947621" cy="60959"/>
            </a:xfrm>
            <a:custGeom>
              <a:avLst/>
              <a:gdLst/>
              <a:ahLst/>
              <a:cxnLst/>
              <a:rect l="l" t="t" r="r" b="b"/>
              <a:pathLst>
                <a:path w="1797240">
                  <a:moveTo>
                    <a:pt x="0" y="0"/>
                  </a:moveTo>
                  <a:lnTo>
                    <a:pt x="1797239" y="0"/>
                  </a:lnTo>
                </a:path>
              </a:pathLst>
            </a:custGeom>
            <a:ln w="254000" cap="flat">
              <a:solidFill>
                <a:srgbClr val="4D6BA7"/>
              </a:solidFill>
              <a:prstDash val="solid"/>
              <a:headEnd type="none" w="sm" len="sm"/>
              <a:tailEnd type="triangle" w="lg" len="med"/>
            </a:ln>
          </p:spPr>
          <p:txBody>
            <a:bodyPr/>
            <a:lstStyle/>
            <a:p>
              <a:endParaRPr lang="es-ES"/>
            </a:p>
          </p:txBody>
        </p:sp>
        <p:grpSp>
          <p:nvGrpSpPr>
            <p:cNvPr id="21" name="Group 21"/>
            <p:cNvGrpSpPr/>
            <p:nvPr/>
          </p:nvGrpSpPr>
          <p:grpSpPr>
            <a:xfrm>
              <a:off x="3401306" y="0"/>
              <a:ext cx="9516585" cy="2451342"/>
              <a:chOff x="0" y="0"/>
              <a:chExt cx="1879819" cy="484216"/>
            </a:xfrm>
          </p:grpSpPr>
          <p:sp>
            <p:nvSpPr>
              <p:cNvPr id="22" name="Freeform 22"/>
              <p:cNvSpPr/>
              <p:nvPr/>
            </p:nvSpPr>
            <p:spPr>
              <a:xfrm>
                <a:off x="0" y="0"/>
                <a:ext cx="1879819" cy="484216"/>
              </a:xfrm>
              <a:custGeom>
                <a:avLst/>
                <a:gdLst/>
                <a:ahLst/>
                <a:cxnLst/>
                <a:rect l="l" t="t" r="r" b="b"/>
                <a:pathLst>
                  <a:path w="1879819" h="484216">
                    <a:moveTo>
                      <a:pt x="59658" y="0"/>
                    </a:moveTo>
                    <a:lnTo>
                      <a:pt x="1820161" y="0"/>
                    </a:lnTo>
                    <a:cubicBezTo>
                      <a:pt x="1835984" y="0"/>
                      <a:pt x="1851158" y="6285"/>
                      <a:pt x="1862346" y="17473"/>
                    </a:cubicBezTo>
                    <a:cubicBezTo>
                      <a:pt x="1873534" y="28661"/>
                      <a:pt x="1879819" y="43836"/>
                      <a:pt x="1879819" y="59658"/>
                    </a:cubicBezTo>
                    <a:lnTo>
                      <a:pt x="1879819" y="424558"/>
                    </a:lnTo>
                    <a:cubicBezTo>
                      <a:pt x="1879819" y="457506"/>
                      <a:pt x="1853110" y="484216"/>
                      <a:pt x="1820161" y="484216"/>
                    </a:cubicBezTo>
                    <a:lnTo>
                      <a:pt x="59658" y="484216"/>
                    </a:lnTo>
                    <a:cubicBezTo>
                      <a:pt x="43836" y="484216"/>
                      <a:pt x="28661" y="477930"/>
                      <a:pt x="17473" y="466742"/>
                    </a:cubicBezTo>
                    <a:cubicBezTo>
                      <a:pt x="6285" y="455554"/>
                      <a:pt x="0" y="440380"/>
                      <a:pt x="0" y="424558"/>
                    </a:cubicBezTo>
                    <a:lnTo>
                      <a:pt x="0" y="59658"/>
                    </a:lnTo>
                    <a:cubicBezTo>
                      <a:pt x="0" y="43836"/>
                      <a:pt x="6285" y="28661"/>
                      <a:pt x="17473" y="17473"/>
                    </a:cubicBezTo>
                    <a:cubicBezTo>
                      <a:pt x="28661" y="6285"/>
                      <a:pt x="43836" y="0"/>
                      <a:pt x="59658" y="0"/>
                    </a:cubicBezTo>
                    <a:close/>
                  </a:path>
                </a:pathLst>
              </a:custGeom>
              <a:solidFill>
                <a:srgbClr val="4D6BA7"/>
              </a:solidFill>
            </p:spPr>
            <p:txBody>
              <a:bodyPr/>
              <a:lstStyle/>
              <a:p>
                <a:endParaRPr lang="es-ES"/>
              </a:p>
            </p:txBody>
          </p:sp>
          <p:sp>
            <p:nvSpPr>
              <p:cNvPr id="23" name="TextBox 23"/>
              <p:cNvSpPr txBox="1"/>
              <p:nvPr/>
            </p:nvSpPr>
            <p:spPr>
              <a:xfrm>
                <a:off x="0" y="-38100"/>
                <a:ext cx="1879819" cy="522316"/>
              </a:xfrm>
              <a:prstGeom prst="rect">
                <a:avLst/>
              </a:prstGeom>
            </p:spPr>
            <p:txBody>
              <a:bodyPr lIns="50800" tIns="50800" rIns="50800" bIns="50800" rtlCol="0" anchor="ctr"/>
              <a:lstStyle/>
              <a:p>
                <a:pPr algn="ctr">
                  <a:lnSpc>
                    <a:spcPts val="2659"/>
                  </a:lnSpc>
                </a:pPr>
                <a:endParaRPr/>
              </a:p>
            </p:txBody>
          </p:sp>
        </p:grpSp>
        <p:sp>
          <p:nvSpPr>
            <p:cNvPr id="24" name="TextBox 24"/>
            <p:cNvSpPr txBox="1"/>
            <p:nvPr/>
          </p:nvSpPr>
          <p:spPr>
            <a:xfrm>
              <a:off x="3576713" y="176224"/>
              <a:ext cx="9081774" cy="2076450"/>
            </a:xfrm>
            <a:prstGeom prst="rect">
              <a:avLst/>
            </a:prstGeom>
          </p:spPr>
          <p:txBody>
            <a:bodyPr lIns="0" tIns="0" rIns="0" bIns="0" rtlCol="0" anchor="t">
              <a:spAutoFit/>
            </a:bodyPr>
            <a:lstStyle/>
            <a:p>
              <a:pPr algn="ctr">
                <a:lnSpc>
                  <a:spcPts val="6299"/>
                </a:lnSpc>
                <a:spcBef>
                  <a:spcPct val="0"/>
                </a:spcBef>
              </a:pPr>
              <a:r>
                <a:rPr lang="en-US" sz="4500">
                  <a:solidFill>
                    <a:srgbClr val="FFFFFF"/>
                  </a:solidFill>
                  <a:latin typeface="Bantayog"/>
                  <a:ea typeface="Bantayog"/>
                  <a:cs typeface="Bantayog"/>
                  <a:sym typeface="Bantayog"/>
                </a:rPr>
                <a:t>DIVIDIR EN CONJUNTO DE ENTRENAMIENTO Y PRUEBA</a:t>
              </a:r>
            </a:p>
          </p:txBody>
        </p:sp>
        <p:sp>
          <p:nvSpPr>
            <p:cNvPr id="25" name="Freeform 25"/>
            <p:cNvSpPr/>
            <p:nvPr/>
          </p:nvSpPr>
          <p:spPr>
            <a:xfrm>
              <a:off x="1192014" y="2451342"/>
              <a:ext cx="1675892" cy="2315931"/>
            </a:xfrm>
            <a:custGeom>
              <a:avLst/>
              <a:gdLst/>
              <a:ahLst/>
              <a:cxnLst/>
              <a:rect l="l" t="t" r="r" b="b"/>
              <a:pathLst>
                <a:path w="1675892" h="2315931">
                  <a:moveTo>
                    <a:pt x="0" y="0"/>
                  </a:moveTo>
                  <a:lnTo>
                    <a:pt x="1675892" y="0"/>
                  </a:lnTo>
                  <a:lnTo>
                    <a:pt x="1675892" y="2315932"/>
                  </a:lnTo>
                  <a:lnTo>
                    <a:pt x="0" y="2315932"/>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s-ES"/>
            </a:p>
          </p:txBody>
        </p:sp>
        <p:sp>
          <p:nvSpPr>
            <p:cNvPr id="26" name="TextBox 26"/>
            <p:cNvSpPr txBox="1"/>
            <p:nvPr/>
          </p:nvSpPr>
          <p:spPr>
            <a:xfrm>
              <a:off x="358733" y="4875224"/>
              <a:ext cx="3342455" cy="2076450"/>
            </a:xfrm>
            <a:prstGeom prst="rect">
              <a:avLst/>
            </a:prstGeom>
          </p:spPr>
          <p:txBody>
            <a:bodyPr lIns="0" tIns="0" rIns="0" bIns="0" rtlCol="0" anchor="t">
              <a:spAutoFit/>
            </a:bodyPr>
            <a:lstStyle/>
            <a:p>
              <a:pPr algn="ctr">
                <a:lnSpc>
                  <a:spcPts val="6299"/>
                </a:lnSpc>
                <a:spcBef>
                  <a:spcPct val="0"/>
                </a:spcBef>
              </a:pPr>
              <a:r>
                <a:rPr lang="en-US" sz="4500">
                  <a:solidFill>
                    <a:srgbClr val="4D6BA7"/>
                  </a:solidFill>
                  <a:latin typeface="Bantayog"/>
                  <a:ea typeface="Bantayog"/>
                  <a:cs typeface="Bantayog"/>
                  <a:sym typeface="Bantayog"/>
                </a:rPr>
                <a:t>DATASET ORIGINAL</a:t>
              </a:r>
            </a:p>
          </p:txBody>
        </p:sp>
        <p:sp>
          <p:nvSpPr>
            <p:cNvPr id="27" name="Freeform 27"/>
            <p:cNvSpPr/>
            <p:nvPr/>
          </p:nvSpPr>
          <p:spPr>
            <a:xfrm>
              <a:off x="3401305" y="2451343"/>
              <a:ext cx="1792865" cy="1950964"/>
            </a:xfrm>
            <a:custGeom>
              <a:avLst/>
              <a:gdLst/>
              <a:ahLst/>
              <a:cxnLst/>
              <a:rect l="l" t="t" r="r" b="b"/>
              <a:pathLst>
                <a:path w="931690" h="1950964">
                  <a:moveTo>
                    <a:pt x="0" y="1950964"/>
                  </a:moveTo>
                  <a:lnTo>
                    <a:pt x="626890" y="1950964"/>
                  </a:lnTo>
                  <a:cubicBezTo>
                    <a:pt x="795227" y="1950964"/>
                    <a:pt x="931690" y="1814500"/>
                    <a:pt x="931690" y="1646164"/>
                  </a:cubicBezTo>
                  <a:lnTo>
                    <a:pt x="931690" y="0"/>
                  </a:lnTo>
                </a:path>
              </a:pathLst>
            </a:custGeom>
            <a:ln w="254000" cap="flat">
              <a:solidFill>
                <a:srgbClr val="4D6BA7"/>
              </a:solidFill>
              <a:prstDash val="solid"/>
              <a:headEnd type="none" w="sm" len="sm"/>
              <a:tailEnd type="triangle" w="lg" len="med"/>
            </a:ln>
          </p:spPr>
          <p:txBody>
            <a:bodyPr/>
            <a:lstStyle/>
            <a:p>
              <a:endParaRPr lang="es-ES"/>
            </a:p>
          </p:txBody>
        </p:sp>
        <p:sp>
          <p:nvSpPr>
            <p:cNvPr id="28" name="Freeform 28"/>
            <p:cNvSpPr/>
            <p:nvPr/>
          </p:nvSpPr>
          <p:spPr>
            <a:xfrm>
              <a:off x="12917891" y="1225671"/>
              <a:ext cx="4908135" cy="1330902"/>
            </a:xfrm>
            <a:custGeom>
              <a:avLst/>
              <a:gdLst/>
              <a:ahLst/>
              <a:cxnLst/>
              <a:rect l="l" t="t" r="r" b="b"/>
              <a:pathLst>
                <a:path w="4908135" h="1330902">
                  <a:moveTo>
                    <a:pt x="0" y="0"/>
                  </a:moveTo>
                  <a:lnTo>
                    <a:pt x="4603336" y="0"/>
                  </a:lnTo>
                  <a:cubicBezTo>
                    <a:pt x="4771673" y="0"/>
                    <a:pt x="4908136" y="136464"/>
                    <a:pt x="4908136" y="304800"/>
                  </a:cubicBezTo>
                  <a:lnTo>
                    <a:pt x="4908136" y="1330902"/>
                  </a:lnTo>
                </a:path>
              </a:pathLst>
            </a:custGeom>
            <a:ln w="254000" cap="flat">
              <a:solidFill>
                <a:srgbClr val="4D6BA7"/>
              </a:solidFill>
              <a:prstDash val="solid"/>
              <a:headEnd type="none" w="sm" len="sm"/>
              <a:tailEnd type="triangle" w="lg" len="med"/>
            </a:ln>
          </p:spPr>
          <p:txBody>
            <a:bodyPr/>
            <a:lstStyle/>
            <a:p>
              <a:endParaRPr lang="es-ES"/>
            </a:p>
          </p:txBody>
        </p:sp>
        <p:grpSp>
          <p:nvGrpSpPr>
            <p:cNvPr id="29" name="Group 29"/>
            <p:cNvGrpSpPr/>
            <p:nvPr/>
          </p:nvGrpSpPr>
          <p:grpSpPr>
            <a:xfrm>
              <a:off x="13180291" y="2556573"/>
              <a:ext cx="9291473" cy="2459296"/>
              <a:chOff x="0" y="0"/>
              <a:chExt cx="1835353" cy="485787"/>
            </a:xfrm>
          </p:grpSpPr>
          <p:sp>
            <p:nvSpPr>
              <p:cNvPr id="30" name="Freeform 30"/>
              <p:cNvSpPr/>
              <p:nvPr/>
            </p:nvSpPr>
            <p:spPr>
              <a:xfrm>
                <a:off x="0" y="0"/>
                <a:ext cx="1835353" cy="485787"/>
              </a:xfrm>
              <a:custGeom>
                <a:avLst/>
                <a:gdLst/>
                <a:ahLst/>
                <a:cxnLst/>
                <a:rect l="l" t="t" r="r" b="b"/>
                <a:pathLst>
                  <a:path w="1835353" h="485787">
                    <a:moveTo>
                      <a:pt x="61103" y="0"/>
                    </a:moveTo>
                    <a:lnTo>
                      <a:pt x="1774249" y="0"/>
                    </a:lnTo>
                    <a:cubicBezTo>
                      <a:pt x="1807996" y="0"/>
                      <a:pt x="1835353" y="27357"/>
                      <a:pt x="1835353" y="61103"/>
                    </a:cubicBezTo>
                    <a:lnTo>
                      <a:pt x="1835353" y="424683"/>
                    </a:lnTo>
                    <a:cubicBezTo>
                      <a:pt x="1835353" y="440889"/>
                      <a:pt x="1828915" y="456431"/>
                      <a:pt x="1817456" y="467890"/>
                    </a:cubicBezTo>
                    <a:cubicBezTo>
                      <a:pt x="1805997" y="479349"/>
                      <a:pt x="1790455" y="485787"/>
                      <a:pt x="1774249" y="485787"/>
                    </a:cubicBezTo>
                    <a:lnTo>
                      <a:pt x="61103" y="485787"/>
                    </a:lnTo>
                    <a:cubicBezTo>
                      <a:pt x="44898" y="485787"/>
                      <a:pt x="29356" y="479349"/>
                      <a:pt x="17897" y="467890"/>
                    </a:cubicBezTo>
                    <a:cubicBezTo>
                      <a:pt x="6438" y="456431"/>
                      <a:pt x="0" y="440889"/>
                      <a:pt x="0" y="424683"/>
                    </a:cubicBezTo>
                    <a:lnTo>
                      <a:pt x="0" y="61103"/>
                    </a:lnTo>
                    <a:cubicBezTo>
                      <a:pt x="0" y="44898"/>
                      <a:pt x="6438" y="29356"/>
                      <a:pt x="17897" y="17897"/>
                    </a:cubicBezTo>
                    <a:cubicBezTo>
                      <a:pt x="29356" y="6438"/>
                      <a:pt x="44898" y="0"/>
                      <a:pt x="61103" y="0"/>
                    </a:cubicBezTo>
                    <a:close/>
                  </a:path>
                </a:pathLst>
              </a:custGeom>
              <a:solidFill>
                <a:srgbClr val="4D6BA7"/>
              </a:solidFill>
            </p:spPr>
            <p:txBody>
              <a:bodyPr/>
              <a:lstStyle/>
              <a:p>
                <a:endParaRPr lang="es-ES"/>
              </a:p>
            </p:txBody>
          </p:sp>
          <p:sp>
            <p:nvSpPr>
              <p:cNvPr id="31" name="TextBox 31"/>
              <p:cNvSpPr txBox="1"/>
              <p:nvPr/>
            </p:nvSpPr>
            <p:spPr>
              <a:xfrm>
                <a:off x="0" y="-38100"/>
                <a:ext cx="1835353" cy="523887"/>
              </a:xfrm>
              <a:prstGeom prst="rect">
                <a:avLst/>
              </a:prstGeom>
            </p:spPr>
            <p:txBody>
              <a:bodyPr lIns="50800" tIns="50800" rIns="50800" bIns="50800" rtlCol="0" anchor="ctr"/>
              <a:lstStyle/>
              <a:p>
                <a:pPr algn="ctr">
                  <a:lnSpc>
                    <a:spcPts val="2659"/>
                  </a:lnSpc>
                </a:pPr>
                <a:endParaRPr/>
              </a:p>
            </p:txBody>
          </p:sp>
        </p:grpSp>
        <p:sp>
          <p:nvSpPr>
            <p:cNvPr id="32" name="TextBox 32"/>
            <p:cNvSpPr txBox="1"/>
            <p:nvPr/>
          </p:nvSpPr>
          <p:spPr>
            <a:xfrm>
              <a:off x="13356187" y="2732797"/>
              <a:ext cx="8861036" cy="2076450"/>
            </a:xfrm>
            <a:prstGeom prst="rect">
              <a:avLst/>
            </a:prstGeom>
          </p:spPr>
          <p:txBody>
            <a:bodyPr lIns="0" tIns="0" rIns="0" bIns="0" rtlCol="0" anchor="t">
              <a:spAutoFit/>
            </a:bodyPr>
            <a:lstStyle/>
            <a:p>
              <a:pPr algn="ctr">
                <a:lnSpc>
                  <a:spcPts val="6299"/>
                </a:lnSpc>
                <a:spcBef>
                  <a:spcPct val="0"/>
                </a:spcBef>
              </a:pPr>
              <a:r>
                <a:rPr lang="en-US" sz="4500">
                  <a:solidFill>
                    <a:srgbClr val="FFFFFF"/>
                  </a:solidFill>
                  <a:latin typeface="Bantayog"/>
                  <a:ea typeface="Bantayog"/>
                  <a:cs typeface="Bantayog"/>
                  <a:sym typeface="Bantayog"/>
                </a:rPr>
                <a:t>ENTRENAR CON CONJUNTO DE ENTRENAMIENTO</a:t>
              </a:r>
            </a:p>
          </p:txBody>
        </p:sp>
        <p:grpSp>
          <p:nvGrpSpPr>
            <p:cNvPr id="33" name="Group 33"/>
            <p:cNvGrpSpPr/>
            <p:nvPr/>
          </p:nvGrpSpPr>
          <p:grpSpPr>
            <a:xfrm>
              <a:off x="7330963" y="6811974"/>
              <a:ext cx="9173183" cy="2524147"/>
              <a:chOff x="0" y="0"/>
              <a:chExt cx="1811987" cy="498597"/>
            </a:xfrm>
          </p:grpSpPr>
          <p:sp>
            <p:nvSpPr>
              <p:cNvPr id="34" name="Freeform 34"/>
              <p:cNvSpPr/>
              <p:nvPr/>
            </p:nvSpPr>
            <p:spPr>
              <a:xfrm>
                <a:off x="0" y="0"/>
                <a:ext cx="1811987" cy="498597"/>
              </a:xfrm>
              <a:custGeom>
                <a:avLst/>
                <a:gdLst/>
                <a:ahLst/>
                <a:cxnLst/>
                <a:rect l="l" t="t" r="r" b="b"/>
                <a:pathLst>
                  <a:path w="1811987" h="498597">
                    <a:moveTo>
                      <a:pt x="61891" y="0"/>
                    </a:moveTo>
                    <a:lnTo>
                      <a:pt x="1750095" y="0"/>
                    </a:lnTo>
                    <a:cubicBezTo>
                      <a:pt x="1784277" y="0"/>
                      <a:pt x="1811987" y="27710"/>
                      <a:pt x="1811987" y="61891"/>
                    </a:cubicBezTo>
                    <a:lnTo>
                      <a:pt x="1811987" y="436706"/>
                    </a:lnTo>
                    <a:cubicBezTo>
                      <a:pt x="1811987" y="453120"/>
                      <a:pt x="1805466" y="468863"/>
                      <a:pt x="1793859" y="480469"/>
                    </a:cubicBezTo>
                    <a:cubicBezTo>
                      <a:pt x="1782252" y="492076"/>
                      <a:pt x="1766510" y="498597"/>
                      <a:pt x="1750095" y="498597"/>
                    </a:cubicBezTo>
                    <a:lnTo>
                      <a:pt x="61891" y="498597"/>
                    </a:lnTo>
                    <a:cubicBezTo>
                      <a:pt x="45477" y="498597"/>
                      <a:pt x="29734" y="492076"/>
                      <a:pt x="18128" y="480469"/>
                    </a:cubicBezTo>
                    <a:cubicBezTo>
                      <a:pt x="6521" y="468863"/>
                      <a:pt x="0" y="453120"/>
                      <a:pt x="0" y="436706"/>
                    </a:cubicBezTo>
                    <a:lnTo>
                      <a:pt x="0" y="61891"/>
                    </a:lnTo>
                    <a:cubicBezTo>
                      <a:pt x="0" y="27710"/>
                      <a:pt x="27710" y="0"/>
                      <a:pt x="61891" y="0"/>
                    </a:cubicBezTo>
                    <a:close/>
                  </a:path>
                </a:pathLst>
              </a:custGeom>
              <a:solidFill>
                <a:srgbClr val="4D6BA7"/>
              </a:solidFill>
            </p:spPr>
            <p:txBody>
              <a:bodyPr/>
              <a:lstStyle/>
              <a:p>
                <a:endParaRPr lang="es-ES"/>
              </a:p>
            </p:txBody>
          </p:sp>
          <p:sp>
            <p:nvSpPr>
              <p:cNvPr id="35" name="TextBox 35"/>
              <p:cNvSpPr txBox="1"/>
              <p:nvPr/>
            </p:nvSpPr>
            <p:spPr>
              <a:xfrm>
                <a:off x="0" y="-38100"/>
                <a:ext cx="1811987" cy="536697"/>
              </a:xfrm>
              <a:prstGeom prst="rect">
                <a:avLst/>
              </a:prstGeom>
            </p:spPr>
            <p:txBody>
              <a:bodyPr lIns="50800" tIns="50800" rIns="50800" bIns="50800" rtlCol="0" anchor="ctr"/>
              <a:lstStyle/>
              <a:p>
                <a:pPr algn="ctr">
                  <a:lnSpc>
                    <a:spcPts val="2659"/>
                  </a:lnSpc>
                </a:pPr>
                <a:endParaRPr/>
              </a:p>
            </p:txBody>
          </p:sp>
        </p:grpSp>
        <p:sp>
          <p:nvSpPr>
            <p:cNvPr id="36" name="TextBox 36"/>
            <p:cNvSpPr txBox="1"/>
            <p:nvPr/>
          </p:nvSpPr>
          <p:spPr>
            <a:xfrm>
              <a:off x="7544945" y="6988197"/>
              <a:ext cx="8745219" cy="2076450"/>
            </a:xfrm>
            <a:prstGeom prst="rect">
              <a:avLst/>
            </a:prstGeom>
          </p:spPr>
          <p:txBody>
            <a:bodyPr lIns="0" tIns="0" rIns="0" bIns="0" rtlCol="0" anchor="t">
              <a:spAutoFit/>
            </a:bodyPr>
            <a:lstStyle/>
            <a:p>
              <a:pPr algn="ctr">
                <a:lnSpc>
                  <a:spcPts val="6299"/>
                </a:lnSpc>
                <a:spcBef>
                  <a:spcPct val="0"/>
                </a:spcBef>
              </a:pPr>
              <a:r>
                <a:rPr lang="en-US" sz="4500" dirty="0">
                  <a:solidFill>
                    <a:srgbClr val="FFFFFF"/>
                  </a:solidFill>
                  <a:latin typeface="Bantayog"/>
                  <a:ea typeface="Bantayog"/>
                  <a:cs typeface="Bantayog"/>
                  <a:sym typeface="Bantayog"/>
                </a:rPr>
                <a:t>CALCULAR MÉTRICAS CON CONJUNTO DE PRUEBA</a:t>
              </a:r>
            </a:p>
          </p:txBody>
        </p:sp>
        <p:grpSp>
          <p:nvGrpSpPr>
            <p:cNvPr id="38" name="Group 38"/>
            <p:cNvGrpSpPr/>
            <p:nvPr/>
          </p:nvGrpSpPr>
          <p:grpSpPr>
            <a:xfrm>
              <a:off x="3701188" y="7272014"/>
              <a:ext cx="1604067" cy="1604067"/>
              <a:chOff x="0" y="0"/>
              <a:chExt cx="812800" cy="812800"/>
            </a:xfrm>
          </p:grpSpPr>
          <p:sp>
            <p:nvSpPr>
              <p:cNvPr id="39" name="Freeform 3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DBE7FF"/>
              </a:solidFill>
              <a:ln w="114300" cap="sq">
                <a:solidFill>
                  <a:srgbClr val="4D6BA7"/>
                </a:solidFill>
                <a:prstDash val="solid"/>
                <a:miter/>
              </a:ln>
            </p:spPr>
            <p:txBody>
              <a:bodyPr/>
              <a:lstStyle/>
              <a:p>
                <a:endParaRPr lang="es-ES"/>
              </a:p>
            </p:txBody>
          </p:sp>
          <p:sp>
            <p:nvSpPr>
              <p:cNvPr id="40" name="TextBox 40"/>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grpSp>
          <p:nvGrpSpPr>
            <p:cNvPr id="41" name="Group 41"/>
            <p:cNvGrpSpPr/>
            <p:nvPr/>
          </p:nvGrpSpPr>
          <p:grpSpPr>
            <a:xfrm>
              <a:off x="3944380" y="7515206"/>
              <a:ext cx="1117684" cy="1117684"/>
              <a:chOff x="0" y="0"/>
              <a:chExt cx="812800" cy="812800"/>
            </a:xfrm>
          </p:grpSpPr>
          <p:sp>
            <p:nvSpPr>
              <p:cNvPr id="42" name="Freeform 4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D6BA7"/>
              </a:solidFill>
            </p:spPr>
            <p:txBody>
              <a:bodyPr/>
              <a:lstStyle/>
              <a:p>
                <a:endParaRPr lang="es-ES"/>
              </a:p>
            </p:txBody>
          </p:sp>
          <p:sp>
            <p:nvSpPr>
              <p:cNvPr id="43" name="TextBox 43"/>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sp>
          <p:nvSpPr>
            <p:cNvPr id="44" name="Freeform 44"/>
            <p:cNvSpPr/>
            <p:nvPr/>
          </p:nvSpPr>
          <p:spPr>
            <a:xfrm>
              <a:off x="7186153" y="3070046"/>
              <a:ext cx="1675892" cy="2315931"/>
            </a:xfrm>
            <a:custGeom>
              <a:avLst/>
              <a:gdLst/>
              <a:ahLst/>
              <a:cxnLst/>
              <a:rect l="l" t="t" r="r" b="b"/>
              <a:pathLst>
                <a:path w="1675892" h="2315931">
                  <a:moveTo>
                    <a:pt x="0" y="0"/>
                  </a:moveTo>
                  <a:lnTo>
                    <a:pt x="1675892" y="0"/>
                  </a:lnTo>
                  <a:lnTo>
                    <a:pt x="1675892" y="2315931"/>
                  </a:lnTo>
                  <a:lnTo>
                    <a:pt x="0" y="2315931"/>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s-ES"/>
            </a:p>
          </p:txBody>
        </p:sp>
        <p:sp>
          <p:nvSpPr>
            <p:cNvPr id="45" name="TextBox 45"/>
            <p:cNvSpPr txBox="1"/>
            <p:nvPr/>
          </p:nvSpPr>
          <p:spPr>
            <a:xfrm>
              <a:off x="6352871" y="5454852"/>
              <a:ext cx="3342455" cy="1009650"/>
            </a:xfrm>
            <a:prstGeom prst="rect">
              <a:avLst/>
            </a:prstGeom>
          </p:spPr>
          <p:txBody>
            <a:bodyPr lIns="0" tIns="0" rIns="0" bIns="0" rtlCol="0" anchor="t">
              <a:spAutoFit/>
            </a:bodyPr>
            <a:lstStyle/>
            <a:p>
              <a:pPr algn="ctr">
                <a:lnSpc>
                  <a:spcPts val="6299"/>
                </a:lnSpc>
                <a:spcBef>
                  <a:spcPct val="0"/>
                </a:spcBef>
              </a:pPr>
              <a:r>
                <a:rPr lang="en-US" sz="4500">
                  <a:solidFill>
                    <a:srgbClr val="4D6BA7"/>
                  </a:solidFill>
                  <a:latin typeface="Bantayog"/>
                  <a:ea typeface="Bantayog"/>
                  <a:cs typeface="Bantayog"/>
                  <a:sym typeface="Bantayog"/>
                </a:rPr>
                <a:t>MÉTRICAS</a:t>
              </a:r>
            </a:p>
          </p:txBody>
        </p:sp>
        <p:sp>
          <p:nvSpPr>
            <p:cNvPr id="46" name="Freeform 46"/>
            <p:cNvSpPr/>
            <p:nvPr/>
          </p:nvSpPr>
          <p:spPr>
            <a:xfrm>
              <a:off x="5305255" y="8074047"/>
              <a:ext cx="2025709" cy="0"/>
            </a:xfrm>
            <a:custGeom>
              <a:avLst/>
              <a:gdLst/>
              <a:ahLst/>
              <a:cxnLst/>
              <a:rect l="l" t="t" r="r" b="b"/>
              <a:pathLst>
                <a:path w="2025709">
                  <a:moveTo>
                    <a:pt x="2025708" y="0"/>
                  </a:moveTo>
                  <a:lnTo>
                    <a:pt x="0" y="0"/>
                  </a:lnTo>
                </a:path>
              </a:pathLst>
            </a:custGeom>
            <a:ln w="254000" cap="flat">
              <a:solidFill>
                <a:srgbClr val="4D6BA7"/>
              </a:solidFill>
              <a:prstDash val="solid"/>
              <a:headEnd type="none" w="sm" len="sm"/>
              <a:tailEnd type="triangle" w="lg" len="med"/>
            </a:ln>
          </p:spPr>
          <p:txBody>
            <a:bodyPr/>
            <a:lstStyle/>
            <a:p>
              <a:endParaRPr lang="es-ES"/>
            </a:p>
          </p:txBody>
        </p:sp>
        <p:sp>
          <p:nvSpPr>
            <p:cNvPr id="47" name="Freeform 47"/>
            <p:cNvSpPr/>
            <p:nvPr/>
          </p:nvSpPr>
          <p:spPr>
            <a:xfrm>
              <a:off x="9695326" y="4280891"/>
              <a:ext cx="2222229" cy="2531083"/>
            </a:xfrm>
            <a:custGeom>
              <a:avLst/>
              <a:gdLst/>
              <a:ahLst/>
              <a:cxnLst/>
              <a:rect l="l" t="t" r="r" b="b"/>
              <a:pathLst>
                <a:path w="2222229" h="2531083">
                  <a:moveTo>
                    <a:pt x="2222229" y="2531082"/>
                  </a:moveTo>
                  <a:lnTo>
                    <a:pt x="2222229" y="304800"/>
                  </a:lnTo>
                  <a:cubicBezTo>
                    <a:pt x="2222229" y="136463"/>
                    <a:pt x="2085765" y="0"/>
                    <a:pt x="1917429" y="0"/>
                  </a:cubicBezTo>
                  <a:lnTo>
                    <a:pt x="0" y="0"/>
                  </a:lnTo>
                </a:path>
              </a:pathLst>
            </a:custGeom>
            <a:ln w="254000" cap="flat">
              <a:solidFill>
                <a:srgbClr val="4D6BA7"/>
              </a:solidFill>
              <a:prstDash val="solid"/>
              <a:headEnd type="none" w="sm" len="sm"/>
              <a:tailEnd type="triangle" w="lg" len="med"/>
            </a:ln>
          </p:spPr>
          <p:txBody>
            <a:bodyPr/>
            <a:lstStyle/>
            <a:p>
              <a:endParaRPr lang="es-ES"/>
            </a:p>
          </p:txBody>
        </p:sp>
      </p:grpSp>
      <p:grpSp>
        <p:nvGrpSpPr>
          <p:cNvPr id="48" name="Group 48"/>
          <p:cNvGrpSpPr/>
          <p:nvPr/>
        </p:nvGrpSpPr>
        <p:grpSpPr>
          <a:xfrm>
            <a:off x="4708558" y="1769159"/>
            <a:ext cx="4661938" cy="2907857"/>
            <a:chOff x="0" y="0"/>
            <a:chExt cx="6215917" cy="3877143"/>
          </a:xfrm>
        </p:grpSpPr>
        <p:grpSp>
          <p:nvGrpSpPr>
            <p:cNvPr id="49" name="Group 49"/>
            <p:cNvGrpSpPr/>
            <p:nvPr/>
          </p:nvGrpSpPr>
          <p:grpSpPr>
            <a:xfrm rot="-1048110">
              <a:off x="201451" y="820937"/>
              <a:ext cx="5813015" cy="2235269"/>
              <a:chOff x="0" y="0"/>
              <a:chExt cx="346713" cy="133321"/>
            </a:xfrm>
          </p:grpSpPr>
          <p:sp>
            <p:nvSpPr>
              <p:cNvPr id="50" name="Freeform 50"/>
              <p:cNvSpPr/>
              <p:nvPr/>
            </p:nvSpPr>
            <p:spPr>
              <a:xfrm>
                <a:off x="0" y="0"/>
                <a:ext cx="346713" cy="133321"/>
              </a:xfrm>
              <a:custGeom>
                <a:avLst/>
                <a:gdLst/>
                <a:ahLst/>
                <a:cxnLst/>
                <a:rect l="l" t="t" r="r" b="b"/>
                <a:pathLst>
                  <a:path w="346713" h="133321">
                    <a:moveTo>
                      <a:pt x="66661" y="0"/>
                    </a:moveTo>
                    <a:lnTo>
                      <a:pt x="280053" y="0"/>
                    </a:lnTo>
                    <a:cubicBezTo>
                      <a:pt x="297732" y="0"/>
                      <a:pt x="314687" y="7023"/>
                      <a:pt x="327189" y="19524"/>
                    </a:cubicBezTo>
                    <a:cubicBezTo>
                      <a:pt x="339690" y="32026"/>
                      <a:pt x="346713" y="48981"/>
                      <a:pt x="346713" y="66661"/>
                    </a:cubicBezTo>
                    <a:lnTo>
                      <a:pt x="346713" y="66661"/>
                    </a:lnTo>
                    <a:cubicBezTo>
                      <a:pt x="346713" y="103476"/>
                      <a:pt x="316868" y="133321"/>
                      <a:pt x="280053" y="133321"/>
                    </a:cubicBezTo>
                    <a:lnTo>
                      <a:pt x="66661" y="133321"/>
                    </a:lnTo>
                    <a:cubicBezTo>
                      <a:pt x="29845" y="133321"/>
                      <a:pt x="0" y="103476"/>
                      <a:pt x="0" y="66661"/>
                    </a:cubicBezTo>
                    <a:lnTo>
                      <a:pt x="0" y="66661"/>
                    </a:lnTo>
                    <a:cubicBezTo>
                      <a:pt x="0" y="29845"/>
                      <a:pt x="29845" y="0"/>
                      <a:pt x="66661" y="0"/>
                    </a:cubicBezTo>
                    <a:close/>
                  </a:path>
                </a:pathLst>
              </a:custGeom>
              <a:solidFill>
                <a:srgbClr val="FFFFFF"/>
              </a:solidFill>
            </p:spPr>
            <p:txBody>
              <a:bodyPr/>
              <a:lstStyle/>
              <a:p>
                <a:endParaRPr lang="es-ES"/>
              </a:p>
            </p:txBody>
          </p:sp>
          <p:sp>
            <p:nvSpPr>
              <p:cNvPr id="51" name="TextBox 51"/>
              <p:cNvSpPr txBox="1"/>
              <p:nvPr/>
            </p:nvSpPr>
            <p:spPr>
              <a:xfrm>
                <a:off x="0" y="-38100"/>
                <a:ext cx="346713" cy="171421"/>
              </a:xfrm>
              <a:prstGeom prst="rect">
                <a:avLst/>
              </a:prstGeom>
            </p:spPr>
            <p:txBody>
              <a:bodyPr lIns="50800" tIns="50800" rIns="50800" bIns="50800" rtlCol="0" anchor="ctr"/>
              <a:lstStyle/>
              <a:p>
                <a:pPr algn="ctr">
                  <a:lnSpc>
                    <a:spcPts val="2660"/>
                  </a:lnSpc>
                </a:pPr>
                <a:endParaRPr/>
              </a:p>
            </p:txBody>
          </p:sp>
        </p:grpSp>
        <p:sp>
          <p:nvSpPr>
            <p:cNvPr id="52" name="TextBox 52"/>
            <p:cNvSpPr txBox="1"/>
            <p:nvPr/>
          </p:nvSpPr>
          <p:spPr>
            <a:xfrm rot="-1053004">
              <a:off x="474056" y="1074734"/>
              <a:ext cx="5221851" cy="1582370"/>
            </a:xfrm>
            <a:prstGeom prst="rect">
              <a:avLst/>
            </a:prstGeom>
          </p:spPr>
          <p:txBody>
            <a:bodyPr lIns="0" tIns="0" rIns="0" bIns="0" rtlCol="0" anchor="t">
              <a:spAutoFit/>
            </a:bodyPr>
            <a:lstStyle/>
            <a:p>
              <a:pPr algn="ctr">
                <a:lnSpc>
                  <a:spcPts val="9883"/>
                </a:lnSpc>
                <a:spcBef>
                  <a:spcPct val="0"/>
                </a:spcBef>
              </a:pPr>
              <a:r>
                <a:rPr lang="en-US" sz="7059">
                  <a:solidFill>
                    <a:srgbClr val="4D6BA7"/>
                  </a:solidFill>
                  <a:latin typeface="Bantayog"/>
                  <a:ea typeface="Bantayog"/>
                  <a:cs typeface="Bantayog"/>
                  <a:sym typeface="Bantayog"/>
                </a:rPr>
                <a:t>¿DIVIDIR?</a:t>
              </a:r>
            </a:p>
          </p:txBody>
        </p:sp>
      </p:grpSp>
      <p:grpSp>
        <p:nvGrpSpPr>
          <p:cNvPr id="53" name="Group 53"/>
          <p:cNvGrpSpPr/>
          <p:nvPr/>
        </p:nvGrpSpPr>
        <p:grpSpPr>
          <a:xfrm>
            <a:off x="6972495" y="6682738"/>
            <a:ext cx="5437187" cy="3151824"/>
            <a:chOff x="0" y="0"/>
            <a:chExt cx="7249583" cy="4202432"/>
          </a:xfrm>
        </p:grpSpPr>
        <p:grpSp>
          <p:nvGrpSpPr>
            <p:cNvPr id="54" name="Group 54"/>
            <p:cNvGrpSpPr/>
            <p:nvPr/>
          </p:nvGrpSpPr>
          <p:grpSpPr>
            <a:xfrm rot="-1048110">
              <a:off x="176464" y="983582"/>
              <a:ext cx="6896655" cy="2235269"/>
              <a:chOff x="0" y="0"/>
              <a:chExt cx="411346" cy="133321"/>
            </a:xfrm>
          </p:grpSpPr>
          <p:sp>
            <p:nvSpPr>
              <p:cNvPr id="55" name="Freeform 55"/>
              <p:cNvSpPr/>
              <p:nvPr/>
            </p:nvSpPr>
            <p:spPr>
              <a:xfrm>
                <a:off x="0" y="0"/>
                <a:ext cx="411346" cy="133321"/>
              </a:xfrm>
              <a:custGeom>
                <a:avLst/>
                <a:gdLst/>
                <a:ahLst/>
                <a:cxnLst/>
                <a:rect l="l" t="t" r="r" b="b"/>
                <a:pathLst>
                  <a:path w="411346" h="133321">
                    <a:moveTo>
                      <a:pt x="63503" y="0"/>
                    </a:moveTo>
                    <a:lnTo>
                      <a:pt x="347843" y="0"/>
                    </a:lnTo>
                    <a:cubicBezTo>
                      <a:pt x="382915" y="0"/>
                      <a:pt x="411346" y="28431"/>
                      <a:pt x="411346" y="63503"/>
                    </a:cubicBezTo>
                    <a:lnTo>
                      <a:pt x="411346" y="69818"/>
                    </a:lnTo>
                    <a:cubicBezTo>
                      <a:pt x="411346" y="104890"/>
                      <a:pt x="382915" y="133321"/>
                      <a:pt x="347843" y="133321"/>
                    </a:cubicBezTo>
                    <a:lnTo>
                      <a:pt x="63503" y="133321"/>
                    </a:lnTo>
                    <a:cubicBezTo>
                      <a:pt x="28431" y="133321"/>
                      <a:pt x="0" y="104890"/>
                      <a:pt x="0" y="69818"/>
                    </a:cubicBezTo>
                    <a:lnTo>
                      <a:pt x="0" y="63503"/>
                    </a:lnTo>
                    <a:cubicBezTo>
                      <a:pt x="0" y="28431"/>
                      <a:pt x="28431" y="0"/>
                      <a:pt x="63503" y="0"/>
                    </a:cubicBezTo>
                    <a:close/>
                  </a:path>
                </a:pathLst>
              </a:custGeom>
              <a:solidFill>
                <a:srgbClr val="FFFFFF"/>
              </a:solidFill>
            </p:spPr>
            <p:txBody>
              <a:bodyPr/>
              <a:lstStyle/>
              <a:p>
                <a:endParaRPr lang="es-ES"/>
              </a:p>
            </p:txBody>
          </p:sp>
          <p:sp>
            <p:nvSpPr>
              <p:cNvPr id="56" name="TextBox 56"/>
              <p:cNvSpPr txBox="1"/>
              <p:nvPr/>
            </p:nvSpPr>
            <p:spPr>
              <a:xfrm>
                <a:off x="0" y="-38100"/>
                <a:ext cx="411346" cy="171421"/>
              </a:xfrm>
              <a:prstGeom prst="rect">
                <a:avLst/>
              </a:prstGeom>
            </p:spPr>
            <p:txBody>
              <a:bodyPr lIns="50800" tIns="50800" rIns="50800" bIns="50800" rtlCol="0" anchor="ctr"/>
              <a:lstStyle/>
              <a:p>
                <a:pPr algn="ctr">
                  <a:lnSpc>
                    <a:spcPts val="2660"/>
                  </a:lnSpc>
                </a:pPr>
                <a:endParaRPr/>
              </a:p>
            </p:txBody>
          </p:sp>
        </p:grpSp>
        <p:sp>
          <p:nvSpPr>
            <p:cNvPr id="57" name="TextBox 57"/>
            <p:cNvSpPr txBox="1"/>
            <p:nvPr/>
          </p:nvSpPr>
          <p:spPr>
            <a:xfrm rot="-1053004">
              <a:off x="446782" y="1223332"/>
              <a:ext cx="6393777" cy="1582370"/>
            </a:xfrm>
            <a:prstGeom prst="rect">
              <a:avLst/>
            </a:prstGeom>
          </p:spPr>
          <p:txBody>
            <a:bodyPr lIns="0" tIns="0" rIns="0" bIns="0" rtlCol="0" anchor="t">
              <a:spAutoFit/>
            </a:bodyPr>
            <a:lstStyle/>
            <a:p>
              <a:pPr algn="ctr">
                <a:lnSpc>
                  <a:spcPts val="9883"/>
                </a:lnSpc>
                <a:spcBef>
                  <a:spcPct val="0"/>
                </a:spcBef>
              </a:pPr>
              <a:r>
                <a:rPr lang="en-US" sz="7059" dirty="0">
                  <a:solidFill>
                    <a:srgbClr val="4D6BA7"/>
                  </a:solidFill>
                  <a:latin typeface="Bantayog"/>
                  <a:ea typeface="Bantayog"/>
                  <a:cs typeface="Bantayog"/>
                  <a:sym typeface="Bantayog"/>
                </a:rPr>
                <a:t>¿MÉTRICAS?</a:t>
              </a:r>
            </a:p>
          </p:txBody>
        </p:sp>
      </p:grpSp>
      <p:sp>
        <p:nvSpPr>
          <p:cNvPr id="58" name="Freeform 28">
            <a:extLst>
              <a:ext uri="{FF2B5EF4-FFF2-40B4-BE49-F238E27FC236}">
                <a16:creationId xmlns:a16="http://schemas.microsoft.com/office/drawing/2014/main" id="{BCA16DDE-0F9B-5B2D-C71B-35C0D2E8B9A6}"/>
              </a:ext>
            </a:extLst>
          </p:cNvPr>
          <p:cNvSpPr/>
          <p:nvPr/>
        </p:nvSpPr>
        <p:spPr>
          <a:xfrm rot="5400000">
            <a:off x="12604158" y="6674181"/>
            <a:ext cx="2399117" cy="971260"/>
          </a:xfrm>
          <a:custGeom>
            <a:avLst/>
            <a:gdLst/>
            <a:ahLst/>
            <a:cxnLst/>
            <a:rect l="l" t="t" r="r" b="b"/>
            <a:pathLst>
              <a:path w="4908135" h="1330902">
                <a:moveTo>
                  <a:pt x="0" y="0"/>
                </a:moveTo>
                <a:lnTo>
                  <a:pt x="4603336" y="0"/>
                </a:lnTo>
                <a:cubicBezTo>
                  <a:pt x="4771673" y="0"/>
                  <a:pt x="4908136" y="136464"/>
                  <a:pt x="4908136" y="304800"/>
                </a:cubicBezTo>
                <a:lnTo>
                  <a:pt x="4908136" y="1330902"/>
                </a:lnTo>
              </a:path>
            </a:pathLst>
          </a:custGeom>
          <a:ln w="254000" cap="flat">
            <a:solidFill>
              <a:srgbClr val="4D6BA7"/>
            </a:solidFill>
            <a:prstDash val="solid"/>
            <a:headEnd type="none" w="sm" len="sm"/>
            <a:tailEnd type="triangle" w="lg" len="med"/>
          </a:ln>
        </p:spPr>
        <p:txBody>
          <a:bodyPr/>
          <a:lstStyle/>
          <a:p>
            <a:endParaRPr lang="es-E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9" presetClass="entr" presetSubtype="0" decel="100000" fill="hold" nodeType="clickEffect">
                                  <p:stCondLst>
                                    <p:cond delay="0"/>
                                  </p:stCondLst>
                                  <p:childTnLst>
                                    <p:set>
                                      <p:cBhvr>
                                        <p:cTn id="6" dur="1" fill="hold">
                                          <p:stCondLst>
                                            <p:cond delay="0"/>
                                          </p:stCondLst>
                                        </p:cTn>
                                        <p:tgtEl>
                                          <p:spTgt spid="48"/>
                                        </p:tgtEl>
                                        <p:attrNameLst>
                                          <p:attrName>style.visibility</p:attrName>
                                        </p:attrNameLst>
                                      </p:cBhvr>
                                      <p:to>
                                        <p:strVal val="visible"/>
                                      </p:to>
                                    </p:set>
                                    <p:anim calcmode="lin" valueType="num">
                                      <p:cBhvr>
                                        <p:cTn id="7" dur="500" fill="hold"/>
                                        <p:tgtEl>
                                          <p:spTgt spid="48"/>
                                        </p:tgtEl>
                                        <p:attrNameLst>
                                          <p:attrName>ppt_w</p:attrName>
                                        </p:attrNameLst>
                                      </p:cBhvr>
                                      <p:tavLst>
                                        <p:tav tm="0">
                                          <p:val>
                                            <p:fltVal val="0"/>
                                          </p:val>
                                        </p:tav>
                                        <p:tav tm="100000">
                                          <p:val>
                                            <p:strVal val="#ppt_w"/>
                                          </p:val>
                                        </p:tav>
                                      </p:tavLst>
                                    </p:anim>
                                    <p:anim calcmode="lin" valueType="num">
                                      <p:cBhvr>
                                        <p:cTn id="8" dur="500" fill="hold"/>
                                        <p:tgtEl>
                                          <p:spTgt spid="48"/>
                                        </p:tgtEl>
                                        <p:attrNameLst>
                                          <p:attrName>ppt_h</p:attrName>
                                        </p:attrNameLst>
                                      </p:cBhvr>
                                      <p:tavLst>
                                        <p:tav tm="0">
                                          <p:val>
                                            <p:fltVal val="0"/>
                                          </p:val>
                                        </p:tav>
                                        <p:tav tm="100000">
                                          <p:val>
                                            <p:strVal val="#ppt_h"/>
                                          </p:val>
                                        </p:tav>
                                      </p:tavLst>
                                    </p:anim>
                                    <p:anim calcmode="lin" valueType="num">
                                      <p:cBhvr>
                                        <p:cTn id="9" dur="500" fill="hold"/>
                                        <p:tgtEl>
                                          <p:spTgt spid="48"/>
                                        </p:tgtEl>
                                        <p:attrNameLst>
                                          <p:attrName>style.rotation</p:attrName>
                                        </p:attrNameLst>
                                      </p:cBhvr>
                                      <p:tavLst>
                                        <p:tav tm="0">
                                          <p:val>
                                            <p:fltVal val="360"/>
                                          </p:val>
                                        </p:tav>
                                        <p:tav tm="100000">
                                          <p:val>
                                            <p:fltVal val="0"/>
                                          </p:val>
                                        </p:tav>
                                      </p:tavLst>
                                    </p:anim>
                                    <p:animEffect transition="in" filter="fade">
                                      <p:cBhvr>
                                        <p:cTn id="10" dur="500"/>
                                        <p:tgtEl>
                                          <p:spTgt spid="48"/>
                                        </p:tgtEl>
                                      </p:cBhvr>
                                    </p:animEffect>
                                  </p:childTnLst>
                                </p:cTn>
                              </p:par>
                            </p:childTnLst>
                          </p:cTn>
                        </p:par>
                      </p:childTnLst>
                    </p:cTn>
                  </p:par>
                  <p:par>
                    <p:cTn id="11" fill="hold">
                      <p:stCondLst>
                        <p:cond delay="indefinite"/>
                      </p:stCondLst>
                      <p:childTnLst>
                        <p:par>
                          <p:cTn id="12" fill="hold">
                            <p:stCondLst>
                              <p:cond delay="0"/>
                            </p:stCondLst>
                            <p:childTnLst>
                              <p:par>
                                <p:cTn id="13" presetID="49" presetClass="entr" presetSubtype="0" decel="100000" fill="hold" nodeType="clickEffect">
                                  <p:stCondLst>
                                    <p:cond delay="0"/>
                                  </p:stCondLst>
                                  <p:childTnLst>
                                    <p:set>
                                      <p:cBhvr>
                                        <p:cTn id="14" dur="1" fill="hold">
                                          <p:stCondLst>
                                            <p:cond delay="0"/>
                                          </p:stCondLst>
                                        </p:cTn>
                                        <p:tgtEl>
                                          <p:spTgt spid="53"/>
                                        </p:tgtEl>
                                        <p:attrNameLst>
                                          <p:attrName>style.visibility</p:attrName>
                                        </p:attrNameLst>
                                      </p:cBhvr>
                                      <p:to>
                                        <p:strVal val="visible"/>
                                      </p:to>
                                    </p:set>
                                    <p:anim calcmode="lin" valueType="num">
                                      <p:cBhvr>
                                        <p:cTn id="15" dur="500" fill="hold"/>
                                        <p:tgtEl>
                                          <p:spTgt spid="53"/>
                                        </p:tgtEl>
                                        <p:attrNameLst>
                                          <p:attrName>ppt_w</p:attrName>
                                        </p:attrNameLst>
                                      </p:cBhvr>
                                      <p:tavLst>
                                        <p:tav tm="0">
                                          <p:val>
                                            <p:fltVal val="0"/>
                                          </p:val>
                                        </p:tav>
                                        <p:tav tm="100000">
                                          <p:val>
                                            <p:strVal val="#ppt_w"/>
                                          </p:val>
                                        </p:tav>
                                      </p:tavLst>
                                    </p:anim>
                                    <p:anim calcmode="lin" valueType="num">
                                      <p:cBhvr>
                                        <p:cTn id="16" dur="500" fill="hold"/>
                                        <p:tgtEl>
                                          <p:spTgt spid="53"/>
                                        </p:tgtEl>
                                        <p:attrNameLst>
                                          <p:attrName>ppt_h</p:attrName>
                                        </p:attrNameLst>
                                      </p:cBhvr>
                                      <p:tavLst>
                                        <p:tav tm="0">
                                          <p:val>
                                            <p:fltVal val="0"/>
                                          </p:val>
                                        </p:tav>
                                        <p:tav tm="100000">
                                          <p:val>
                                            <p:strVal val="#ppt_h"/>
                                          </p:val>
                                        </p:tav>
                                      </p:tavLst>
                                    </p:anim>
                                    <p:anim calcmode="lin" valueType="num">
                                      <p:cBhvr>
                                        <p:cTn id="17" dur="500" fill="hold"/>
                                        <p:tgtEl>
                                          <p:spTgt spid="53"/>
                                        </p:tgtEl>
                                        <p:attrNameLst>
                                          <p:attrName>style.rotation</p:attrName>
                                        </p:attrNameLst>
                                      </p:cBhvr>
                                      <p:tavLst>
                                        <p:tav tm="0">
                                          <p:val>
                                            <p:fltVal val="360"/>
                                          </p:val>
                                        </p:tav>
                                        <p:tav tm="100000">
                                          <p:val>
                                            <p:fltVal val="0"/>
                                          </p:val>
                                        </p:tav>
                                      </p:tavLst>
                                    </p:anim>
                                    <p:animEffect transition="in" filter="fade">
                                      <p:cBhvr>
                                        <p:cTn id="18" dur="5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grpSp>
        <p:nvGrpSpPr>
          <p:cNvPr id="14" name="Group 14"/>
          <p:cNvGrpSpPr/>
          <p:nvPr/>
        </p:nvGrpSpPr>
        <p:grpSpPr>
          <a:xfrm>
            <a:off x="3465652" y="2628192"/>
            <a:ext cx="11356695" cy="1844472"/>
            <a:chOff x="0" y="0"/>
            <a:chExt cx="15142260" cy="2459296"/>
          </a:xfrm>
        </p:grpSpPr>
        <p:grpSp>
          <p:nvGrpSpPr>
            <p:cNvPr id="15" name="Group 15"/>
            <p:cNvGrpSpPr/>
            <p:nvPr/>
          </p:nvGrpSpPr>
          <p:grpSpPr>
            <a:xfrm>
              <a:off x="0" y="0"/>
              <a:ext cx="15142260" cy="2459296"/>
              <a:chOff x="0" y="0"/>
              <a:chExt cx="2991064" cy="485787"/>
            </a:xfrm>
          </p:grpSpPr>
          <p:sp>
            <p:nvSpPr>
              <p:cNvPr id="16" name="Freeform 16"/>
              <p:cNvSpPr/>
              <p:nvPr/>
            </p:nvSpPr>
            <p:spPr>
              <a:xfrm>
                <a:off x="0" y="0"/>
                <a:ext cx="2991064" cy="485787"/>
              </a:xfrm>
              <a:custGeom>
                <a:avLst/>
                <a:gdLst/>
                <a:ahLst/>
                <a:cxnLst/>
                <a:rect l="l" t="t" r="r" b="b"/>
                <a:pathLst>
                  <a:path w="2991064" h="485787">
                    <a:moveTo>
                      <a:pt x="37494" y="0"/>
                    </a:moveTo>
                    <a:lnTo>
                      <a:pt x="2953570" y="0"/>
                    </a:lnTo>
                    <a:cubicBezTo>
                      <a:pt x="2974277" y="0"/>
                      <a:pt x="2991064" y="16787"/>
                      <a:pt x="2991064" y="37494"/>
                    </a:cubicBezTo>
                    <a:lnTo>
                      <a:pt x="2991064" y="448293"/>
                    </a:lnTo>
                    <a:cubicBezTo>
                      <a:pt x="2991064" y="458237"/>
                      <a:pt x="2987114" y="467774"/>
                      <a:pt x="2980082" y="474805"/>
                    </a:cubicBezTo>
                    <a:cubicBezTo>
                      <a:pt x="2973051" y="481837"/>
                      <a:pt x="2963514" y="485787"/>
                      <a:pt x="2953570" y="485787"/>
                    </a:cubicBezTo>
                    <a:lnTo>
                      <a:pt x="37494" y="485787"/>
                    </a:lnTo>
                    <a:cubicBezTo>
                      <a:pt x="16787" y="485787"/>
                      <a:pt x="0" y="469000"/>
                      <a:pt x="0" y="448293"/>
                    </a:cubicBezTo>
                    <a:lnTo>
                      <a:pt x="0" y="37494"/>
                    </a:lnTo>
                    <a:cubicBezTo>
                      <a:pt x="0" y="16787"/>
                      <a:pt x="16787" y="0"/>
                      <a:pt x="37494" y="0"/>
                    </a:cubicBezTo>
                    <a:close/>
                  </a:path>
                </a:pathLst>
              </a:custGeom>
              <a:solidFill>
                <a:srgbClr val="4D6BA7"/>
              </a:solidFill>
            </p:spPr>
            <p:txBody>
              <a:bodyPr/>
              <a:lstStyle/>
              <a:p>
                <a:endParaRPr lang="es-ES"/>
              </a:p>
            </p:txBody>
          </p:sp>
          <p:sp>
            <p:nvSpPr>
              <p:cNvPr id="17" name="TextBox 17"/>
              <p:cNvSpPr txBox="1"/>
              <p:nvPr/>
            </p:nvSpPr>
            <p:spPr>
              <a:xfrm>
                <a:off x="0" y="-38100"/>
                <a:ext cx="2991064" cy="523887"/>
              </a:xfrm>
              <a:prstGeom prst="rect">
                <a:avLst/>
              </a:prstGeom>
            </p:spPr>
            <p:txBody>
              <a:bodyPr lIns="50800" tIns="50800" rIns="50800" bIns="50800" rtlCol="0" anchor="ctr"/>
              <a:lstStyle/>
              <a:p>
                <a:pPr algn="ctr">
                  <a:lnSpc>
                    <a:spcPts val="2659"/>
                  </a:lnSpc>
                </a:pPr>
                <a:endParaRPr/>
              </a:p>
            </p:txBody>
          </p:sp>
        </p:grpSp>
        <p:sp>
          <p:nvSpPr>
            <p:cNvPr id="18" name="TextBox 18"/>
            <p:cNvSpPr txBox="1"/>
            <p:nvPr/>
          </p:nvSpPr>
          <p:spPr>
            <a:xfrm>
              <a:off x="3889520" y="560781"/>
              <a:ext cx="7363221" cy="1223433"/>
            </a:xfrm>
            <a:prstGeom prst="rect">
              <a:avLst/>
            </a:prstGeom>
          </p:spPr>
          <p:txBody>
            <a:bodyPr lIns="0" tIns="0" rIns="0" bIns="0" rtlCol="0" anchor="t">
              <a:spAutoFit/>
            </a:bodyPr>
            <a:lstStyle/>
            <a:p>
              <a:pPr algn="ctr">
                <a:lnSpc>
                  <a:spcPts val="7699"/>
                </a:lnSpc>
                <a:spcBef>
                  <a:spcPct val="0"/>
                </a:spcBef>
              </a:pPr>
              <a:r>
                <a:rPr lang="en-US" sz="5499">
                  <a:solidFill>
                    <a:srgbClr val="FFFFFF"/>
                  </a:solidFill>
                  <a:latin typeface="Bantayog"/>
                  <a:ea typeface="Bantayog"/>
                  <a:cs typeface="Bantayog"/>
                  <a:sym typeface="Bantayog"/>
                </a:rPr>
                <a:t>DATASET ORIGINAL</a:t>
              </a:r>
            </a:p>
          </p:txBody>
        </p:sp>
      </p:grpSp>
      <p:grpSp>
        <p:nvGrpSpPr>
          <p:cNvPr id="19" name="Group 19"/>
          <p:cNvGrpSpPr/>
          <p:nvPr/>
        </p:nvGrpSpPr>
        <p:grpSpPr>
          <a:xfrm>
            <a:off x="3465652" y="4697755"/>
            <a:ext cx="11356695" cy="3850966"/>
            <a:chOff x="0" y="0"/>
            <a:chExt cx="15142260" cy="5134621"/>
          </a:xfrm>
        </p:grpSpPr>
        <p:grpSp>
          <p:nvGrpSpPr>
            <p:cNvPr id="20" name="Group 20"/>
            <p:cNvGrpSpPr/>
            <p:nvPr/>
          </p:nvGrpSpPr>
          <p:grpSpPr>
            <a:xfrm>
              <a:off x="0" y="2675325"/>
              <a:ext cx="8430175" cy="2459296"/>
              <a:chOff x="0" y="0"/>
              <a:chExt cx="1665220" cy="485787"/>
            </a:xfrm>
          </p:grpSpPr>
          <p:sp>
            <p:nvSpPr>
              <p:cNvPr id="21" name="Freeform 21"/>
              <p:cNvSpPr/>
              <p:nvPr/>
            </p:nvSpPr>
            <p:spPr>
              <a:xfrm>
                <a:off x="0" y="0"/>
                <a:ext cx="1665220" cy="485787"/>
              </a:xfrm>
              <a:custGeom>
                <a:avLst/>
                <a:gdLst/>
                <a:ahLst/>
                <a:cxnLst/>
                <a:rect l="l" t="t" r="r" b="b"/>
                <a:pathLst>
                  <a:path w="1665220" h="485787">
                    <a:moveTo>
                      <a:pt x="67346" y="0"/>
                    </a:moveTo>
                    <a:lnTo>
                      <a:pt x="1597874" y="0"/>
                    </a:lnTo>
                    <a:cubicBezTo>
                      <a:pt x="1635068" y="0"/>
                      <a:pt x="1665220" y="30152"/>
                      <a:pt x="1665220" y="67346"/>
                    </a:cubicBezTo>
                    <a:lnTo>
                      <a:pt x="1665220" y="418441"/>
                    </a:lnTo>
                    <a:cubicBezTo>
                      <a:pt x="1665220" y="436302"/>
                      <a:pt x="1658125" y="453432"/>
                      <a:pt x="1645495" y="466062"/>
                    </a:cubicBezTo>
                    <a:cubicBezTo>
                      <a:pt x="1632865" y="478692"/>
                      <a:pt x="1615735" y="485787"/>
                      <a:pt x="1597874" y="485787"/>
                    </a:cubicBezTo>
                    <a:lnTo>
                      <a:pt x="67346" y="485787"/>
                    </a:lnTo>
                    <a:cubicBezTo>
                      <a:pt x="49485" y="485787"/>
                      <a:pt x="32355" y="478692"/>
                      <a:pt x="19725" y="466062"/>
                    </a:cubicBezTo>
                    <a:cubicBezTo>
                      <a:pt x="7095" y="453432"/>
                      <a:pt x="0" y="436302"/>
                      <a:pt x="0" y="418441"/>
                    </a:cubicBezTo>
                    <a:lnTo>
                      <a:pt x="0" y="67346"/>
                    </a:lnTo>
                    <a:cubicBezTo>
                      <a:pt x="0" y="49485"/>
                      <a:pt x="7095" y="32355"/>
                      <a:pt x="19725" y="19725"/>
                    </a:cubicBezTo>
                    <a:cubicBezTo>
                      <a:pt x="32355" y="7095"/>
                      <a:pt x="49485" y="0"/>
                      <a:pt x="67346" y="0"/>
                    </a:cubicBezTo>
                    <a:close/>
                  </a:path>
                </a:pathLst>
              </a:custGeom>
              <a:solidFill>
                <a:srgbClr val="4D6BA7"/>
              </a:solidFill>
            </p:spPr>
            <p:txBody>
              <a:bodyPr/>
              <a:lstStyle/>
              <a:p>
                <a:endParaRPr lang="es-ES"/>
              </a:p>
            </p:txBody>
          </p:sp>
          <p:sp>
            <p:nvSpPr>
              <p:cNvPr id="22" name="TextBox 22"/>
              <p:cNvSpPr txBox="1"/>
              <p:nvPr/>
            </p:nvSpPr>
            <p:spPr>
              <a:xfrm>
                <a:off x="0" y="-38100"/>
                <a:ext cx="1665220" cy="523887"/>
              </a:xfrm>
              <a:prstGeom prst="rect">
                <a:avLst/>
              </a:prstGeom>
            </p:spPr>
            <p:txBody>
              <a:bodyPr lIns="50800" tIns="50800" rIns="50800" bIns="50800" rtlCol="0" anchor="ctr"/>
              <a:lstStyle/>
              <a:p>
                <a:pPr algn="ctr">
                  <a:lnSpc>
                    <a:spcPts val="2659"/>
                  </a:lnSpc>
                </a:pPr>
                <a:endParaRPr/>
              </a:p>
            </p:txBody>
          </p:sp>
        </p:grpSp>
        <p:sp>
          <p:nvSpPr>
            <p:cNvPr id="23" name="TextBox 23"/>
            <p:cNvSpPr txBox="1"/>
            <p:nvPr/>
          </p:nvSpPr>
          <p:spPr>
            <a:xfrm>
              <a:off x="533477" y="3236106"/>
              <a:ext cx="7363221" cy="1223433"/>
            </a:xfrm>
            <a:prstGeom prst="rect">
              <a:avLst/>
            </a:prstGeom>
          </p:spPr>
          <p:txBody>
            <a:bodyPr lIns="0" tIns="0" rIns="0" bIns="0" rtlCol="0" anchor="t">
              <a:spAutoFit/>
            </a:bodyPr>
            <a:lstStyle/>
            <a:p>
              <a:pPr algn="ctr">
                <a:lnSpc>
                  <a:spcPts val="7699"/>
                </a:lnSpc>
                <a:spcBef>
                  <a:spcPct val="0"/>
                </a:spcBef>
              </a:pPr>
              <a:r>
                <a:rPr lang="en-US" sz="5499">
                  <a:solidFill>
                    <a:srgbClr val="FFFFFF"/>
                  </a:solidFill>
                  <a:latin typeface="Bantayog"/>
                  <a:ea typeface="Bantayog"/>
                  <a:cs typeface="Bantayog"/>
                  <a:sym typeface="Bantayog"/>
                </a:rPr>
                <a:t>ENTRENAMIENTO</a:t>
              </a:r>
            </a:p>
          </p:txBody>
        </p:sp>
        <p:grpSp>
          <p:nvGrpSpPr>
            <p:cNvPr id="24" name="Group 24"/>
            <p:cNvGrpSpPr/>
            <p:nvPr/>
          </p:nvGrpSpPr>
          <p:grpSpPr>
            <a:xfrm>
              <a:off x="8633838" y="2675325"/>
              <a:ext cx="6508422" cy="2459296"/>
              <a:chOff x="0" y="0"/>
              <a:chExt cx="1285614" cy="485787"/>
            </a:xfrm>
          </p:grpSpPr>
          <p:sp>
            <p:nvSpPr>
              <p:cNvPr id="25" name="Freeform 25"/>
              <p:cNvSpPr/>
              <p:nvPr/>
            </p:nvSpPr>
            <p:spPr>
              <a:xfrm>
                <a:off x="0" y="0"/>
                <a:ext cx="1285614" cy="485787"/>
              </a:xfrm>
              <a:custGeom>
                <a:avLst/>
                <a:gdLst/>
                <a:ahLst/>
                <a:cxnLst/>
                <a:rect l="l" t="t" r="r" b="b"/>
                <a:pathLst>
                  <a:path w="1285614" h="485787">
                    <a:moveTo>
                      <a:pt x="87232" y="0"/>
                    </a:moveTo>
                    <a:lnTo>
                      <a:pt x="1198383" y="0"/>
                    </a:lnTo>
                    <a:cubicBezTo>
                      <a:pt x="1246559" y="0"/>
                      <a:pt x="1285614" y="39055"/>
                      <a:pt x="1285614" y="87232"/>
                    </a:cubicBezTo>
                    <a:lnTo>
                      <a:pt x="1285614" y="398555"/>
                    </a:lnTo>
                    <a:cubicBezTo>
                      <a:pt x="1285614" y="421690"/>
                      <a:pt x="1276424" y="443878"/>
                      <a:pt x="1260065" y="460237"/>
                    </a:cubicBezTo>
                    <a:cubicBezTo>
                      <a:pt x="1243706" y="476596"/>
                      <a:pt x="1221518" y="485787"/>
                      <a:pt x="1198383" y="485787"/>
                    </a:cubicBezTo>
                    <a:lnTo>
                      <a:pt x="87232" y="485787"/>
                    </a:lnTo>
                    <a:cubicBezTo>
                      <a:pt x="39055" y="485787"/>
                      <a:pt x="0" y="446732"/>
                      <a:pt x="0" y="398555"/>
                    </a:cubicBezTo>
                    <a:lnTo>
                      <a:pt x="0" y="87232"/>
                    </a:lnTo>
                    <a:cubicBezTo>
                      <a:pt x="0" y="39055"/>
                      <a:pt x="39055" y="0"/>
                      <a:pt x="87232" y="0"/>
                    </a:cubicBezTo>
                    <a:close/>
                  </a:path>
                </a:pathLst>
              </a:custGeom>
              <a:solidFill>
                <a:srgbClr val="203660"/>
              </a:solidFill>
            </p:spPr>
            <p:txBody>
              <a:bodyPr/>
              <a:lstStyle/>
              <a:p>
                <a:endParaRPr lang="es-ES"/>
              </a:p>
            </p:txBody>
          </p:sp>
          <p:sp>
            <p:nvSpPr>
              <p:cNvPr id="26" name="TextBox 26"/>
              <p:cNvSpPr txBox="1"/>
              <p:nvPr/>
            </p:nvSpPr>
            <p:spPr>
              <a:xfrm>
                <a:off x="0" y="-38100"/>
                <a:ext cx="1285614" cy="523887"/>
              </a:xfrm>
              <a:prstGeom prst="rect">
                <a:avLst/>
              </a:prstGeom>
            </p:spPr>
            <p:txBody>
              <a:bodyPr lIns="50800" tIns="50800" rIns="50800" bIns="50800" rtlCol="0" anchor="ctr"/>
              <a:lstStyle/>
              <a:p>
                <a:pPr algn="ctr">
                  <a:lnSpc>
                    <a:spcPts val="2659"/>
                  </a:lnSpc>
                </a:pPr>
                <a:endParaRPr/>
              </a:p>
            </p:txBody>
          </p:sp>
        </p:grpSp>
        <p:sp>
          <p:nvSpPr>
            <p:cNvPr id="27" name="TextBox 27"/>
            <p:cNvSpPr txBox="1"/>
            <p:nvPr/>
          </p:nvSpPr>
          <p:spPr>
            <a:xfrm>
              <a:off x="10031209" y="3236106"/>
              <a:ext cx="3713681" cy="1223433"/>
            </a:xfrm>
            <a:prstGeom prst="rect">
              <a:avLst/>
            </a:prstGeom>
          </p:spPr>
          <p:txBody>
            <a:bodyPr lIns="0" tIns="0" rIns="0" bIns="0" rtlCol="0" anchor="t">
              <a:spAutoFit/>
            </a:bodyPr>
            <a:lstStyle/>
            <a:p>
              <a:pPr algn="ctr">
                <a:lnSpc>
                  <a:spcPts val="7699"/>
                </a:lnSpc>
                <a:spcBef>
                  <a:spcPct val="0"/>
                </a:spcBef>
              </a:pPr>
              <a:r>
                <a:rPr lang="en-US" sz="5499">
                  <a:solidFill>
                    <a:srgbClr val="FFFFFF"/>
                  </a:solidFill>
                  <a:latin typeface="Bantayog"/>
                  <a:ea typeface="Bantayog"/>
                  <a:cs typeface="Bantayog"/>
                  <a:sym typeface="Bantayog"/>
                </a:rPr>
                <a:t>PRUEBA</a:t>
              </a:r>
            </a:p>
          </p:txBody>
        </p:sp>
        <p:sp>
          <p:nvSpPr>
            <p:cNvPr id="28" name="AutoShape 28"/>
            <p:cNvSpPr/>
            <p:nvPr/>
          </p:nvSpPr>
          <p:spPr>
            <a:xfrm flipH="1">
              <a:off x="7571130" y="0"/>
              <a:ext cx="0" cy="2466823"/>
            </a:xfrm>
            <a:prstGeom prst="line">
              <a:avLst/>
            </a:prstGeom>
            <a:ln w="254000" cap="flat">
              <a:solidFill>
                <a:srgbClr val="4D6BA7"/>
              </a:solidFill>
              <a:prstDash val="solid"/>
              <a:headEnd type="none" w="sm" len="sm"/>
              <a:tailEnd type="triangle" w="lg" len="med"/>
            </a:ln>
          </p:spPr>
          <p:txBody>
            <a:bodyPr/>
            <a:lstStyle/>
            <a:p>
              <a:endParaRPr lang="es-ES"/>
            </a:p>
          </p:txBody>
        </p:sp>
        <p:sp>
          <p:nvSpPr>
            <p:cNvPr id="29" name="Freeform 29"/>
            <p:cNvSpPr/>
            <p:nvPr/>
          </p:nvSpPr>
          <p:spPr>
            <a:xfrm>
              <a:off x="8633838" y="180823"/>
              <a:ext cx="2013557" cy="2013557"/>
            </a:xfrm>
            <a:custGeom>
              <a:avLst/>
              <a:gdLst/>
              <a:ahLst/>
              <a:cxnLst/>
              <a:rect l="l" t="t" r="r" b="b"/>
              <a:pathLst>
                <a:path w="2013557" h="2013557">
                  <a:moveTo>
                    <a:pt x="0" y="0"/>
                  </a:moveTo>
                  <a:lnTo>
                    <a:pt x="2013558" y="0"/>
                  </a:lnTo>
                  <a:lnTo>
                    <a:pt x="2013558" y="2013557"/>
                  </a:lnTo>
                  <a:lnTo>
                    <a:pt x="0" y="2013557"/>
                  </a:lnTo>
                  <a:lnTo>
                    <a:pt x="0" y="0"/>
                  </a:lnTo>
                  <a:close/>
                </a:path>
              </a:pathLst>
            </a:custGeom>
            <a:blipFill>
              <a:blip r:embed="rId2"/>
              <a:stretch>
                <a:fillRect/>
              </a:stretch>
            </a:blipFill>
          </p:spPr>
          <p:txBody>
            <a:bodyPr/>
            <a:lstStyle/>
            <a:p>
              <a:endParaRPr lang="es-ES"/>
            </a:p>
          </p:txBody>
        </p:sp>
      </p:grpSp>
      <p:sp>
        <p:nvSpPr>
          <p:cNvPr id="30" name="TextBox 30"/>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21</a:t>
            </a:r>
          </a:p>
        </p:txBody>
      </p:sp>
      <p:sp>
        <p:nvSpPr>
          <p:cNvPr id="31" name="TextBox 31"/>
          <p:cNvSpPr txBox="1"/>
          <p:nvPr/>
        </p:nvSpPr>
        <p:spPr>
          <a:xfrm>
            <a:off x="1910572" y="494348"/>
            <a:ext cx="1390604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VALIDACIÓN POR RETENCIÓN</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4"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 calcmode="lin" valueType="num">
                                      <p:cBhvr additive="base">
                                        <p:cTn id="7" dur="500"/>
                                        <p:tgtEl>
                                          <p:spTgt spid="19"/>
                                        </p:tgtEl>
                                        <p:attrNameLst>
                                          <p:attrName>ppt_y</p:attrName>
                                        </p:attrNameLst>
                                      </p:cBhvr>
                                      <p:tavLst>
                                        <p:tav tm="0">
                                          <p:val>
                                            <p:strVal val="#ppt_y+#ppt_h*1.125000"/>
                                          </p:val>
                                        </p:tav>
                                        <p:tav tm="100000">
                                          <p:val>
                                            <p:strVal val="#ppt_y"/>
                                          </p:val>
                                        </p:tav>
                                      </p:tavLst>
                                    </p:anim>
                                    <p:animEffect transition="in" filter="wipe(up)">
                                      <p:cBhvr>
                                        <p:cTn id="8"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grpSp>
        <p:nvGrpSpPr>
          <p:cNvPr id="14" name="Group 14"/>
          <p:cNvGrpSpPr/>
          <p:nvPr/>
        </p:nvGrpSpPr>
        <p:grpSpPr>
          <a:xfrm>
            <a:off x="474397" y="3532316"/>
            <a:ext cx="11356695" cy="1338161"/>
            <a:chOff x="0" y="0"/>
            <a:chExt cx="15142260" cy="1784215"/>
          </a:xfrm>
        </p:grpSpPr>
        <p:grpSp>
          <p:nvGrpSpPr>
            <p:cNvPr id="15" name="Group 15"/>
            <p:cNvGrpSpPr/>
            <p:nvPr/>
          </p:nvGrpSpPr>
          <p:grpSpPr>
            <a:xfrm>
              <a:off x="0" y="0"/>
              <a:ext cx="15142260" cy="1784215"/>
              <a:chOff x="0" y="0"/>
              <a:chExt cx="2991064" cy="352438"/>
            </a:xfrm>
          </p:grpSpPr>
          <p:sp>
            <p:nvSpPr>
              <p:cNvPr id="16" name="Freeform 16"/>
              <p:cNvSpPr/>
              <p:nvPr/>
            </p:nvSpPr>
            <p:spPr>
              <a:xfrm>
                <a:off x="0" y="0"/>
                <a:ext cx="2991064" cy="352437"/>
              </a:xfrm>
              <a:custGeom>
                <a:avLst/>
                <a:gdLst/>
                <a:ahLst/>
                <a:cxnLst/>
                <a:rect l="l" t="t" r="r" b="b"/>
                <a:pathLst>
                  <a:path w="2991064" h="352437">
                    <a:moveTo>
                      <a:pt x="37494" y="0"/>
                    </a:moveTo>
                    <a:lnTo>
                      <a:pt x="2953570" y="0"/>
                    </a:lnTo>
                    <a:cubicBezTo>
                      <a:pt x="2974277" y="0"/>
                      <a:pt x="2991064" y="16787"/>
                      <a:pt x="2991064" y="37494"/>
                    </a:cubicBezTo>
                    <a:lnTo>
                      <a:pt x="2991064" y="314944"/>
                    </a:lnTo>
                    <a:cubicBezTo>
                      <a:pt x="2991064" y="324888"/>
                      <a:pt x="2987114" y="334424"/>
                      <a:pt x="2980082" y="341456"/>
                    </a:cubicBezTo>
                    <a:cubicBezTo>
                      <a:pt x="2973051" y="348487"/>
                      <a:pt x="2963514" y="352437"/>
                      <a:pt x="2953570" y="352437"/>
                    </a:cubicBezTo>
                    <a:lnTo>
                      <a:pt x="37494" y="352437"/>
                    </a:lnTo>
                    <a:cubicBezTo>
                      <a:pt x="27550" y="352437"/>
                      <a:pt x="18013" y="348487"/>
                      <a:pt x="10982" y="341456"/>
                    </a:cubicBezTo>
                    <a:cubicBezTo>
                      <a:pt x="3950" y="334424"/>
                      <a:pt x="0" y="324888"/>
                      <a:pt x="0" y="314944"/>
                    </a:cubicBezTo>
                    <a:lnTo>
                      <a:pt x="0" y="37494"/>
                    </a:lnTo>
                    <a:cubicBezTo>
                      <a:pt x="0" y="16787"/>
                      <a:pt x="16787" y="0"/>
                      <a:pt x="37494" y="0"/>
                    </a:cubicBezTo>
                    <a:close/>
                  </a:path>
                </a:pathLst>
              </a:custGeom>
              <a:solidFill>
                <a:srgbClr val="4D6BA7"/>
              </a:solidFill>
            </p:spPr>
            <p:txBody>
              <a:bodyPr/>
              <a:lstStyle/>
              <a:p>
                <a:endParaRPr lang="es-ES"/>
              </a:p>
            </p:txBody>
          </p:sp>
          <p:sp>
            <p:nvSpPr>
              <p:cNvPr id="17" name="TextBox 17"/>
              <p:cNvSpPr txBox="1"/>
              <p:nvPr/>
            </p:nvSpPr>
            <p:spPr>
              <a:xfrm>
                <a:off x="0" y="-38100"/>
                <a:ext cx="2991064" cy="390538"/>
              </a:xfrm>
              <a:prstGeom prst="rect">
                <a:avLst/>
              </a:prstGeom>
            </p:spPr>
            <p:txBody>
              <a:bodyPr lIns="50800" tIns="50800" rIns="50800" bIns="50800" rtlCol="0" anchor="ctr"/>
              <a:lstStyle/>
              <a:p>
                <a:pPr algn="ctr">
                  <a:lnSpc>
                    <a:spcPts val="2659"/>
                  </a:lnSpc>
                </a:pPr>
                <a:endParaRPr/>
              </a:p>
            </p:txBody>
          </p:sp>
        </p:grpSp>
        <p:sp>
          <p:nvSpPr>
            <p:cNvPr id="18" name="TextBox 18"/>
            <p:cNvSpPr txBox="1"/>
            <p:nvPr/>
          </p:nvSpPr>
          <p:spPr>
            <a:xfrm>
              <a:off x="3889520" y="223241"/>
              <a:ext cx="7363221" cy="1223433"/>
            </a:xfrm>
            <a:prstGeom prst="rect">
              <a:avLst/>
            </a:prstGeom>
          </p:spPr>
          <p:txBody>
            <a:bodyPr lIns="0" tIns="0" rIns="0" bIns="0" rtlCol="0" anchor="t">
              <a:spAutoFit/>
            </a:bodyPr>
            <a:lstStyle/>
            <a:p>
              <a:pPr algn="ctr">
                <a:lnSpc>
                  <a:spcPts val="7699"/>
                </a:lnSpc>
                <a:spcBef>
                  <a:spcPct val="0"/>
                </a:spcBef>
              </a:pPr>
              <a:r>
                <a:rPr lang="en-US" sz="5499">
                  <a:solidFill>
                    <a:srgbClr val="FFFFFF"/>
                  </a:solidFill>
                  <a:latin typeface="Bantayog"/>
                  <a:ea typeface="Bantayog"/>
                  <a:cs typeface="Bantayog"/>
                  <a:sym typeface="Bantayog"/>
                </a:rPr>
                <a:t>DATASET ORIGINAL</a:t>
              </a:r>
            </a:p>
          </p:txBody>
        </p:sp>
      </p:grpSp>
      <p:sp>
        <p:nvSpPr>
          <p:cNvPr id="19" name="TextBox 19"/>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22</a:t>
            </a:r>
          </a:p>
        </p:txBody>
      </p:sp>
      <p:sp>
        <p:nvSpPr>
          <p:cNvPr id="20" name="TextBox 20"/>
          <p:cNvSpPr txBox="1"/>
          <p:nvPr/>
        </p:nvSpPr>
        <p:spPr>
          <a:xfrm>
            <a:off x="1910572" y="713423"/>
            <a:ext cx="13906047" cy="2611755"/>
          </a:xfrm>
          <a:prstGeom prst="rect">
            <a:avLst/>
          </a:prstGeom>
        </p:spPr>
        <p:txBody>
          <a:bodyPr lIns="0" tIns="0" rIns="0" bIns="0" rtlCol="0" anchor="t">
            <a:spAutoFit/>
          </a:bodyPr>
          <a:lstStyle/>
          <a:p>
            <a:pPr algn="ctr">
              <a:lnSpc>
                <a:spcPts val="10260"/>
              </a:lnSpc>
            </a:pPr>
            <a:r>
              <a:rPr lang="en-US" sz="9000">
                <a:solidFill>
                  <a:srgbClr val="203660"/>
                </a:solidFill>
                <a:latin typeface="Bantayog"/>
                <a:ea typeface="Bantayog"/>
                <a:cs typeface="Bantayog"/>
                <a:sym typeface="Bantayog"/>
              </a:rPr>
              <a:t>VALIDACIÓN CRUZADA POR K PLIEGUES</a:t>
            </a:r>
          </a:p>
        </p:txBody>
      </p:sp>
      <p:grpSp>
        <p:nvGrpSpPr>
          <p:cNvPr id="21" name="Group 21"/>
          <p:cNvGrpSpPr/>
          <p:nvPr/>
        </p:nvGrpSpPr>
        <p:grpSpPr>
          <a:xfrm>
            <a:off x="12180593" y="3717277"/>
            <a:ext cx="5949379" cy="1129374"/>
            <a:chOff x="0" y="0"/>
            <a:chExt cx="7932505" cy="1505833"/>
          </a:xfrm>
        </p:grpSpPr>
        <p:grpSp>
          <p:nvGrpSpPr>
            <p:cNvPr id="22" name="Group 22"/>
            <p:cNvGrpSpPr/>
            <p:nvPr/>
          </p:nvGrpSpPr>
          <p:grpSpPr>
            <a:xfrm>
              <a:off x="0" y="0"/>
              <a:ext cx="1649946" cy="1505833"/>
              <a:chOff x="0" y="0"/>
              <a:chExt cx="325915" cy="297448"/>
            </a:xfrm>
          </p:grpSpPr>
          <p:sp>
            <p:nvSpPr>
              <p:cNvPr id="23" name="Freeform 23"/>
              <p:cNvSpPr/>
              <p:nvPr/>
            </p:nvSpPr>
            <p:spPr>
              <a:xfrm>
                <a:off x="0" y="0"/>
                <a:ext cx="325915" cy="297448"/>
              </a:xfrm>
              <a:custGeom>
                <a:avLst/>
                <a:gdLst/>
                <a:ahLst/>
                <a:cxnLst/>
                <a:rect l="l" t="t" r="r" b="b"/>
                <a:pathLst>
                  <a:path w="325915" h="297448">
                    <a:moveTo>
                      <a:pt x="148724" y="0"/>
                    </a:moveTo>
                    <a:lnTo>
                      <a:pt x="177191" y="0"/>
                    </a:lnTo>
                    <a:cubicBezTo>
                      <a:pt x="259329" y="0"/>
                      <a:pt x="325915" y="66586"/>
                      <a:pt x="325915" y="148724"/>
                    </a:cubicBezTo>
                    <a:lnTo>
                      <a:pt x="325915" y="148724"/>
                    </a:lnTo>
                    <a:cubicBezTo>
                      <a:pt x="325915" y="188168"/>
                      <a:pt x="310246" y="225997"/>
                      <a:pt x="282355" y="253888"/>
                    </a:cubicBezTo>
                    <a:cubicBezTo>
                      <a:pt x="254464" y="281779"/>
                      <a:pt x="216635" y="297448"/>
                      <a:pt x="177191" y="297448"/>
                    </a:cubicBezTo>
                    <a:lnTo>
                      <a:pt x="148724" y="297448"/>
                    </a:lnTo>
                    <a:cubicBezTo>
                      <a:pt x="109280" y="297448"/>
                      <a:pt x="71452" y="281779"/>
                      <a:pt x="43560" y="253888"/>
                    </a:cubicBezTo>
                    <a:cubicBezTo>
                      <a:pt x="15669" y="225997"/>
                      <a:pt x="0" y="188168"/>
                      <a:pt x="0" y="148724"/>
                    </a:cubicBezTo>
                    <a:lnTo>
                      <a:pt x="0" y="148724"/>
                    </a:lnTo>
                    <a:cubicBezTo>
                      <a:pt x="0" y="109280"/>
                      <a:pt x="15669" y="71452"/>
                      <a:pt x="43560" y="43560"/>
                    </a:cubicBezTo>
                    <a:cubicBezTo>
                      <a:pt x="71452" y="15669"/>
                      <a:pt x="109280" y="0"/>
                      <a:pt x="148724" y="0"/>
                    </a:cubicBezTo>
                    <a:close/>
                  </a:path>
                </a:pathLst>
              </a:custGeom>
              <a:solidFill>
                <a:srgbClr val="3776AA"/>
              </a:solidFill>
            </p:spPr>
            <p:txBody>
              <a:bodyPr/>
              <a:lstStyle/>
              <a:p>
                <a:endParaRPr lang="es-ES"/>
              </a:p>
            </p:txBody>
          </p:sp>
          <p:sp>
            <p:nvSpPr>
              <p:cNvPr id="24" name="TextBox 24"/>
              <p:cNvSpPr txBox="1"/>
              <p:nvPr/>
            </p:nvSpPr>
            <p:spPr>
              <a:xfrm>
                <a:off x="0" y="-38100"/>
                <a:ext cx="325915" cy="335548"/>
              </a:xfrm>
              <a:prstGeom prst="rect">
                <a:avLst/>
              </a:prstGeom>
            </p:spPr>
            <p:txBody>
              <a:bodyPr lIns="50800" tIns="50800" rIns="50800" bIns="50800" rtlCol="0" anchor="ctr"/>
              <a:lstStyle/>
              <a:p>
                <a:pPr algn="ctr">
                  <a:lnSpc>
                    <a:spcPts val="2659"/>
                  </a:lnSpc>
                </a:pPr>
                <a:endParaRPr/>
              </a:p>
            </p:txBody>
          </p:sp>
        </p:grpSp>
        <p:sp>
          <p:nvSpPr>
            <p:cNvPr id="25" name="TextBox 25"/>
            <p:cNvSpPr txBox="1"/>
            <p:nvPr/>
          </p:nvSpPr>
          <p:spPr>
            <a:xfrm>
              <a:off x="1309208" y="200466"/>
              <a:ext cx="6623297" cy="1009650"/>
            </a:xfrm>
            <a:prstGeom prst="rect">
              <a:avLst/>
            </a:prstGeom>
          </p:spPr>
          <p:txBody>
            <a:bodyPr lIns="0" tIns="0" rIns="0" bIns="0" rtlCol="0" anchor="t">
              <a:spAutoFit/>
            </a:bodyPr>
            <a:lstStyle/>
            <a:p>
              <a:pPr algn="ctr">
                <a:lnSpc>
                  <a:spcPts val="6299"/>
                </a:lnSpc>
                <a:spcBef>
                  <a:spcPct val="0"/>
                </a:spcBef>
              </a:pPr>
              <a:r>
                <a:rPr lang="en-US" sz="4500">
                  <a:solidFill>
                    <a:srgbClr val="3776AA"/>
                  </a:solidFill>
                  <a:latin typeface="Bantayog"/>
                  <a:ea typeface="Bantayog"/>
                  <a:cs typeface="Bantayog"/>
                  <a:sym typeface="Bantayog"/>
                </a:rPr>
                <a:t>ENTRENAMIENTO</a:t>
              </a:r>
            </a:p>
          </p:txBody>
        </p:sp>
      </p:grpSp>
      <p:grpSp>
        <p:nvGrpSpPr>
          <p:cNvPr id="26" name="Group 26"/>
          <p:cNvGrpSpPr/>
          <p:nvPr/>
        </p:nvGrpSpPr>
        <p:grpSpPr>
          <a:xfrm>
            <a:off x="12180593" y="5193807"/>
            <a:ext cx="3933125" cy="1129374"/>
            <a:chOff x="0" y="0"/>
            <a:chExt cx="5244167" cy="1505833"/>
          </a:xfrm>
        </p:grpSpPr>
        <p:grpSp>
          <p:nvGrpSpPr>
            <p:cNvPr id="27" name="Group 27"/>
            <p:cNvGrpSpPr/>
            <p:nvPr/>
          </p:nvGrpSpPr>
          <p:grpSpPr>
            <a:xfrm>
              <a:off x="0" y="0"/>
              <a:ext cx="1649946" cy="1505833"/>
              <a:chOff x="0" y="0"/>
              <a:chExt cx="325915" cy="297448"/>
            </a:xfrm>
          </p:grpSpPr>
          <p:sp>
            <p:nvSpPr>
              <p:cNvPr id="28" name="Freeform 28"/>
              <p:cNvSpPr/>
              <p:nvPr/>
            </p:nvSpPr>
            <p:spPr>
              <a:xfrm>
                <a:off x="0" y="0"/>
                <a:ext cx="325915" cy="297448"/>
              </a:xfrm>
              <a:custGeom>
                <a:avLst/>
                <a:gdLst/>
                <a:ahLst/>
                <a:cxnLst/>
                <a:rect l="l" t="t" r="r" b="b"/>
                <a:pathLst>
                  <a:path w="325915" h="297448">
                    <a:moveTo>
                      <a:pt x="148724" y="0"/>
                    </a:moveTo>
                    <a:lnTo>
                      <a:pt x="177191" y="0"/>
                    </a:lnTo>
                    <a:cubicBezTo>
                      <a:pt x="259329" y="0"/>
                      <a:pt x="325915" y="66586"/>
                      <a:pt x="325915" y="148724"/>
                    </a:cubicBezTo>
                    <a:lnTo>
                      <a:pt x="325915" y="148724"/>
                    </a:lnTo>
                    <a:cubicBezTo>
                      <a:pt x="325915" y="188168"/>
                      <a:pt x="310246" y="225997"/>
                      <a:pt x="282355" y="253888"/>
                    </a:cubicBezTo>
                    <a:cubicBezTo>
                      <a:pt x="254464" y="281779"/>
                      <a:pt x="216635" y="297448"/>
                      <a:pt x="177191" y="297448"/>
                    </a:cubicBezTo>
                    <a:lnTo>
                      <a:pt x="148724" y="297448"/>
                    </a:lnTo>
                    <a:cubicBezTo>
                      <a:pt x="109280" y="297448"/>
                      <a:pt x="71452" y="281779"/>
                      <a:pt x="43560" y="253888"/>
                    </a:cubicBezTo>
                    <a:cubicBezTo>
                      <a:pt x="15669" y="225997"/>
                      <a:pt x="0" y="188168"/>
                      <a:pt x="0" y="148724"/>
                    </a:cubicBezTo>
                    <a:lnTo>
                      <a:pt x="0" y="148724"/>
                    </a:lnTo>
                    <a:cubicBezTo>
                      <a:pt x="0" y="109280"/>
                      <a:pt x="15669" y="71452"/>
                      <a:pt x="43560" y="43560"/>
                    </a:cubicBezTo>
                    <a:cubicBezTo>
                      <a:pt x="71452" y="15669"/>
                      <a:pt x="109280" y="0"/>
                      <a:pt x="148724" y="0"/>
                    </a:cubicBezTo>
                    <a:close/>
                  </a:path>
                </a:pathLst>
              </a:custGeom>
              <a:solidFill>
                <a:srgbClr val="203660"/>
              </a:solidFill>
            </p:spPr>
            <p:txBody>
              <a:bodyPr/>
              <a:lstStyle/>
              <a:p>
                <a:endParaRPr lang="es-ES"/>
              </a:p>
            </p:txBody>
          </p:sp>
          <p:sp>
            <p:nvSpPr>
              <p:cNvPr id="29" name="TextBox 29"/>
              <p:cNvSpPr txBox="1"/>
              <p:nvPr/>
            </p:nvSpPr>
            <p:spPr>
              <a:xfrm>
                <a:off x="0" y="-38100"/>
                <a:ext cx="325915" cy="335548"/>
              </a:xfrm>
              <a:prstGeom prst="rect">
                <a:avLst/>
              </a:prstGeom>
            </p:spPr>
            <p:txBody>
              <a:bodyPr lIns="50800" tIns="50800" rIns="50800" bIns="50800" rtlCol="0" anchor="ctr"/>
              <a:lstStyle/>
              <a:p>
                <a:pPr algn="ctr">
                  <a:lnSpc>
                    <a:spcPts val="2659"/>
                  </a:lnSpc>
                </a:pPr>
                <a:endParaRPr/>
              </a:p>
            </p:txBody>
          </p:sp>
        </p:grpSp>
        <p:sp>
          <p:nvSpPr>
            <p:cNvPr id="30" name="TextBox 30"/>
            <p:cNvSpPr txBox="1"/>
            <p:nvPr/>
          </p:nvSpPr>
          <p:spPr>
            <a:xfrm>
              <a:off x="1309208" y="200466"/>
              <a:ext cx="3934959" cy="1009650"/>
            </a:xfrm>
            <a:prstGeom prst="rect">
              <a:avLst/>
            </a:prstGeom>
          </p:spPr>
          <p:txBody>
            <a:bodyPr lIns="0" tIns="0" rIns="0" bIns="0" rtlCol="0" anchor="t">
              <a:spAutoFit/>
            </a:bodyPr>
            <a:lstStyle/>
            <a:p>
              <a:pPr algn="ctr">
                <a:lnSpc>
                  <a:spcPts val="6299"/>
                </a:lnSpc>
                <a:spcBef>
                  <a:spcPct val="0"/>
                </a:spcBef>
              </a:pPr>
              <a:r>
                <a:rPr lang="en-US" sz="4500">
                  <a:solidFill>
                    <a:srgbClr val="203660"/>
                  </a:solidFill>
                  <a:latin typeface="Bantayog"/>
                  <a:ea typeface="Bantayog"/>
                  <a:cs typeface="Bantayog"/>
                  <a:sym typeface="Bantayog"/>
                </a:rPr>
                <a:t>PRUEBA</a:t>
              </a:r>
            </a:p>
          </p:txBody>
        </p:sp>
      </p:grpSp>
      <p:grpSp>
        <p:nvGrpSpPr>
          <p:cNvPr id="31" name="Group 31"/>
          <p:cNvGrpSpPr/>
          <p:nvPr/>
        </p:nvGrpSpPr>
        <p:grpSpPr>
          <a:xfrm>
            <a:off x="474397" y="5027181"/>
            <a:ext cx="11356695" cy="1336772"/>
            <a:chOff x="0" y="-192881"/>
            <a:chExt cx="15142260" cy="1782362"/>
          </a:xfrm>
        </p:grpSpPr>
        <p:sp>
          <p:nvSpPr>
            <p:cNvPr id="34" name="TextBox 34"/>
            <p:cNvSpPr txBox="1"/>
            <p:nvPr/>
          </p:nvSpPr>
          <p:spPr>
            <a:xfrm>
              <a:off x="0" y="-192881"/>
              <a:ext cx="3793324" cy="1782362"/>
            </a:xfrm>
            <a:prstGeom prst="rect">
              <a:avLst/>
            </a:prstGeom>
          </p:spPr>
          <p:txBody>
            <a:bodyPr lIns="50800" tIns="50800" rIns="50800" bIns="50800" rtlCol="0" anchor="ctr"/>
            <a:lstStyle/>
            <a:p>
              <a:pPr algn="ctr">
                <a:lnSpc>
                  <a:spcPts val="2659"/>
                </a:lnSpc>
              </a:pPr>
              <a:endParaRPr/>
            </a:p>
          </p:txBody>
        </p:sp>
        <p:grpSp>
          <p:nvGrpSpPr>
            <p:cNvPr id="36" name="Group 36"/>
            <p:cNvGrpSpPr/>
            <p:nvPr/>
          </p:nvGrpSpPr>
          <p:grpSpPr>
            <a:xfrm>
              <a:off x="3793324" y="0"/>
              <a:ext cx="3793324" cy="1589481"/>
              <a:chOff x="0" y="0"/>
              <a:chExt cx="749299" cy="313972"/>
            </a:xfrm>
          </p:grpSpPr>
          <p:sp>
            <p:nvSpPr>
              <p:cNvPr id="37" name="Freeform 37"/>
              <p:cNvSpPr/>
              <p:nvPr/>
            </p:nvSpPr>
            <p:spPr>
              <a:xfrm>
                <a:off x="0" y="0"/>
                <a:ext cx="749299" cy="313972"/>
              </a:xfrm>
              <a:custGeom>
                <a:avLst/>
                <a:gdLst/>
                <a:ahLst/>
                <a:cxnLst/>
                <a:rect l="l" t="t" r="r" b="b"/>
                <a:pathLst>
                  <a:path w="749299" h="313972">
                    <a:moveTo>
                      <a:pt x="149668" y="0"/>
                    </a:moveTo>
                    <a:lnTo>
                      <a:pt x="599630" y="0"/>
                    </a:lnTo>
                    <a:cubicBezTo>
                      <a:pt x="639325" y="0"/>
                      <a:pt x="677394" y="15769"/>
                      <a:pt x="705462" y="43837"/>
                    </a:cubicBezTo>
                    <a:cubicBezTo>
                      <a:pt x="733530" y="71905"/>
                      <a:pt x="749299" y="109974"/>
                      <a:pt x="749299" y="149668"/>
                    </a:cubicBezTo>
                    <a:lnTo>
                      <a:pt x="749299" y="164303"/>
                    </a:lnTo>
                    <a:cubicBezTo>
                      <a:pt x="749299" y="203998"/>
                      <a:pt x="733530" y="242067"/>
                      <a:pt x="705462" y="270135"/>
                    </a:cubicBezTo>
                    <a:cubicBezTo>
                      <a:pt x="677394" y="298203"/>
                      <a:pt x="639325" y="313972"/>
                      <a:pt x="599630" y="313972"/>
                    </a:cubicBezTo>
                    <a:lnTo>
                      <a:pt x="149668" y="313972"/>
                    </a:lnTo>
                    <a:cubicBezTo>
                      <a:pt x="67009" y="313972"/>
                      <a:pt x="0" y="246963"/>
                      <a:pt x="0" y="164303"/>
                    </a:cubicBezTo>
                    <a:lnTo>
                      <a:pt x="0" y="149668"/>
                    </a:lnTo>
                    <a:cubicBezTo>
                      <a:pt x="0" y="67009"/>
                      <a:pt x="67009" y="0"/>
                      <a:pt x="149668" y="0"/>
                    </a:cubicBezTo>
                    <a:close/>
                  </a:path>
                </a:pathLst>
              </a:custGeom>
              <a:solidFill>
                <a:srgbClr val="4D6BA7"/>
              </a:solidFill>
            </p:spPr>
            <p:txBody>
              <a:bodyPr/>
              <a:lstStyle/>
              <a:p>
                <a:endParaRPr lang="es-ES"/>
              </a:p>
            </p:txBody>
          </p:sp>
          <p:sp>
            <p:nvSpPr>
              <p:cNvPr id="38" name="TextBox 38"/>
              <p:cNvSpPr txBox="1"/>
              <p:nvPr/>
            </p:nvSpPr>
            <p:spPr>
              <a:xfrm>
                <a:off x="0" y="-38100"/>
                <a:ext cx="749299" cy="352072"/>
              </a:xfrm>
              <a:prstGeom prst="rect">
                <a:avLst/>
              </a:prstGeom>
            </p:spPr>
            <p:txBody>
              <a:bodyPr lIns="50800" tIns="50800" rIns="50800" bIns="50800" rtlCol="0" anchor="ctr"/>
              <a:lstStyle/>
              <a:p>
                <a:pPr algn="ctr">
                  <a:lnSpc>
                    <a:spcPts val="2659"/>
                  </a:lnSpc>
                </a:pPr>
                <a:endParaRPr/>
              </a:p>
            </p:txBody>
          </p:sp>
        </p:grpSp>
        <p:sp>
          <p:nvSpPr>
            <p:cNvPr id="39" name="TextBox 39"/>
            <p:cNvSpPr txBox="1"/>
            <p:nvPr/>
          </p:nvSpPr>
          <p:spPr>
            <a:xfrm>
              <a:off x="3938033" y="242291"/>
              <a:ext cx="3503908" cy="1009650"/>
            </a:xfrm>
            <a:prstGeom prst="rect">
              <a:avLst/>
            </a:prstGeom>
          </p:spPr>
          <p:txBody>
            <a:bodyPr lIns="0" tIns="0" rIns="0" bIns="0" rtlCol="0" anchor="t">
              <a:spAutoFit/>
            </a:bodyPr>
            <a:lstStyle/>
            <a:p>
              <a:pPr algn="ctr">
                <a:lnSpc>
                  <a:spcPts val="6299"/>
                </a:lnSpc>
                <a:spcBef>
                  <a:spcPct val="0"/>
                </a:spcBef>
              </a:pPr>
              <a:r>
                <a:rPr lang="en-US" sz="4500">
                  <a:solidFill>
                    <a:srgbClr val="FFFFFF"/>
                  </a:solidFill>
                  <a:latin typeface="Bantayog"/>
                  <a:ea typeface="Bantayog"/>
                  <a:cs typeface="Bantayog"/>
                  <a:sym typeface="Bantayog"/>
                </a:rPr>
                <a:t>PLIEGUE 2</a:t>
              </a:r>
            </a:p>
          </p:txBody>
        </p:sp>
        <p:grpSp>
          <p:nvGrpSpPr>
            <p:cNvPr id="40" name="Group 40"/>
            <p:cNvGrpSpPr/>
            <p:nvPr/>
          </p:nvGrpSpPr>
          <p:grpSpPr>
            <a:xfrm>
              <a:off x="7571130" y="0"/>
              <a:ext cx="3793324" cy="1589481"/>
              <a:chOff x="0" y="0"/>
              <a:chExt cx="749299" cy="313972"/>
            </a:xfrm>
          </p:grpSpPr>
          <p:sp>
            <p:nvSpPr>
              <p:cNvPr id="41" name="Freeform 41"/>
              <p:cNvSpPr/>
              <p:nvPr/>
            </p:nvSpPr>
            <p:spPr>
              <a:xfrm>
                <a:off x="0" y="0"/>
                <a:ext cx="749299" cy="313972"/>
              </a:xfrm>
              <a:custGeom>
                <a:avLst/>
                <a:gdLst/>
                <a:ahLst/>
                <a:cxnLst/>
                <a:rect l="l" t="t" r="r" b="b"/>
                <a:pathLst>
                  <a:path w="749299" h="313972">
                    <a:moveTo>
                      <a:pt x="149668" y="0"/>
                    </a:moveTo>
                    <a:lnTo>
                      <a:pt x="599630" y="0"/>
                    </a:lnTo>
                    <a:cubicBezTo>
                      <a:pt x="639325" y="0"/>
                      <a:pt x="677394" y="15769"/>
                      <a:pt x="705462" y="43837"/>
                    </a:cubicBezTo>
                    <a:cubicBezTo>
                      <a:pt x="733530" y="71905"/>
                      <a:pt x="749299" y="109974"/>
                      <a:pt x="749299" y="149668"/>
                    </a:cubicBezTo>
                    <a:lnTo>
                      <a:pt x="749299" y="164303"/>
                    </a:lnTo>
                    <a:cubicBezTo>
                      <a:pt x="749299" y="203998"/>
                      <a:pt x="733530" y="242067"/>
                      <a:pt x="705462" y="270135"/>
                    </a:cubicBezTo>
                    <a:cubicBezTo>
                      <a:pt x="677394" y="298203"/>
                      <a:pt x="639325" y="313972"/>
                      <a:pt x="599630" y="313972"/>
                    </a:cubicBezTo>
                    <a:lnTo>
                      <a:pt x="149668" y="313972"/>
                    </a:lnTo>
                    <a:cubicBezTo>
                      <a:pt x="67009" y="313972"/>
                      <a:pt x="0" y="246963"/>
                      <a:pt x="0" y="164303"/>
                    </a:cubicBezTo>
                    <a:lnTo>
                      <a:pt x="0" y="149668"/>
                    </a:lnTo>
                    <a:cubicBezTo>
                      <a:pt x="0" y="67009"/>
                      <a:pt x="67009" y="0"/>
                      <a:pt x="149668" y="0"/>
                    </a:cubicBezTo>
                    <a:close/>
                  </a:path>
                </a:pathLst>
              </a:custGeom>
              <a:solidFill>
                <a:srgbClr val="4D6BA7"/>
              </a:solidFill>
            </p:spPr>
            <p:txBody>
              <a:bodyPr/>
              <a:lstStyle/>
              <a:p>
                <a:endParaRPr lang="es-ES"/>
              </a:p>
            </p:txBody>
          </p:sp>
          <p:sp>
            <p:nvSpPr>
              <p:cNvPr id="42" name="TextBox 42"/>
              <p:cNvSpPr txBox="1"/>
              <p:nvPr/>
            </p:nvSpPr>
            <p:spPr>
              <a:xfrm>
                <a:off x="0" y="-38100"/>
                <a:ext cx="749299" cy="352072"/>
              </a:xfrm>
              <a:prstGeom prst="rect">
                <a:avLst/>
              </a:prstGeom>
            </p:spPr>
            <p:txBody>
              <a:bodyPr lIns="50800" tIns="50800" rIns="50800" bIns="50800" rtlCol="0" anchor="ctr"/>
              <a:lstStyle/>
              <a:p>
                <a:pPr algn="ctr">
                  <a:lnSpc>
                    <a:spcPts val="2659"/>
                  </a:lnSpc>
                </a:pPr>
                <a:endParaRPr/>
              </a:p>
            </p:txBody>
          </p:sp>
        </p:grpSp>
        <p:sp>
          <p:nvSpPr>
            <p:cNvPr id="43" name="TextBox 43"/>
            <p:cNvSpPr txBox="1"/>
            <p:nvPr/>
          </p:nvSpPr>
          <p:spPr>
            <a:xfrm>
              <a:off x="7715839" y="242291"/>
              <a:ext cx="3503908" cy="1009650"/>
            </a:xfrm>
            <a:prstGeom prst="rect">
              <a:avLst/>
            </a:prstGeom>
          </p:spPr>
          <p:txBody>
            <a:bodyPr lIns="0" tIns="0" rIns="0" bIns="0" rtlCol="0" anchor="t">
              <a:spAutoFit/>
            </a:bodyPr>
            <a:lstStyle/>
            <a:p>
              <a:pPr algn="ctr">
                <a:lnSpc>
                  <a:spcPts val="6299"/>
                </a:lnSpc>
                <a:spcBef>
                  <a:spcPct val="0"/>
                </a:spcBef>
              </a:pPr>
              <a:r>
                <a:rPr lang="en-US" sz="4500">
                  <a:solidFill>
                    <a:srgbClr val="FFFFFF"/>
                  </a:solidFill>
                  <a:latin typeface="Bantayog"/>
                  <a:ea typeface="Bantayog"/>
                  <a:cs typeface="Bantayog"/>
                  <a:sym typeface="Bantayog"/>
                </a:rPr>
                <a:t>PLIEGUE 3</a:t>
              </a:r>
            </a:p>
          </p:txBody>
        </p:sp>
        <p:grpSp>
          <p:nvGrpSpPr>
            <p:cNvPr id="44" name="Group 44"/>
            <p:cNvGrpSpPr/>
            <p:nvPr/>
          </p:nvGrpSpPr>
          <p:grpSpPr>
            <a:xfrm>
              <a:off x="11348936" y="0"/>
              <a:ext cx="3793324" cy="1589481"/>
              <a:chOff x="0" y="0"/>
              <a:chExt cx="749299" cy="313972"/>
            </a:xfrm>
          </p:grpSpPr>
          <p:sp>
            <p:nvSpPr>
              <p:cNvPr id="45" name="Freeform 45"/>
              <p:cNvSpPr/>
              <p:nvPr/>
            </p:nvSpPr>
            <p:spPr>
              <a:xfrm>
                <a:off x="0" y="0"/>
                <a:ext cx="749299" cy="313972"/>
              </a:xfrm>
              <a:custGeom>
                <a:avLst/>
                <a:gdLst/>
                <a:ahLst/>
                <a:cxnLst/>
                <a:rect l="l" t="t" r="r" b="b"/>
                <a:pathLst>
                  <a:path w="749299" h="313972">
                    <a:moveTo>
                      <a:pt x="149668" y="0"/>
                    </a:moveTo>
                    <a:lnTo>
                      <a:pt x="599630" y="0"/>
                    </a:lnTo>
                    <a:cubicBezTo>
                      <a:pt x="639325" y="0"/>
                      <a:pt x="677394" y="15769"/>
                      <a:pt x="705462" y="43837"/>
                    </a:cubicBezTo>
                    <a:cubicBezTo>
                      <a:pt x="733530" y="71905"/>
                      <a:pt x="749299" y="109974"/>
                      <a:pt x="749299" y="149668"/>
                    </a:cubicBezTo>
                    <a:lnTo>
                      <a:pt x="749299" y="164303"/>
                    </a:lnTo>
                    <a:cubicBezTo>
                      <a:pt x="749299" y="203998"/>
                      <a:pt x="733530" y="242067"/>
                      <a:pt x="705462" y="270135"/>
                    </a:cubicBezTo>
                    <a:cubicBezTo>
                      <a:pt x="677394" y="298203"/>
                      <a:pt x="639325" y="313972"/>
                      <a:pt x="599630" y="313972"/>
                    </a:cubicBezTo>
                    <a:lnTo>
                      <a:pt x="149668" y="313972"/>
                    </a:lnTo>
                    <a:cubicBezTo>
                      <a:pt x="67009" y="313972"/>
                      <a:pt x="0" y="246963"/>
                      <a:pt x="0" y="164303"/>
                    </a:cubicBezTo>
                    <a:lnTo>
                      <a:pt x="0" y="149668"/>
                    </a:lnTo>
                    <a:cubicBezTo>
                      <a:pt x="0" y="67009"/>
                      <a:pt x="67009" y="0"/>
                      <a:pt x="149668" y="0"/>
                    </a:cubicBezTo>
                    <a:close/>
                  </a:path>
                </a:pathLst>
              </a:custGeom>
              <a:solidFill>
                <a:srgbClr val="4D6BA7"/>
              </a:solidFill>
            </p:spPr>
            <p:txBody>
              <a:bodyPr/>
              <a:lstStyle/>
              <a:p>
                <a:endParaRPr lang="es-ES"/>
              </a:p>
            </p:txBody>
          </p:sp>
          <p:sp>
            <p:nvSpPr>
              <p:cNvPr id="46" name="TextBox 46"/>
              <p:cNvSpPr txBox="1"/>
              <p:nvPr/>
            </p:nvSpPr>
            <p:spPr>
              <a:xfrm>
                <a:off x="0" y="-38100"/>
                <a:ext cx="749299" cy="352072"/>
              </a:xfrm>
              <a:prstGeom prst="rect">
                <a:avLst/>
              </a:prstGeom>
            </p:spPr>
            <p:txBody>
              <a:bodyPr lIns="50800" tIns="50800" rIns="50800" bIns="50800" rtlCol="0" anchor="ctr"/>
              <a:lstStyle/>
              <a:p>
                <a:pPr algn="ctr">
                  <a:lnSpc>
                    <a:spcPts val="2659"/>
                  </a:lnSpc>
                </a:pPr>
                <a:endParaRPr/>
              </a:p>
            </p:txBody>
          </p:sp>
        </p:grpSp>
        <p:sp>
          <p:nvSpPr>
            <p:cNvPr id="47" name="TextBox 47"/>
            <p:cNvSpPr txBox="1"/>
            <p:nvPr/>
          </p:nvSpPr>
          <p:spPr>
            <a:xfrm>
              <a:off x="11493645" y="242291"/>
              <a:ext cx="3503908" cy="1009650"/>
            </a:xfrm>
            <a:prstGeom prst="rect">
              <a:avLst/>
            </a:prstGeom>
          </p:spPr>
          <p:txBody>
            <a:bodyPr lIns="0" tIns="0" rIns="0" bIns="0" rtlCol="0" anchor="t">
              <a:spAutoFit/>
            </a:bodyPr>
            <a:lstStyle/>
            <a:p>
              <a:pPr algn="ctr">
                <a:lnSpc>
                  <a:spcPts val="6299"/>
                </a:lnSpc>
                <a:spcBef>
                  <a:spcPct val="0"/>
                </a:spcBef>
              </a:pPr>
              <a:r>
                <a:rPr lang="en-US" sz="4500">
                  <a:solidFill>
                    <a:srgbClr val="FFFFFF"/>
                  </a:solidFill>
                  <a:latin typeface="Bantayog"/>
                  <a:ea typeface="Bantayog"/>
                  <a:cs typeface="Bantayog"/>
                  <a:sym typeface="Bantayog"/>
                </a:rPr>
                <a:t>PLIEGUE 4</a:t>
              </a:r>
            </a:p>
          </p:txBody>
        </p:sp>
      </p:grpSp>
      <p:grpSp>
        <p:nvGrpSpPr>
          <p:cNvPr id="48" name="Group 48"/>
          <p:cNvGrpSpPr/>
          <p:nvPr/>
        </p:nvGrpSpPr>
        <p:grpSpPr>
          <a:xfrm>
            <a:off x="1218961" y="7497428"/>
            <a:ext cx="14427274" cy="1192111"/>
            <a:chOff x="0" y="0"/>
            <a:chExt cx="19236366" cy="1589481"/>
          </a:xfrm>
        </p:grpSpPr>
        <p:sp>
          <p:nvSpPr>
            <p:cNvPr id="49" name="TextBox 49"/>
            <p:cNvSpPr txBox="1"/>
            <p:nvPr/>
          </p:nvSpPr>
          <p:spPr>
            <a:xfrm>
              <a:off x="0" y="229005"/>
              <a:ext cx="4094105" cy="1009650"/>
            </a:xfrm>
            <a:prstGeom prst="rect">
              <a:avLst/>
            </a:prstGeom>
          </p:spPr>
          <p:txBody>
            <a:bodyPr lIns="0" tIns="0" rIns="0" bIns="0" rtlCol="0" anchor="t">
              <a:spAutoFit/>
            </a:bodyPr>
            <a:lstStyle/>
            <a:p>
              <a:pPr algn="ctr">
                <a:lnSpc>
                  <a:spcPts val="6299"/>
                </a:lnSpc>
                <a:spcBef>
                  <a:spcPct val="0"/>
                </a:spcBef>
              </a:pPr>
              <a:r>
                <a:rPr lang="en-US" sz="4500">
                  <a:solidFill>
                    <a:srgbClr val="4D6BA7"/>
                  </a:solidFill>
                  <a:latin typeface="Bantayog"/>
                  <a:ea typeface="Bantayog"/>
                  <a:cs typeface="Bantayog"/>
                  <a:sym typeface="Bantayog"/>
                </a:rPr>
                <a:t>ITERACIÓN 1</a:t>
              </a:r>
            </a:p>
          </p:txBody>
        </p:sp>
        <p:grpSp>
          <p:nvGrpSpPr>
            <p:cNvPr id="50" name="Group 50"/>
            <p:cNvGrpSpPr/>
            <p:nvPr/>
          </p:nvGrpSpPr>
          <p:grpSpPr>
            <a:xfrm>
              <a:off x="4094105" y="0"/>
              <a:ext cx="3793324" cy="1589481"/>
              <a:chOff x="0" y="0"/>
              <a:chExt cx="749299" cy="313972"/>
            </a:xfrm>
          </p:grpSpPr>
          <p:sp>
            <p:nvSpPr>
              <p:cNvPr id="51" name="Freeform 51"/>
              <p:cNvSpPr/>
              <p:nvPr/>
            </p:nvSpPr>
            <p:spPr>
              <a:xfrm>
                <a:off x="0" y="0"/>
                <a:ext cx="749299" cy="313972"/>
              </a:xfrm>
              <a:custGeom>
                <a:avLst/>
                <a:gdLst/>
                <a:ahLst/>
                <a:cxnLst/>
                <a:rect l="l" t="t" r="r" b="b"/>
                <a:pathLst>
                  <a:path w="749299" h="313972">
                    <a:moveTo>
                      <a:pt x="149668" y="0"/>
                    </a:moveTo>
                    <a:lnTo>
                      <a:pt x="599630" y="0"/>
                    </a:lnTo>
                    <a:cubicBezTo>
                      <a:pt x="639325" y="0"/>
                      <a:pt x="677394" y="15769"/>
                      <a:pt x="705462" y="43837"/>
                    </a:cubicBezTo>
                    <a:cubicBezTo>
                      <a:pt x="733530" y="71905"/>
                      <a:pt x="749299" y="109974"/>
                      <a:pt x="749299" y="149668"/>
                    </a:cubicBezTo>
                    <a:lnTo>
                      <a:pt x="749299" y="164303"/>
                    </a:lnTo>
                    <a:cubicBezTo>
                      <a:pt x="749299" y="203998"/>
                      <a:pt x="733530" y="242067"/>
                      <a:pt x="705462" y="270135"/>
                    </a:cubicBezTo>
                    <a:cubicBezTo>
                      <a:pt x="677394" y="298203"/>
                      <a:pt x="639325" y="313972"/>
                      <a:pt x="599630" y="313972"/>
                    </a:cubicBezTo>
                    <a:lnTo>
                      <a:pt x="149668" y="313972"/>
                    </a:lnTo>
                    <a:cubicBezTo>
                      <a:pt x="67009" y="313972"/>
                      <a:pt x="0" y="246963"/>
                      <a:pt x="0" y="164303"/>
                    </a:cubicBezTo>
                    <a:lnTo>
                      <a:pt x="0" y="149668"/>
                    </a:lnTo>
                    <a:cubicBezTo>
                      <a:pt x="0" y="67009"/>
                      <a:pt x="67009" y="0"/>
                      <a:pt x="149668" y="0"/>
                    </a:cubicBezTo>
                    <a:close/>
                  </a:path>
                </a:pathLst>
              </a:custGeom>
              <a:solidFill>
                <a:srgbClr val="203660"/>
              </a:solidFill>
            </p:spPr>
            <p:txBody>
              <a:bodyPr/>
              <a:lstStyle/>
              <a:p>
                <a:endParaRPr lang="es-ES"/>
              </a:p>
            </p:txBody>
          </p:sp>
          <p:sp>
            <p:nvSpPr>
              <p:cNvPr id="52" name="TextBox 52"/>
              <p:cNvSpPr txBox="1"/>
              <p:nvPr/>
            </p:nvSpPr>
            <p:spPr>
              <a:xfrm>
                <a:off x="0" y="-38100"/>
                <a:ext cx="749299" cy="352072"/>
              </a:xfrm>
              <a:prstGeom prst="rect">
                <a:avLst/>
              </a:prstGeom>
            </p:spPr>
            <p:txBody>
              <a:bodyPr lIns="50800" tIns="50800" rIns="50800" bIns="50800" rtlCol="0" anchor="ctr"/>
              <a:lstStyle/>
              <a:p>
                <a:pPr algn="ctr">
                  <a:lnSpc>
                    <a:spcPts val="2659"/>
                  </a:lnSpc>
                </a:pPr>
                <a:endParaRPr/>
              </a:p>
            </p:txBody>
          </p:sp>
        </p:grpSp>
        <p:sp>
          <p:nvSpPr>
            <p:cNvPr id="53" name="TextBox 53"/>
            <p:cNvSpPr txBox="1"/>
            <p:nvPr/>
          </p:nvSpPr>
          <p:spPr>
            <a:xfrm>
              <a:off x="4174903" y="242291"/>
              <a:ext cx="3648616" cy="1009650"/>
            </a:xfrm>
            <a:prstGeom prst="rect">
              <a:avLst/>
            </a:prstGeom>
          </p:spPr>
          <p:txBody>
            <a:bodyPr wrap="square" lIns="0" tIns="0" rIns="0" bIns="0" rtlCol="0" anchor="t">
              <a:spAutoFit/>
            </a:bodyPr>
            <a:lstStyle/>
            <a:p>
              <a:pPr algn="ctr">
                <a:lnSpc>
                  <a:spcPts val="6299"/>
                </a:lnSpc>
                <a:spcBef>
                  <a:spcPct val="0"/>
                </a:spcBef>
              </a:pPr>
              <a:r>
                <a:rPr lang="en-US" sz="4500" dirty="0">
                  <a:solidFill>
                    <a:srgbClr val="FFFFFF"/>
                  </a:solidFill>
                  <a:latin typeface="Bantayog"/>
                  <a:ea typeface="Bantayog"/>
                  <a:cs typeface="Bantayog"/>
                  <a:sym typeface="Bantayog"/>
                </a:rPr>
                <a:t>PLIEGUE 1</a:t>
              </a:r>
            </a:p>
          </p:txBody>
        </p:sp>
        <p:grpSp>
          <p:nvGrpSpPr>
            <p:cNvPr id="54" name="Group 54"/>
            <p:cNvGrpSpPr/>
            <p:nvPr/>
          </p:nvGrpSpPr>
          <p:grpSpPr>
            <a:xfrm>
              <a:off x="7887430" y="0"/>
              <a:ext cx="3793324" cy="1589481"/>
              <a:chOff x="0" y="0"/>
              <a:chExt cx="749299" cy="313972"/>
            </a:xfrm>
          </p:grpSpPr>
          <p:sp>
            <p:nvSpPr>
              <p:cNvPr id="55" name="Freeform 55"/>
              <p:cNvSpPr/>
              <p:nvPr/>
            </p:nvSpPr>
            <p:spPr>
              <a:xfrm>
                <a:off x="0" y="0"/>
                <a:ext cx="749299" cy="313972"/>
              </a:xfrm>
              <a:custGeom>
                <a:avLst/>
                <a:gdLst/>
                <a:ahLst/>
                <a:cxnLst/>
                <a:rect l="l" t="t" r="r" b="b"/>
                <a:pathLst>
                  <a:path w="749299" h="313972">
                    <a:moveTo>
                      <a:pt x="149668" y="0"/>
                    </a:moveTo>
                    <a:lnTo>
                      <a:pt x="599630" y="0"/>
                    </a:lnTo>
                    <a:cubicBezTo>
                      <a:pt x="639325" y="0"/>
                      <a:pt x="677394" y="15769"/>
                      <a:pt x="705462" y="43837"/>
                    </a:cubicBezTo>
                    <a:cubicBezTo>
                      <a:pt x="733530" y="71905"/>
                      <a:pt x="749299" y="109974"/>
                      <a:pt x="749299" y="149668"/>
                    </a:cubicBezTo>
                    <a:lnTo>
                      <a:pt x="749299" y="164303"/>
                    </a:lnTo>
                    <a:cubicBezTo>
                      <a:pt x="749299" y="203998"/>
                      <a:pt x="733530" y="242067"/>
                      <a:pt x="705462" y="270135"/>
                    </a:cubicBezTo>
                    <a:cubicBezTo>
                      <a:pt x="677394" y="298203"/>
                      <a:pt x="639325" y="313972"/>
                      <a:pt x="599630" y="313972"/>
                    </a:cubicBezTo>
                    <a:lnTo>
                      <a:pt x="149668" y="313972"/>
                    </a:lnTo>
                    <a:cubicBezTo>
                      <a:pt x="67009" y="313972"/>
                      <a:pt x="0" y="246963"/>
                      <a:pt x="0" y="164303"/>
                    </a:cubicBezTo>
                    <a:lnTo>
                      <a:pt x="0" y="149668"/>
                    </a:lnTo>
                    <a:cubicBezTo>
                      <a:pt x="0" y="67009"/>
                      <a:pt x="67009" y="0"/>
                      <a:pt x="149668" y="0"/>
                    </a:cubicBezTo>
                    <a:close/>
                  </a:path>
                </a:pathLst>
              </a:custGeom>
              <a:solidFill>
                <a:srgbClr val="3776AA"/>
              </a:solidFill>
            </p:spPr>
            <p:txBody>
              <a:bodyPr/>
              <a:lstStyle/>
              <a:p>
                <a:endParaRPr lang="es-ES"/>
              </a:p>
            </p:txBody>
          </p:sp>
          <p:sp>
            <p:nvSpPr>
              <p:cNvPr id="56" name="TextBox 56"/>
              <p:cNvSpPr txBox="1"/>
              <p:nvPr/>
            </p:nvSpPr>
            <p:spPr>
              <a:xfrm>
                <a:off x="0" y="-38100"/>
                <a:ext cx="749299" cy="352072"/>
              </a:xfrm>
              <a:prstGeom prst="rect">
                <a:avLst/>
              </a:prstGeom>
            </p:spPr>
            <p:txBody>
              <a:bodyPr lIns="50800" tIns="50800" rIns="50800" bIns="50800" rtlCol="0" anchor="ctr"/>
              <a:lstStyle/>
              <a:p>
                <a:pPr algn="ctr">
                  <a:lnSpc>
                    <a:spcPts val="2659"/>
                  </a:lnSpc>
                </a:pPr>
                <a:endParaRPr/>
              </a:p>
            </p:txBody>
          </p:sp>
        </p:grpSp>
        <p:sp>
          <p:nvSpPr>
            <p:cNvPr id="57" name="TextBox 57"/>
            <p:cNvSpPr txBox="1"/>
            <p:nvPr/>
          </p:nvSpPr>
          <p:spPr>
            <a:xfrm>
              <a:off x="8032138" y="242291"/>
              <a:ext cx="3503908" cy="1009650"/>
            </a:xfrm>
            <a:prstGeom prst="rect">
              <a:avLst/>
            </a:prstGeom>
          </p:spPr>
          <p:txBody>
            <a:bodyPr lIns="0" tIns="0" rIns="0" bIns="0" rtlCol="0" anchor="t">
              <a:spAutoFit/>
            </a:bodyPr>
            <a:lstStyle/>
            <a:p>
              <a:pPr algn="ctr">
                <a:lnSpc>
                  <a:spcPts val="6299"/>
                </a:lnSpc>
                <a:spcBef>
                  <a:spcPct val="0"/>
                </a:spcBef>
              </a:pPr>
              <a:r>
                <a:rPr lang="en-US" sz="4500">
                  <a:solidFill>
                    <a:srgbClr val="FFFFFF"/>
                  </a:solidFill>
                  <a:latin typeface="Bantayog"/>
                  <a:ea typeface="Bantayog"/>
                  <a:cs typeface="Bantayog"/>
                  <a:sym typeface="Bantayog"/>
                </a:rPr>
                <a:t>PLIEGUE 2</a:t>
              </a:r>
            </a:p>
          </p:txBody>
        </p:sp>
        <p:grpSp>
          <p:nvGrpSpPr>
            <p:cNvPr id="58" name="Group 58"/>
            <p:cNvGrpSpPr/>
            <p:nvPr/>
          </p:nvGrpSpPr>
          <p:grpSpPr>
            <a:xfrm>
              <a:off x="11665236" y="0"/>
              <a:ext cx="3793324" cy="1589481"/>
              <a:chOff x="0" y="0"/>
              <a:chExt cx="749299" cy="313972"/>
            </a:xfrm>
          </p:grpSpPr>
          <p:sp>
            <p:nvSpPr>
              <p:cNvPr id="59" name="Freeform 59"/>
              <p:cNvSpPr/>
              <p:nvPr/>
            </p:nvSpPr>
            <p:spPr>
              <a:xfrm>
                <a:off x="0" y="0"/>
                <a:ext cx="749299" cy="313972"/>
              </a:xfrm>
              <a:custGeom>
                <a:avLst/>
                <a:gdLst/>
                <a:ahLst/>
                <a:cxnLst/>
                <a:rect l="l" t="t" r="r" b="b"/>
                <a:pathLst>
                  <a:path w="749299" h="313972">
                    <a:moveTo>
                      <a:pt x="149668" y="0"/>
                    </a:moveTo>
                    <a:lnTo>
                      <a:pt x="599630" y="0"/>
                    </a:lnTo>
                    <a:cubicBezTo>
                      <a:pt x="639325" y="0"/>
                      <a:pt x="677394" y="15769"/>
                      <a:pt x="705462" y="43837"/>
                    </a:cubicBezTo>
                    <a:cubicBezTo>
                      <a:pt x="733530" y="71905"/>
                      <a:pt x="749299" y="109974"/>
                      <a:pt x="749299" y="149668"/>
                    </a:cubicBezTo>
                    <a:lnTo>
                      <a:pt x="749299" y="164303"/>
                    </a:lnTo>
                    <a:cubicBezTo>
                      <a:pt x="749299" y="203998"/>
                      <a:pt x="733530" y="242067"/>
                      <a:pt x="705462" y="270135"/>
                    </a:cubicBezTo>
                    <a:cubicBezTo>
                      <a:pt x="677394" y="298203"/>
                      <a:pt x="639325" y="313972"/>
                      <a:pt x="599630" y="313972"/>
                    </a:cubicBezTo>
                    <a:lnTo>
                      <a:pt x="149668" y="313972"/>
                    </a:lnTo>
                    <a:cubicBezTo>
                      <a:pt x="67009" y="313972"/>
                      <a:pt x="0" y="246963"/>
                      <a:pt x="0" y="164303"/>
                    </a:cubicBezTo>
                    <a:lnTo>
                      <a:pt x="0" y="149668"/>
                    </a:lnTo>
                    <a:cubicBezTo>
                      <a:pt x="0" y="67009"/>
                      <a:pt x="67009" y="0"/>
                      <a:pt x="149668" y="0"/>
                    </a:cubicBezTo>
                    <a:close/>
                  </a:path>
                </a:pathLst>
              </a:custGeom>
              <a:solidFill>
                <a:srgbClr val="3776AA"/>
              </a:solidFill>
            </p:spPr>
            <p:txBody>
              <a:bodyPr/>
              <a:lstStyle/>
              <a:p>
                <a:endParaRPr lang="es-ES"/>
              </a:p>
            </p:txBody>
          </p:sp>
          <p:sp>
            <p:nvSpPr>
              <p:cNvPr id="60" name="TextBox 60"/>
              <p:cNvSpPr txBox="1"/>
              <p:nvPr/>
            </p:nvSpPr>
            <p:spPr>
              <a:xfrm>
                <a:off x="0" y="-38100"/>
                <a:ext cx="749299" cy="352072"/>
              </a:xfrm>
              <a:prstGeom prst="rect">
                <a:avLst/>
              </a:prstGeom>
            </p:spPr>
            <p:txBody>
              <a:bodyPr lIns="50800" tIns="50800" rIns="50800" bIns="50800" rtlCol="0" anchor="ctr"/>
              <a:lstStyle/>
              <a:p>
                <a:pPr algn="ctr">
                  <a:lnSpc>
                    <a:spcPts val="2659"/>
                  </a:lnSpc>
                </a:pPr>
                <a:endParaRPr/>
              </a:p>
            </p:txBody>
          </p:sp>
        </p:grpSp>
        <p:sp>
          <p:nvSpPr>
            <p:cNvPr id="61" name="TextBox 61"/>
            <p:cNvSpPr txBox="1"/>
            <p:nvPr/>
          </p:nvSpPr>
          <p:spPr>
            <a:xfrm>
              <a:off x="11809944" y="242291"/>
              <a:ext cx="3503908" cy="1009650"/>
            </a:xfrm>
            <a:prstGeom prst="rect">
              <a:avLst/>
            </a:prstGeom>
          </p:spPr>
          <p:txBody>
            <a:bodyPr lIns="0" tIns="0" rIns="0" bIns="0" rtlCol="0" anchor="t">
              <a:spAutoFit/>
            </a:bodyPr>
            <a:lstStyle/>
            <a:p>
              <a:pPr algn="ctr">
                <a:lnSpc>
                  <a:spcPts val="6299"/>
                </a:lnSpc>
                <a:spcBef>
                  <a:spcPct val="0"/>
                </a:spcBef>
              </a:pPr>
              <a:r>
                <a:rPr lang="en-US" sz="4500" dirty="0">
                  <a:solidFill>
                    <a:srgbClr val="FFFFFF"/>
                  </a:solidFill>
                  <a:latin typeface="Bantayog"/>
                  <a:ea typeface="Bantayog"/>
                  <a:cs typeface="Bantayog"/>
                  <a:sym typeface="Bantayog"/>
                </a:rPr>
                <a:t>PLIEGUE 3</a:t>
              </a:r>
            </a:p>
          </p:txBody>
        </p:sp>
        <p:grpSp>
          <p:nvGrpSpPr>
            <p:cNvPr id="62" name="Group 62"/>
            <p:cNvGrpSpPr/>
            <p:nvPr/>
          </p:nvGrpSpPr>
          <p:grpSpPr>
            <a:xfrm>
              <a:off x="15443042" y="0"/>
              <a:ext cx="3793324" cy="1589481"/>
              <a:chOff x="0" y="0"/>
              <a:chExt cx="749299" cy="313972"/>
            </a:xfrm>
          </p:grpSpPr>
          <p:sp>
            <p:nvSpPr>
              <p:cNvPr id="63" name="Freeform 63"/>
              <p:cNvSpPr/>
              <p:nvPr/>
            </p:nvSpPr>
            <p:spPr>
              <a:xfrm>
                <a:off x="0" y="0"/>
                <a:ext cx="749299" cy="313972"/>
              </a:xfrm>
              <a:custGeom>
                <a:avLst/>
                <a:gdLst/>
                <a:ahLst/>
                <a:cxnLst/>
                <a:rect l="l" t="t" r="r" b="b"/>
                <a:pathLst>
                  <a:path w="749299" h="313972">
                    <a:moveTo>
                      <a:pt x="149668" y="0"/>
                    </a:moveTo>
                    <a:lnTo>
                      <a:pt x="599630" y="0"/>
                    </a:lnTo>
                    <a:cubicBezTo>
                      <a:pt x="639325" y="0"/>
                      <a:pt x="677394" y="15769"/>
                      <a:pt x="705462" y="43837"/>
                    </a:cubicBezTo>
                    <a:cubicBezTo>
                      <a:pt x="733530" y="71905"/>
                      <a:pt x="749299" y="109974"/>
                      <a:pt x="749299" y="149668"/>
                    </a:cubicBezTo>
                    <a:lnTo>
                      <a:pt x="749299" y="164303"/>
                    </a:lnTo>
                    <a:cubicBezTo>
                      <a:pt x="749299" y="203998"/>
                      <a:pt x="733530" y="242067"/>
                      <a:pt x="705462" y="270135"/>
                    </a:cubicBezTo>
                    <a:cubicBezTo>
                      <a:pt x="677394" y="298203"/>
                      <a:pt x="639325" y="313972"/>
                      <a:pt x="599630" y="313972"/>
                    </a:cubicBezTo>
                    <a:lnTo>
                      <a:pt x="149668" y="313972"/>
                    </a:lnTo>
                    <a:cubicBezTo>
                      <a:pt x="67009" y="313972"/>
                      <a:pt x="0" y="246963"/>
                      <a:pt x="0" y="164303"/>
                    </a:cubicBezTo>
                    <a:lnTo>
                      <a:pt x="0" y="149668"/>
                    </a:lnTo>
                    <a:cubicBezTo>
                      <a:pt x="0" y="67009"/>
                      <a:pt x="67009" y="0"/>
                      <a:pt x="149668" y="0"/>
                    </a:cubicBezTo>
                    <a:close/>
                  </a:path>
                </a:pathLst>
              </a:custGeom>
              <a:solidFill>
                <a:srgbClr val="3776AA"/>
              </a:solidFill>
            </p:spPr>
            <p:txBody>
              <a:bodyPr/>
              <a:lstStyle/>
              <a:p>
                <a:endParaRPr lang="es-ES"/>
              </a:p>
            </p:txBody>
          </p:sp>
          <p:sp>
            <p:nvSpPr>
              <p:cNvPr id="64" name="TextBox 64"/>
              <p:cNvSpPr txBox="1"/>
              <p:nvPr/>
            </p:nvSpPr>
            <p:spPr>
              <a:xfrm>
                <a:off x="0" y="-38100"/>
                <a:ext cx="749299" cy="352072"/>
              </a:xfrm>
              <a:prstGeom prst="rect">
                <a:avLst/>
              </a:prstGeom>
            </p:spPr>
            <p:txBody>
              <a:bodyPr lIns="50800" tIns="50800" rIns="50800" bIns="50800" rtlCol="0" anchor="ctr"/>
              <a:lstStyle/>
              <a:p>
                <a:pPr algn="ctr">
                  <a:lnSpc>
                    <a:spcPts val="2659"/>
                  </a:lnSpc>
                </a:pPr>
                <a:endParaRPr/>
              </a:p>
            </p:txBody>
          </p:sp>
        </p:grpSp>
        <p:sp>
          <p:nvSpPr>
            <p:cNvPr id="65" name="TextBox 65"/>
            <p:cNvSpPr txBox="1"/>
            <p:nvPr/>
          </p:nvSpPr>
          <p:spPr>
            <a:xfrm>
              <a:off x="15587750" y="242291"/>
              <a:ext cx="3503908" cy="1009650"/>
            </a:xfrm>
            <a:prstGeom prst="rect">
              <a:avLst/>
            </a:prstGeom>
          </p:spPr>
          <p:txBody>
            <a:bodyPr lIns="0" tIns="0" rIns="0" bIns="0" rtlCol="0" anchor="t">
              <a:spAutoFit/>
            </a:bodyPr>
            <a:lstStyle/>
            <a:p>
              <a:pPr algn="ctr">
                <a:lnSpc>
                  <a:spcPts val="6299"/>
                </a:lnSpc>
                <a:spcBef>
                  <a:spcPct val="0"/>
                </a:spcBef>
              </a:pPr>
              <a:r>
                <a:rPr lang="en-US" sz="4500">
                  <a:solidFill>
                    <a:srgbClr val="FFFFFF"/>
                  </a:solidFill>
                  <a:latin typeface="Bantayog"/>
                  <a:ea typeface="Bantayog"/>
                  <a:cs typeface="Bantayog"/>
                  <a:sym typeface="Bantayog"/>
                </a:rPr>
                <a:t>PLIEGUE 4</a:t>
              </a:r>
            </a:p>
          </p:txBody>
        </p:sp>
      </p:grpSp>
      <p:sp>
        <p:nvSpPr>
          <p:cNvPr id="66" name="Freeform 33"/>
          <p:cNvSpPr/>
          <p:nvPr/>
        </p:nvSpPr>
        <p:spPr>
          <a:xfrm>
            <a:off x="474397" y="5171842"/>
            <a:ext cx="2844993" cy="1192111"/>
          </a:xfrm>
          <a:custGeom>
            <a:avLst/>
            <a:gdLst/>
            <a:ahLst/>
            <a:cxnLst/>
            <a:rect l="l" t="t" r="r" b="b"/>
            <a:pathLst>
              <a:path w="749299" h="313972">
                <a:moveTo>
                  <a:pt x="149668" y="0"/>
                </a:moveTo>
                <a:lnTo>
                  <a:pt x="599630" y="0"/>
                </a:lnTo>
                <a:cubicBezTo>
                  <a:pt x="639325" y="0"/>
                  <a:pt x="677394" y="15769"/>
                  <a:pt x="705462" y="43837"/>
                </a:cubicBezTo>
                <a:cubicBezTo>
                  <a:pt x="733530" y="71905"/>
                  <a:pt x="749299" y="109974"/>
                  <a:pt x="749299" y="149668"/>
                </a:cubicBezTo>
                <a:lnTo>
                  <a:pt x="749299" y="164303"/>
                </a:lnTo>
                <a:cubicBezTo>
                  <a:pt x="749299" y="203998"/>
                  <a:pt x="733530" y="242067"/>
                  <a:pt x="705462" y="270135"/>
                </a:cubicBezTo>
                <a:cubicBezTo>
                  <a:pt x="677394" y="298203"/>
                  <a:pt x="639325" y="313972"/>
                  <a:pt x="599630" y="313972"/>
                </a:cubicBezTo>
                <a:lnTo>
                  <a:pt x="149668" y="313972"/>
                </a:lnTo>
                <a:cubicBezTo>
                  <a:pt x="67009" y="313972"/>
                  <a:pt x="0" y="246963"/>
                  <a:pt x="0" y="164303"/>
                </a:cubicBezTo>
                <a:lnTo>
                  <a:pt x="0" y="149668"/>
                </a:lnTo>
                <a:cubicBezTo>
                  <a:pt x="0" y="67009"/>
                  <a:pt x="67009" y="0"/>
                  <a:pt x="149668" y="0"/>
                </a:cubicBezTo>
                <a:close/>
              </a:path>
            </a:pathLst>
          </a:custGeom>
          <a:solidFill>
            <a:srgbClr val="4D6BA7"/>
          </a:solidFill>
        </p:spPr>
        <p:txBody>
          <a:bodyPr/>
          <a:lstStyle/>
          <a:p>
            <a:endParaRPr lang="es-ES" dirty="0"/>
          </a:p>
        </p:txBody>
      </p:sp>
      <p:sp>
        <p:nvSpPr>
          <p:cNvPr id="67" name="TextBox 35">
            <a:extLst>
              <a:ext uri="{FF2B5EF4-FFF2-40B4-BE49-F238E27FC236}">
                <a16:creationId xmlns:a16="http://schemas.microsoft.com/office/drawing/2014/main" id="{BAB35086-60E7-21F6-1A1F-C2BB44DBEBBB}"/>
              </a:ext>
            </a:extLst>
          </p:cNvPr>
          <p:cNvSpPr txBox="1"/>
          <p:nvPr/>
        </p:nvSpPr>
        <p:spPr>
          <a:xfrm>
            <a:off x="560831" y="5353560"/>
            <a:ext cx="2639569" cy="757238"/>
          </a:xfrm>
          <a:prstGeom prst="rect">
            <a:avLst/>
          </a:prstGeom>
        </p:spPr>
        <p:txBody>
          <a:bodyPr wrap="square" lIns="0" tIns="0" rIns="0" bIns="0" rtlCol="0" anchor="t">
            <a:spAutoFit/>
          </a:bodyPr>
          <a:lstStyle/>
          <a:p>
            <a:pPr algn="ctr">
              <a:lnSpc>
                <a:spcPts val="6299"/>
              </a:lnSpc>
              <a:spcBef>
                <a:spcPct val="0"/>
              </a:spcBef>
            </a:pPr>
            <a:r>
              <a:rPr lang="en-US" sz="4500" dirty="0">
                <a:solidFill>
                  <a:srgbClr val="FFFFFF"/>
                </a:solidFill>
                <a:latin typeface="Bantayog"/>
                <a:ea typeface="Bantayog"/>
                <a:cs typeface="Bantayog"/>
                <a:sym typeface="Bantayog"/>
              </a:rPr>
              <a:t>PLIEGUE 1</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4" fill="hold" nodeType="clickEffect">
                                  <p:stCondLst>
                                    <p:cond delay="0"/>
                                  </p:stCondLst>
                                  <p:childTnLst>
                                    <p:set>
                                      <p:cBhvr>
                                        <p:cTn id="6" dur="1" fill="hold">
                                          <p:stCondLst>
                                            <p:cond delay="0"/>
                                          </p:stCondLst>
                                        </p:cTn>
                                        <p:tgtEl>
                                          <p:spTgt spid="48"/>
                                        </p:tgtEl>
                                        <p:attrNameLst>
                                          <p:attrName>style.visibility</p:attrName>
                                        </p:attrNameLst>
                                      </p:cBhvr>
                                      <p:to>
                                        <p:strVal val="visible"/>
                                      </p:to>
                                    </p:set>
                                    <p:anim calcmode="lin" valueType="num">
                                      <p:cBhvr additive="base">
                                        <p:cTn id="7" dur="500"/>
                                        <p:tgtEl>
                                          <p:spTgt spid="48"/>
                                        </p:tgtEl>
                                        <p:attrNameLst>
                                          <p:attrName>ppt_y</p:attrName>
                                        </p:attrNameLst>
                                      </p:cBhvr>
                                      <p:tavLst>
                                        <p:tav tm="0">
                                          <p:val>
                                            <p:strVal val="#ppt_y+#ppt_h*1.125000"/>
                                          </p:val>
                                        </p:tav>
                                        <p:tav tm="100000">
                                          <p:val>
                                            <p:strVal val="#ppt_y"/>
                                          </p:val>
                                        </p:tav>
                                      </p:tavLst>
                                    </p:anim>
                                    <p:animEffect transition="in" filter="wipe(up)">
                                      <p:cBhvr>
                                        <p:cTn id="8" dur="5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grpSp>
        <p:nvGrpSpPr>
          <p:cNvPr id="14" name="Group 14"/>
          <p:cNvGrpSpPr/>
          <p:nvPr/>
        </p:nvGrpSpPr>
        <p:grpSpPr>
          <a:xfrm>
            <a:off x="474397" y="3532316"/>
            <a:ext cx="11356695" cy="1338161"/>
            <a:chOff x="0" y="0"/>
            <a:chExt cx="15142260" cy="1784215"/>
          </a:xfrm>
        </p:grpSpPr>
        <p:grpSp>
          <p:nvGrpSpPr>
            <p:cNvPr id="15" name="Group 15"/>
            <p:cNvGrpSpPr/>
            <p:nvPr/>
          </p:nvGrpSpPr>
          <p:grpSpPr>
            <a:xfrm>
              <a:off x="0" y="0"/>
              <a:ext cx="15142260" cy="1784215"/>
              <a:chOff x="0" y="0"/>
              <a:chExt cx="2991064" cy="352438"/>
            </a:xfrm>
          </p:grpSpPr>
          <p:sp>
            <p:nvSpPr>
              <p:cNvPr id="16" name="Freeform 16"/>
              <p:cNvSpPr/>
              <p:nvPr/>
            </p:nvSpPr>
            <p:spPr>
              <a:xfrm>
                <a:off x="0" y="0"/>
                <a:ext cx="2991064" cy="352437"/>
              </a:xfrm>
              <a:custGeom>
                <a:avLst/>
                <a:gdLst/>
                <a:ahLst/>
                <a:cxnLst/>
                <a:rect l="l" t="t" r="r" b="b"/>
                <a:pathLst>
                  <a:path w="2991064" h="352437">
                    <a:moveTo>
                      <a:pt x="37494" y="0"/>
                    </a:moveTo>
                    <a:lnTo>
                      <a:pt x="2953570" y="0"/>
                    </a:lnTo>
                    <a:cubicBezTo>
                      <a:pt x="2974277" y="0"/>
                      <a:pt x="2991064" y="16787"/>
                      <a:pt x="2991064" y="37494"/>
                    </a:cubicBezTo>
                    <a:lnTo>
                      <a:pt x="2991064" y="314944"/>
                    </a:lnTo>
                    <a:cubicBezTo>
                      <a:pt x="2991064" y="324888"/>
                      <a:pt x="2987114" y="334424"/>
                      <a:pt x="2980082" y="341456"/>
                    </a:cubicBezTo>
                    <a:cubicBezTo>
                      <a:pt x="2973051" y="348487"/>
                      <a:pt x="2963514" y="352437"/>
                      <a:pt x="2953570" y="352437"/>
                    </a:cubicBezTo>
                    <a:lnTo>
                      <a:pt x="37494" y="352437"/>
                    </a:lnTo>
                    <a:cubicBezTo>
                      <a:pt x="27550" y="352437"/>
                      <a:pt x="18013" y="348487"/>
                      <a:pt x="10982" y="341456"/>
                    </a:cubicBezTo>
                    <a:cubicBezTo>
                      <a:pt x="3950" y="334424"/>
                      <a:pt x="0" y="324888"/>
                      <a:pt x="0" y="314944"/>
                    </a:cubicBezTo>
                    <a:lnTo>
                      <a:pt x="0" y="37494"/>
                    </a:lnTo>
                    <a:cubicBezTo>
                      <a:pt x="0" y="16787"/>
                      <a:pt x="16787" y="0"/>
                      <a:pt x="37494" y="0"/>
                    </a:cubicBezTo>
                    <a:close/>
                  </a:path>
                </a:pathLst>
              </a:custGeom>
              <a:solidFill>
                <a:srgbClr val="4D6BA7"/>
              </a:solidFill>
            </p:spPr>
            <p:txBody>
              <a:bodyPr/>
              <a:lstStyle/>
              <a:p>
                <a:endParaRPr lang="es-ES"/>
              </a:p>
            </p:txBody>
          </p:sp>
          <p:sp>
            <p:nvSpPr>
              <p:cNvPr id="17" name="TextBox 17"/>
              <p:cNvSpPr txBox="1"/>
              <p:nvPr/>
            </p:nvSpPr>
            <p:spPr>
              <a:xfrm>
                <a:off x="0" y="-38100"/>
                <a:ext cx="2991064" cy="390538"/>
              </a:xfrm>
              <a:prstGeom prst="rect">
                <a:avLst/>
              </a:prstGeom>
            </p:spPr>
            <p:txBody>
              <a:bodyPr lIns="50800" tIns="50800" rIns="50800" bIns="50800" rtlCol="0" anchor="ctr"/>
              <a:lstStyle/>
              <a:p>
                <a:pPr algn="ctr">
                  <a:lnSpc>
                    <a:spcPts val="2659"/>
                  </a:lnSpc>
                </a:pPr>
                <a:endParaRPr/>
              </a:p>
            </p:txBody>
          </p:sp>
        </p:grpSp>
        <p:sp>
          <p:nvSpPr>
            <p:cNvPr id="18" name="TextBox 18"/>
            <p:cNvSpPr txBox="1"/>
            <p:nvPr/>
          </p:nvSpPr>
          <p:spPr>
            <a:xfrm>
              <a:off x="3889520" y="223241"/>
              <a:ext cx="7363221" cy="1223433"/>
            </a:xfrm>
            <a:prstGeom prst="rect">
              <a:avLst/>
            </a:prstGeom>
          </p:spPr>
          <p:txBody>
            <a:bodyPr lIns="0" tIns="0" rIns="0" bIns="0" rtlCol="0" anchor="t">
              <a:spAutoFit/>
            </a:bodyPr>
            <a:lstStyle/>
            <a:p>
              <a:pPr algn="ctr">
                <a:lnSpc>
                  <a:spcPts val="7699"/>
                </a:lnSpc>
                <a:spcBef>
                  <a:spcPct val="0"/>
                </a:spcBef>
              </a:pPr>
              <a:r>
                <a:rPr lang="en-US" sz="5499">
                  <a:solidFill>
                    <a:srgbClr val="FFFFFF"/>
                  </a:solidFill>
                  <a:latin typeface="Bantayog"/>
                  <a:ea typeface="Bantayog"/>
                  <a:cs typeface="Bantayog"/>
                  <a:sym typeface="Bantayog"/>
                </a:rPr>
                <a:t>DATASET ORIGINAL</a:t>
              </a:r>
            </a:p>
          </p:txBody>
        </p:sp>
      </p:grpSp>
      <p:sp>
        <p:nvSpPr>
          <p:cNvPr id="19" name="TextBox 19"/>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23</a:t>
            </a:r>
          </a:p>
        </p:txBody>
      </p:sp>
      <p:sp>
        <p:nvSpPr>
          <p:cNvPr id="20" name="TextBox 20"/>
          <p:cNvSpPr txBox="1"/>
          <p:nvPr/>
        </p:nvSpPr>
        <p:spPr>
          <a:xfrm>
            <a:off x="1910572" y="713423"/>
            <a:ext cx="13906047" cy="2611755"/>
          </a:xfrm>
          <a:prstGeom prst="rect">
            <a:avLst/>
          </a:prstGeom>
        </p:spPr>
        <p:txBody>
          <a:bodyPr lIns="0" tIns="0" rIns="0" bIns="0" rtlCol="0" anchor="t">
            <a:spAutoFit/>
          </a:bodyPr>
          <a:lstStyle/>
          <a:p>
            <a:pPr algn="ctr">
              <a:lnSpc>
                <a:spcPts val="10260"/>
              </a:lnSpc>
            </a:pPr>
            <a:r>
              <a:rPr lang="en-US" sz="9000">
                <a:solidFill>
                  <a:srgbClr val="203660"/>
                </a:solidFill>
                <a:latin typeface="Bantayog"/>
                <a:ea typeface="Bantayog"/>
                <a:cs typeface="Bantayog"/>
                <a:sym typeface="Bantayog"/>
              </a:rPr>
              <a:t>VALIDACIÓN CRUZADA POR K PLIEGUES</a:t>
            </a:r>
          </a:p>
        </p:txBody>
      </p:sp>
      <p:grpSp>
        <p:nvGrpSpPr>
          <p:cNvPr id="21" name="Group 21"/>
          <p:cNvGrpSpPr/>
          <p:nvPr/>
        </p:nvGrpSpPr>
        <p:grpSpPr>
          <a:xfrm>
            <a:off x="12180593" y="3717277"/>
            <a:ext cx="5949379" cy="1129374"/>
            <a:chOff x="0" y="0"/>
            <a:chExt cx="7932505" cy="1505833"/>
          </a:xfrm>
        </p:grpSpPr>
        <p:grpSp>
          <p:nvGrpSpPr>
            <p:cNvPr id="22" name="Group 22"/>
            <p:cNvGrpSpPr/>
            <p:nvPr/>
          </p:nvGrpSpPr>
          <p:grpSpPr>
            <a:xfrm>
              <a:off x="0" y="0"/>
              <a:ext cx="1649946" cy="1505833"/>
              <a:chOff x="0" y="0"/>
              <a:chExt cx="325915" cy="297448"/>
            </a:xfrm>
          </p:grpSpPr>
          <p:sp>
            <p:nvSpPr>
              <p:cNvPr id="23" name="Freeform 23"/>
              <p:cNvSpPr/>
              <p:nvPr/>
            </p:nvSpPr>
            <p:spPr>
              <a:xfrm>
                <a:off x="0" y="0"/>
                <a:ext cx="325915" cy="297448"/>
              </a:xfrm>
              <a:custGeom>
                <a:avLst/>
                <a:gdLst/>
                <a:ahLst/>
                <a:cxnLst/>
                <a:rect l="l" t="t" r="r" b="b"/>
                <a:pathLst>
                  <a:path w="325915" h="297448">
                    <a:moveTo>
                      <a:pt x="148724" y="0"/>
                    </a:moveTo>
                    <a:lnTo>
                      <a:pt x="177191" y="0"/>
                    </a:lnTo>
                    <a:cubicBezTo>
                      <a:pt x="259329" y="0"/>
                      <a:pt x="325915" y="66586"/>
                      <a:pt x="325915" y="148724"/>
                    </a:cubicBezTo>
                    <a:lnTo>
                      <a:pt x="325915" y="148724"/>
                    </a:lnTo>
                    <a:cubicBezTo>
                      <a:pt x="325915" y="188168"/>
                      <a:pt x="310246" y="225997"/>
                      <a:pt x="282355" y="253888"/>
                    </a:cubicBezTo>
                    <a:cubicBezTo>
                      <a:pt x="254464" y="281779"/>
                      <a:pt x="216635" y="297448"/>
                      <a:pt x="177191" y="297448"/>
                    </a:cubicBezTo>
                    <a:lnTo>
                      <a:pt x="148724" y="297448"/>
                    </a:lnTo>
                    <a:cubicBezTo>
                      <a:pt x="109280" y="297448"/>
                      <a:pt x="71452" y="281779"/>
                      <a:pt x="43560" y="253888"/>
                    </a:cubicBezTo>
                    <a:cubicBezTo>
                      <a:pt x="15669" y="225997"/>
                      <a:pt x="0" y="188168"/>
                      <a:pt x="0" y="148724"/>
                    </a:cubicBezTo>
                    <a:lnTo>
                      <a:pt x="0" y="148724"/>
                    </a:lnTo>
                    <a:cubicBezTo>
                      <a:pt x="0" y="109280"/>
                      <a:pt x="15669" y="71452"/>
                      <a:pt x="43560" y="43560"/>
                    </a:cubicBezTo>
                    <a:cubicBezTo>
                      <a:pt x="71452" y="15669"/>
                      <a:pt x="109280" y="0"/>
                      <a:pt x="148724" y="0"/>
                    </a:cubicBezTo>
                    <a:close/>
                  </a:path>
                </a:pathLst>
              </a:custGeom>
              <a:solidFill>
                <a:srgbClr val="3776AA"/>
              </a:solidFill>
            </p:spPr>
            <p:txBody>
              <a:bodyPr/>
              <a:lstStyle/>
              <a:p>
                <a:endParaRPr lang="es-ES"/>
              </a:p>
            </p:txBody>
          </p:sp>
          <p:sp>
            <p:nvSpPr>
              <p:cNvPr id="24" name="TextBox 24"/>
              <p:cNvSpPr txBox="1"/>
              <p:nvPr/>
            </p:nvSpPr>
            <p:spPr>
              <a:xfrm>
                <a:off x="0" y="-38100"/>
                <a:ext cx="325915" cy="335548"/>
              </a:xfrm>
              <a:prstGeom prst="rect">
                <a:avLst/>
              </a:prstGeom>
            </p:spPr>
            <p:txBody>
              <a:bodyPr lIns="50800" tIns="50800" rIns="50800" bIns="50800" rtlCol="0" anchor="ctr"/>
              <a:lstStyle/>
              <a:p>
                <a:pPr algn="ctr">
                  <a:lnSpc>
                    <a:spcPts val="2659"/>
                  </a:lnSpc>
                </a:pPr>
                <a:endParaRPr/>
              </a:p>
            </p:txBody>
          </p:sp>
        </p:grpSp>
        <p:sp>
          <p:nvSpPr>
            <p:cNvPr id="25" name="TextBox 25"/>
            <p:cNvSpPr txBox="1"/>
            <p:nvPr/>
          </p:nvSpPr>
          <p:spPr>
            <a:xfrm>
              <a:off x="1309208" y="200466"/>
              <a:ext cx="6623297" cy="1009650"/>
            </a:xfrm>
            <a:prstGeom prst="rect">
              <a:avLst/>
            </a:prstGeom>
          </p:spPr>
          <p:txBody>
            <a:bodyPr lIns="0" tIns="0" rIns="0" bIns="0" rtlCol="0" anchor="t">
              <a:spAutoFit/>
            </a:bodyPr>
            <a:lstStyle/>
            <a:p>
              <a:pPr algn="ctr">
                <a:lnSpc>
                  <a:spcPts val="6299"/>
                </a:lnSpc>
                <a:spcBef>
                  <a:spcPct val="0"/>
                </a:spcBef>
              </a:pPr>
              <a:r>
                <a:rPr lang="en-US" sz="4500">
                  <a:solidFill>
                    <a:srgbClr val="3776AA"/>
                  </a:solidFill>
                  <a:latin typeface="Bantayog"/>
                  <a:ea typeface="Bantayog"/>
                  <a:cs typeface="Bantayog"/>
                  <a:sym typeface="Bantayog"/>
                </a:rPr>
                <a:t>ENTRENAMIENTO</a:t>
              </a:r>
            </a:p>
          </p:txBody>
        </p:sp>
      </p:grpSp>
      <p:grpSp>
        <p:nvGrpSpPr>
          <p:cNvPr id="26" name="Group 26"/>
          <p:cNvGrpSpPr/>
          <p:nvPr/>
        </p:nvGrpSpPr>
        <p:grpSpPr>
          <a:xfrm>
            <a:off x="12180593" y="5193807"/>
            <a:ext cx="3933125" cy="1129374"/>
            <a:chOff x="0" y="0"/>
            <a:chExt cx="5244167" cy="1505833"/>
          </a:xfrm>
        </p:grpSpPr>
        <p:grpSp>
          <p:nvGrpSpPr>
            <p:cNvPr id="27" name="Group 27"/>
            <p:cNvGrpSpPr/>
            <p:nvPr/>
          </p:nvGrpSpPr>
          <p:grpSpPr>
            <a:xfrm>
              <a:off x="0" y="0"/>
              <a:ext cx="1649946" cy="1505833"/>
              <a:chOff x="0" y="0"/>
              <a:chExt cx="325915" cy="297448"/>
            </a:xfrm>
          </p:grpSpPr>
          <p:sp>
            <p:nvSpPr>
              <p:cNvPr id="28" name="Freeform 28"/>
              <p:cNvSpPr/>
              <p:nvPr/>
            </p:nvSpPr>
            <p:spPr>
              <a:xfrm>
                <a:off x="0" y="0"/>
                <a:ext cx="325915" cy="297448"/>
              </a:xfrm>
              <a:custGeom>
                <a:avLst/>
                <a:gdLst/>
                <a:ahLst/>
                <a:cxnLst/>
                <a:rect l="l" t="t" r="r" b="b"/>
                <a:pathLst>
                  <a:path w="325915" h="297448">
                    <a:moveTo>
                      <a:pt x="148724" y="0"/>
                    </a:moveTo>
                    <a:lnTo>
                      <a:pt x="177191" y="0"/>
                    </a:lnTo>
                    <a:cubicBezTo>
                      <a:pt x="259329" y="0"/>
                      <a:pt x="325915" y="66586"/>
                      <a:pt x="325915" y="148724"/>
                    </a:cubicBezTo>
                    <a:lnTo>
                      <a:pt x="325915" y="148724"/>
                    </a:lnTo>
                    <a:cubicBezTo>
                      <a:pt x="325915" y="188168"/>
                      <a:pt x="310246" y="225997"/>
                      <a:pt x="282355" y="253888"/>
                    </a:cubicBezTo>
                    <a:cubicBezTo>
                      <a:pt x="254464" y="281779"/>
                      <a:pt x="216635" y="297448"/>
                      <a:pt x="177191" y="297448"/>
                    </a:cubicBezTo>
                    <a:lnTo>
                      <a:pt x="148724" y="297448"/>
                    </a:lnTo>
                    <a:cubicBezTo>
                      <a:pt x="109280" y="297448"/>
                      <a:pt x="71452" y="281779"/>
                      <a:pt x="43560" y="253888"/>
                    </a:cubicBezTo>
                    <a:cubicBezTo>
                      <a:pt x="15669" y="225997"/>
                      <a:pt x="0" y="188168"/>
                      <a:pt x="0" y="148724"/>
                    </a:cubicBezTo>
                    <a:lnTo>
                      <a:pt x="0" y="148724"/>
                    </a:lnTo>
                    <a:cubicBezTo>
                      <a:pt x="0" y="109280"/>
                      <a:pt x="15669" y="71452"/>
                      <a:pt x="43560" y="43560"/>
                    </a:cubicBezTo>
                    <a:cubicBezTo>
                      <a:pt x="71452" y="15669"/>
                      <a:pt x="109280" y="0"/>
                      <a:pt x="148724" y="0"/>
                    </a:cubicBezTo>
                    <a:close/>
                  </a:path>
                </a:pathLst>
              </a:custGeom>
              <a:solidFill>
                <a:srgbClr val="203660"/>
              </a:solidFill>
            </p:spPr>
            <p:txBody>
              <a:bodyPr/>
              <a:lstStyle/>
              <a:p>
                <a:endParaRPr lang="es-ES"/>
              </a:p>
            </p:txBody>
          </p:sp>
          <p:sp>
            <p:nvSpPr>
              <p:cNvPr id="29" name="TextBox 29"/>
              <p:cNvSpPr txBox="1"/>
              <p:nvPr/>
            </p:nvSpPr>
            <p:spPr>
              <a:xfrm>
                <a:off x="0" y="-38100"/>
                <a:ext cx="325915" cy="335548"/>
              </a:xfrm>
              <a:prstGeom prst="rect">
                <a:avLst/>
              </a:prstGeom>
            </p:spPr>
            <p:txBody>
              <a:bodyPr lIns="50800" tIns="50800" rIns="50800" bIns="50800" rtlCol="0" anchor="ctr"/>
              <a:lstStyle/>
              <a:p>
                <a:pPr algn="ctr">
                  <a:lnSpc>
                    <a:spcPts val="2659"/>
                  </a:lnSpc>
                </a:pPr>
                <a:endParaRPr/>
              </a:p>
            </p:txBody>
          </p:sp>
        </p:grpSp>
        <p:sp>
          <p:nvSpPr>
            <p:cNvPr id="30" name="TextBox 30"/>
            <p:cNvSpPr txBox="1"/>
            <p:nvPr/>
          </p:nvSpPr>
          <p:spPr>
            <a:xfrm>
              <a:off x="1309208" y="200466"/>
              <a:ext cx="3934959" cy="1009650"/>
            </a:xfrm>
            <a:prstGeom prst="rect">
              <a:avLst/>
            </a:prstGeom>
          </p:spPr>
          <p:txBody>
            <a:bodyPr lIns="0" tIns="0" rIns="0" bIns="0" rtlCol="0" anchor="t">
              <a:spAutoFit/>
            </a:bodyPr>
            <a:lstStyle/>
            <a:p>
              <a:pPr algn="ctr">
                <a:lnSpc>
                  <a:spcPts val="6299"/>
                </a:lnSpc>
                <a:spcBef>
                  <a:spcPct val="0"/>
                </a:spcBef>
              </a:pPr>
              <a:r>
                <a:rPr lang="en-US" sz="4500">
                  <a:solidFill>
                    <a:srgbClr val="203660"/>
                  </a:solidFill>
                  <a:latin typeface="Bantayog"/>
                  <a:ea typeface="Bantayog"/>
                  <a:cs typeface="Bantayog"/>
                  <a:sym typeface="Bantayog"/>
                </a:rPr>
                <a:t>PRUEBA</a:t>
              </a:r>
            </a:p>
          </p:txBody>
        </p:sp>
      </p:grpSp>
      <p:grpSp>
        <p:nvGrpSpPr>
          <p:cNvPr id="31" name="Group 31"/>
          <p:cNvGrpSpPr/>
          <p:nvPr/>
        </p:nvGrpSpPr>
        <p:grpSpPr>
          <a:xfrm>
            <a:off x="474397" y="5027181"/>
            <a:ext cx="11356695" cy="1336772"/>
            <a:chOff x="0" y="-192881"/>
            <a:chExt cx="15142260" cy="1782362"/>
          </a:xfrm>
        </p:grpSpPr>
        <p:grpSp>
          <p:nvGrpSpPr>
            <p:cNvPr id="32" name="Group 32"/>
            <p:cNvGrpSpPr/>
            <p:nvPr/>
          </p:nvGrpSpPr>
          <p:grpSpPr>
            <a:xfrm>
              <a:off x="0" y="-192881"/>
              <a:ext cx="3793324" cy="1782362"/>
              <a:chOff x="0" y="-38100"/>
              <a:chExt cx="749299" cy="352072"/>
            </a:xfrm>
          </p:grpSpPr>
          <p:sp>
            <p:nvSpPr>
              <p:cNvPr id="33" name="Freeform 33"/>
              <p:cNvSpPr/>
              <p:nvPr/>
            </p:nvSpPr>
            <p:spPr>
              <a:xfrm>
                <a:off x="0" y="0"/>
                <a:ext cx="749299" cy="313972"/>
              </a:xfrm>
              <a:custGeom>
                <a:avLst/>
                <a:gdLst/>
                <a:ahLst/>
                <a:cxnLst/>
                <a:rect l="l" t="t" r="r" b="b"/>
                <a:pathLst>
                  <a:path w="749299" h="313972">
                    <a:moveTo>
                      <a:pt x="149668" y="0"/>
                    </a:moveTo>
                    <a:lnTo>
                      <a:pt x="599630" y="0"/>
                    </a:lnTo>
                    <a:cubicBezTo>
                      <a:pt x="639325" y="0"/>
                      <a:pt x="677394" y="15769"/>
                      <a:pt x="705462" y="43837"/>
                    </a:cubicBezTo>
                    <a:cubicBezTo>
                      <a:pt x="733530" y="71905"/>
                      <a:pt x="749299" y="109974"/>
                      <a:pt x="749299" y="149668"/>
                    </a:cubicBezTo>
                    <a:lnTo>
                      <a:pt x="749299" y="164303"/>
                    </a:lnTo>
                    <a:cubicBezTo>
                      <a:pt x="749299" y="203998"/>
                      <a:pt x="733530" y="242067"/>
                      <a:pt x="705462" y="270135"/>
                    </a:cubicBezTo>
                    <a:cubicBezTo>
                      <a:pt x="677394" y="298203"/>
                      <a:pt x="639325" y="313972"/>
                      <a:pt x="599630" y="313972"/>
                    </a:cubicBezTo>
                    <a:lnTo>
                      <a:pt x="149668" y="313972"/>
                    </a:lnTo>
                    <a:cubicBezTo>
                      <a:pt x="67009" y="313972"/>
                      <a:pt x="0" y="246963"/>
                      <a:pt x="0" y="164303"/>
                    </a:cubicBezTo>
                    <a:lnTo>
                      <a:pt x="0" y="149668"/>
                    </a:lnTo>
                    <a:cubicBezTo>
                      <a:pt x="0" y="67009"/>
                      <a:pt x="67009" y="0"/>
                      <a:pt x="149668" y="0"/>
                    </a:cubicBezTo>
                    <a:close/>
                  </a:path>
                </a:pathLst>
              </a:custGeom>
              <a:solidFill>
                <a:srgbClr val="4D6BA7"/>
              </a:solidFill>
            </p:spPr>
            <p:txBody>
              <a:bodyPr/>
              <a:lstStyle/>
              <a:p>
                <a:endParaRPr lang="es-ES"/>
              </a:p>
            </p:txBody>
          </p:sp>
          <p:sp>
            <p:nvSpPr>
              <p:cNvPr id="34" name="TextBox 34"/>
              <p:cNvSpPr txBox="1"/>
              <p:nvPr/>
            </p:nvSpPr>
            <p:spPr>
              <a:xfrm>
                <a:off x="0" y="-38100"/>
                <a:ext cx="749299" cy="352072"/>
              </a:xfrm>
              <a:prstGeom prst="rect">
                <a:avLst/>
              </a:prstGeom>
            </p:spPr>
            <p:txBody>
              <a:bodyPr lIns="50800" tIns="50800" rIns="50800" bIns="50800" rtlCol="0" anchor="ctr"/>
              <a:lstStyle/>
              <a:p>
                <a:pPr algn="ctr">
                  <a:lnSpc>
                    <a:spcPts val="2659"/>
                  </a:lnSpc>
                </a:pPr>
                <a:endParaRPr/>
              </a:p>
            </p:txBody>
          </p:sp>
        </p:grpSp>
        <p:sp>
          <p:nvSpPr>
            <p:cNvPr id="35" name="TextBox 35"/>
            <p:cNvSpPr txBox="1"/>
            <p:nvPr/>
          </p:nvSpPr>
          <p:spPr>
            <a:xfrm>
              <a:off x="115245" y="242291"/>
              <a:ext cx="3519425" cy="1009650"/>
            </a:xfrm>
            <a:prstGeom prst="rect">
              <a:avLst/>
            </a:prstGeom>
          </p:spPr>
          <p:txBody>
            <a:bodyPr wrap="square" lIns="0" tIns="0" rIns="0" bIns="0" rtlCol="0" anchor="t">
              <a:spAutoFit/>
            </a:bodyPr>
            <a:lstStyle/>
            <a:p>
              <a:pPr algn="ctr">
                <a:lnSpc>
                  <a:spcPts val="6299"/>
                </a:lnSpc>
                <a:spcBef>
                  <a:spcPct val="0"/>
                </a:spcBef>
              </a:pPr>
              <a:r>
                <a:rPr lang="en-US" sz="4500" dirty="0">
                  <a:solidFill>
                    <a:srgbClr val="FFFFFF"/>
                  </a:solidFill>
                  <a:latin typeface="Bantayog"/>
                  <a:ea typeface="Bantayog"/>
                  <a:cs typeface="Bantayog"/>
                  <a:sym typeface="Bantayog"/>
                </a:rPr>
                <a:t>PLIEGUE 1</a:t>
              </a:r>
            </a:p>
          </p:txBody>
        </p:sp>
        <p:grpSp>
          <p:nvGrpSpPr>
            <p:cNvPr id="36" name="Group 36"/>
            <p:cNvGrpSpPr/>
            <p:nvPr/>
          </p:nvGrpSpPr>
          <p:grpSpPr>
            <a:xfrm>
              <a:off x="3793324" y="0"/>
              <a:ext cx="3793324" cy="1589481"/>
              <a:chOff x="0" y="0"/>
              <a:chExt cx="749299" cy="313972"/>
            </a:xfrm>
          </p:grpSpPr>
          <p:sp>
            <p:nvSpPr>
              <p:cNvPr id="37" name="Freeform 37"/>
              <p:cNvSpPr/>
              <p:nvPr/>
            </p:nvSpPr>
            <p:spPr>
              <a:xfrm>
                <a:off x="0" y="0"/>
                <a:ext cx="749299" cy="313972"/>
              </a:xfrm>
              <a:custGeom>
                <a:avLst/>
                <a:gdLst/>
                <a:ahLst/>
                <a:cxnLst/>
                <a:rect l="l" t="t" r="r" b="b"/>
                <a:pathLst>
                  <a:path w="749299" h="313972">
                    <a:moveTo>
                      <a:pt x="149668" y="0"/>
                    </a:moveTo>
                    <a:lnTo>
                      <a:pt x="599630" y="0"/>
                    </a:lnTo>
                    <a:cubicBezTo>
                      <a:pt x="639325" y="0"/>
                      <a:pt x="677394" y="15769"/>
                      <a:pt x="705462" y="43837"/>
                    </a:cubicBezTo>
                    <a:cubicBezTo>
                      <a:pt x="733530" y="71905"/>
                      <a:pt x="749299" y="109974"/>
                      <a:pt x="749299" y="149668"/>
                    </a:cubicBezTo>
                    <a:lnTo>
                      <a:pt x="749299" y="164303"/>
                    </a:lnTo>
                    <a:cubicBezTo>
                      <a:pt x="749299" y="203998"/>
                      <a:pt x="733530" y="242067"/>
                      <a:pt x="705462" y="270135"/>
                    </a:cubicBezTo>
                    <a:cubicBezTo>
                      <a:pt x="677394" y="298203"/>
                      <a:pt x="639325" y="313972"/>
                      <a:pt x="599630" y="313972"/>
                    </a:cubicBezTo>
                    <a:lnTo>
                      <a:pt x="149668" y="313972"/>
                    </a:lnTo>
                    <a:cubicBezTo>
                      <a:pt x="67009" y="313972"/>
                      <a:pt x="0" y="246963"/>
                      <a:pt x="0" y="164303"/>
                    </a:cubicBezTo>
                    <a:lnTo>
                      <a:pt x="0" y="149668"/>
                    </a:lnTo>
                    <a:cubicBezTo>
                      <a:pt x="0" y="67009"/>
                      <a:pt x="67009" y="0"/>
                      <a:pt x="149668" y="0"/>
                    </a:cubicBezTo>
                    <a:close/>
                  </a:path>
                </a:pathLst>
              </a:custGeom>
              <a:solidFill>
                <a:srgbClr val="4D6BA7"/>
              </a:solidFill>
            </p:spPr>
            <p:txBody>
              <a:bodyPr/>
              <a:lstStyle/>
              <a:p>
                <a:endParaRPr lang="es-ES"/>
              </a:p>
            </p:txBody>
          </p:sp>
          <p:sp>
            <p:nvSpPr>
              <p:cNvPr id="38" name="TextBox 38"/>
              <p:cNvSpPr txBox="1"/>
              <p:nvPr/>
            </p:nvSpPr>
            <p:spPr>
              <a:xfrm>
                <a:off x="0" y="-38100"/>
                <a:ext cx="749299" cy="352072"/>
              </a:xfrm>
              <a:prstGeom prst="rect">
                <a:avLst/>
              </a:prstGeom>
            </p:spPr>
            <p:txBody>
              <a:bodyPr lIns="50800" tIns="50800" rIns="50800" bIns="50800" rtlCol="0" anchor="ctr"/>
              <a:lstStyle/>
              <a:p>
                <a:pPr algn="ctr">
                  <a:lnSpc>
                    <a:spcPts val="2659"/>
                  </a:lnSpc>
                </a:pPr>
                <a:endParaRPr/>
              </a:p>
            </p:txBody>
          </p:sp>
        </p:grpSp>
        <p:sp>
          <p:nvSpPr>
            <p:cNvPr id="39" name="TextBox 39"/>
            <p:cNvSpPr txBox="1"/>
            <p:nvPr/>
          </p:nvSpPr>
          <p:spPr>
            <a:xfrm>
              <a:off x="3938033" y="242291"/>
              <a:ext cx="3503908" cy="1009650"/>
            </a:xfrm>
            <a:prstGeom prst="rect">
              <a:avLst/>
            </a:prstGeom>
          </p:spPr>
          <p:txBody>
            <a:bodyPr lIns="0" tIns="0" rIns="0" bIns="0" rtlCol="0" anchor="t">
              <a:spAutoFit/>
            </a:bodyPr>
            <a:lstStyle/>
            <a:p>
              <a:pPr algn="ctr">
                <a:lnSpc>
                  <a:spcPts val="6299"/>
                </a:lnSpc>
                <a:spcBef>
                  <a:spcPct val="0"/>
                </a:spcBef>
              </a:pPr>
              <a:r>
                <a:rPr lang="en-US" sz="4500">
                  <a:solidFill>
                    <a:srgbClr val="FFFFFF"/>
                  </a:solidFill>
                  <a:latin typeface="Bantayog"/>
                  <a:ea typeface="Bantayog"/>
                  <a:cs typeface="Bantayog"/>
                  <a:sym typeface="Bantayog"/>
                </a:rPr>
                <a:t>PLIEGUE 2</a:t>
              </a:r>
            </a:p>
          </p:txBody>
        </p:sp>
        <p:grpSp>
          <p:nvGrpSpPr>
            <p:cNvPr id="40" name="Group 40"/>
            <p:cNvGrpSpPr/>
            <p:nvPr/>
          </p:nvGrpSpPr>
          <p:grpSpPr>
            <a:xfrm>
              <a:off x="7571130" y="0"/>
              <a:ext cx="3793324" cy="1589481"/>
              <a:chOff x="0" y="0"/>
              <a:chExt cx="749299" cy="313972"/>
            </a:xfrm>
          </p:grpSpPr>
          <p:sp>
            <p:nvSpPr>
              <p:cNvPr id="41" name="Freeform 41"/>
              <p:cNvSpPr/>
              <p:nvPr/>
            </p:nvSpPr>
            <p:spPr>
              <a:xfrm>
                <a:off x="0" y="0"/>
                <a:ext cx="749299" cy="313972"/>
              </a:xfrm>
              <a:custGeom>
                <a:avLst/>
                <a:gdLst/>
                <a:ahLst/>
                <a:cxnLst/>
                <a:rect l="l" t="t" r="r" b="b"/>
                <a:pathLst>
                  <a:path w="749299" h="313972">
                    <a:moveTo>
                      <a:pt x="149668" y="0"/>
                    </a:moveTo>
                    <a:lnTo>
                      <a:pt x="599630" y="0"/>
                    </a:lnTo>
                    <a:cubicBezTo>
                      <a:pt x="639325" y="0"/>
                      <a:pt x="677394" y="15769"/>
                      <a:pt x="705462" y="43837"/>
                    </a:cubicBezTo>
                    <a:cubicBezTo>
                      <a:pt x="733530" y="71905"/>
                      <a:pt x="749299" y="109974"/>
                      <a:pt x="749299" y="149668"/>
                    </a:cubicBezTo>
                    <a:lnTo>
                      <a:pt x="749299" y="164303"/>
                    </a:lnTo>
                    <a:cubicBezTo>
                      <a:pt x="749299" y="203998"/>
                      <a:pt x="733530" y="242067"/>
                      <a:pt x="705462" y="270135"/>
                    </a:cubicBezTo>
                    <a:cubicBezTo>
                      <a:pt x="677394" y="298203"/>
                      <a:pt x="639325" y="313972"/>
                      <a:pt x="599630" y="313972"/>
                    </a:cubicBezTo>
                    <a:lnTo>
                      <a:pt x="149668" y="313972"/>
                    </a:lnTo>
                    <a:cubicBezTo>
                      <a:pt x="67009" y="313972"/>
                      <a:pt x="0" y="246963"/>
                      <a:pt x="0" y="164303"/>
                    </a:cubicBezTo>
                    <a:lnTo>
                      <a:pt x="0" y="149668"/>
                    </a:lnTo>
                    <a:cubicBezTo>
                      <a:pt x="0" y="67009"/>
                      <a:pt x="67009" y="0"/>
                      <a:pt x="149668" y="0"/>
                    </a:cubicBezTo>
                    <a:close/>
                  </a:path>
                </a:pathLst>
              </a:custGeom>
              <a:solidFill>
                <a:srgbClr val="4D6BA7"/>
              </a:solidFill>
            </p:spPr>
            <p:txBody>
              <a:bodyPr/>
              <a:lstStyle/>
              <a:p>
                <a:endParaRPr lang="es-ES"/>
              </a:p>
            </p:txBody>
          </p:sp>
          <p:sp>
            <p:nvSpPr>
              <p:cNvPr id="42" name="TextBox 42"/>
              <p:cNvSpPr txBox="1"/>
              <p:nvPr/>
            </p:nvSpPr>
            <p:spPr>
              <a:xfrm>
                <a:off x="0" y="-38100"/>
                <a:ext cx="749299" cy="352072"/>
              </a:xfrm>
              <a:prstGeom prst="rect">
                <a:avLst/>
              </a:prstGeom>
            </p:spPr>
            <p:txBody>
              <a:bodyPr lIns="50800" tIns="50800" rIns="50800" bIns="50800" rtlCol="0" anchor="ctr"/>
              <a:lstStyle/>
              <a:p>
                <a:pPr algn="ctr">
                  <a:lnSpc>
                    <a:spcPts val="2659"/>
                  </a:lnSpc>
                </a:pPr>
                <a:endParaRPr/>
              </a:p>
            </p:txBody>
          </p:sp>
        </p:grpSp>
        <p:sp>
          <p:nvSpPr>
            <p:cNvPr id="43" name="TextBox 43"/>
            <p:cNvSpPr txBox="1"/>
            <p:nvPr/>
          </p:nvSpPr>
          <p:spPr>
            <a:xfrm>
              <a:off x="7715839" y="242291"/>
              <a:ext cx="3503908" cy="1009650"/>
            </a:xfrm>
            <a:prstGeom prst="rect">
              <a:avLst/>
            </a:prstGeom>
          </p:spPr>
          <p:txBody>
            <a:bodyPr lIns="0" tIns="0" rIns="0" bIns="0" rtlCol="0" anchor="t">
              <a:spAutoFit/>
            </a:bodyPr>
            <a:lstStyle/>
            <a:p>
              <a:pPr algn="ctr">
                <a:lnSpc>
                  <a:spcPts val="6299"/>
                </a:lnSpc>
                <a:spcBef>
                  <a:spcPct val="0"/>
                </a:spcBef>
              </a:pPr>
              <a:r>
                <a:rPr lang="en-US" sz="4500">
                  <a:solidFill>
                    <a:srgbClr val="FFFFFF"/>
                  </a:solidFill>
                  <a:latin typeface="Bantayog"/>
                  <a:ea typeface="Bantayog"/>
                  <a:cs typeface="Bantayog"/>
                  <a:sym typeface="Bantayog"/>
                </a:rPr>
                <a:t>PLIEGUE 3</a:t>
              </a:r>
            </a:p>
          </p:txBody>
        </p:sp>
        <p:grpSp>
          <p:nvGrpSpPr>
            <p:cNvPr id="44" name="Group 44"/>
            <p:cNvGrpSpPr/>
            <p:nvPr/>
          </p:nvGrpSpPr>
          <p:grpSpPr>
            <a:xfrm>
              <a:off x="11348936" y="0"/>
              <a:ext cx="3793324" cy="1589481"/>
              <a:chOff x="0" y="0"/>
              <a:chExt cx="749299" cy="313972"/>
            </a:xfrm>
          </p:grpSpPr>
          <p:sp>
            <p:nvSpPr>
              <p:cNvPr id="45" name="Freeform 45"/>
              <p:cNvSpPr/>
              <p:nvPr/>
            </p:nvSpPr>
            <p:spPr>
              <a:xfrm>
                <a:off x="0" y="0"/>
                <a:ext cx="749299" cy="313972"/>
              </a:xfrm>
              <a:custGeom>
                <a:avLst/>
                <a:gdLst/>
                <a:ahLst/>
                <a:cxnLst/>
                <a:rect l="l" t="t" r="r" b="b"/>
                <a:pathLst>
                  <a:path w="749299" h="313972">
                    <a:moveTo>
                      <a:pt x="149668" y="0"/>
                    </a:moveTo>
                    <a:lnTo>
                      <a:pt x="599630" y="0"/>
                    </a:lnTo>
                    <a:cubicBezTo>
                      <a:pt x="639325" y="0"/>
                      <a:pt x="677394" y="15769"/>
                      <a:pt x="705462" y="43837"/>
                    </a:cubicBezTo>
                    <a:cubicBezTo>
                      <a:pt x="733530" y="71905"/>
                      <a:pt x="749299" y="109974"/>
                      <a:pt x="749299" y="149668"/>
                    </a:cubicBezTo>
                    <a:lnTo>
                      <a:pt x="749299" y="164303"/>
                    </a:lnTo>
                    <a:cubicBezTo>
                      <a:pt x="749299" y="203998"/>
                      <a:pt x="733530" y="242067"/>
                      <a:pt x="705462" y="270135"/>
                    </a:cubicBezTo>
                    <a:cubicBezTo>
                      <a:pt x="677394" y="298203"/>
                      <a:pt x="639325" y="313972"/>
                      <a:pt x="599630" y="313972"/>
                    </a:cubicBezTo>
                    <a:lnTo>
                      <a:pt x="149668" y="313972"/>
                    </a:lnTo>
                    <a:cubicBezTo>
                      <a:pt x="67009" y="313972"/>
                      <a:pt x="0" y="246963"/>
                      <a:pt x="0" y="164303"/>
                    </a:cubicBezTo>
                    <a:lnTo>
                      <a:pt x="0" y="149668"/>
                    </a:lnTo>
                    <a:cubicBezTo>
                      <a:pt x="0" y="67009"/>
                      <a:pt x="67009" y="0"/>
                      <a:pt x="149668" y="0"/>
                    </a:cubicBezTo>
                    <a:close/>
                  </a:path>
                </a:pathLst>
              </a:custGeom>
              <a:solidFill>
                <a:srgbClr val="4D6BA7"/>
              </a:solidFill>
            </p:spPr>
            <p:txBody>
              <a:bodyPr/>
              <a:lstStyle/>
              <a:p>
                <a:endParaRPr lang="es-ES"/>
              </a:p>
            </p:txBody>
          </p:sp>
          <p:sp>
            <p:nvSpPr>
              <p:cNvPr id="46" name="TextBox 46"/>
              <p:cNvSpPr txBox="1"/>
              <p:nvPr/>
            </p:nvSpPr>
            <p:spPr>
              <a:xfrm>
                <a:off x="0" y="-38100"/>
                <a:ext cx="749299" cy="352072"/>
              </a:xfrm>
              <a:prstGeom prst="rect">
                <a:avLst/>
              </a:prstGeom>
            </p:spPr>
            <p:txBody>
              <a:bodyPr lIns="50800" tIns="50800" rIns="50800" bIns="50800" rtlCol="0" anchor="ctr"/>
              <a:lstStyle/>
              <a:p>
                <a:pPr algn="ctr">
                  <a:lnSpc>
                    <a:spcPts val="2659"/>
                  </a:lnSpc>
                </a:pPr>
                <a:endParaRPr/>
              </a:p>
            </p:txBody>
          </p:sp>
        </p:grpSp>
        <p:sp>
          <p:nvSpPr>
            <p:cNvPr id="47" name="TextBox 47"/>
            <p:cNvSpPr txBox="1"/>
            <p:nvPr/>
          </p:nvSpPr>
          <p:spPr>
            <a:xfrm>
              <a:off x="11493645" y="242291"/>
              <a:ext cx="3503908" cy="1009650"/>
            </a:xfrm>
            <a:prstGeom prst="rect">
              <a:avLst/>
            </a:prstGeom>
          </p:spPr>
          <p:txBody>
            <a:bodyPr lIns="0" tIns="0" rIns="0" bIns="0" rtlCol="0" anchor="t">
              <a:spAutoFit/>
            </a:bodyPr>
            <a:lstStyle/>
            <a:p>
              <a:pPr algn="ctr">
                <a:lnSpc>
                  <a:spcPts val="6299"/>
                </a:lnSpc>
                <a:spcBef>
                  <a:spcPct val="0"/>
                </a:spcBef>
              </a:pPr>
              <a:r>
                <a:rPr lang="en-US" sz="4500">
                  <a:solidFill>
                    <a:srgbClr val="FFFFFF"/>
                  </a:solidFill>
                  <a:latin typeface="Bantayog"/>
                  <a:ea typeface="Bantayog"/>
                  <a:cs typeface="Bantayog"/>
                  <a:sym typeface="Bantayog"/>
                </a:rPr>
                <a:t>PLIEGUE 4</a:t>
              </a:r>
            </a:p>
          </p:txBody>
        </p:sp>
      </p:grpSp>
      <p:grpSp>
        <p:nvGrpSpPr>
          <p:cNvPr id="48" name="Group 48"/>
          <p:cNvGrpSpPr/>
          <p:nvPr/>
        </p:nvGrpSpPr>
        <p:grpSpPr>
          <a:xfrm>
            <a:off x="1218961" y="7497428"/>
            <a:ext cx="14427274" cy="1192111"/>
            <a:chOff x="0" y="0"/>
            <a:chExt cx="19236366" cy="1589481"/>
          </a:xfrm>
        </p:grpSpPr>
        <p:sp>
          <p:nvSpPr>
            <p:cNvPr id="49" name="TextBox 49"/>
            <p:cNvSpPr txBox="1"/>
            <p:nvPr/>
          </p:nvSpPr>
          <p:spPr>
            <a:xfrm>
              <a:off x="0" y="229005"/>
              <a:ext cx="4094105" cy="1009650"/>
            </a:xfrm>
            <a:prstGeom prst="rect">
              <a:avLst/>
            </a:prstGeom>
          </p:spPr>
          <p:txBody>
            <a:bodyPr lIns="0" tIns="0" rIns="0" bIns="0" rtlCol="0" anchor="t">
              <a:spAutoFit/>
            </a:bodyPr>
            <a:lstStyle/>
            <a:p>
              <a:pPr algn="ctr">
                <a:lnSpc>
                  <a:spcPts val="6299"/>
                </a:lnSpc>
                <a:spcBef>
                  <a:spcPct val="0"/>
                </a:spcBef>
              </a:pPr>
              <a:r>
                <a:rPr lang="en-US" sz="4500">
                  <a:solidFill>
                    <a:srgbClr val="4D6BA7"/>
                  </a:solidFill>
                  <a:latin typeface="Bantayog"/>
                  <a:ea typeface="Bantayog"/>
                  <a:cs typeface="Bantayog"/>
                  <a:sym typeface="Bantayog"/>
                </a:rPr>
                <a:t>ITERACIÓN 2</a:t>
              </a:r>
            </a:p>
          </p:txBody>
        </p:sp>
        <p:grpSp>
          <p:nvGrpSpPr>
            <p:cNvPr id="50" name="Group 50"/>
            <p:cNvGrpSpPr/>
            <p:nvPr/>
          </p:nvGrpSpPr>
          <p:grpSpPr>
            <a:xfrm>
              <a:off x="4094105" y="0"/>
              <a:ext cx="3793324" cy="1589481"/>
              <a:chOff x="0" y="0"/>
              <a:chExt cx="749299" cy="313972"/>
            </a:xfrm>
          </p:grpSpPr>
          <p:sp>
            <p:nvSpPr>
              <p:cNvPr id="51" name="Freeform 51"/>
              <p:cNvSpPr/>
              <p:nvPr/>
            </p:nvSpPr>
            <p:spPr>
              <a:xfrm>
                <a:off x="0" y="0"/>
                <a:ext cx="749299" cy="313972"/>
              </a:xfrm>
              <a:custGeom>
                <a:avLst/>
                <a:gdLst/>
                <a:ahLst/>
                <a:cxnLst/>
                <a:rect l="l" t="t" r="r" b="b"/>
                <a:pathLst>
                  <a:path w="749299" h="313972">
                    <a:moveTo>
                      <a:pt x="149668" y="0"/>
                    </a:moveTo>
                    <a:lnTo>
                      <a:pt x="599630" y="0"/>
                    </a:lnTo>
                    <a:cubicBezTo>
                      <a:pt x="639325" y="0"/>
                      <a:pt x="677394" y="15769"/>
                      <a:pt x="705462" y="43837"/>
                    </a:cubicBezTo>
                    <a:cubicBezTo>
                      <a:pt x="733530" y="71905"/>
                      <a:pt x="749299" y="109974"/>
                      <a:pt x="749299" y="149668"/>
                    </a:cubicBezTo>
                    <a:lnTo>
                      <a:pt x="749299" y="164303"/>
                    </a:lnTo>
                    <a:cubicBezTo>
                      <a:pt x="749299" y="203998"/>
                      <a:pt x="733530" y="242067"/>
                      <a:pt x="705462" y="270135"/>
                    </a:cubicBezTo>
                    <a:cubicBezTo>
                      <a:pt x="677394" y="298203"/>
                      <a:pt x="639325" y="313972"/>
                      <a:pt x="599630" y="313972"/>
                    </a:cubicBezTo>
                    <a:lnTo>
                      <a:pt x="149668" y="313972"/>
                    </a:lnTo>
                    <a:cubicBezTo>
                      <a:pt x="67009" y="313972"/>
                      <a:pt x="0" y="246963"/>
                      <a:pt x="0" y="164303"/>
                    </a:cubicBezTo>
                    <a:lnTo>
                      <a:pt x="0" y="149668"/>
                    </a:lnTo>
                    <a:cubicBezTo>
                      <a:pt x="0" y="67009"/>
                      <a:pt x="67009" y="0"/>
                      <a:pt x="149668" y="0"/>
                    </a:cubicBezTo>
                    <a:close/>
                  </a:path>
                </a:pathLst>
              </a:custGeom>
              <a:solidFill>
                <a:srgbClr val="3776AA"/>
              </a:solidFill>
            </p:spPr>
            <p:txBody>
              <a:bodyPr/>
              <a:lstStyle/>
              <a:p>
                <a:endParaRPr lang="es-ES"/>
              </a:p>
            </p:txBody>
          </p:sp>
          <p:sp>
            <p:nvSpPr>
              <p:cNvPr id="52" name="TextBox 52"/>
              <p:cNvSpPr txBox="1"/>
              <p:nvPr/>
            </p:nvSpPr>
            <p:spPr>
              <a:xfrm>
                <a:off x="0" y="-38100"/>
                <a:ext cx="749299" cy="352072"/>
              </a:xfrm>
              <a:prstGeom prst="rect">
                <a:avLst/>
              </a:prstGeom>
            </p:spPr>
            <p:txBody>
              <a:bodyPr lIns="50800" tIns="50800" rIns="50800" bIns="50800" rtlCol="0" anchor="ctr"/>
              <a:lstStyle/>
              <a:p>
                <a:pPr algn="ctr">
                  <a:lnSpc>
                    <a:spcPts val="2659"/>
                  </a:lnSpc>
                </a:pPr>
                <a:endParaRPr/>
              </a:p>
            </p:txBody>
          </p:sp>
        </p:grpSp>
        <p:grpSp>
          <p:nvGrpSpPr>
            <p:cNvPr id="54" name="Group 54"/>
            <p:cNvGrpSpPr/>
            <p:nvPr/>
          </p:nvGrpSpPr>
          <p:grpSpPr>
            <a:xfrm>
              <a:off x="7887430" y="0"/>
              <a:ext cx="3793324" cy="1589481"/>
              <a:chOff x="0" y="0"/>
              <a:chExt cx="749299" cy="313972"/>
            </a:xfrm>
          </p:grpSpPr>
          <p:sp>
            <p:nvSpPr>
              <p:cNvPr id="55" name="Freeform 55"/>
              <p:cNvSpPr/>
              <p:nvPr/>
            </p:nvSpPr>
            <p:spPr>
              <a:xfrm>
                <a:off x="0" y="0"/>
                <a:ext cx="749299" cy="313972"/>
              </a:xfrm>
              <a:custGeom>
                <a:avLst/>
                <a:gdLst/>
                <a:ahLst/>
                <a:cxnLst/>
                <a:rect l="l" t="t" r="r" b="b"/>
                <a:pathLst>
                  <a:path w="749299" h="313972">
                    <a:moveTo>
                      <a:pt x="149668" y="0"/>
                    </a:moveTo>
                    <a:lnTo>
                      <a:pt x="599630" y="0"/>
                    </a:lnTo>
                    <a:cubicBezTo>
                      <a:pt x="639325" y="0"/>
                      <a:pt x="677394" y="15769"/>
                      <a:pt x="705462" y="43837"/>
                    </a:cubicBezTo>
                    <a:cubicBezTo>
                      <a:pt x="733530" y="71905"/>
                      <a:pt x="749299" y="109974"/>
                      <a:pt x="749299" y="149668"/>
                    </a:cubicBezTo>
                    <a:lnTo>
                      <a:pt x="749299" y="164303"/>
                    </a:lnTo>
                    <a:cubicBezTo>
                      <a:pt x="749299" y="203998"/>
                      <a:pt x="733530" y="242067"/>
                      <a:pt x="705462" y="270135"/>
                    </a:cubicBezTo>
                    <a:cubicBezTo>
                      <a:pt x="677394" y="298203"/>
                      <a:pt x="639325" y="313972"/>
                      <a:pt x="599630" y="313972"/>
                    </a:cubicBezTo>
                    <a:lnTo>
                      <a:pt x="149668" y="313972"/>
                    </a:lnTo>
                    <a:cubicBezTo>
                      <a:pt x="67009" y="313972"/>
                      <a:pt x="0" y="246963"/>
                      <a:pt x="0" y="164303"/>
                    </a:cubicBezTo>
                    <a:lnTo>
                      <a:pt x="0" y="149668"/>
                    </a:lnTo>
                    <a:cubicBezTo>
                      <a:pt x="0" y="67009"/>
                      <a:pt x="67009" y="0"/>
                      <a:pt x="149668" y="0"/>
                    </a:cubicBezTo>
                    <a:close/>
                  </a:path>
                </a:pathLst>
              </a:custGeom>
              <a:solidFill>
                <a:srgbClr val="203660"/>
              </a:solidFill>
            </p:spPr>
            <p:txBody>
              <a:bodyPr/>
              <a:lstStyle/>
              <a:p>
                <a:endParaRPr lang="es-ES"/>
              </a:p>
            </p:txBody>
          </p:sp>
          <p:sp>
            <p:nvSpPr>
              <p:cNvPr id="56" name="TextBox 56"/>
              <p:cNvSpPr txBox="1"/>
              <p:nvPr/>
            </p:nvSpPr>
            <p:spPr>
              <a:xfrm>
                <a:off x="0" y="-38100"/>
                <a:ext cx="749299" cy="352072"/>
              </a:xfrm>
              <a:prstGeom prst="rect">
                <a:avLst/>
              </a:prstGeom>
            </p:spPr>
            <p:txBody>
              <a:bodyPr lIns="50800" tIns="50800" rIns="50800" bIns="50800" rtlCol="0" anchor="ctr"/>
              <a:lstStyle/>
              <a:p>
                <a:pPr algn="ctr">
                  <a:lnSpc>
                    <a:spcPts val="2659"/>
                  </a:lnSpc>
                </a:pPr>
                <a:endParaRPr/>
              </a:p>
            </p:txBody>
          </p:sp>
        </p:grpSp>
        <p:sp>
          <p:nvSpPr>
            <p:cNvPr id="57" name="TextBox 57"/>
            <p:cNvSpPr txBox="1"/>
            <p:nvPr/>
          </p:nvSpPr>
          <p:spPr>
            <a:xfrm>
              <a:off x="8032138" y="242291"/>
              <a:ext cx="3503908" cy="1009650"/>
            </a:xfrm>
            <a:prstGeom prst="rect">
              <a:avLst/>
            </a:prstGeom>
          </p:spPr>
          <p:txBody>
            <a:bodyPr lIns="0" tIns="0" rIns="0" bIns="0" rtlCol="0" anchor="t">
              <a:spAutoFit/>
            </a:bodyPr>
            <a:lstStyle/>
            <a:p>
              <a:pPr algn="ctr">
                <a:lnSpc>
                  <a:spcPts val="6299"/>
                </a:lnSpc>
                <a:spcBef>
                  <a:spcPct val="0"/>
                </a:spcBef>
              </a:pPr>
              <a:r>
                <a:rPr lang="en-US" sz="4500">
                  <a:solidFill>
                    <a:srgbClr val="FFFFFF"/>
                  </a:solidFill>
                  <a:latin typeface="Bantayog"/>
                  <a:ea typeface="Bantayog"/>
                  <a:cs typeface="Bantayog"/>
                  <a:sym typeface="Bantayog"/>
                </a:rPr>
                <a:t>PLIEGUE 2</a:t>
              </a:r>
            </a:p>
          </p:txBody>
        </p:sp>
        <p:grpSp>
          <p:nvGrpSpPr>
            <p:cNvPr id="58" name="Group 58"/>
            <p:cNvGrpSpPr/>
            <p:nvPr/>
          </p:nvGrpSpPr>
          <p:grpSpPr>
            <a:xfrm>
              <a:off x="11665236" y="0"/>
              <a:ext cx="3793324" cy="1589481"/>
              <a:chOff x="0" y="0"/>
              <a:chExt cx="749299" cy="313972"/>
            </a:xfrm>
          </p:grpSpPr>
          <p:sp>
            <p:nvSpPr>
              <p:cNvPr id="59" name="Freeform 59"/>
              <p:cNvSpPr/>
              <p:nvPr/>
            </p:nvSpPr>
            <p:spPr>
              <a:xfrm>
                <a:off x="0" y="0"/>
                <a:ext cx="749299" cy="313972"/>
              </a:xfrm>
              <a:custGeom>
                <a:avLst/>
                <a:gdLst/>
                <a:ahLst/>
                <a:cxnLst/>
                <a:rect l="l" t="t" r="r" b="b"/>
                <a:pathLst>
                  <a:path w="749299" h="313972">
                    <a:moveTo>
                      <a:pt x="149668" y="0"/>
                    </a:moveTo>
                    <a:lnTo>
                      <a:pt x="599630" y="0"/>
                    </a:lnTo>
                    <a:cubicBezTo>
                      <a:pt x="639325" y="0"/>
                      <a:pt x="677394" y="15769"/>
                      <a:pt x="705462" y="43837"/>
                    </a:cubicBezTo>
                    <a:cubicBezTo>
                      <a:pt x="733530" y="71905"/>
                      <a:pt x="749299" y="109974"/>
                      <a:pt x="749299" y="149668"/>
                    </a:cubicBezTo>
                    <a:lnTo>
                      <a:pt x="749299" y="164303"/>
                    </a:lnTo>
                    <a:cubicBezTo>
                      <a:pt x="749299" y="203998"/>
                      <a:pt x="733530" y="242067"/>
                      <a:pt x="705462" y="270135"/>
                    </a:cubicBezTo>
                    <a:cubicBezTo>
                      <a:pt x="677394" y="298203"/>
                      <a:pt x="639325" y="313972"/>
                      <a:pt x="599630" y="313972"/>
                    </a:cubicBezTo>
                    <a:lnTo>
                      <a:pt x="149668" y="313972"/>
                    </a:lnTo>
                    <a:cubicBezTo>
                      <a:pt x="67009" y="313972"/>
                      <a:pt x="0" y="246963"/>
                      <a:pt x="0" y="164303"/>
                    </a:cubicBezTo>
                    <a:lnTo>
                      <a:pt x="0" y="149668"/>
                    </a:lnTo>
                    <a:cubicBezTo>
                      <a:pt x="0" y="67009"/>
                      <a:pt x="67009" y="0"/>
                      <a:pt x="149668" y="0"/>
                    </a:cubicBezTo>
                    <a:close/>
                  </a:path>
                </a:pathLst>
              </a:custGeom>
              <a:solidFill>
                <a:srgbClr val="3776AA"/>
              </a:solidFill>
            </p:spPr>
            <p:txBody>
              <a:bodyPr/>
              <a:lstStyle/>
              <a:p>
                <a:endParaRPr lang="es-ES"/>
              </a:p>
            </p:txBody>
          </p:sp>
          <p:sp>
            <p:nvSpPr>
              <p:cNvPr id="60" name="TextBox 60"/>
              <p:cNvSpPr txBox="1"/>
              <p:nvPr/>
            </p:nvSpPr>
            <p:spPr>
              <a:xfrm>
                <a:off x="0" y="-38100"/>
                <a:ext cx="749299" cy="352072"/>
              </a:xfrm>
              <a:prstGeom prst="rect">
                <a:avLst/>
              </a:prstGeom>
            </p:spPr>
            <p:txBody>
              <a:bodyPr lIns="50800" tIns="50800" rIns="50800" bIns="50800" rtlCol="0" anchor="ctr"/>
              <a:lstStyle/>
              <a:p>
                <a:pPr algn="ctr">
                  <a:lnSpc>
                    <a:spcPts val="2659"/>
                  </a:lnSpc>
                </a:pPr>
                <a:endParaRPr/>
              </a:p>
            </p:txBody>
          </p:sp>
        </p:grpSp>
        <p:sp>
          <p:nvSpPr>
            <p:cNvPr id="61" name="TextBox 61"/>
            <p:cNvSpPr txBox="1"/>
            <p:nvPr/>
          </p:nvSpPr>
          <p:spPr>
            <a:xfrm>
              <a:off x="11809944" y="242291"/>
              <a:ext cx="3503908" cy="1009650"/>
            </a:xfrm>
            <a:prstGeom prst="rect">
              <a:avLst/>
            </a:prstGeom>
          </p:spPr>
          <p:txBody>
            <a:bodyPr lIns="0" tIns="0" rIns="0" bIns="0" rtlCol="0" anchor="t">
              <a:spAutoFit/>
            </a:bodyPr>
            <a:lstStyle/>
            <a:p>
              <a:pPr algn="ctr">
                <a:lnSpc>
                  <a:spcPts val="6299"/>
                </a:lnSpc>
                <a:spcBef>
                  <a:spcPct val="0"/>
                </a:spcBef>
              </a:pPr>
              <a:r>
                <a:rPr lang="en-US" sz="4500">
                  <a:solidFill>
                    <a:srgbClr val="FFFFFF"/>
                  </a:solidFill>
                  <a:latin typeface="Bantayog"/>
                  <a:ea typeface="Bantayog"/>
                  <a:cs typeface="Bantayog"/>
                  <a:sym typeface="Bantayog"/>
                </a:rPr>
                <a:t>PLIEGUE 3</a:t>
              </a:r>
            </a:p>
          </p:txBody>
        </p:sp>
        <p:grpSp>
          <p:nvGrpSpPr>
            <p:cNvPr id="62" name="Group 62"/>
            <p:cNvGrpSpPr/>
            <p:nvPr/>
          </p:nvGrpSpPr>
          <p:grpSpPr>
            <a:xfrm>
              <a:off x="15443042" y="0"/>
              <a:ext cx="3793324" cy="1589481"/>
              <a:chOff x="0" y="0"/>
              <a:chExt cx="749299" cy="313972"/>
            </a:xfrm>
          </p:grpSpPr>
          <p:sp>
            <p:nvSpPr>
              <p:cNvPr id="63" name="Freeform 63"/>
              <p:cNvSpPr/>
              <p:nvPr/>
            </p:nvSpPr>
            <p:spPr>
              <a:xfrm>
                <a:off x="0" y="0"/>
                <a:ext cx="749299" cy="313972"/>
              </a:xfrm>
              <a:custGeom>
                <a:avLst/>
                <a:gdLst/>
                <a:ahLst/>
                <a:cxnLst/>
                <a:rect l="l" t="t" r="r" b="b"/>
                <a:pathLst>
                  <a:path w="749299" h="313972">
                    <a:moveTo>
                      <a:pt x="149668" y="0"/>
                    </a:moveTo>
                    <a:lnTo>
                      <a:pt x="599630" y="0"/>
                    </a:lnTo>
                    <a:cubicBezTo>
                      <a:pt x="639325" y="0"/>
                      <a:pt x="677394" y="15769"/>
                      <a:pt x="705462" y="43837"/>
                    </a:cubicBezTo>
                    <a:cubicBezTo>
                      <a:pt x="733530" y="71905"/>
                      <a:pt x="749299" y="109974"/>
                      <a:pt x="749299" y="149668"/>
                    </a:cubicBezTo>
                    <a:lnTo>
                      <a:pt x="749299" y="164303"/>
                    </a:lnTo>
                    <a:cubicBezTo>
                      <a:pt x="749299" y="203998"/>
                      <a:pt x="733530" y="242067"/>
                      <a:pt x="705462" y="270135"/>
                    </a:cubicBezTo>
                    <a:cubicBezTo>
                      <a:pt x="677394" y="298203"/>
                      <a:pt x="639325" y="313972"/>
                      <a:pt x="599630" y="313972"/>
                    </a:cubicBezTo>
                    <a:lnTo>
                      <a:pt x="149668" y="313972"/>
                    </a:lnTo>
                    <a:cubicBezTo>
                      <a:pt x="67009" y="313972"/>
                      <a:pt x="0" y="246963"/>
                      <a:pt x="0" y="164303"/>
                    </a:cubicBezTo>
                    <a:lnTo>
                      <a:pt x="0" y="149668"/>
                    </a:lnTo>
                    <a:cubicBezTo>
                      <a:pt x="0" y="67009"/>
                      <a:pt x="67009" y="0"/>
                      <a:pt x="149668" y="0"/>
                    </a:cubicBezTo>
                    <a:close/>
                  </a:path>
                </a:pathLst>
              </a:custGeom>
              <a:solidFill>
                <a:srgbClr val="3776AA"/>
              </a:solidFill>
            </p:spPr>
            <p:txBody>
              <a:bodyPr/>
              <a:lstStyle/>
              <a:p>
                <a:endParaRPr lang="es-ES"/>
              </a:p>
            </p:txBody>
          </p:sp>
          <p:sp>
            <p:nvSpPr>
              <p:cNvPr id="64" name="TextBox 64"/>
              <p:cNvSpPr txBox="1"/>
              <p:nvPr/>
            </p:nvSpPr>
            <p:spPr>
              <a:xfrm>
                <a:off x="0" y="-38100"/>
                <a:ext cx="749299" cy="352072"/>
              </a:xfrm>
              <a:prstGeom prst="rect">
                <a:avLst/>
              </a:prstGeom>
            </p:spPr>
            <p:txBody>
              <a:bodyPr lIns="50800" tIns="50800" rIns="50800" bIns="50800" rtlCol="0" anchor="ctr"/>
              <a:lstStyle/>
              <a:p>
                <a:pPr algn="ctr">
                  <a:lnSpc>
                    <a:spcPts val="2659"/>
                  </a:lnSpc>
                </a:pPr>
                <a:endParaRPr/>
              </a:p>
            </p:txBody>
          </p:sp>
        </p:grpSp>
        <p:sp>
          <p:nvSpPr>
            <p:cNvPr id="65" name="TextBox 65"/>
            <p:cNvSpPr txBox="1"/>
            <p:nvPr/>
          </p:nvSpPr>
          <p:spPr>
            <a:xfrm>
              <a:off x="15587750" y="242291"/>
              <a:ext cx="3503908" cy="1009650"/>
            </a:xfrm>
            <a:prstGeom prst="rect">
              <a:avLst/>
            </a:prstGeom>
          </p:spPr>
          <p:txBody>
            <a:bodyPr lIns="0" tIns="0" rIns="0" bIns="0" rtlCol="0" anchor="t">
              <a:spAutoFit/>
            </a:bodyPr>
            <a:lstStyle/>
            <a:p>
              <a:pPr algn="ctr">
                <a:lnSpc>
                  <a:spcPts val="6299"/>
                </a:lnSpc>
                <a:spcBef>
                  <a:spcPct val="0"/>
                </a:spcBef>
              </a:pPr>
              <a:r>
                <a:rPr lang="en-US" sz="4500">
                  <a:solidFill>
                    <a:srgbClr val="FFFFFF"/>
                  </a:solidFill>
                  <a:latin typeface="Bantayog"/>
                  <a:ea typeface="Bantayog"/>
                  <a:cs typeface="Bantayog"/>
                  <a:sym typeface="Bantayog"/>
                </a:rPr>
                <a:t>PLIEGUE 4</a:t>
              </a:r>
            </a:p>
          </p:txBody>
        </p:sp>
      </p:grpSp>
      <p:sp>
        <p:nvSpPr>
          <p:cNvPr id="66" name="TextBox 53">
            <a:extLst>
              <a:ext uri="{FF2B5EF4-FFF2-40B4-BE49-F238E27FC236}">
                <a16:creationId xmlns:a16="http://schemas.microsoft.com/office/drawing/2014/main" id="{DD2EB3AB-9F5A-049C-A0BE-3795A08B93EE}"/>
              </a:ext>
            </a:extLst>
          </p:cNvPr>
          <p:cNvSpPr txBox="1"/>
          <p:nvPr/>
        </p:nvSpPr>
        <p:spPr>
          <a:xfrm>
            <a:off x="4350138" y="7679146"/>
            <a:ext cx="2736462" cy="757238"/>
          </a:xfrm>
          <a:prstGeom prst="rect">
            <a:avLst/>
          </a:prstGeom>
        </p:spPr>
        <p:txBody>
          <a:bodyPr wrap="square" lIns="0" tIns="0" rIns="0" bIns="0" rtlCol="0" anchor="t">
            <a:spAutoFit/>
          </a:bodyPr>
          <a:lstStyle/>
          <a:p>
            <a:pPr algn="ctr">
              <a:lnSpc>
                <a:spcPts val="6299"/>
              </a:lnSpc>
              <a:spcBef>
                <a:spcPct val="0"/>
              </a:spcBef>
            </a:pPr>
            <a:r>
              <a:rPr lang="en-US" sz="4500" dirty="0">
                <a:solidFill>
                  <a:srgbClr val="FFFFFF"/>
                </a:solidFill>
                <a:latin typeface="Bantayog"/>
                <a:ea typeface="Bantayog"/>
                <a:cs typeface="Bantayog"/>
                <a:sym typeface="Bantayog"/>
              </a:rPr>
              <a:t>PLIEGUE 1</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24</a:t>
            </a:r>
          </a:p>
        </p:txBody>
      </p:sp>
      <p:sp>
        <p:nvSpPr>
          <p:cNvPr id="15" name="TextBox 15"/>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MÉTODO DE VALIDACIÓN</a:t>
            </a:r>
          </a:p>
        </p:txBody>
      </p:sp>
      <p:grpSp>
        <p:nvGrpSpPr>
          <p:cNvPr id="16" name="Group 16"/>
          <p:cNvGrpSpPr/>
          <p:nvPr/>
        </p:nvGrpSpPr>
        <p:grpSpPr>
          <a:xfrm>
            <a:off x="919827" y="2331136"/>
            <a:ext cx="16193558" cy="7597490"/>
            <a:chOff x="0" y="0"/>
            <a:chExt cx="21591410" cy="10129986"/>
          </a:xfrm>
        </p:grpSpPr>
        <p:grpSp>
          <p:nvGrpSpPr>
            <p:cNvPr id="17" name="Group 17"/>
            <p:cNvGrpSpPr/>
            <p:nvPr/>
          </p:nvGrpSpPr>
          <p:grpSpPr>
            <a:xfrm>
              <a:off x="0" y="423638"/>
              <a:ext cx="1604067" cy="1604067"/>
              <a:chOff x="0" y="0"/>
              <a:chExt cx="812800" cy="812800"/>
            </a:xfrm>
          </p:grpSpPr>
          <p:sp>
            <p:nvSpPr>
              <p:cNvPr id="18" name="Freeform 1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D6BA7"/>
              </a:solidFill>
            </p:spPr>
            <p:txBody>
              <a:bodyPr/>
              <a:lstStyle/>
              <a:p>
                <a:endParaRPr lang="es-ES"/>
              </a:p>
            </p:txBody>
          </p:sp>
          <p:sp>
            <p:nvSpPr>
              <p:cNvPr id="19" name="TextBox 19"/>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sp>
          <p:nvSpPr>
            <p:cNvPr id="20" name="Freeform 20"/>
            <p:cNvSpPr/>
            <p:nvPr/>
          </p:nvSpPr>
          <p:spPr>
            <a:xfrm>
              <a:off x="1604067" y="1225671"/>
              <a:ext cx="2855930" cy="0"/>
            </a:xfrm>
            <a:custGeom>
              <a:avLst/>
              <a:gdLst/>
              <a:ahLst/>
              <a:cxnLst/>
              <a:rect l="l" t="t" r="r" b="b"/>
              <a:pathLst>
                <a:path w="2855930">
                  <a:moveTo>
                    <a:pt x="0" y="0"/>
                  </a:moveTo>
                  <a:lnTo>
                    <a:pt x="2855929" y="0"/>
                  </a:lnTo>
                </a:path>
              </a:pathLst>
            </a:custGeom>
            <a:ln w="254000" cap="flat">
              <a:solidFill>
                <a:srgbClr val="4D6BA7"/>
              </a:solidFill>
              <a:prstDash val="solid"/>
              <a:headEnd type="none" w="sm" len="sm"/>
              <a:tailEnd type="triangle" w="lg" len="med"/>
            </a:ln>
          </p:spPr>
          <p:txBody>
            <a:bodyPr/>
            <a:lstStyle/>
            <a:p>
              <a:endParaRPr lang="es-ES"/>
            </a:p>
          </p:txBody>
        </p:sp>
        <p:grpSp>
          <p:nvGrpSpPr>
            <p:cNvPr id="21" name="Group 21"/>
            <p:cNvGrpSpPr/>
            <p:nvPr/>
          </p:nvGrpSpPr>
          <p:grpSpPr>
            <a:xfrm>
              <a:off x="4459996" y="0"/>
              <a:ext cx="7830457" cy="2451342"/>
              <a:chOff x="0" y="0"/>
              <a:chExt cx="1546757" cy="484216"/>
            </a:xfrm>
          </p:grpSpPr>
          <p:sp>
            <p:nvSpPr>
              <p:cNvPr id="22" name="Freeform 22"/>
              <p:cNvSpPr/>
              <p:nvPr/>
            </p:nvSpPr>
            <p:spPr>
              <a:xfrm>
                <a:off x="0" y="0"/>
                <a:ext cx="1546757" cy="484216"/>
              </a:xfrm>
              <a:custGeom>
                <a:avLst/>
                <a:gdLst/>
                <a:ahLst/>
                <a:cxnLst/>
                <a:rect l="l" t="t" r="r" b="b"/>
                <a:pathLst>
                  <a:path w="1546757" h="484216">
                    <a:moveTo>
                      <a:pt x="72504" y="0"/>
                    </a:moveTo>
                    <a:lnTo>
                      <a:pt x="1474253" y="0"/>
                    </a:lnTo>
                    <a:cubicBezTo>
                      <a:pt x="1493482" y="0"/>
                      <a:pt x="1511924" y="7639"/>
                      <a:pt x="1525521" y="21236"/>
                    </a:cubicBezTo>
                    <a:cubicBezTo>
                      <a:pt x="1539118" y="34833"/>
                      <a:pt x="1546757" y="53275"/>
                      <a:pt x="1546757" y="72504"/>
                    </a:cubicBezTo>
                    <a:lnTo>
                      <a:pt x="1546757" y="411712"/>
                    </a:lnTo>
                    <a:cubicBezTo>
                      <a:pt x="1546757" y="430941"/>
                      <a:pt x="1539118" y="449383"/>
                      <a:pt x="1525521" y="462980"/>
                    </a:cubicBezTo>
                    <a:cubicBezTo>
                      <a:pt x="1511924" y="476577"/>
                      <a:pt x="1493482" y="484216"/>
                      <a:pt x="1474253" y="484216"/>
                    </a:cubicBezTo>
                    <a:lnTo>
                      <a:pt x="72504" y="484216"/>
                    </a:lnTo>
                    <a:cubicBezTo>
                      <a:pt x="53275" y="484216"/>
                      <a:pt x="34833" y="476577"/>
                      <a:pt x="21236" y="462980"/>
                    </a:cubicBezTo>
                    <a:cubicBezTo>
                      <a:pt x="7639" y="449383"/>
                      <a:pt x="0" y="430941"/>
                      <a:pt x="0" y="411712"/>
                    </a:cubicBezTo>
                    <a:lnTo>
                      <a:pt x="0" y="72504"/>
                    </a:lnTo>
                    <a:cubicBezTo>
                      <a:pt x="0" y="53275"/>
                      <a:pt x="7639" y="34833"/>
                      <a:pt x="21236" y="21236"/>
                    </a:cubicBezTo>
                    <a:cubicBezTo>
                      <a:pt x="34833" y="7639"/>
                      <a:pt x="53275" y="0"/>
                      <a:pt x="72504" y="0"/>
                    </a:cubicBezTo>
                    <a:close/>
                  </a:path>
                </a:pathLst>
              </a:custGeom>
              <a:solidFill>
                <a:srgbClr val="4D6BA7"/>
              </a:solidFill>
            </p:spPr>
            <p:txBody>
              <a:bodyPr/>
              <a:lstStyle/>
              <a:p>
                <a:endParaRPr lang="es-ES"/>
              </a:p>
            </p:txBody>
          </p:sp>
          <p:sp>
            <p:nvSpPr>
              <p:cNvPr id="23" name="TextBox 23"/>
              <p:cNvSpPr txBox="1"/>
              <p:nvPr/>
            </p:nvSpPr>
            <p:spPr>
              <a:xfrm>
                <a:off x="0" y="-38100"/>
                <a:ext cx="1546757" cy="522316"/>
              </a:xfrm>
              <a:prstGeom prst="rect">
                <a:avLst/>
              </a:prstGeom>
            </p:spPr>
            <p:txBody>
              <a:bodyPr lIns="50800" tIns="50800" rIns="50800" bIns="50800" rtlCol="0" anchor="ctr"/>
              <a:lstStyle/>
              <a:p>
                <a:pPr algn="ctr">
                  <a:lnSpc>
                    <a:spcPts val="2659"/>
                  </a:lnSpc>
                </a:pPr>
                <a:endParaRPr/>
              </a:p>
            </p:txBody>
          </p:sp>
        </p:grpSp>
        <p:sp>
          <p:nvSpPr>
            <p:cNvPr id="24" name="TextBox 24"/>
            <p:cNvSpPr txBox="1"/>
            <p:nvPr/>
          </p:nvSpPr>
          <p:spPr>
            <a:xfrm>
              <a:off x="4693614" y="139821"/>
              <a:ext cx="7363221" cy="2076450"/>
            </a:xfrm>
            <a:prstGeom prst="rect">
              <a:avLst/>
            </a:prstGeom>
          </p:spPr>
          <p:txBody>
            <a:bodyPr lIns="0" tIns="0" rIns="0" bIns="0" rtlCol="0" anchor="t">
              <a:spAutoFit/>
            </a:bodyPr>
            <a:lstStyle/>
            <a:p>
              <a:pPr algn="ctr">
                <a:lnSpc>
                  <a:spcPts val="6299"/>
                </a:lnSpc>
                <a:spcBef>
                  <a:spcPct val="0"/>
                </a:spcBef>
              </a:pPr>
              <a:r>
                <a:rPr lang="en-US" sz="4500">
                  <a:solidFill>
                    <a:srgbClr val="FFFFFF"/>
                  </a:solidFill>
                  <a:latin typeface="Bantayog"/>
                  <a:ea typeface="Bantayog"/>
                  <a:cs typeface="Bantayog"/>
                  <a:sym typeface="Bantayog"/>
                </a:rPr>
                <a:t>VALIDACIÓN POR RETENCIÓN TEMPORAL</a:t>
              </a:r>
            </a:p>
          </p:txBody>
        </p:sp>
        <p:sp>
          <p:nvSpPr>
            <p:cNvPr id="25" name="Freeform 25"/>
            <p:cNvSpPr/>
            <p:nvPr/>
          </p:nvSpPr>
          <p:spPr>
            <a:xfrm>
              <a:off x="1192014" y="2414940"/>
              <a:ext cx="1675892" cy="2315931"/>
            </a:xfrm>
            <a:custGeom>
              <a:avLst/>
              <a:gdLst/>
              <a:ahLst/>
              <a:cxnLst/>
              <a:rect l="l" t="t" r="r" b="b"/>
              <a:pathLst>
                <a:path w="1675892" h="2315931">
                  <a:moveTo>
                    <a:pt x="0" y="0"/>
                  </a:moveTo>
                  <a:lnTo>
                    <a:pt x="1675892" y="0"/>
                  </a:lnTo>
                  <a:lnTo>
                    <a:pt x="1675892" y="2315931"/>
                  </a:lnTo>
                  <a:lnTo>
                    <a:pt x="0" y="2315931"/>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s-ES"/>
            </a:p>
          </p:txBody>
        </p:sp>
        <p:sp>
          <p:nvSpPr>
            <p:cNvPr id="26" name="TextBox 26"/>
            <p:cNvSpPr txBox="1"/>
            <p:nvPr/>
          </p:nvSpPr>
          <p:spPr>
            <a:xfrm>
              <a:off x="358733" y="4838821"/>
              <a:ext cx="3342455" cy="2076450"/>
            </a:xfrm>
            <a:prstGeom prst="rect">
              <a:avLst/>
            </a:prstGeom>
          </p:spPr>
          <p:txBody>
            <a:bodyPr lIns="0" tIns="0" rIns="0" bIns="0" rtlCol="0" anchor="t">
              <a:spAutoFit/>
            </a:bodyPr>
            <a:lstStyle/>
            <a:p>
              <a:pPr algn="ctr">
                <a:lnSpc>
                  <a:spcPts val="6299"/>
                </a:lnSpc>
                <a:spcBef>
                  <a:spcPct val="0"/>
                </a:spcBef>
              </a:pPr>
              <a:r>
                <a:rPr lang="en-US" sz="4500">
                  <a:solidFill>
                    <a:srgbClr val="4D6BA7"/>
                  </a:solidFill>
                  <a:latin typeface="Bantayog"/>
                  <a:ea typeface="Bantayog"/>
                  <a:cs typeface="Bantayog"/>
                  <a:sym typeface="Bantayog"/>
                </a:rPr>
                <a:t>DATASET ORIGINAL</a:t>
              </a:r>
            </a:p>
          </p:txBody>
        </p:sp>
        <p:sp>
          <p:nvSpPr>
            <p:cNvPr id="27" name="Freeform 27"/>
            <p:cNvSpPr/>
            <p:nvPr/>
          </p:nvSpPr>
          <p:spPr>
            <a:xfrm>
              <a:off x="3401306" y="2451342"/>
              <a:ext cx="1969307" cy="1914561"/>
            </a:xfrm>
            <a:custGeom>
              <a:avLst/>
              <a:gdLst/>
              <a:ahLst/>
              <a:cxnLst/>
              <a:rect l="l" t="t" r="r" b="b"/>
              <a:pathLst>
                <a:path w="1969307" h="1914561">
                  <a:moveTo>
                    <a:pt x="0" y="1914562"/>
                  </a:moveTo>
                  <a:lnTo>
                    <a:pt x="1664507" y="1914562"/>
                  </a:lnTo>
                  <a:cubicBezTo>
                    <a:pt x="1832844" y="1914562"/>
                    <a:pt x="1969307" y="1778098"/>
                    <a:pt x="1969307" y="1609762"/>
                  </a:cubicBezTo>
                  <a:lnTo>
                    <a:pt x="1969307" y="0"/>
                  </a:lnTo>
                </a:path>
              </a:pathLst>
            </a:custGeom>
            <a:ln w="254000" cap="flat">
              <a:solidFill>
                <a:srgbClr val="4D6BA7"/>
              </a:solidFill>
              <a:prstDash val="solid"/>
              <a:headEnd type="none" w="sm" len="sm"/>
              <a:tailEnd type="triangle" w="lg" len="med"/>
            </a:ln>
          </p:spPr>
          <p:txBody>
            <a:bodyPr/>
            <a:lstStyle/>
            <a:p>
              <a:endParaRPr lang="es-ES"/>
            </a:p>
          </p:txBody>
        </p:sp>
        <p:sp>
          <p:nvSpPr>
            <p:cNvPr id="28" name="Freeform 28"/>
            <p:cNvSpPr/>
            <p:nvPr/>
          </p:nvSpPr>
          <p:spPr>
            <a:xfrm>
              <a:off x="18287811" y="2414940"/>
              <a:ext cx="1675892" cy="2315931"/>
            </a:xfrm>
            <a:custGeom>
              <a:avLst/>
              <a:gdLst/>
              <a:ahLst/>
              <a:cxnLst/>
              <a:rect l="l" t="t" r="r" b="b"/>
              <a:pathLst>
                <a:path w="1675892" h="2315931">
                  <a:moveTo>
                    <a:pt x="0" y="0"/>
                  </a:moveTo>
                  <a:lnTo>
                    <a:pt x="1675892" y="0"/>
                  </a:lnTo>
                  <a:lnTo>
                    <a:pt x="1675892" y="2315931"/>
                  </a:lnTo>
                  <a:lnTo>
                    <a:pt x="0" y="2315931"/>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s-ES"/>
            </a:p>
          </p:txBody>
        </p:sp>
        <p:sp>
          <p:nvSpPr>
            <p:cNvPr id="29" name="TextBox 29"/>
            <p:cNvSpPr txBox="1"/>
            <p:nvPr/>
          </p:nvSpPr>
          <p:spPr>
            <a:xfrm>
              <a:off x="16660104" y="4635621"/>
              <a:ext cx="4931306" cy="2076450"/>
            </a:xfrm>
            <a:prstGeom prst="rect">
              <a:avLst/>
            </a:prstGeom>
          </p:spPr>
          <p:txBody>
            <a:bodyPr lIns="0" tIns="0" rIns="0" bIns="0" rtlCol="0" anchor="t">
              <a:spAutoFit/>
            </a:bodyPr>
            <a:lstStyle/>
            <a:p>
              <a:pPr algn="ctr">
                <a:lnSpc>
                  <a:spcPts val="6299"/>
                </a:lnSpc>
                <a:spcBef>
                  <a:spcPct val="0"/>
                </a:spcBef>
              </a:pPr>
              <a:r>
                <a:rPr lang="en-US" sz="4500">
                  <a:solidFill>
                    <a:srgbClr val="4D6BA7"/>
                  </a:solidFill>
                  <a:latin typeface="Bantayog"/>
                  <a:ea typeface="Bantayog"/>
                  <a:cs typeface="Bantayog"/>
                  <a:sym typeface="Bantayog"/>
                </a:rPr>
                <a:t>CONJUNTO DE PRUEBA (20%)</a:t>
              </a:r>
            </a:p>
          </p:txBody>
        </p:sp>
        <p:sp>
          <p:nvSpPr>
            <p:cNvPr id="30" name="Freeform 30"/>
            <p:cNvSpPr/>
            <p:nvPr/>
          </p:nvSpPr>
          <p:spPr>
            <a:xfrm>
              <a:off x="12600067" y="2414940"/>
              <a:ext cx="1675892" cy="2315931"/>
            </a:xfrm>
            <a:custGeom>
              <a:avLst/>
              <a:gdLst/>
              <a:ahLst/>
              <a:cxnLst/>
              <a:rect l="l" t="t" r="r" b="b"/>
              <a:pathLst>
                <a:path w="1675892" h="2315931">
                  <a:moveTo>
                    <a:pt x="0" y="0"/>
                  </a:moveTo>
                  <a:lnTo>
                    <a:pt x="1675892" y="0"/>
                  </a:lnTo>
                  <a:lnTo>
                    <a:pt x="1675892" y="2315931"/>
                  </a:lnTo>
                  <a:lnTo>
                    <a:pt x="0" y="2315931"/>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s-ES"/>
            </a:p>
          </p:txBody>
        </p:sp>
        <p:sp>
          <p:nvSpPr>
            <p:cNvPr id="31" name="TextBox 31"/>
            <p:cNvSpPr txBox="1"/>
            <p:nvPr/>
          </p:nvSpPr>
          <p:spPr>
            <a:xfrm>
              <a:off x="10745381" y="4635621"/>
              <a:ext cx="5385264" cy="3143250"/>
            </a:xfrm>
            <a:prstGeom prst="rect">
              <a:avLst/>
            </a:prstGeom>
          </p:spPr>
          <p:txBody>
            <a:bodyPr lIns="0" tIns="0" rIns="0" bIns="0" rtlCol="0" anchor="t">
              <a:spAutoFit/>
            </a:bodyPr>
            <a:lstStyle/>
            <a:p>
              <a:pPr algn="ctr">
                <a:lnSpc>
                  <a:spcPts val="6299"/>
                </a:lnSpc>
                <a:spcBef>
                  <a:spcPct val="0"/>
                </a:spcBef>
              </a:pPr>
              <a:r>
                <a:rPr lang="en-US" sz="4500" dirty="0">
                  <a:solidFill>
                    <a:srgbClr val="4D6BA7"/>
                  </a:solidFill>
                  <a:latin typeface="Bantayog"/>
                  <a:ea typeface="Bantayog"/>
                  <a:cs typeface="Bantayog"/>
                  <a:sym typeface="Bantayog"/>
                </a:rPr>
                <a:t>CONJUNTO DE ENTRENAMIENTO (80%)</a:t>
              </a:r>
            </a:p>
          </p:txBody>
        </p:sp>
        <p:sp>
          <p:nvSpPr>
            <p:cNvPr id="32" name="Freeform 32"/>
            <p:cNvSpPr/>
            <p:nvPr/>
          </p:nvSpPr>
          <p:spPr>
            <a:xfrm>
              <a:off x="12290456" y="701819"/>
              <a:ext cx="1592088" cy="1713121"/>
            </a:xfrm>
            <a:custGeom>
              <a:avLst/>
              <a:gdLst/>
              <a:ahLst/>
              <a:cxnLst/>
              <a:rect l="l" t="t" r="r" b="b"/>
              <a:pathLst>
                <a:path w="1147559" h="1189269">
                  <a:moveTo>
                    <a:pt x="0" y="0"/>
                  </a:moveTo>
                  <a:lnTo>
                    <a:pt x="842758" y="0"/>
                  </a:lnTo>
                  <a:cubicBezTo>
                    <a:pt x="1011095" y="0"/>
                    <a:pt x="1147558" y="136464"/>
                    <a:pt x="1147558" y="304800"/>
                  </a:cubicBezTo>
                  <a:lnTo>
                    <a:pt x="1147558" y="1189269"/>
                  </a:lnTo>
                </a:path>
              </a:pathLst>
            </a:custGeom>
            <a:ln w="254000" cap="flat">
              <a:solidFill>
                <a:srgbClr val="4D6BA7"/>
              </a:solidFill>
              <a:prstDash val="solid"/>
              <a:headEnd type="none" w="sm" len="sm"/>
              <a:tailEnd type="triangle" w="lg" len="med"/>
            </a:ln>
          </p:spPr>
          <p:txBody>
            <a:bodyPr/>
            <a:lstStyle/>
            <a:p>
              <a:endParaRPr lang="es-ES"/>
            </a:p>
          </p:txBody>
        </p:sp>
        <p:sp>
          <p:nvSpPr>
            <p:cNvPr id="33" name="Freeform 33"/>
            <p:cNvSpPr/>
            <p:nvPr/>
          </p:nvSpPr>
          <p:spPr>
            <a:xfrm>
              <a:off x="12290454" y="701819"/>
              <a:ext cx="7146661" cy="1713121"/>
            </a:xfrm>
            <a:custGeom>
              <a:avLst/>
              <a:gdLst/>
              <a:ahLst/>
              <a:cxnLst/>
              <a:rect l="l" t="t" r="r" b="b"/>
              <a:pathLst>
                <a:path w="6835303" h="1189269">
                  <a:moveTo>
                    <a:pt x="0" y="0"/>
                  </a:moveTo>
                  <a:lnTo>
                    <a:pt x="6530503" y="0"/>
                  </a:lnTo>
                  <a:cubicBezTo>
                    <a:pt x="6698840" y="0"/>
                    <a:pt x="6835303" y="136464"/>
                    <a:pt x="6835303" y="304800"/>
                  </a:cubicBezTo>
                  <a:lnTo>
                    <a:pt x="6835303" y="1189269"/>
                  </a:lnTo>
                </a:path>
              </a:pathLst>
            </a:custGeom>
            <a:ln w="254000" cap="flat">
              <a:solidFill>
                <a:srgbClr val="4D6BA7"/>
              </a:solidFill>
              <a:prstDash val="solid"/>
              <a:headEnd type="none" w="sm" len="sm"/>
              <a:tailEnd type="triangle" w="lg" len="med"/>
            </a:ln>
          </p:spPr>
          <p:txBody>
            <a:bodyPr/>
            <a:lstStyle/>
            <a:p>
              <a:endParaRPr lang="es-ES"/>
            </a:p>
          </p:txBody>
        </p:sp>
        <p:grpSp>
          <p:nvGrpSpPr>
            <p:cNvPr id="34" name="Group 34"/>
            <p:cNvGrpSpPr/>
            <p:nvPr/>
          </p:nvGrpSpPr>
          <p:grpSpPr>
            <a:xfrm>
              <a:off x="4516818" y="7670690"/>
              <a:ext cx="7716814" cy="2459296"/>
              <a:chOff x="0" y="0"/>
              <a:chExt cx="1524309" cy="485787"/>
            </a:xfrm>
          </p:grpSpPr>
          <p:sp>
            <p:nvSpPr>
              <p:cNvPr id="35" name="Freeform 35"/>
              <p:cNvSpPr/>
              <p:nvPr/>
            </p:nvSpPr>
            <p:spPr>
              <a:xfrm>
                <a:off x="0" y="0"/>
                <a:ext cx="1524309" cy="485787"/>
              </a:xfrm>
              <a:custGeom>
                <a:avLst/>
                <a:gdLst/>
                <a:ahLst/>
                <a:cxnLst/>
                <a:rect l="l" t="t" r="r" b="b"/>
                <a:pathLst>
                  <a:path w="1524309" h="485787">
                    <a:moveTo>
                      <a:pt x="73572" y="0"/>
                    </a:moveTo>
                    <a:lnTo>
                      <a:pt x="1450737" y="0"/>
                    </a:lnTo>
                    <a:cubicBezTo>
                      <a:pt x="1491370" y="0"/>
                      <a:pt x="1524309" y="32939"/>
                      <a:pt x="1524309" y="73572"/>
                    </a:cubicBezTo>
                    <a:lnTo>
                      <a:pt x="1524309" y="412215"/>
                    </a:lnTo>
                    <a:cubicBezTo>
                      <a:pt x="1524309" y="431727"/>
                      <a:pt x="1516558" y="450441"/>
                      <a:pt x="1502760" y="464238"/>
                    </a:cubicBezTo>
                    <a:cubicBezTo>
                      <a:pt x="1488963" y="478036"/>
                      <a:pt x="1470250" y="485787"/>
                      <a:pt x="1450737" y="485787"/>
                    </a:cubicBezTo>
                    <a:lnTo>
                      <a:pt x="73572" y="485787"/>
                    </a:lnTo>
                    <a:cubicBezTo>
                      <a:pt x="32939" y="485787"/>
                      <a:pt x="0" y="452848"/>
                      <a:pt x="0" y="412215"/>
                    </a:cubicBezTo>
                    <a:lnTo>
                      <a:pt x="0" y="73572"/>
                    </a:lnTo>
                    <a:cubicBezTo>
                      <a:pt x="0" y="32939"/>
                      <a:pt x="32939" y="0"/>
                      <a:pt x="73572" y="0"/>
                    </a:cubicBezTo>
                    <a:close/>
                  </a:path>
                </a:pathLst>
              </a:custGeom>
              <a:solidFill>
                <a:srgbClr val="4D6BA7"/>
              </a:solidFill>
            </p:spPr>
            <p:txBody>
              <a:bodyPr/>
              <a:lstStyle/>
              <a:p>
                <a:endParaRPr lang="es-ES"/>
              </a:p>
            </p:txBody>
          </p:sp>
          <p:sp>
            <p:nvSpPr>
              <p:cNvPr id="36" name="TextBox 36"/>
              <p:cNvSpPr txBox="1"/>
              <p:nvPr/>
            </p:nvSpPr>
            <p:spPr>
              <a:xfrm>
                <a:off x="0" y="-38100"/>
                <a:ext cx="1524309" cy="523887"/>
              </a:xfrm>
              <a:prstGeom prst="rect">
                <a:avLst/>
              </a:prstGeom>
            </p:spPr>
            <p:txBody>
              <a:bodyPr lIns="50800" tIns="50800" rIns="50800" bIns="50800" rtlCol="0" anchor="ctr"/>
              <a:lstStyle/>
              <a:p>
                <a:pPr algn="ctr">
                  <a:lnSpc>
                    <a:spcPts val="2659"/>
                  </a:lnSpc>
                </a:pPr>
                <a:endParaRPr/>
              </a:p>
            </p:txBody>
          </p:sp>
        </p:grpSp>
        <p:sp>
          <p:nvSpPr>
            <p:cNvPr id="37" name="TextBox 37"/>
            <p:cNvSpPr txBox="1"/>
            <p:nvPr/>
          </p:nvSpPr>
          <p:spPr>
            <a:xfrm>
              <a:off x="4722920" y="7814488"/>
              <a:ext cx="7304610" cy="2076450"/>
            </a:xfrm>
            <a:prstGeom prst="rect">
              <a:avLst/>
            </a:prstGeom>
          </p:spPr>
          <p:txBody>
            <a:bodyPr lIns="0" tIns="0" rIns="0" bIns="0" rtlCol="0" anchor="t">
              <a:spAutoFit/>
            </a:bodyPr>
            <a:lstStyle/>
            <a:p>
              <a:pPr algn="ctr">
                <a:lnSpc>
                  <a:spcPts val="6299"/>
                </a:lnSpc>
                <a:spcBef>
                  <a:spcPct val="0"/>
                </a:spcBef>
              </a:pPr>
              <a:r>
                <a:rPr lang="en-US" sz="4500">
                  <a:solidFill>
                    <a:srgbClr val="FFFFFF"/>
                  </a:solidFill>
                  <a:latin typeface="Bantayog"/>
                  <a:ea typeface="Bantayog"/>
                  <a:cs typeface="Bantayog"/>
                  <a:sym typeface="Bantayog"/>
                </a:rPr>
                <a:t>VALIDACIÓN CRUZADA (TIME SERIES SPLIT)</a:t>
              </a:r>
            </a:p>
          </p:txBody>
        </p:sp>
        <p:grpSp>
          <p:nvGrpSpPr>
            <p:cNvPr id="38" name="Group 38"/>
            <p:cNvGrpSpPr/>
            <p:nvPr/>
          </p:nvGrpSpPr>
          <p:grpSpPr>
            <a:xfrm>
              <a:off x="1265726" y="8098305"/>
              <a:ext cx="1604067" cy="1604067"/>
              <a:chOff x="0" y="0"/>
              <a:chExt cx="812800" cy="812800"/>
            </a:xfrm>
          </p:grpSpPr>
          <p:sp>
            <p:nvSpPr>
              <p:cNvPr id="39" name="Freeform 3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DBE7FF"/>
              </a:solidFill>
              <a:ln w="114300" cap="sq">
                <a:solidFill>
                  <a:srgbClr val="4D6BA7"/>
                </a:solidFill>
                <a:prstDash val="solid"/>
                <a:miter/>
              </a:ln>
            </p:spPr>
            <p:txBody>
              <a:bodyPr/>
              <a:lstStyle/>
              <a:p>
                <a:endParaRPr lang="es-ES"/>
              </a:p>
            </p:txBody>
          </p:sp>
          <p:sp>
            <p:nvSpPr>
              <p:cNvPr id="40" name="TextBox 40"/>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grpSp>
          <p:nvGrpSpPr>
            <p:cNvPr id="41" name="Group 41"/>
            <p:cNvGrpSpPr/>
            <p:nvPr/>
          </p:nvGrpSpPr>
          <p:grpSpPr>
            <a:xfrm>
              <a:off x="1508917" y="8341496"/>
              <a:ext cx="1117684" cy="1117684"/>
              <a:chOff x="0" y="0"/>
              <a:chExt cx="812800" cy="812800"/>
            </a:xfrm>
          </p:grpSpPr>
          <p:sp>
            <p:nvSpPr>
              <p:cNvPr id="42" name="Freeform 4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D6BA7"/>
              </a:solidFill>
            </p:spPr>
            <p:txBody>
              <a:bodyPr/>
              <a:lstStyle/>
              <a:p>
                <a:endParaRPr lang="es-ES"/>
              </a:p>
            </p:txBody>
          </p:sp>
          <p:sp>
            <p:nvSpPr>
              <p:cNvPr id="43" name="TextBox 43"/>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sp>
          <p:nvSpPr>
            <p:cNvPr id="44" name="Freeform 44"/>
            <p:cNvSpPr/>
            <p:nvPr/>
          </p:nvSpPr>
          <p:spPr>
            <a:xfrm>
              <a:off x="12290454" y="7778871"/>
              <a:ext cx="1675892" cy="1121467"/>
            </a:xfrm>
            <a:custGeom>
              <a:avLst/>
              <a:gdLst/>
              <a:ahLst/>
              <a:cxnLst/>
              <a:rect l="l" t="t" r="r" b="b"/>
              <a:pathLst>
                <a:path w="1147559" h="1121467">
                  <a:moveTo>
                    <a:pt x="1147558" y="0"/>
                  </a:moveTo>
                  <a:lnTo>
                    <a:pt x="1147558" y="816667"/>
                  </a:lnTo>
                  <a:cubicBezTo>
                    <a:pt x="1147558" y="897505"/>
                    <a:pt x="1115446" y="975032"/>
                    <a:pt x="1058285" y="1032194"/>
                  </a:cubicBezTo>
                  <a:cubicBezTo>
                    <a:pt x="1001124" y="1089354"/>
                    <a:pt x="923597" y="1121467"/>
                    <a:pt x="842758" y="1121467"/>
                  </a:cubicBezTo>
                  <a:lnTo>
                    <a:pt x="0" y="1121467"/>
                  </a:lnTo>
                </a:path>
              </a:pathLst>
            </a:custGeom>
            <a:ln w="254000" cap="flat">
              <a:solidFill>
                <a:srgbClr val="4D6BA7"/>
              </a:solidFill>
              <a:prstDash val="solid"/>
              <a:headEnd type="none" w="sm" len="sm"/>
              <a:tailEnd type="triangle" w="lg" len="med"/>
            </a:ln>
          </p:spPr>
          <p:txBody>
            <a:bodyPr/>
            <a:lstStyle/>
            <a:p>
              <a:endParaRPr lang="es-ES"/>
            </a:p>
          </p:txBody>
        </p:sp>
        <p:sp>
          <p:nvSpPr>
            <p:cNvPr id="45" name="Freeform 45"/>
            <p:cNvSpPr/>
            <p:nvPr/>
          </p:nvSpPr>
          <p:spPr>
            <a:xfrm>
              <a:off x="2869792" y="8900338"/>
              <a:ext cx="1647026" cy="0"/>
            </a:xfrm>
            <a:custGeom>
              <a:avLst/>
              <a:gdLst/>
              <a:ahLst/>
              <a:cxnLst/>
              <a:rect l="l" t="t" r="r" b="b"/>
              <a:pathLst>
                <a:path w="1647026">
                  <a:moveTo>
                    <a:pt x="1647026" y="0"/>
                  </a:moveTo>
                  <a:lnTo>
                    <a:pt x="0" y="0"/>
                  </a:lnTo>
                </a:path>
              </a:pathLst>
            </a:custGeom>
            <a:ln w="254000" cap="flat">
              <a:solidFill>
                <a:srgbClr val="4D6BA7"/>
              </a:solidFill>
              <a:prstDash val="solid"/>
              <a:headEnd type="none" w="sm" len="sm"/>
              <a:tailEnd type="triangle" w="lg" len="med"/>
            </a:ln>
          </p:spPr>
          <p:txBody>
            <a:bodyPr/>
            <a:lstStyle/>
            <a:p>
              <a:endParaRPr lang="es-ES"/>
            </a:p>
          </p:txBody>
        </p:sp>
      </p:gr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25</a:t>
            </a:r>
          </a:p>
        </p:txBody>
      </p:sp>
      <p:sp>
        <p:nvSpPr>
          <p:cNvPr id="15" name="TextBox 15"/>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MÉTRICAS</a:t>
            </a:r>
          </a:p>
        </p:txBody>
      </p:sp>
      <p:sp>
        <p:nvSpPr>
          <p:cNvPr id="16" name="Freeform 16"/>
          <p:cNvSpPr/>
          <p:nvPr/>
        </p:nvSpPr>
        <p:spPr>
          <a:xfrm>
            <a:off x="9144000" y="2263566"/>
            <a:ext cx="95250" cy="7570996"/>
          </a:xfrm>
          <a:custGeom>
            <a:avLst/>
            <a:gdLst/>
            <a:ahLst/>
            <a:cxnLst/>
            <a:rect l="l" t="t" r="r" b="b"/>
            <a:pathLst>
              <a:path h="3728348">
                <a:moveTo>
                  <a:pt x="0" y="0"/>
                </a:moveTo>
                <a:lnTo>
                  <a:pt x="0" y="3728348"/>
                </a:lnTo>
              </a:path>
            </a:pathLst>
          </a:custGeom>
          <a:ln w="190500" cap="flat">
            <a:solidFill>
              <a:srgbClr val="4D6BA7"/>
            </a:solidFill>
            <a:prstDash val="solid"/>
            <a:headEnd type="none" w="sm" len="sm"/>
            <a:tailEnd type="none" w="sm" len="sm"/>
          </a:ln>
        </p:spPr>
        <p:txBody>
          <a:bodyPr/>
          <a:lstStyle/>
          <a:p>
            <a:endParaRPr lang="es-ES"/>
          </a:p>
        </p:txBody>
      </p:sp>
      <p:sp>
        <p:nvSpPr>
          <p:cNvPr id="17" name="TextBox 17"/>
          <p:cNvSpPr txBox="1"/>
          <p:nvPr/>
        </p:nvSpPr>
        <p:spPr>
          <a:xfrm>
            <a:off x="1856019" y="2263566"/>
            <a:ext cx="5522416" cy="946150"/>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ENTRENAMIENTO</a:t>
            </a:r>
          </a:p>
        </p:txBody>
      </p:sp>
      <p:sp>
        <p:nvSpPr>
          <p:cNvPr id="18" name="TextBox 18"/>
          <p:cNvSpPr txBox="1"/>
          <p:nvPr/>
        </p:nvSpPr>
        <p:spPr>
          <a:xfrm>
            <a:off x="11249696" y="2263566"/>
            <a:ext cx="5522416" cy="946150"/>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EVALUACIÓN</a:t>
            </a:r>
          </a:p>
        </p:txBody>
      </p:sp>
      <p:sp>
        <p:nvSpPr>
          <p:cNvPr id="19" name="TextBox 19"/>
          <p:cNvSpPr txBox="1"/>
          <p:nvPr/>
        </p:nvSpPr>
        <p:spPr>
          <a:xfrm rot="-920685">
            <a:off x="2780704" y="4700103"/>
            <a:ext cx="3382180" cy="1940780"/>
          </a:xfrm>
          <a:prstGeom prst="rect">
            <a:avLst/>
          </a:prstGeom>
        </p:spPr>
        <p:txBody>
          <a:bodyPr lIns="0" tIns="0" rIns="0" bIns="0" rtlCol="0" anchor="t">
            <a:spAutoFit/>
          </a:bodyPr>
          <a:lstStyle/>
          <a:p>
            <a:pPr algn="ctr">
              <a:lnSpc>
                <a:spcPts val="15794"/>
              </a:lnSpc>
              <a:spcBef>
                <a:spcPct val="0"/>
              </a:spcBef>
            </a:pPr>
            <a:r>
              <a:rPr lang="en-US" sz="11281">
                <a:solidFill>
                  <a:srgbClr val="203660"/>
                </a:solidFill>
                <a:latin typeface="Bantayog"/>
                <a:ea typeface="Bantayog"/>
                <a:cs typeface="Bantayog"/>
                <a:sym typeface="Bantayog"/>
              </a:rPr>
              <a:t>MSE</a:t>
            </a:r>
          </a:p>
        </p:txBody>
      </p:sp>
      <p:sp>
        <p:nvSpPr>
          <p:cNvPr id="20" name="TextBox 20"/>
          <p:cNvSpPr txBox="1"/>
          <p:nvPr/>
        </p:nvSpPr>
        <p:spPr>
          <a:xfrm>
            <a:off x="10310064" y="3867915"/>
            <a:ext cx="3382180" cy="1940780"/>
          </a:xfrm>
          <a:prstGeom prst="rect">
            <a:avLst/>
          </a:prstGeom>
        </p:spPr>
        <p:txBody>
          <a:bodyPr lIns="0" tIns="0" rIns="0" bIns="0" rtlCol="0" anchor="t">
            <a:spAutoFit/>
          </a:bodyPr>
          <a:lstStyle/>
          <a:p>
            <a:pPr algn="ctr">
              <a:lnSpc>
                <a:spcPts val="15794"/>
              </a:lnSpc>
              <a:spcBef>
                <a:spcPct val="0"/>
              </a:spcBef>
            </a:pPr>
            <a:r>
              <a:rPr lang="en-US" sz="11281">
                <a:solidFill>
                  <a:srgbClr val="203660"/>
                </a:solidFill>
                <a:latin typeface="Bantayog"/>
                <a:ea typeface="Bantayog"/>
                <a:cs typeface="Bantayog"/>
                <a:sym typeface="Bantayog"/>
              </a:rPr>
              <a:t>MAE</a:t>
            </a:r>
          </a:p>
        </p:txBody>
      </p:sp>
      <p:sp>
        <p:nvSpPr>
          <p:cNvPr id="21" name="TextBox 21"/>
          <p:cNvSpPr txBox="1"/>
          <p:nvPr/>
        </p:nvSpPr>
        <p:spPr>
          <a:xfrm rot="-920685">
            <a:off x="11590214" y="6819916"/>
            <a:ext cx="4022259" cy="1940780"/>
          </a:xfrm>
          <a:prstGeom prst="rect">
            <a:avLst/>
          </a:prstGeom>
        </p:spPr>
        <p:txBody>
          <a:bodyPr lIns="0" tIns="0" rIns="0" bIns="0" rtlCol="0" anchor="t">
            <a:spAutoFit/>
          </a:bodyPr>
          <a:lstStyle/>
          <a:p>
            <a:pPr algn="ctr">
              <a:lnSpc>
                <a:spcPts val="15794"/>
              </a:lnSpc>
              <a:spcBef>
                <a:spcPct val="0"/>
              </a:spcBef>
            </a:pPr>
            <a:r>
              <a:rPr lang="en-US" sz="11281">
                <a:solidFill>
                  <a:srgbClr val="203660"/>
                </a:solidFill>
                <a:latin typeface="Bantayog"/>
                <a:ea typeface="Bantayog"/>
                <a:cs typeface="Bantayog"/>
                <a:sym typeface="Bantayog"/>
              </a:rPr>
              <a:t>MAPE</a:t>
            </a:r>
          </a:p>
        </p:txBody>
      </p:sp>
      <p:grpSp>
        <p:nvGrpSpPr>
          <p:cNvPr id="22" name="Group 22"/>
          <p:cNvGrpSpPr/>
          <p:nvPr/>
        </p:nvGrpSpPr>
        <p:grpSpPr>
          <a:xfrm rot="2146988">
            <a:off x="15138360" y="4032085"/>
            <a:ext cx="1857349" cy="2222829"/>
            <a:chOff x="0" y="0"/>
            <a:chExt cx="2476465" cy="2963773"/>
          </a:xfrm>
        </p:grpSpPr>
        <p:sp>
          <p:nvSpPr>
            <p:cNvPr id="23" name="TextBox 23"/>
            <p:cNvSpPr txBox="1"/>
            <p:nvPr/>
          </p:nvSpPr>
          <p:spPr>
            <a:xfrm rot="-920685">
              <a:off x="240969" y="268082"/>
              <a:ext cx="1730372" cy="2511506"/>
            </a:xfrm>
            <a:prstGeom prst="rect">
              <a:avLst/>
            </a:prstGeom>
          </p:spPr>
          <p:txBody>
            <a:bodyPr lIns="0" tIns="0" rIns="0" bIns="0" rtlCol="0" anchor="t">
              <a:spAutoFit/>
            </a:bodyPr>
            <a:lstStyle/>
            <a:p>
              <a:pPr algn="ctr">
                <a:lnSpc>
                  <a:spcPts val="15794"/>
                </a:lnSpc>
                <a:spcBef>
                  <a:spcPct val="0"/>
                </a:spcBef>
              </a:pPr>
              <a:r>
                <a:rPr lang="en-US" sz="11281">
                  <a:solidFill>
                    <a:srgbClr val="203660"/>
                  </a:solidFill>
                  <a:latin typeface="Bantayog"/>
                  <a:ea typeface="Bantayog"/>
                  <a:cs typeface="Bantayog"/>
                  <a:sym typeface="Bantayog"/>
                </a:rPr>
                <a:t>R</a:t>
              </a:r>
            </a:p>
          </p:txBody>
        </p:sp>
        <p:sp>
          <p:nvSpPr>
            <p:cNvPr id="24" name="TextBox 24"/>
            <p:cNvSpPr txBox="1"/>
            <p:nvPr/>
          </p:nvSpPr>
          <p:spPr>
            <a:xfrm rot="-920685">
              <a:off x="1278669" y="-19974"/>
              <a:ext cx="1020241" cy="1479369"/>
            </a:xfrm>
            <a:prstGeom prst="rect">
              <a:avLst/>
            </a:prstGeom>
          </p:spPr>
          <p:txBody>
            <a:bodyPr lIns="0" tIns="0" rIns="0" bIns="0" rtlCol="0" anchor="t">
              <a:spAutoFit/>
            </a:bodyPr>
            <a:lstStyle/>
            <a:p>
              <a:pPr algn="ctr">
                <a:lnSpc>
                  <a:spcPts val="9312"/>
                </a:lnSpc>
                <a:spcBef>
                  <a:spcPct val="0"/>
                </a:spcBef>
              </a:pPr>
              <a:r>
                <a:rPr lang="en-US" sz="6651">
                  <a:solidFill>
                    <a:srgbClr val="203660"/>
                  </a:solidFill>
                  <a:latin typeface="Bantayog"/>
                  <a:ea typeface="Bantayog"/>
                  <a:cs typeface="Bantayog"/>
                  <a:sym typeface="Bantayog"/>
                </a:rPr>
                <a:t>2</a:t>
              </a:r>
            </a:p>
          </p:txBody>
        </p:sp>
      </p:gr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26</a:t>
            </a:r>
          </a:p>
        </p:txBody>
      </p:sp>
      <p:sp>
        <p:nvSpPr>
          <p:cNvPr id="15" name="TextBox 15"/>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MÉTRICAS</a:t>
            </a:r>
          </a:p>
        </p:txBody>
      </p:sp>
      <p:sp>
        <p:nvSpPr>
          <p:cNvPr id="16" name="TextBox 16"/>
          <p:cNvSpPr txBox="1"/>
          <p:nvPr/>
        </p:nvSpPr>
        <p:spPr>
          <a:xfrm>
            <a:off x="6382792" y="2482438"/>
            <a:ext cx="5522416" cy="946150"/>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ENTRENAMIENTO</a:t>
            </a:r>
          </a:p>
        </p:txBody>
      </p:sp>
      <p:grpSp>
        <p:nvGrpSpPr>
          <p:cNvPr id="17" name="Group 17"/>
          <p:cNvGrpSpPr/>
          <p:nvPr/>
        </p:nvGrpSpPr>
        <p:grpSpPr>
          <a:xfrm>
            <a:off x="3050914" y="4069493"/>
            <a:ext cx="15008486" cy="3389022"/>
            <a:chOff x="0" y="-180975"/>
            <a:chExt cx="20011314" cy="4518697"/>
          </a:xfrm>
        </p:grpSpPr>
        <p:sp>
          <p:nvSpPr>
            <p:cNvPr id="18" name="TextBox 18"/>
            <p:cNvSpPr txBox="1"/>
            <p:nvPr/>
          </p:nvSpPr>
          <p:spPr>
            <a:xfrm>
              <a:off x="0" y="1068127"/>
              <a:ext cx="15935241" cy="2022972"/>
            </a:xfrm>
            <a:prstGeom prst="rect">
              <a:avLst/>
            </a:prstGeom>
          </p:spPr>
          <p:txBody>
            <a:bodyPr lIns="0" tIns="0" rIns="0" bIns="0" rtlCol="0" anchor="t">
              <a:spAutoFit/>
            </a:bodyPr>
            <a:lstStyle/>
            <a:p>
              <a:pPr algn="ctr">
                <a:lnSpc>
                  <a:spcPts val="12743"/>
                </a:lnSpc>
                <a:spcBef>
                  <a:spcPct val="0"/>
                </a:spcBef>
              </a:pPr>
              <a:r>
                <a:rPr lang="en-US" sz="9102">
                  <a:solidFill>
                    <a:srgbClr val="203660"/>
                  </a:solidFill>
                  <a:latin typeface="Bantayog"/>
                  <a:ea typeface="Bantayog"/>
                  <a:cs typeface="Bantayog"/>
                  <a:sym typeface="Bantayog"/>
                </a:rPr>
                <a:t>MSE=    ∑   (Y - Y )</a:t>
              </a:r>
            </a:p>
          </p:txBody>
        </p:sp>
        <p:sp>
          <p:nvSpPr>
            <p:cNvPr id="19" name="TextBox 19"/>
            <p:cNvSpPr txBox="1"/>
            <p:nvPr/>
          </p:nvSpPr>
          <p:spPr>
            <a:xfrm>
              <a:off x="4825312" y="86065"/>
              <a:ext cx="11737609" cy="3359464"/>
            </a:xfrm>
            <a:prstGeom prst="rect">
              <a:avLst/>
            </a:prstGeom>
          </p:spPr>
          <p:txBody>
            <a:bodyPr lIns="0" tIns="0" rIns="0" bIns="0" rtlCol="0" anchor="t">
              <a:spAutoFit/>
            </a:bodyPr>
            <a:lstStyle/>
            <a:p>
              <a:pPr algn="ctr">
                <a:lnSpc>
                  <a:spcPts val="10224"/>
                </a:lnSpc>
              </a:pPr>
              <a:r>
                <a:rPr lang="en-US" sz="7303">
                  <a:solidFill>
                    <a:srgbClr val="203660"/>
                  </a:solidFill>
                  <a:latin typeface="Bantayog"/>
                  <a:ea typeface="Bantayog"/>
                  <a:cs typeface="Bantayog"/>
                  <a:sym typeface="Bantayog"/>
                </a:rPr>
                <a:t>   N                 2</a:t>
              </a:r>
            </a:p>
            <a:p>
              <a:pPr algn="ctr">
                <a:lnSpc>
                  <a:spcPts val="10224"/>
                </a:lnSpc>
                <a:spcBef>
                  <a:spcPct val="0"/>
                </a:spcBef>
              </a:pPr>
              <a:r>
                <a:rPr lang="en-US" sz="7303">
                  <a:solidFill>
                    <a:srgbClr val="203660"/>
                  </a:solidFill>
                  <a:latin typeface="Bantayog"/>
                  <a:ea typeface="Bantayog"/>
                  <a:cs typeface="Bantayog"/>
                  <a:sym typeface="Bantayog"/>
                </a:rPr>
                <a:t> </a:t>
              </a:r>
            </a:p>
          </p:txBody>
        </p:sp>
        <p:sp>
          <p:nvSpPr>
            <p:cNvPr id="20" name="TextBox 20"/>
            <p:cNvSpPr txBox="1"/>
            <p:nvPr/>
          </p:nvSpPr>
          <p:spPr>
            <a:xfrm>
              <a:off x="4076073" y="2057171"/>
              <a:ext cx="15935241" cy="1632264"/>
            </a:xfrm>
            <a:prstGeom prst="rect">
              <a:avLst/>
            </a:prstGeom>
          </p:spPr>
          <p:txBody>
            <a:bodyPr lIns="0" tIns="0" rIns="0" bIns="0" rtlCol="0" anchor="t">
              <a:spAutoFit/>
            </a:bodyPr>
            <a:lstStyle/>
            <a:p>
              <a:pPr algn="ctr">
                <a:lnSpc>
                  <a:spcPts val="10224"/>
                </a:lnSpc>
                <a:spcBef>
                  <a:spcPct val="0"/>
                </a:spcBef>
              </a:pPr>
              <a:r>
                <a:rPr lang="en-US" sz="7303" dirty="0">
                  <a:solidFill>
                    <a:srgbClr val="203660"/>
                  </a:solidFill>
                  <a:latin typeface="Bantayog"/>
                  <a:ea typeface="Bantayog"/>
                  <a:cs typeface="Bantayog"/>
                  <a:sym typeface="Bantayog"/>
                </a:rPr>
                <a:t>I      </a:t>
              </a:r>
              <a:r>
                <a:rPr lang="en-US" sz="7303" dirty="0" err="1">
                  <a:solidFill>
                    <a:srgbClr val="203660"/>
                  </a:solidFill>
                  <a:latin typeface="Bantayog"/>
                  <a:ea typeface="Bantayog"/>
                  <a:cs typeface="Bantayog"/>
                  <a:sym typeface="Bantayog"/>
                </a:rPr>
                <a:t>I</a:t>
              </a:r>
              <a:endParaRPr lang="en-US" sz="7303" dirty="0">
                <a:solidFill>
                  <a:srgbClr val="203660"/>
                </a:solidFill>
                <a:latin typeface="Bantayog"/>
                <a:ea typeface="Bantayog"/>
                <a:cs typeface="Bantayog"/>
                <a:sym typeface="Bantayog"/>
              </a:endParaRPr>
            </a:p>
          </p:txBody>
        </p:sp>
        <p:sp>
          <p:nvSpPr>
            <p:cNvPr id="21" name="TextBox 21"/>
            <p:cNvSpPr txBox="1"/>
            <p:nvPr/>
          </p:nvSpPr>
          <p:spPr>
            <a:xfrm>
              <a:off x="666776" y="2705458"/>
              <a:ext cx="15935241" cy="1632264"/>
            </a:xfrm>
            <a:prstGeom prst="rect">
              <a:avLst/>
            </a:prstGeom>
          </p:spPr>
          <p:txBody>
            <a:bodyPr lIns="0" tIns="0" rIns="0" bIns="0" rtlCol="0" anchor="t">
              <a:spAutoFit/>
            </a:bodyPr>
            <a:lstStyle/>
            <a:p>
              <a:pPr algn="ctr">
                <a:lnSpc>
                  <a:spcPts val="10224"/>
                </a:lnSpc>
                <a:spcBef>
                  <a:spcPct val="0"/>
                </a:spcBef>
              </a:pPr>
              <a:r>
                <a:rPr lang="en-US" sz="7303" dirty="0">
                  <a:solidFill>
                    <a:srgbClr val="203660"/>
                  </a:solidFill>
                  <a:latin typeface="Bantayog"/>
                  <a:ea typeface="Bantayog"/>
                  <a:cs typeface="Bantayog"/>
                  <a:sym typeface="Bantayog"/>
                </a:rPr>
                <a:t>I = 1</a:t>
              </a:r>
            </a:p>
          </p:txBody>
        </p:sp>
        <p:sp>
          <p:nvSpPr>
            <p:cNvPr id="22" name="TextBox 22"/>
            <p:cNvSpPr txBox="1"/>
            <p:nvPr/>
          </p:nvSpPr>
          <p:spPr>
            <a:xfrm>
              <a:off x="11951613" y="436969"/>
              <a:ext cx="1502932" cy="2022972"/>
            </a:xfrm>
            <a:prstGeom prst="rect">
              <a:avLst/>
            </a:prstGeom>
          </p:spPr>
          <p:txBody>
            <a:bodyPr lIns="0" tIns="0" rIns="0" bIns="0" rtlCol="0" anchor="t">
              <a:spAutoFit/>
            </a:bodyPr>
            <a:lstStyle/>
            <a:p>
              <a:pPr algn="ctr">
                <a:lnSpc>
                  <a:spcPts val="12743"/>
                </a:lnSpc>
                <a:spcBef>
                  <a:spcPct val="0"/>
                </a:spcBef>
              </a:pPr>
              <a:r>
                <a:rPr lang="en-US" sz="9102" dirty="0">
                  <a:solidFill>
                    <a:srgbClr val="203660"/>
                  </a:solidFill>
                  <a:latin typeface="Bantayog"/>
                  <a:ea typeface="Bantayog"/>
                  <a:cs typeface="Bantayog"/>
                  <a:sym typeface="Bantayog"/>
                </a:rPr>
                <a:t>^</a:t>
              </a:r>
            </a:p>
          </p:txBody>
        </p:sp>
        <p:sp>
          <p:nvSpPr>
            <p:cNvPr id="23" name="TextBox 23"/>
            <p:cNvSpPr txBox="1"/>
            <p:nvPr/>
          </p:nvSpPr>
          <p:spPr>
            <a:xfrm>
              <a:off x="5576778" y="-180975"/>
              <a:ext cx="1502932" cy="2022972"/>
            </a:xfrm>
            <a:prstGeom prst="rect">
              <a:avLst/>
            </a:prstGeom>
          </p:spPr>
          <p:txBody>
            <a:bodyPr lIns="0" tIns="0" rIns="0" bIns="0" rtlCol="0" anchor="t">
              <a:spAutoFit/>
            </a:bodyPr>
            <a:lstStyle/>
            <a:p>
              <a:pPr algn="ctr">
                <a:lnSpc>
                  <a:spcPts val="12743"/>
                </a:lnSpc>
                <a:spcBef>
                  <a:spcPct val="0"/>
                </a:spcBef>
              </a:pPr>
              <a:r>
                <a:rPr lang="en-US" sz="9102">
                  <a:solidFill>
                    <a:srgbClr val="203660"/>
                  </a:solidFill>
                  <a:latin typeface="Bantayog"/>
                  <a:ea typeface="Bantayog"/>
                  <a:cs typeface="Bantayog"/>
                  <a:sym typeface="Bantayog"/>
                </a:rPr>
                <a:t>1</a:t>
              </a:r>
            </a:p>
          </p:txBody>
        </p:sp>
        <p:sp>
          <p:nvSpPr>
            <p:cNvPr id="24" name="TextBox 24"/>
            <p:cNvSpPr txBox="1"/>
            <p:nvPr/>
          </p:nvSpPr>
          <p:spPr>
            <a:xfrm>
              <a:off x="5576778" y="2276063"/>
              <a:ext cx="1502932" cy="2022972"/>
            </a:xfrm>
            <a:prstGeom prst="rect">
              <a:avLst/>
            </a:prstGeom>
          </p:spPr>
          <p:txBody>
            <a:bodyPr lIns="0" tIns="0" rIns="0" bIns="0" rtlCol="0" anchor="t">
              <a:spAutoFit/>
            </a:bodyPr>
            <a:lstStyle/>
            <a:p>
              <a:pPr algn="ctr">
                <a:lnSpc>
                  <a:spcPts val="12743"/>
                </a:lnSpc>
                <a:spcBef>
                  <a:spcPct val="0"/>
                </a:spcBef>
              </a:pPr>
              <a:r>
                <a:rPr lang="en-US" sz="9102" dirty="0">
                  <a:solidFill>
                    <a:srgbClr val="203660"/>
                  </a:solidFill>
                  <a:latin typeface="Bantayog"/>
                  <a:ea typeface="Bantayog"/>
                  <a:cs typeface="Bantayog"/>
                  <a:sym typeface="Bantayog"/>
                </a:rPr>
                <a:t>N</a:t>
              </a:r>
            </a:p>
          </p:txBody>
        </p:sp>
        <p:sp>
          <p:nvSpPr>
            <p:cNvPr id="25" name="Freeform 25"/>
            <p:cNvSpPr/>
            <p:nvPr/>
          </p:nvSpPr>
          <p:spPr>
            <a:xfrm flipV="1">
              <a:off x="5889488" y="2153468"/>
              <a:ext cx="877512" cy="60959"/>
            </a:xfrm>
            <a:custGeom>
              <a:avLst/>
              <a:gdLst/>
              <a:ahLst/>
              <a:cxnLst/>
              <a:rect l="l" t="t" r="r" b="b"/>
              <a:pathLst>
                <a:path w="551547">
                  <a:moveTo>
                    <a:pt x="0" y="0"/>
                  </a:moveTo>
                  <a:lnTo>
                    <a:pt x="551547" y="0"/>
                  </a:lnTo>
                </a:path>
              </a:pathLst>
            </a:custGeom>
            <a:ln w="254000" cap="flat">
              <a:solidFill>
                <a:srgbClr val="203660"/>
              </a:solidFill>
              <a:prstDash val="solid"/>
              <a:headEnd type="none" w="sm" len="sm"/>
              <a:tailEnd type="none" w="sm" len="sm"/>
            </a:ln>
          </p:spPr>
          <p:txBody>
            <a:bodyPr/>
            <a:lstStyle/>
            <a:p>
              <a:endParaRPr lang="es-ES"/>
            </a:p>
          </p:txBody>
        </p:sp>
      </p:gr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a:off x="1657406" y="5807703"/>
            <a:ext cx="18232910" cy="4290908"/>
            <a:chOff x="-2760960" y="-448394"/>
            <a:chExt cx="24310546" cy="5721210"/>
          </a:xfrm>
        </p:grpSpPr>
        <p:sp>
          <p:nvSpPr>
            <p:cNvPr id="12" name="TextBox 12"/>
            <p:cNvSpPr txBox="1"/>
            <p:nvPr/>
          </p:nvSpPr>
          <p:spPr>
            <a:xfrm>
              <a:off x="-2760960" y="1661434"/>
              <a:ext cx="15935241" cy="2022972"/>
            </a:xfrm>
            <a:prstGeom prst="rect">
              <a:avLst/>
            </a:prstGeom>
          </p:spPr>
          <p:txBody>
            <a:bodyPr lIns="0" tIns="0" rIns="0" bIns="0" rtlCol="0" anchor="t">
              <a:spAutoFit/>
            </a:bodyPr>
            <a:lstStyle/>
            <a:p>
              <a:pPr algn="ctr">
                <a:lnSpc>
                  <a:spcPts val="12743"/>
                </a:lnSpc>
                <a:spcBef>
                  <a:spcPct val="0"/>
                </a:spcBef>
              </a:pPr>
              <a:r>
                <a:rPr lang="en-US" sz="9102" dirty="0">
                  <a:solidFill>
                    <a:srgbClr val="203660"/>
                  </a:solidFill>
                  <a:latin typeface="Bantayog"/>
                  <a:ea typeface="Bantayog"/>
                  <a:cs typeface="Bantayog"/>
                  <a:sym typeface="Bantayog"/>
                </a:rPr>
                <a:t>MAPE=    ∑             </a:t>
              </a:r>
            </a:p>
          </p:txBody>
        </p:sp>
        <p:sp>
          <p:nvSpPr>
            <p:cNvPr id="13" name="TextBox 13"/>
            <p:cNvSpPr txBox="1"/>
            <p:nvPr/>
          </p:nvSpPr>
          <p:spPr>
            <a:xfrm>
              <a:off x="2111036" y="622925"/>
              <a:ext cx="11737609" cy="1632264"/>
            </a:xfrm>
            <a:prstGeom prst="rect">
              <a:avLst/>
            </a:prstGeom>
          </p:spPr>
          <p:txBody>
            <a:bodyPr lIns="0" tIns="0" rIns="0" bIns="0" rtlCol="0" anchor="t">
              <a:spAutoFit/>
            </a:bodyPr>
            <a:lstStyle/>
            <a:p>
              <a:pPr algn="ctr">
                <a:lnSpc>
                  <a:spcPts val="10224"/>
                </a:lnSpc>
                <a:spcBef>
                  <a:spcPct val="0"/>
                </a:spcBef>
              </a:pPr>
              <a:r>
                <a:rPr lang="en-US" sz="7303" dirty="0">
                  <a:solidFill>
                    <a:srgbClr val="203660"/>
                  </a:solidFill>
                  <a:latin typeface="Bantayog"/>
                  <a:ea typeface="Bantayog"/>
                  <a:cs typeface="Bantayog"/>
                  <a:sym typeface="Bantayog"/>
                </a:rPr>
                <a:t>   N                 </a:t>
              </a:r>
            </a:p>
          </p:txBody>
        </p:sp>
        <p:sp>
          <p:nvSpPr>
            <p:cNvPr id="14" name="TextBox 14"/>
            <p:cNvSpPr txBox="1"/>
            <p:nvPr/>
          </p:nvSpPr>
          <p:spPr>
            <a:xfrm>
              <a:off x="5614345" y="1051447"/>
              <a:ext cx="15935241" cy="1632264"/>
            </a:xfrm>
            <a:prstGeom prst="rect">
              <a:avLst/>
            </a:prstGeom>
          </p:spPr>
          <p:txBody>
            <a:bodyPr lIns="0" tIns="0" rIns="0" bIns="0" rtlCol="0" anchor="t">
              <a:spAutoFit/>
            </a:bodyPr>
            <a:lstStyle/>
            <a:p>
              <a:pPr algn="ctr">
                <a:lnSpc>
                  <a:spcPts val="10224"/>
                </a:lnSpc>
                <a:spcBef>
                  <a:spcPct val="0"/>
                </a:spcBef>
              </a:pPr>
              <a:r>
                <a:rPr lang="en-US" sz="7303" dirty="0">
                  <a:solidFill>
                    <a:srgbClr val="203660"/>
                  </a:solidFill>
                  <a:latin typeface="Bantayog"/>
                  <a:ea typeface="Bantayog"/>
                  <a:cs typeface="Bantayog"/>
                  <a:sym typeface="Bantayog"/>
                </a:rPr>
                <a:t>I      </a:t>
              </a:r>
              <a:r>
                <a:rPr lang="en-US" sz="7303" dirty="0" err="1">
                  <a:solidFill>
                    <a:srgbClr val="203660"/>
                  </a:solidFill>
                  <a:latin typeface="Bantayog"/>
                  <a:ea typeface="Bantayog"/>
                  <a:cs typeface="Bantayog"/>
                  <a:sym typeface="Bantayog"/>
                </a:rPr>
                <a:t>I</a:t>
              </a:r>
              <a:endParaRPr lang="en-US" sz="7303" dirty="0">
                <a:solidFill>
                  <a:srgbClr val="203660"/>
                </a:solidFill>
                <a:latin typeface="Bantayog"/>
                <a:ea typeface="Bantayog"/>
                <a:cs typeface="Bantayog"/>
                <a:sym typeface="Bantayog"/>
              </a:endParaRPr>
            </a:p>
          </p:txBody>
        </p:sp>
        <p:sp>
          <p:nvSpPr>
            <p:cNvPr id="15" name="TextBox 15"/>
            <p:cNvSpPr txBox="1"/>
            <p:nvPr/>
          </p:nvSpPr>
          <p:spPr>
            <a:xfrm>
              <a:off x="1157340" y="3371592"/>
              <a:ext cx="15935241" cy="1632264"/>
            </a:xfrm>
            <a:prstGeom prst="rect">
              <a:avLst/>
            </a:prstGeom>
          </p:spPr>
          <p:txBody>
            <a:bodyPr lIns="0" tIns="0" rIns="0" bIns="0" rtlCol="0" anchor="t">
              <a:spAutoFit/>
            </a:bodyPr>
            <a:lstStyle/>
            <a:p>
              <a:pPr algn="ctr">
                <a:lnSpc>
                  <a:spcPts val="10224"/>
                </a:lnSpc>
                <a:spcBef>
                  <a:spcPct val="0"/>
                </a:spcBef>
              </a:pPr>
              <a:r>
                <a:rPr lang="en-US" sz="7303" dirty="0">
                  <a:solidFill>
                    <a:srgbClr val="203660"/>
                  </a:solidFill>
                  <a:latin typeface="Bantayog"/>
                  <a:ea typeface="Bantayog"/>
                  <a:cs typeface="Bantayog"/>
                  <a:sym typeface="Bantayog"/>
                </a:rPr>
                <a:t>I = 1</a:t>
              </a:r>
            </a:p>
          </p:txBody>
        </p:sp>
        <p:sp>
          <p:nvSpPr>
            <p:cNvPr id="16" name="TextBox 16"/>
            <p:cNvSpPr txBox="1"/>
            <p:nvPr/>
          </p:nvSpPr>
          <p:spPr>
            <a:xfrm>
              <a:off x="13646560" y="-448394"/>
              <a:ext cx="1502932" cy="2022972"/>
            </a:xfrm>
            <a:prstGeom prst="rect">
              <a:avLst/>
            </a:prstGeom>
          </p:spPr>
          <p:txBody>
            <a:bodyPr lIns="0" tIns="0" rIns="0" bIns="0" rtlCol="0" anchor="t">
              <a:spAutoFit/>
            </a:bodyPr>
            <a:lstStyle/>
            <a:p>
              <a:pPr algn="ctr">
                <a:lnSpc>
                  <a:spcPts val="12743"/>
                </a:lnSpc>
                <a:spcBef>
                  <a:spcPct val="0"/>
                </a:spcBef>
              </a:pPr>
              <a:r>
                <a:rPr lang="en-US" sz="9102" dirty="0">
                  <a:solidFill>
                    <a:srgbClr val="203660"/>
                  </a:solidFill>
                  <a:latin typeface="Bantayog"/>
                  <a:ea typeface="Bantayog"/>
                  <a:cs typeface="Bantayog"/>
                  <a:sym typeface="Bantayog"/>
                </a:rPr>
                <a:t>^</a:t>
              </a:r>
            </a:p>
          </p:txBody>
        </p:sp>
        <p:sp>
          <p:nvSpPr>
            <p:cNvPr id="17" name="TextBox 17"/>
            <p:cNvSpPr txBox="1"/>
            <p:nvPr/>
          </p:nvSpPr>
          <p:spPr>
            <a:xfrm>
              <a:off x="6095587" y="411921"/>
              <a:ext cx="1502932" cy="2022972"/>
            </a:xfrm>
            <a:prstGeom prst="rect">
              <a:avLst/>
            </a:prstGeom>
          </p:spPr>
          <p:txBody>
            <a:bodyPr lIns="0" tIns="0" rIns="0" bIns="0" rtlCol="0" anchor="t">
              <a:spAutoFit/>
            </a:bodyPr>
            <a:lstStyle/>
            <a:p>
              <a:pPr algn="ctr">
                <a:lnSpc>
                  <a:spcPts val="12743"/>
                </a:lnSpc>
                <a:spcBef>
                  <a:spcPct val="0"/>
                </a:spcBef>
              </a:pPr>
              <a:r>
                <a:rPr lang="en-US" sz="9102" dirty="0">
                  <a:solidFill>
                    <a:srgbClr val="203660"/>
                  </a:solidFill>
                  <a:latin typeface="Bantayog"/>
                  <a:ea typeface="Bantayog"/>
                  <a:cs typeface="Bantayog"/>
                  <a:sym typeface="Bantayog"/>
                </a:rPr>
                <a:t>1</a:t>
              </a:r>
            </a:p>
          </p:txBody>
        </p:sp>
        <p:sp>
          <p:nvSpPr>
            <p:cNvPr id="18" name="TextBox 18"/>
            <p:cNvSpPr txBox="1"/>
            <p:nvPr/>
          </p:nvSpPr>
          <p:spPr>
            <a:xfrm>
              <a:off x="6095587" y="2707851"/>
              <a:ext cx="1502932" cy="2022972"/>
            </a:xfrm>
            <a:prstGeom prst="rect">
              <a:avLst/>
            </a:prstGeom>
          </p:spPr>
          <p:txBody>
            <a:bodyPr lIns="0" tIns="0" rIns="0" bIns="0" rtlCol="0" anchor="t">
              <a:spAutoFit/>
            </a:bodyPr>
            <a:lstStyle/>
            <a:p>
              <a:pPr algn="ctr">
                <a:lnSpc>
                  <a:spcPts val="12743"/>
                </a:lnSpc>
                <a:spcBef>
                  <a:spcPct val="0"/>
                </a:spcBef>
              </a:pPr>
              <a:r>
                <a:rPr lang="en-US" sz="9102">
                  <a:solidFill>
                    <a:srgbClr val="203660"/>
                  </a:solidFill>
                  <a:latin typeface="Bantayog"/>
                  <a:ea typeface="Bantayog"/>
                  <a:cs typeface="Bantayog"/>
                  <a:sym typeface="Bantayog"/>
                </a:rPr>
                <a:t>N</a:t>
              </a:r>
            </a:p>
          </p:txBody>
        </p:sp>
        <p:sp>
          <p:nvSpPr>
            <p:cNvPr id="19" name="TextBox 19"/>
            <p:cNvSpPr txBox="1"/>
            <p:nvPr/>
          </p:nvSpPr>
          <p:spPr>
            <a:xfrm>
              <a:off x="10808810" y="159374"/>
              <a:ext cx="5059107" cy="1989861"/>
            </a:xfrm>
            <a:prstGeom prst="rect">
              <a:avLst/>
            </a:prstGeom>
          </p:spPr>
          <p:txBody>
            <a:bodyPr wrap="square" lIns="0" tIns="0" rIns="0" bIns="0" rtlCol="0" anchor="t">
              <a:spAutoFit/>
            </a:bodyPr>
            <a:lstStyle/>
            <a:p>
              <a:pPr algn="ctr">
                <a:lnSpc>
                  <a:spcPts val="12743"/>
                </a:lnSpc>
                <a:spcBef>
                  <a:spcPct val="0"/>
                </a:spcBef>
              </a:pPr>
              <a:r>
                <a:rPr lang="en-US" sz="9102" dirty="0">
                  <a:solidFill>
                    <a:srgbClr val="203660"/>
                  </a:solidFill>
                  <a:latin typeface="Bantayog"/>
                  <a:ea typeface="Bantayog"/>
                  <a:cs typeface="Bantayog"/>
                  <a:sym typeface="Bantayog"/>
                </a:rPr>
                <a:t>|Y – Y |     </a:t>
              </a:r>
            </a:p>
          </p:txBody>
        </p:sp>
        <p:sp>
          <p:nvSpPr>
            <p:cNvPr id="20" name="Freeform 20"/>
            <p:cNvSpPr/>
            <p:nvPr/>
          </p:nvSpPr>
          <p:spPr>
            <a:xfrm flipV="1">
              <a:off x="6323468" y="2664210"/>
              <a:ext cx="1028263" cy="111125"/>
            </a:xfrm>
            <a:custGeom>
              <a:avLst/>
              <a:gdLst/>
              <a:ahLst/>
              <a:cxnLst/>
              <a:rect l="l" t="t" r="r" b="b"/>
              <a:pathLst>
                <a:path w="551546">
                  <a:moveTo>
                    <a:pt x="0" y="0"/>
                  </a:moveTo>
                  <a:lnTo>
                    <a:pt x="551546" y="0"/>
                  </a:lnTo>
                </a:path>
              </a:pathLst>
            </a:custGeom>
            <a:ln w="254000" cap="flat">
              <a:solidFill>
                <a:srgbClr val="203660"/>
              </a:solidFill>
              <a:prstDash val="solid"/>
              <a:headEnd type="none" w="sm" len="sm"/>
              <a:tailEnd type="none" w="sm" len="sm"/>
            </a:ln>
          </p:spPr>
          <p:txBody>
            <a:bodyPr/>
            <a:lstStyle/>
            <a:p>
              <a:endParaRPr lang="es-ES"/>
            </a:p>
          </p:txBody>
        </p:sp>
        <p:sp>
          <p:nvSpPr>
            <p:cNvPr id="21" name="Freeform 21"/>
            <p:cNvSpPr/>
            <p:nvPr/>
          </p:nvSpPr>
          <p:spPr>
            <a:xfrm>
              <a:off x="10257726" y="2707851"/>
              <a:ext cx="5434992" cy="387908"/>
            </a:xfrm>
            <a:custGeom>
              <a:avLst/>
              <a:gdLst/>
              <a:ahLst/>
              <a:cxnLst/>
              <a:rect l="l" t="t" r="r" b="b"/>
              <a:pathLst>
                <a:path w="2578142">
                  <a:moveTo>
                    <a:pt x="0" y="0"/>
                  </a:moveTo>
                  <a:lnTo>
                    <a:pt x="2578142" y="0"/>
                  </a:lnTo>
                </a:path>
              </a:pathLst>
            </a:custGeom>
            <a:ln w="254000" cap="flat">
              <a:solidFill>
                <a:srgbClr val="203660"/>
              </a:solidFill>
              <a:prstDash val="solid"/>
              <a:headEnd type="none" w="sm" len="sm"/>
              <a:tailEnd type="none" w="sm" len="sm"/>
            </a:ln>
          </p:spPr>
          <p:txBody>
            <a:bodyPr/>
            <a:lstStyle/>
            <a:p>
              <a:endParaRPr lang="es-ES"/>
            </a:p>
          </p:txBody>
        </p:sp>
        <p:sp>
          <p:nvSpPr>
            <p:cNvPr id="22" name="TextBox 22"/>
            <p:cNvSpPr txBox="1"/>
            <p:nvPr/>
          </p:nvSpPr>
          <p:spPr>
            <a:xfrm>
              <a:off x="11127818" y="2513678"/>
              <a:ext cx="3441004" cy="1989861"/>
            </a:xfrm>
            <a:prstGeom prst="rect">
              <a:avLst/>
            </a:prstGeom>
          </p:spPr>
          <p:txBody>
            <a:bodyPr wrap="square" lIns="0" tIns="0" rIns="0" bIns="0" rtlCol="0" anchor="t">
              <a:spAutoFit/>
            </a:bodyPr>
            <a:lstStyle/>
            <a:p>
              <a:pPr algn="ctr">
                <a:lnSpc>
                  <a:spcPts val="12743"/>
                </a:lnSpc>
                <a:spcBef>
                  <a:spcPct val="0"/>
                </a:spcBef>
              </a:pPr>
              <a:r>
                <a:rPr lang="en-US" sz="9102" dirty="0">
                  <a:solidFill>
                    <a:srgbClr val="203660"/>
                  </a:solidFill>
                  <a:latin typeface="Bantayog"/>
                  <a:ea typeface="Bantayog"/>
                  <a:cs typeface="Bantayog"/>
                  <a:sym typeface="Bantayog"/>
                </a:rPr>
                <a:t>|Y |</a:t>
              </a:r>
            </a:p>
          </p:txBody>
        </p:sp>
        <p:sp>
          <p:nvSpPr>
            <p:cNvPr id="23" name="TextBox 23"/>
            <p:cNvSpPr txBox="1"/>
            <p:nvPr/>
          </p:nvSpPr>
          <p:spPr>
            <a:xfrm>
              <a:off x="12980037" y="3253823"/>
              <a:ext cx="416137" cy="2018993"/>
            </a:xfrm>
            <a:prstGeom prst="rect">
              <a:avLst/>
            </a:prstGeom>
          </p:spPr>
          <p:txBody>
            <a:bodyPr lIns="0" tIns="0" rIns="0" bIns="0" rtlCol="0" anchor="t">
              <a:spAutoFit/>
            </a:bodyPr>
            <a:lstStyle/>
            <a:p>
              <a:pPr algn="ctr">
                <a:lnSpc>
                  <a:spcPts val="12743"/>
                </a:lnSpc>
                <a:spcBef>
                  <a:spcPct val="0"/>
                </a:spcBef>
              </a:pPr>
              <a:r>
                <a:rPr lang="en-US" sz="9102" dirty="0">
                  <a:solidFill>
                    <a:srgbClr val="203660"/>
                  </a:solidFill>
                  <a:latin typeface="Bantayog"/>
                  <a:ea typeface="Bantayog"/>
                  <a:cs typeface="Bantayog"/>
                  <a:sym typeface="Bantayog"/>
                </a:rPr>
                <a:t>I</a:t>
              </a:r>
            </a:p>
          </p:txBody>
        </p:sp>
      </p:grpSp>
      <p:grpSp>
        <p:nvGrpSpPr>
          <p:cNvPr id="24" name="Group 24"/>
          <p:cNvGrpSpPr/>
          <p:nvPr/>
        </p:nvGrpSpPr>
        <p:grpSpPr>
          <a:xfrm rot="-2570167">
            <a:off x="12379941" y="9017924"/>
            <a:ext cx="7467555" cy="4043454"/>
            <a:chOff x="0" y="0"/>
            <a:chExt cx="928780" cy="502906"/>
          </a:xfrm>
        </p:grpSpPr>
        <p:sp>
          <p:nvSpPr>
            <p:cNvPr id="25" name="Freeform 25"/>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26" name="TextBox 26"/>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27" name="TextBox 27"/>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27</a:t>
            </a:r>
          </a:p>
        </p:txBody>
      </p:sp>
      <p:sp>
        <p:nvSpPr>
          <p:cNvPr id="28" name="TextBox 28"/>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MÉTRICAS</a:t>
            </a:r>
          </a:p>
        </p:txBody>
      </p:sp>
      <p:sp>
        <p:nvSpPr>
          <p:cNvPr id="29" name="TextBox 29"/>
          <p:cNvSpPr txBox="1"/>
          <p:nvPr/>
        </p:nvSpPr>
        <p:spPr>
          <a:xfrm>
            <a:off x="6382792" y="2433800"/>
            <a:ext cx="5522416" cy="946150"/>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EVALUACIÓN</a:t>
            </a:r>
          </a:p>
        </p:txBody>
      </p:sp>
      <p:grpSp>
        <p:nvGrpSpPr>
          <p:cNvPr id="30" name="Group 30"/>
          <p:cNvGrpSpPr/>
          <p:nvPr/>
        </p:nvGrpSpPr>
        <p:grpSpPr>
          <a:xfrm>
            <a:off x="-340468" y="3244219"/>
            <a:ext cx="14995211" cy="3445808"/>
            <a:chOff x="0" y="-180975"/>
            <a:chExt cx="19993614" cy="4594411"/>
          </a:xfrm>
        </p:grpSpPr>
        <p:sp>
          <p:nvSpPr>
            <p:cNvPr id="31" name="TextBox 31"/>
            <p:cNvSpPr txBox="1"/>
            <p:nvPr/>
          </p:nvSpPr>
          <p:spPr>
            <a:xfrm>
              <a:off x="0" y="1068127"/>
              <a:ext cx="15935241" cy="2022972"/>
            </a:xfrm>
            <a:prstGeom prst="rect">
              <a:avLst/>
            </a:prstGeom>
          </p:spPr>
          <p:txBody>
            <a:bodyPr lIns="0" tIns="0" rIns="0" bIns="0" rtlCol="0" anchor="t">
              <a:spAutoFit/>
            </a:bodyPr>
            <a:lstStyle/>
            <a:p>
              <a:pPr algn="ctr">
                <a:lnSpc>
                  <a:spcPts val="12743"/>
                </a:lnSpc>
                <a:spcBef>
                  <a:spcPct val="0"/>
                </a:spcBef>
              </a:pPr>
              <a:r>
                <a:rPr lang="en-US" sz="9102">
                  <a:solidFill>
                    <a:srgbClr val="203660"/>
                  </a:solidFill>
                  <a:latin typeface="Bantayog"/>
                  <a:ea typeface="Bantayog"/>
                  <a:cs typeface="Bantayog"/>
                  <a:sym typeface="Bantayog"/>
                </a:rPr>
                <a:t>MAE=    ∑   |Y - Y |</a:t>
              </a:r>
            </a:p>
          </p:txBody>
        </p:sp>
        <p:sp>
          <p:nvSpPr>
            <p:cNvPr id="32" name="TextBox 32"/>
            <p:cNvSpPr txBox="1"/>
            <p:nvPr/>
          </p:nvSpPr>
          <p:spPr>
            <a:xfrm>
              <a:off x="2098815" y="84033"/>
              <a:ext cx="11737609" cy="1632264"/>
            </a:xfrm>
            <a:prstGeom prst="rect">
              <a:avLst/>
            </a:prstGeom>
          </p:spPr>
          <p:txBody>
            <a:bodyPr lIns="0" tIns="0" rIns="0" bIns="0" rtlCol="0" anchor="t">
              <a:spAutoFit/>
            </a:bodyPr>
            <a:lstStyle/>
            <a:p>
              <a:pPr algn="ctr">
                <a:lnSpc>
                  <a:spcPts val="10224"/>
                </a:lnSpc>
                <a:spcBef>
                  <a:spcPct val="0"/>
                </a:spcBef>
              </a:pPr>
              <a:r>
                <a:rPr lang="en-US" sz="7303" dirty="0">
                  <a:solidFill>
                    <a:srgbClr val="203660"/>
                  </a:solidFill>
                  <a:latin typeface="Bantayog"/>
                  <a:ea typeface="Bantayog"/>
                  <a:cs typeface="Bantayog"/>
                  <a:sym typeface="Bantayog"/>
                </a:rPr>
                <a:t>N                 </a:t>
              </a:r>
            </a:p>
          </p:txBody>
        </p:sp>
        <p:sp>
          <p:nvSpPr>
            <p:cNvPr id="33" name="TextBox 33"/>
            <p:cNvSpPr txBox="1"/>
            <p:nvPr/>
          </p:nvSpPr>
          <p:spPr>
            <a:xfrm>
              <a:off x="4058373" y="1900564"/>
              <a:ext cx="15935241" cy="1632264"/>
            </a:xfrm>
            <a:prstGeom prst="rect">
              <a:avLst/>
            </a:prstGeom>
          </p:spPr>
          <p:txBody>
            <a:bodyPr lIns="0" tIns="0" rIns="0" bIns="0" rtlCol="0" anchor="t">
              <a:spAutoFit/>
            </a:bodyPr>
            <a:lstStyle/>
            <a:p>
              <a:pPr algn="ctr">
                <a:lnSpc>
                  <a:spcPts val="10224"/>
                </a:lnSpc>
                <a:spcBef>
                  <a:spcPct val="0"/>
                </a:spcBef>
              </a:pPr>
              <a:r>
                <a:rPr lang="en-US" sz="7303" dirty="0">
                  <a:solidFill>
                    <a:srgbClr val="203660"/>
                  </a:solidFill>
                  <a:latin typeface="Bantayog"/>
                  <a:ea typeface="Bantayog"/>
                  <a:cs typeface="Bantayog"/>
                  <a:sym typeface="Bantayog"/>
                </a:rPr>
                <a:t>I      </a:t>
              </a:r>
              <a:r>
                <a:rPr lang="en-US" sz="7303" dirty="0" err="1">
                  <a:solidFill>
                    <a:srgbClr val="203660"/>
                  </a:solidFill>
                  <a:latin typeface="Bantayog"/>
                  <a:ea typeface="Bantayog"/>
                  <a:cs typeface="Bantayog"/>
                  <a:sym typeface="Bantayog"/>
                </a:rPr>
                <a:t>I</a:t>
              </a:r>
              <a:endParaRPr lang="en-US" sz="7303" dirty="0">
                <a:solidFill>
                  <a:srgbClr val="203660"/>
                </a:solidFill>
                <a:latin typeface="Bantayog"/>
                <a:ea typeface="Bantayog"/>
                <a:cs typeface="Bantayog"/>
                <a:sym typeface="Bantayog"/>
              </a:endParaRPr>
            </a:p>
          </p:txBody>
        </p:sp>
        <p:sp>
          <p:nvSpPr>
            <p:cNvPr id="34" name="TextBox 34"/>
            <p:cNvSpPr txBox="1"/>
            <p:nvPr/>
          </p:nvSpPr>
          <p:spPr>
            <a:xfrm>
              <a:off x="855168" y="2781172"/>
              <a:ext cx="15935241" cy="1632264"/>
            </a:xfrm>
            <a:prstGeom prst="rect">
              <a:avLst/>
            </a:prstGeom>
          </p:spPr>
          <p:txBody>
            <a:bodyPr lIns="0" tIns="0" rIns="0" bIns="0" rtlCol="0" anchor="t">
              <a:spAutoFit/>
            </a:bodyPr>
            <a:lstStyle/>
            <a:p>
              <a:pPr algn="ctr">
                <a:lnSpc>
                  <a:spcPts val="10224"/>
                </a:lnSpc>
                <a:spcBef>
                  <a:spcPct val="0"/>
                </a:spcBef>
              </a:pPr>
              <a:r>
                <a:rPr lang="en-US" sz="7303" dirty="0">
                  <a:solidFill>
                    <a:srgbClr val="203660"/>
                  </a:solidFill>
                  <a:latin typeface="Bantayog"/>
                  <a:ea typeface="Bantayog"/>
                  <a:cs typeface="Bantayog"/>
                  <a:sym typeface="Bantayog"/>
                </a:rPr>
                <a:t>I = 1</a:t>
              </a:r>
            </a:p>
          </p:txBody>
        </p:sp>
        <p:sp>
          <p:nvSpPr>
            <p:cNvPr id="35" name="TextBox 35"/>
            <p:cNvSpPr txBox="1"/>
            <p:nvPr/>
          </p:nvSpPr>
          <p:spPr>
            <a:xfrm>
              <a:off x="11954808" y="493054"/>
              <a:ext cx="1502932" cy="2022972"/>
            </a:xfrm>
            <a:prstGeom prst="rect">
              <a:avLst/>
            </a:prstGeom>
          </p:spPr>
          <p:txBody>
            <a:bodyPr lIns="0" tIns="0" rIns="0" bIns="0" rtlCol="0" anchor="t">
              <a:spAutoFit/>
            </a:bodyPr>
            <a:lstStyle/>
            <a:p>
              <a:pPr algn="ctr">
                <a:lnSpc>
                  <a:spcPts val="12743"/>
                </a:lnSpc>
                <a:spcBef>
                  <a:spcPct val="0"/>
                </a:spcBef>
              </a:pPr>
              <a:r>
                <a:rPr lang="en-US" sz="9102" dirty="0">
                  <a:solidFill>
                    <a:srgbClr val="203660"/>
                  </a:solidFill>
                  <a:latin typeface="Bantayog"/>
                  <a:ea typeface="Bantayog"/>
                  <a:cs typeface="Bantayog"/>
                  <a:sym typeface="Bantayog"/>
                </a:rPr>
                <a:t>^</a:t>
              </a:r>
            </a:p>
          </p:txBody>
        </p:sp>
        <p:sp>
          <p:nvSpPr>
            <p:cNvPr id="36" name="TextBox 36"/>
            <p:cNvSpPr txBox="1"/>
            <p:nvPr/>
          </p:nvSpPr>
          <p:spPr>
            <a:xfrm>
              <a:off x="5576778" y="-180975"/>
              <a:ext cx="1502932" cy="2022972"/>
            </a:xfrm>
            <a:prstGeom prst="rect">
              <a:avLst/>
            </a:prstGeom>
          </p:spPr>
          <p:txBody>
            <a:bodyPr lIns="0" tIns="0" rIns="0" bIns="0" rtlCol="0" anchor="t">
              <a:spAutoFit/>
            </a:bodyPr>
            <a:lstStyle/>
            <a:p>
              <a:pPr algn="ctr">
                <a:lnSpc>
                  <a:spcPts val="12743"/>
                </a:lnSpc>
                <a:spcBef>
                  <a:spcPct val="0"/>
                </a:spcBef>
              </a:pPr>
              <a:r>
                <a:rPr lang="en-US" sz="9102">
                  <a:solidFill>
                    <a:srgbClr val="203660"/>
                  </a:solidFill>
                  <a:latin typeface="Bantayog"/>
                  <a:ea typeface="Bantayog"/>
                  <a:cs typeface="Bantayog"/>
                  <a:sym typeface="Bantayog"/>
                </a:rPr>
                <a:t>1</a:t>
              </a:r>
            </a:p>
          </p:txBody>
        </p:sp>
        <p:sp>
          <p:nvSpPr>
            <p:cNvPr id="37" name="TextBox 37"/>
            <p:cNvSpPr txBox="1"/>
            <p:nvPr/>
          </p:nvSpPr>
          <p:spPr>
            <a:xfrm>
              <a:off x="5576778" y="1989126"/>
              <a:ext cx="1502932" cy="2022972"/>
            </a:xfrm>
            <a:prstGeom prst="rect">
              <a:avLst/>
            </a:prstGeom>
          </p:spPr>
          <p:txBody>
            <a:bodyPr lIns="0" tIns="0" rIns="0" bIns="0" rtlCol="0" anchor="t">
              <a:spAutoFit/>
            </a:bodyPr>
            <a:lstStyle/>
            <a:p>
              <a:pPr algn="ctr">
                <a:lnSpc>
                  <a:spcPts val="12743"/>
                </a:lnSpc>
                <a:spcBef>
                  <a:spcPct val="0"/>
                </a:spcBef>
              </a:pPr>
              <a:r>
                <a:rPr lang="en-US" sz="9102">
                  <a:solidFill>
                    <a:srgbClr val="203660"/>
                  </a:solidFill>
                  <a:latin typeface="Bantayog"/>
                  <a:ea typeface="Bantayog"/>
                  <a:cs typeface="Bantayog"/>
                  <a:sym typeface="Bantayog"/>
                </a:rPr>
                <a:t>N</a:t>
              </a:r>
            </a:p>
          </p:txBody>
        </p:sp>
        <p:sp>
          <p:nvSpPr>
            <p:cNvPr id="38" name="Freeform 38"/>
            <p:cNvSpPr/>
            <p:nvPr/>
          </p:nvSpPr>
          <p:spPr>
            <a:xfrm>
              <a:off x="5838757" y="2133049"/>
              <a:ext cx="1095964" cy="171739"/>
            </a:xfrm>
            <a:custGeom>
              <a:avLst/>
              <a:gdLst/>
              <a:ahLst/>
              <a:cxnLst/>
              <a:rect l="l" t="t" r="r" b="b"/>
              <a:pathLst>
                <a:path w="551547">
                  <a:moveTo>
                    <a:pt x="0" y="0"/>
                  </a:moveTo>
                  <a:lnTo>
                    <a:pt x="551547" y="0"/>
                  </a:lnTo>
                </a:path>
              </a:pathLst>
            </a:custGeom>
            <a:ln w="254000" cap="flat">
              <a:solidFill>
                <a:srgbClr val="203660"/>
              </a:solidFill>
              <a:prstDash val="solid"/>
              <a:headEnd type="none" w="sm" len="sm"/>
              <a:tailEnd type="none" w="sm" len="sm"/>
            </a:ln>
          </p:spPr>
          <p:txBody>
            <a:bodyPr/>
            <a:lstStyle/>
            <a:p>
              <a:endParaRPr lang="es-ES"/>
            </a:p>
          </p:txBody>
        </p:sp>
      </p:gr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28</a:t>
            </a:r>
          </a:p>
        </p:txBody>
      </p:sp>
      <p:sp>
        <p:nvSpPr>
          <p:cNvPr id="15" name="TextBox 15"/>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MÉTRICAS</a:t>
            </a:r>
          </a:p>
        </p:txBody>
      </p:sp>
      <p:sp>
        <p:nvSpPr>
          <p:cNvPr id="16" name="TextBox 16"/>
          <p:cNvSpPr txBox="1"/>
          <p:nvPr/>
        </p:nvSpPr>
        <p:spPr>
          <a:xfrm>
            <a:off x="6382792" y="2433800"/>
            <a:ext cx="5522416" cy="946150"/>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EVALUACIÓN</a:t>
            </a:r>
          </a:p>
        </p:txBody>
      </p:sp>
      <p:grpSp>
        <p:nvGrpSpPr>
          <p:cNvPr id="17" name="Group 17"/>
          <p:cNvGrpSpPr/>
          <p:nvPr/>
        </p:nvGrpSpPr>
        <p:grpSpPr>
          <a:xfrm>
            <a:off x="711965" y="3506220"/>
            <a:ext cx="19232161" cy="6228951"/>
            <a:chOff x="0" y="-42543"/>
            <a:chExt cx="25642881" cy="8305268"/>
          </a:xfrm>
        </p:grpSpPr>
        <p:sp>
          <p:nvSpPr>
            <p:cNvPr id="18" name="TextBox 18"/>
            <p:cNvSpPr txBox="1"/>
            <p:nvPr/>
          </p:nvSpPr>
          <p:spPr>
            <a:xfrm>
              <a:off x="5679111" y="870620"/>
              <a:ext cx="15935241" cy="2022972"/>
            </a:xfrm>
            <a:prstGeom prst="rect">
              <a:avLst/>
            </a:prstGeom>
          </p:spPr>
          <p:txBody>
            <a:bodyPr lIns="0" tIns="0" rIns="0" bIns="0" rtlCol="0" anchor="t">
              <a:spAutoFit/>
            </a:bodyPr>
            <a:lstStyle/>
            <a:p>
              <a:pPr algn="ctr">
                <a:lnSpc>
                  <a:spcPts val="12743"/>
                </a:lnSpc>
                <a:spcBef>
                  <a:spcPct val="0"/>
                </a:spcBef>
              </a:pPr>
              <a:r>
                <a:rPr lang="en-US" sz="9102" dirty="0">
                  <a:solidFill>
                    <a:srgbClr val="203660"/>
                  </a:solidFill>
                  <a:latin typeface="Bantayog"/>
                  <a:ea typeface="Bantayog"/>
                  <a:cs typeface="Bantayog"/>
                  <a:sym typeface="Bantayog"/>
                </a:rPr>
                <a:t>            ∑   (Y - Y )</a:t>
              </a:r>
            </a:p>
          </p:txBody>
        </p:sp>
        <p:sp>
          <p:nvSpPr>
            <p:cNvPr id="19" name="TextBox 19"/>
            <p:cNvSpPr txBox="1"/>
            <p:nvPr/>
          </p:nvSpPr>
          <p:spPr>
            <a:xfrm>
              <a:off x="10325504" y="-42543"/>
              <a:ext cx="11737609" cy="3359464"/>
            </a:xfrm>
            <a:prstGeom prst="rect">
              <a:avLst/>
            </a:prstGeom>
          </p:spPr>
          <p:txBody>
            <a:bodyPr lIns="0" tIns="0" rIns="0" bIns="0" rtlCol="0" anchor="t">
              <a:spAutoFit/>
            </a:bodyPr>
            <a:lstStyle/>
            <a:p>
              <a:pPr algn="ctr">
                <a:lnSpc>
                  <a:spcPts val="10224"/>
                </a:lnSpc>
              </a:pPr>
              <a:r>
                <a:rPr lang="en-US" sz="7303" dirty="0">
                  <a:solidFill>
                    <a:srgbClr val="203660"/>
                  </a:solidFill>
                  <a:latin typeface="Bantayog"/>
                  <a:ea typeface="Bantayog"/>
                  <a:cs typeface="Bantayog"/>
                  <a:sym typeface="Bantayog"/>
                </a:rPr>
                <a:t>   N                 2</a:t>
              </a:r>
            </a:p>
            <a:p>
              <a:pPr algn="ctr">
                <a:lnSpc>
                  <a:spcPts val="10224"/>
                </a:lnSpc>
                <a:spcBef>
                  <a:spcPct val="0"/>
                </a:spcBef>
              </a:pPr>
              <a:r>
                <a:rPr lang="en-US" sz="7303" dirty="0">
                  <a:solidFill>
                    <a:srgbClr val="203660"/>
                  </a:solidFill>
                  <a:latin typeface="Bantayog"/>
                  <a:ea typeface="Bantayog"/>
                  <a:cs typeface="Bantayog"/>
                  <a:sym typeface="Bantayog"/>
                </a:rPr>
                <a:t> </a:t>
              </a:r>
            </a:p>
          </p:txBody>
        </p:sp>
        <p:sp>
          <p:nvSpPr>
            <p:cNvPr id="20" name="TextBox 20"/>
            <p:cNvSpPr txBox="1"/>
            <p:nvPr/>
          </p:nvSpPr>
          <p:spPr>
            <a:xfrm>
              <a:off x="9707640" y="1912916"/>
              <a:ext cx="15935241" cy="1632264"/>
            </a:xfrm>
            <a:prstGeom prst="rect">
              <a:avLst/>
            </a:prstGeom>
          </p:spPr>
          <p:txBody>
            <a:bodyPr lIns="0" tIns="0" rIns="0" bIns="0" rtlCol="0" anchor="t">
              <a:spAutoFit/>
            </a:bodyPr>
            <a:lstStyle/>
            <a:p>
              <a:pPr algn="ctr">
                <a:lnSpc>
                  <a:spcPts val="10224"/>
                </a:lnSpc>
                <a:spcBef>
                  <a:spcPct val="0"/>
                </a:spcBef>
              </a:pPr>
              <a:r>
                <a:rPr lang="en-US" sz="7303" dirty="0">
                  <a:solidFill>
                    <a:srgbClr val="203660"/>
                  </a:solidFill>
                  <a:latin typeface="Bantayog"/>
                  <a:ea typeface="Bantayog"/>
                  <a:cs typeface="Bantayog"/>
                  <a:sym typeface="Bantayog"/>
                </a:rPr>
                <a:t>I      </a:t>
              </a:r>
              <a:r>
                <a:rPr lang="en-US" sz="7303" dirty="0" err="1">
                  <a:solidFill>
                    <a:srgbClr val="203660"/>
                  </a:solidFill>
                  <a:latin typeface="Bantayog"/>
                  <a:ea typeface="Bantayog"/>
                  <a:cs typeface="Bantayog"/>
                  <a:sym typeface="Bantayog"/>
                </a:rPr>
                <a:t>I</a:t>
              </a:r>
              <a:endParaRPr lang="en-US" sz="7303" dirty="0">
                <a:solidFill>
                  <a:srgbClr val="203660"/>
                </a:solidFill>
                <a:latin typeface="Bantayog"/>
                <a:ea typeface="Bantayog"/>
                <a:cs typeface="Bantayog"/>
                <a:sym typeface="Bantayog"/>
              </a:endParaRPr>
            </a:p>
          </p:txBody>
        </p:sp>
        <p:sp>
          <p:nvSpPr>
            <p:cNvPr id="21" name="TextBox 21"/>
            <p:cNvSpPr txBox="1"/>
            <p:nvPr/>
          </p:nvSpPr>
          <p:spPr>
            <a:xfrm>
              <a:off x="6385125" y="2485941"/>
              <a:ext cx="15935241" cy="1632264"/>
            </a:xfrm>
            <a:prstGeom prst="rect">
              <a:avLst/>
            </a:prstGeom>
          </p:spPr>
          <p:txBody>
            <a:bodyPr lIns="0" tIns="0" rIns="0" bIns="0" rtlCol="0" anchor="t">
              <a:spAutoFit/>
            </a:bodyPr>
            <a:lstStyle/>
            <a:p>
              <a:pPr algn="ctr">
                <a:lnSpc>
                  <a:spcPts val="10224"/>
                </a:lnSpc>
                <a:spcBef>
                  <a:spcPct val="0"/>
                </a:spcBef>
              </a:pPr>
              <a:r>
                <a:rPr lang="en-US" sz="7303" dirty="0">
                  <a:solidFill>
                    <a:srgbClr val="203660"/>
                  </a:solidFill>
                  <a:latin typeface="Bantayog"/>
                  <a:ea typeface="Bantayog"/>
                  <a:cs typeface="Bantayog"/>
                  <a:sym typeface="Bantayog"/>
                </a:rPr>
                <a:t>I = 1</a:t>
              </a:r>
            </a:p>
          </p:txBody>
        </p:sp>
        <p:sp>
          <p:nvSpPr>
            <p:cNvPr id="22" name="TextBox 22"/>
            <p:cNvSpPr txBox="1"/>
            <p:nvPr/>
          </p:nvSpPr>
          <p:spPr>
            <a:xfrm>
              <a:off x="17675261" y="254503"/>
              <a:ext cx="1502932" cy="2022972"/>
            </a:xfrm>
            <a:prstGeom prst="rect">
              <a:avLst/>
            </a:prstGeom>
          </p:spPr>
          <p:txBody>
            <a:bodyPr lIns="0" tIns="0" rIns="0" bIns="0" rtlCol="0" anchor="t">
              <a:spAutoFit/>
            </a:bodyPr>
            <a:lstStyle/>
            <a:p>
              <a:pPr algn="ctr">
                <a:lnSpc>
                  <a:spcPts val="12743"/>
                </a:lnSpc>
                <a:spcBef>
                  <a:spcPct val="0"/>
                </a:spcBef>
              </a:pPr>
              <a:r>
                <a:rPr lang="en-US" sz="9102" dirty="0">
                  <a:solidFill>
                    <a:srgbClr val="203660"/>
                  </a:solidFill>
                  <a:latin typeface="Bantayog"/>
                  <a:ea typeface="Bantayog"/>
                  <a:cs typeface="Bantayog"/>
                  <a:sym typeface="Bantayog"/>
                </a:rPr>
                <a:t>^</a:t>
              </a:r>
            </a:p>
          </p:txBody>
        </p:sp>
        <p:sp>
          <p:nvSpPr>
            <p:cNvPr id="23" name="Freeform 23"/>
            <p:cNvSpPr/>
            <p:nvPr/>
          </p:nvSpPr>
          <p:spPr>
            <a:xfrm>
              <a:off x="12461914" y="4035185"/>
              <a:ext cx="7678605" cy="60959"/>
            </a:xfrm>
            <a:custGeom>
              <a:avLst/>
              <a:gdLst/>
              <a:ahLst/>
              <a:cxnLst/>
              <a:rect l="l" t="t" r="r" b="b"/>
              <a:pathLst>
                <a:path w="3925230">
                  <a:moveTo>
                    <a:pt x="0" y="0"/>
                  </a:moveTo>
                  <a:lnTo>
                    <a:pt x="3925230" y="0"/>
                  </a:lnTo>
                </a:path>
              </a:pathLst>
            </a:custGeom>
            <a:ln w="254000" cap="flat">
              <a:solidFill>
                <a:srgbClr val="203660"/>
              </a:solidFill>
              <a:prstDash val="solid"/>
              <a:headEnd type="none" w="sm" len="sm"/>
              <a:tailEnd type="none" w="sm" len="sm"/>
            </a:ln>
          </p:spPr>
          <p:txBody>
            <a:bodyPr/>
            <a:lstStyle/>
            <a:p>
              <a:endParaRPr lang="es-ES"/>
            </a:p>
          </p:txBody>
        </p:sp>
        <p:sp>
          <p:nvSpPr>
            <p:cNvPr id="24" name="TextBox 24"/>
            <p:cNvSpPr txBox="1"/>
            <p:nvPr/>
          </p:nvSpPr>
          <p:spPr>
            <a:xfrm>
              <a:off x="5397252" y="4903262"/>
              <a:ext cx="15935241" cy="2022972"/>
            </a:xfrm>
            <a:prstGeom prst="rect">
              <a:avLst/>
            </a:prstGeom>
          </p:spPr>
          <p:txBody>
            <a:bodyPr lIns="0" tIns="0" rIns="0" bIns="0" rtlCol="0" anchor="t">
              <a:spAutoFit/>
            </a:bodyPr>
            <a:lstStyle/>
            <a:p>
              <a:pPr algn="ctr">
                <a:lnSpc>
                  <a:spcPts val="12743"/>
                </a:lnSpc>
                <a:spcBef>
                  <a:spcPct val="0"/>
                </a:spcBef>
              </a:pPr>
              <a:r>
                <a:rPr lang="en-US" sz="9102" dirty="0">
                  <a:solidFill>
                    <a:srgbClr val="203660"/>
                  </a:solidFill>
                  <a:latin typeface="Bantayog"/>
                  <a:ea typeface="Bantayog"/>
                  <a:cs typeface="Bantayog"/>
                  <a:sym typeface="Bantayog"/>
                </a:rPr>
                <a:t>            ∑   (Y - Y )</a:t>
              </a:r>
            </a:p>
          </p:txBody>
        </p:sp>
        <p:sp>
          <p:nvSpPr>
            <p:cNvPr id="25" name="TextBox 25"/>
            <p:cNvSpPr txBox="1"/>
            <p:nvPr/>
          </p:nvSpPr>
          <p:spPr>
            <a:xfrm>
              <a:off x="10149112" y="3895416"/>
              <a:ext cx="11737609" cy="3359464"/>
            </a:xfrm>
            <a:prstGeom prst="rect">
              <a:avLst/>
            </a:prstGeom>
          </p:spPr>
          <p:txBody>
            <a:bodyPr lIns="0" tIns="0" rIns="0" bIns="0" rtlCol="0" anchor="t">
              <a:spAutoFit/>
            </a:bodyPr>
            <a:lstStyle/>
            <a:p>
              <a:pPr algn="ctr">
                <a:lnSpc>
                  <a:spcPts val="10224"/>
                </a:lnSpc>
              </a:pPr>
              <a:r>
                <a:rPr lang="en-US" sz="7303" dirty="0">
                  <a:solidFill>
                    <a:srgbClr val="203660"/>
                  </a:solidFill>
                  <a:latin typeface="Bantayog"/>
                  <a:ea typeface="Bantayog"/>
                  <a:cs typeface="Bantayog"/>
                  <a:sym typeface="Bantayog"/>
                </a:rPr>
                <a:t>   N                 2</a:t>
              </a:r>
            </a:p>
            <a:p>
              <a:pPr algn="ctr">
                <a:lnSpc>
                  <a:spcPts val="10224"/>
                </a:lnSpc>
                <a:spcBef>
                  <a:spcPct val="0"/>
                </a:spcBef>
              </a:pPr>
              <a:r>
                <a:rPr lang="en-US" sz="7303" dirty="0">
                  <a:solidFill>
                    <a:srgbClr val="203660"/>
                  </a:solidFill>
                  <a:latin typeface="Bantayog"/>
                  <a:ea typeface="Bantayog"/>
                  <a:cs typeface="Bantayog"/>
                  <a:sym typeface="Bantayog"/>
                </a:rPr>
                <a:t> </a:t>
              </a:r>
            </a:p>
          </p:txBody>
        </p:sp>
        <p:sp>
          <p:nvSpPr>
            <p:cNvPr id="26" name="TextBox 26"/>
            <p:cNvSpPr txBox="1"/>
            <p:nvPr/>
          </p:nvSpPr>
          <p:spPr>
            <a:xfrm>
              <a:off x="9413913" y="5856238"/>
              <a:ext cx="15935241" cy="1632264"/>
            </a:xfrm>
            <a:prstGeom prst="rect">
              <a:avLst/>
            </a:prstGeom>
          </p:spPr>
          <p:txBody>
            <a:bodyPr lIns="0" tIns="0" rIns="0" bIns="0" rtlCol="0" anchor="t">
              <a:spAutoFit/>
            </a:bodyPr>
            <a:lstStyle/>
            <a:p>
              <a:pPr algn="ctr">
                <a:lnSpc>
                  <a:spcPts val="10224"/>
                </a:lnSpc>
                <a:spcBef>
                  <a:spcPct val="0"/>
                </a:spcBef>
              </a:pPr>
              <a:r>
                <a:rPr lang="en-US" sz="7303" dirty="0">
                  <a:solidFill>
                    <a:srgbClr val="203660"/>
                  </a:solidFill>
                  <a:latin typeface="Bantayog"/>
                  <a:ea typeface="Bantayog"/>
                  <a:cs typeface="Bantayog"/>
                  <a:sym typeface="Bantayog"/>
                </a:rPr>
                <a:t>I      </a:t>
              </a:r>
              <a:r>
                <a:rPr lang="en-US" sz="7303" dirty="0" err="1">
                  <a:solidFill>
                    <a:srgbClr val="203660"/>
                  </a:solidFill>
                  <a:latin typeface="Bantayog"/>
                  <a:ea typeface="Bantayog"/>
                  <a:cs typeface="Bantayog"/>
                  <a:sym typeface="Bantayog"/>
                </a:rPr>
                <a:t>I</a:t>
              </a:r>
              <a:endParaRPr lang="en-US" sz="7303" dirty="0">
                <a:solidFill>
                  <a:srgbClr val="203660"/>
                </a:solidFill>
                <a:latin typeface="Bantayog"/>
                <a:ea typeface="Bantayog"/>
                <a:cs typeface="Bantayog"/>
                <a:sym typeface="Bantayog"/>
              </a:endParaRPr>
            </a:p>
          </p:txBody>
        </p:sp>
        <p:sp>
          <p:nvSpPr>
            <p:cNvPr id="27" name="TextBox 27"/>
            <p:cNvSpPr txBox="1"/>
            <p:nvPr/>
          </p:nvSpPr>
          <p:spPr>
            <a:xfrm>
              <a:off x="6066571" y="6630461"/>
              <a:ext cx="15935241" cy="1632264"/>
            </a:xfrm>
            <a:prstGeom prst="rect">
              <a:avLst/>
            </a:prstGeom>
          </p:spPr>
          <p:txBody>
            <a:bodyPr lIns="0" tIns="0" rIns="0" bIns="0" rtlCol="0" anchor="t">
              <a:spAutoFit/>
            </a:bodyPr>
            <a:lstStyle/>
            <a:p>
              <a:pPr algn="ctr">
                <a:lnSpc>
                  <a:spcPts val="10224"/>
                </a:lnSpc>
                <a:spcBef>
                  <a:spcPct val="0"/>
                </a:spcBef>
              </a:pPr>
              <a:r>
                <a:rPr lang="en-US" sz="7303" dirty="0">
                  <a:solidFill>
                    <a:srgbClr val="203660"/>
                  </a:solidFill>
                  <a:latin typeface="Bantayog"/>
                  <a:ea typeface="Bantayog"/>
                  <a:cs typeface="Bantayog"/>
                  <a:sym typeface="Bantayog"/>
                </a:rPr>
                <a:t>I = 1</a:t>
              </a:r>
            </a:p>
          </p:txBody>
        </p:sp>
        <p:sp>
          <p:nvSpPr>
            <p:cNvPr id="28" name="Freeform 28"/>
            <p:cNvSpPr/>
            <p:nvPr/>
          </p:nvSpPr>
          <p:spPr>
            <a:xfrm>
              <a:off x="17643512" y="5075211"/>
              <a:ext cx="1045068" cy="114503"/>
            </a:xfrm>
            <a:custGeom>
              <a:avLst/>
              <a:gdLst/>
              <a:ahLst/>
              <a:cxnLst/>
              <a:rect l="l" t="t" r="r" b="b"/>
              <a:pathLst>
                <a:path w="396193">
                  <a:moveTo>
                    <a:pt x="0" y="0"/>
                  </a:moveTo>
                  <a:lnTo>
                    <a:pt x="396193" y="0"/>
                  </a:lnTo>
                </a:path>
              </a:pathLst>
            </a:custGeom>
            <a:ln w="254000" cap="flat">
              <a:solidFill>
                <a:srgbClr val="203660"/>
              </a:solidFill>
              <a:prstDash val="solid"/>
              <a:headEnd type="none" w="sm" len="sm"/>
              <a:tailEnd type="none" w="sm" len="sm"/>
            </a:ln>
          </p:spPr>
          <p:txBody>
            <a:bodyPr/>
            <a:lstStyle/>
            <a:p>
              <a:endParaRPr lang="es-ES"/>
            </a:p>
          </p:txBody>
        </p:sp>
        <p:sp>
          <p:nvSpPr>
            <p:cNvPr id="29" name="TextBox 29"/>
            <p:cNvSpPr txBox="1"/>
            <p:nvPr/>
          </p:nvSpPr>
          <p:spPr>
            <a:xfrm>
              <a:off x="0" y="2903931"/>
              <a:ext cx="13058007" cy="2022972"/>
            </a:xfrm>
            <a:prstGeom prst="rect">
              <a:avLst/>
            </a:prstGeom>
          </p:spPr>
          <p:txBody>
            <a:bodyPr lIns="0" tIns="0" rIns="0" bIns="0" rtlCol="0" anchor="t">
              <a:spAutoFit/>
            </a:bodyPr>
            <a:lstStyle/>
            <a:p>
              <a:pPr algn="ctr">
                <a:lnSpc>
                  <a:spcPts val="12743"/>
                </a:lnSpc>
                <a:spcBef>
                  <a:spcPct val="0"/>
                </a:spcBef>
              </a:pPr>
              <a:r>
                <a:rPr lang="en-US" sz="9102">
                  <a:solidFill>
                    <a:srgbClr val="203660"/>
                  </a:solidFill>
                  <a:latin typeface="Bantayog"/>
                  <a:ea typeface="Bantayog"/>
                  <a:cs typeface="Bantayog"/>
                  <a:sym typeface="Bantayog"/>
                </a:rPr>
                <a:t>R = 1 -         = 1 -</a:t>
              </a:r>
            </a:p>
          </p:txBody>
        </p:sp>
        <p:sp>
          <p:nvSpPr>
            <p:cNvPr id="30" name="Freeform 30"/>
            <p:cNvSpPr/>
            <p:nvPr/>
          </p:nvSpPr>
          <p:spPr>
            <a:xfrm>
              <a:off x="5684739" y="4061296"/>
              <a:ext cx="3052343" cy="0"/>
            </a:xfrm>
            <a:custGeom>
              <a:avLst/>
              <a:gdLst/>
              <a:ahLst/>
              <a:cxnLst/>
              <a:rect l="l" t="t" r="r" b="b"/>
              <a:pathLst>
                <a:path w="3052343">
                  <a:moveTo>
                    <a:pt x="0" y="0"/>
                  </a:moveTo>
                  <a:lnTo>
                    <a:pt x="3052342" y="0"/>
                  </a:lnTo>
                </a:path>
              </a:pathLst>
            </a:custGeom>
            <a:ln w="254000" cap="flat">
              <a:solidFill>
                <a:srgbClr val="203660"/>
              </a:solidFill>
              <a:prstDash val="solid"/>
              <a:headEnd type="none" w="sm" len="sm"/>
              <a:tailEnd type="none" w="sm" len="sm"/>
            </a:ln>
          </p:spPr>
          <p:txBody>
            <a:bodyPr/>
            <a:lstStyle/>
            <a:p>
              <a:endParaRPr lang="es-ES"/>
            </a:p>
          </p:txBody>
        </p:sp>
        <p:sp>
          <p:nvSpPr>
            <p:cNvPr id="31" name="TextBox 31"/>
            <p:cNvSpPr txBox="1"/>
            <p:nvPr/>
          </p:nvSpPr>
          <p:spPr>
            <a:xfrm>
              <a:off x="5623701" y="1985869"/>
              <a:ext cx="3246364" cy="2018993"/>
            </a:xfrm>
            <a:prstGeom prst="rect">
              <a:avLst/>
            </a:prstGeom>
          </p:spPr>
          <p:txBody>
            <a:bodyPr wrap="square" lIns="0" tIns="0" rIns="0" bIns="0" rtlCol="0" anchor="t">
              <a:spAutoFit/>
            </a:bodyPr>
            <a:lstStyle/>
            <a:p>
              <a:pPr algn="ctr">
                <a:lnSpc>
                  <a:spcPts val="12743"/>
                </a:lnSpc>
                <a:spcBef>
                  <a:spcPct val="0"/>
                </a:spcBef>
              </a:pPr>
              <a:r>
                <a:rPr lang="en-US" sz="9102" dirty="0">
                  <a:solidFill>
                    <a:srgbClr val="203660"/>
                  </a:solidFill>
                  <a:latin typeface="Bantayog"/>
                  <a:ea typeface="Bantayog"/>
                  <a:cs typeface="Bantayog"/>
                  <a:sym typeface="Bantayog"/>
                </a:rPr>
                <a:t>MSE</a:t>
              </a:r>
            </a:p>
          </p:txBody>
        </p:sp>
        <p:sp>
          <p:nvSpPr>
            <p:cNvPr id="32" name="TextBox 32"/>
            <p:cNvSpPr txBox="1"/>
            <p:nvPr/>
          </p:nvSpPr>
          <p:spPr>
            <a:xfrm>
              <a:off x="5297941" y="4074960"/>
              <a:ext cx="4357583" cy="2018993"/>
            </a:xfrm>
            <a:prstGeom prst="rect">
              <a:avLst/>
            </a:prstGeom>
          </p:spPr>
          <p:txBody>
            <a:bodyPr lIns="0" tIns="0" rIns="0" bIns="0" rtlCol="0" anchor="t">
              <a:spAutoFit/>
            </a:bodyPr>
            <a:lstStyle/>
            <a:p>
              <a:pPr algn="ctr">
                <a:lnSpc>
                  <a:spcPts val="12743"/>
                </a:lnSpc>
                <a:spcBef>
                  <a:spcPct val="0"/>
                </a:spcBef>
              </a:pPr>
              <a:r>
                <a:rPr lang="en-US" sz="9102" dirty="0">
                  <a:solidFill>
                    <a:srgbClr val="203660"/>
                  </a:solidFill>
                  <a:latin typeface="Bantayog"/>
                  <a:ea typeface="Bantayog"/>
                  <a:cs typeface="Bantayog"/>
                  <a:sym typeface="Bantayog"/>
                </a:rPr>
                <a:t>VAR(Y)</a:t>
              </a:r>
            </a:p>
          </p:txBody>
        </p:sp>
        <p:sp>
          <p:nvSpPr>
            <p:cNvPr id="33" name="TextBox 33"/>
            <p:cNvSpPr txBox="1"/>
            <p:nvPr/>
          </p:nvSpPr>
          <p:spPr>
            <a:xfrm>
              <a:off x="1997564" y="2192519"/>
              <a:ext cx="694690" cy="1632373"/>
            </a:xfrm>
            <a:prstGeom prst="rect">
              <a:avLst/>
            </a:prstGeom>
          </p:spPr>
          <p:txBody>
            <a:bodyPr lIns="0" tIns="0" rIns="0" bIns="0" rtlCol="0" anchor="t">
              <a:spAutoFit/>
            </a:bodyPr>
            <a:lstStyle/>
            <a:p>
              <a:pPr algn="ctr">
                <a:lnSpc>
                  <a:spcPts val="10219"/>
                </a:lnSpc>
                <a:spcBef>
                  <a:spcPct val="0"/>
                </a:spcBef>
              </a:pPr>
              <a:r>
                <a:rPr lang="en-US" sz="7299">
                  <a:solidFill>
                    <a:srgbClr val="203660"/>
                  </a:solidFill>
                  <a:latin typeface="Bantayog"/>
                  <a:ea typeface="Bantayog"/>
                  <a:cs typeface="Bantayog"/>
                  <a:sym typeface="Bantayog"/>
                </a:rPr>
                <a:t>2</a:t>
              </a:r>
            </a:p>
          </p:txBody>
        </p:sp>
      </p:gr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29</a:t>
            </a:r>
          </a:p>
        </p:txBody>
      </p:sp>
      <p:sp>
        <p:nvSpPr>
          <p:cNvPr id="15" name="TextBox 15"/>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ENTRENAMIENTO</a:t>
            </a:r>
          </a:p>
        </p:txBody>
      </p:sp>
      <p:grpSp>
        <p:nvGrpSpPr>
          <p:cNvPr id="16" name="Group 16"/>
          <p:cNvGrpSpPr/>
          <p:nvPr/>
        </p:nvGrpSpPr>
        <p:grpSpPr>
          <a:xfrm>
            <a:off x="595580" y="3431571"/>
            <a:ext cx="17096841" cy="2860675"/>
            <a:chOff x="0" y="-114300"/>
            <a:chExt cx="22795787" cy="3814233"/>
          </a:xfrm>
        </p:grpSpPr>
        <p:sp>
          <p:nvSpPr>
            <p:cNvPr id="17" name="Freeform 17"/>
            <p:cNvSpPr/>
            <p:nvPr/>
          </p:nvSpPr>
          <p:spPr>
            <a:xfrm>
              <a:off x="6413262" y="1849967"/>
              <a:ext cx="1778000" cy="0"/>
            </a:xfrm>
            <a:custGeom>
              <a:avLst/>
              <a:gdLst/>
              <a:ahLst/>
              <a:cxnLst/>
              <a:rect l="l" t="t" r="r" b="b"/>
              <a:pathLst>
                <a:path w="1778000">
                  <a:moveTo>
                    <a:pt x="0" y="0"/>
                  </a:moveTo>
                  <a:lnTo>
                    <a:pt x="1778001" y="0"/>
                  </a:lnTo>
                </a:path>
              </a:pathLst>
            </a:custGeom>
            <a:ln w="254000" cap="flat">
              <a:solidFill>
                <a:srgbClr val="4D6BA7"/>
              </a:solidFill>
              <a:prstDash val="solid"/>
              <a:headEnd type="none" w="sm" len="sm"/>
              <a:tailEnd type="triangle" w="lg" len="med"/>
            </a:ln>
          </p:spPr>
          <p:txBody>
            <a:bodyPr/>
            <a:lstStyle/>
            <a:p>
              <a:endParaRPr lang="es-ES" dirty="0"/>
            </a:p>
          </p:txBody>
        </p:sp>
        <p:sp>
          <p:nvSpPr>
            <p:cNvPr id="18" name="TextBox 18"/>
            <p:cNvSpPr txBox="1"/>
            <p:nvPr/>
          </p:nvSpPr>
          <p:spPr>
            <a:xfrm>
              <a:off x="0" y="-114300"/>
              <a:ext cx="6413262" cy="38142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INYECCIÓN DE POTENCIA POR GENERADORES</a:t>
              </a:r>
            </a:p>
          </p:txBody>
        </p:sp>
        <p:sp>
          <p:nvSpPr>
            <p:cNvPr id="19" name="TextBox 19"/>
            <p:cNvSpPr txBox="1"/>
            <p:nvPr/>
          </p:nvSpPr>
          <p:spPr>
            <a:xfrm>
              <a:off x="8191262" y="-114300"/>
              <a:ext cx="6413262" cy="38142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ALTERA TENSIONES DE LOS NUDOS</a:t>
              </a:r>
            </a:p>
          </p:txBody>
        </p:sp>
        <p:sp>
          <p:nvSpPr>
            <p:cNvPr id="20" name="TextBox 20"/>
            <p:cNvSpPr txBox="1"/>
            <p:nvPr/>
          </p:nvSpPr>
          <p:spPr>
            <a:xfrm>
              <a:off x="16382525" y="-114300"/>
              <a:ext cx="6413262" cy="38142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ALTERA PÉRDIDAS DE LA RED</a:t>
              </a:r>
            </a:p>
          </p:txBody>
        </p:sp>
      </p:grpSp>
      <p:grpSp>
        <p:nvGrpSpPr>
          <p:cNvPr id="22" name="Group 22"/>
          <p:cNvGrpSpPr/>
          <p:nvPr/>
        </p:nvGrpSpPr>
        <p:grpSpPr>
          <a:xfrm>
            <a:off x="2932445" y="6225659"/>
            <a:ext cx="11147817" cy="3831382"/>
            <a:chOff x="0" y="0"/>
            <a:chExt cx="14863755" cy="5108510"/>
          </a:xfrm>
        </p:grpSpPr>
        <p:sp>
          <p:nvSpPr>
            <p:cNvPr id="23" name="Freeform 23"/>
            <p:cNvSpPr/>
            <p:nvPr/>
          </p:nvSpPr>
          <p:spPr>
            <a:xfrm>
              <a:off x="90811" y="88783"/>
              <a:ext cx="8191262" cy="2094594"/>
            </a:xfrm>
            <a:custGeom>
              <a:avLst/>
              <a:gdLst/>
              <a:ahLst/>
              <a:cxnLst/>
              <a:rect l="l" t="t" r="r" b="b"/>
              <a:pathLst>
                <a:path w="8191262" h="2094594">
                  <a:moveTo>
                    <a:pt x="8191262" y="0"/>
                  </a:moveTo>
                  <a:quadBezTo>
                    <a:pt x="4095631" y="4189188"/>
                    <a:pt x="0" y="0"/>
                  </a:quadBezTo>
                </a:path>
              </a:pathLst>
            </a:custGeom>
            <a:ln w="254000" cap="flat">
              <a:solidFill>
                <a:srgbClr val="4D6BA7"/>
              </a:solidFill>
              <a:prstDash val="solid"/>
              <a:headEnd type="triangle" w="lg" len="med"/>
              <a:tailEnd type="triangle" w="lg" len="med"/>
            </a:ln>
          </p:spPr>
          <p:txBody>
            <a:bodyPr/>
            <a:lstStyle/>
            <a:p>
              <a:endParaRPr lang="es-ES"/>
            </a:p>
          </p:txBody>
        </p:sp>
        <p:sp>
          <p:nvSpPr>
            <p:cNvPr id="24" name="Freeform 24"/>
            <p:cNvSpPr/>
            <p:nvPr/>
          </p:nvSpPr>
          <p:spPr>
            <a:xfrm>
              <a:off x="544768" y="348187"/>
              <a:ext cx="14177589" cy="3230842"/>
            </a:xfrm>
            <a:custGeom>
              <a:avLst/>
              <a:gdLst/>
              <a:ahLst/>
              <a:cxnLst/>
              <a:rect l="l" t="t" r="r" b="b"/>
              <a:pathLst>
                <a:path w="14177589" h="3230842">
                  <a:moveTo>
                    <a:pt x="14177589" y="0"/>
                  </a:moveTo>
                  <a:quadBezTo>
                    <a:pt x="7024239" y="6329268"/>
                    <a:pt x="0" y="259404"/>
                  </a:quadBezTo>
                </a:path>
              </a:pathLst>
            </a:custGeom>
            <a:ln w="254000" cap="flat">
              <a:solidFill>
                <a:srgbClr val="4D6BA7"/>
              </a:solidFill>
              <a:prstDash val="solid"/>
              <a:headEnd type="triangle" w="lg" len="med"/>
              <a:tailEnd type="none" w="sm" len="sm"/>
            </a:ln>
          </p:spPr>
          <p:txBody>
            <a:bodyPr/>
            <a:lstStyle/>
            <a:p>
              <a:endParaRPr lang="es-ES"/>
            </a:p>
          </p:txBody>
        </p:sp>
        <p:sp>
          <p:nvSpPr>
            <p:cNvPr id="25" name="TextBox 25"/>
            <p:cNvSpPr txBox="1"/>
            <p:nvPr/>
          </p:nvSpPr>
          <p:spPr>
            <a:xfrm>
              <a:off x="1460456" y="3885076"/>
              <a:ext cx="12000802"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DEPENDENCIA DE VARIABLES</a:t>
              </a:r>
            </a:p>
          </p:txBody>
        </p:sp>
      </p:grpSp>
      <p:sp>
        <p:nvSpPr>
          <p:cNvPr id="28" name="Freeform 17">
            <a:extLst>
              <a:ext uri="{FF2B5EF4-FFF2-40B4-BE49-F238E27FC236}">
                <a16:creationId xmlns:a16="http://schemas.microsoft.com/office/drawing/2014/main" id="{923C488D-FE4B-901F-EEF2-40B4501ED210}"/>
              </a:ext>
            </a:extLst>
          </p:cNvPr>
          <p:cNvSpPr/>
          <p:nvPr/>
        </p:nvSpPr>
        <p:spPr>
          <a:xfrm>
            <a:off x="11792878" y="4904771"/>
            <a:ext cx="1333500" cy="0"/>
          </a:xfrm>
          <a:custGeom>
            <a:avLst/>
            <a:gdLst/>
            <a:ahLst/>
            <a:cxnLst/>
            <a:rect l="l" t="t" r="r" b="b"/>
            <a:pathLst>
              <a:path w="1778000">
                <a:moveTo>
                  <a:pt x="0" y="0"/>
                </a:moveTo>
                <a:lnTo>
                  <a:pt x="1778001" y="0"/>
                </a:lnTo>
              </a:path>
            </a:pathLst>
          </a:custGeom>
          <a:ln w="254000" cap="flat">
            <a:solidFill>
              <a:srgbClr val="4D6BA7"/>
            </a:solidFill>
            <a:prstDash val="solid"/>
            <a:headEnd type="none" w="sm" len="sm"/>
            <a:tailEnd type="triangle" w="lg" len="med"/>
          </a:ln>
        </p:spPr>
        <p:txBody>
          <a:bodyPr/>
          <a:lstStyle/>
          <a:p>
            <a:endParaRPr lang="es-ES"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4"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additive="base">
                                        <p:cTn id="7" dur="500"/>
                                        <p:tgtEl>
                                          <p:spTgt spid="22"/>
                                        </p:tgtEl>
                                        <p:attrNameLst>
                                          <p:attrName>ppt_y</p:attrName>
                                        </p:attrNameLst>
                                      </p:cBhvr>
                                      <p:tavLst>
                                        <p:tav tm="0">
                                          <p:val>
                                            <p:strVal val="#ppt_y+#ppt_h*1.125000"/>
                                          </p:val>
                                        </p:tav>
                                        <p:tav tm="100000">
                                          <p:val>
                                            <p:strVal val="#ppt_y"/>
                                          </p:val>
                                        </p:tav>
                                      </p:tavLst>
                                    </p:anim>
                                    <p:animEffect transition="in" filter="wipe(up)">
                                      <p:cBhvr>
                                        <p:cTn id="8"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30</a:t>
            </a:r>
          </a:p>
        </p:txBody>
      </p:sp>
      <p:sp>
        <p:nvSpPr>
          <p:cNvPr id="15" name="TextBox 15"/>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ENTRENAMIENTO</a:t>
            </a:r>
          </a:p>
        </p:txBody>
      </p:sp>
      <p:sp>
        <p:nvSpPr>
          <p:cNvPr id="16" name="TextBox 16"/>
          <p:cNvSpPr txBox="1"/>
          <p:nvPr/>
        </p:nvSpPr>
        <p:spPr>
          <a:xfrm>
            <a:off x="2973186" y="2187038"/>
            <a:ext cx="12341628" cy="946150"/>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ELECTRIC SEQUENTIAL REGRESSOR (ESR)</a:t>
            </a:r>
          </a:p>
        </p:txBody>
      </p:sp>
      <p:grpSp>
        <p:nvGrpSpPr>
          <p:cNvPr id="17" name="Group 17"/>
          <p:cNvGrpSpPr/>
          <p:nvPr/>
        </p:nvGrpSpPr>
        <p:grpSpPr>
          <a:xfrm>
            <a:off x="776287" y="3398102"/>
            <a:ext cx="16735425" cy="4717098"/>
            <a:chOff x="0" y="-192881"/>
            <a:chExt cx="22313900" cy="6289463"/>
          </a:xfrm>
        </p:grpSpPr>
        <p:grpSp>
          <p:nvGrpSpPr>
            <p:cNvPr id="18" name="Group 18"/>
            <p:cNvGrpSpPr/>
            <p:nvPr/>
          </p:nvGrpSpPr>
          <p:grpSpPr>
            <a:xfrm>
              <a:off x="2592648" y="-192881"/>
              <a:ext cx="15834827" cy="6289463"/>
              <a:chOff x="0" y="-38100"/>
              <a:chExt cx="3127867" cy="1242363"/>
            </a:xfrm>
          </p:grpSpPr>
          <p:sp>
            <p:nvSpPr>
              <p:cNvPr id="19" name="Freeform 19"/>
              <p:cNvSpPr/>
              <p:nvPr/>
            </p:nvSpPr>
            <p:spPr>
              <a:xfrm>
                <a:off x="0" y="0"/>
                <a:ext cx="3127867" cy="1204263"/>
              </a:xfrm>
              <a:custGeom>
                <a:avLst/>
                <a:gdLst/>
                <a:ahLst/>
                <a:cxnLst/>
                <a:rect l="l" t="t" r="r" b="b"/>
                <a:pathLst>
                  <a:path w="3127867" h="1204263">
                    <a:moveTo>
                      <a:pt x="35854" y="0"/>
                    </a:moveTo>
                    <a:lnTo>
                      <a:pt x="3092013" y="0"/>
                    </a:lnTo>
                    <a:cubicBezTo>
                      <a:pt x="3111815" y="0"/>
                      <a:pt x="3127867" y="16052"/>
                      <a:pt x="3127867" y="35854"/>
                    </a:cubicBezTo>
                    <a:lnTo>
                      <a:pt x="3127867" y="1168409"/>
                    </a:lnTo>
                    <a:cubicBezTo>
                      <a:pt x="3127867" y="1177918"/>
                      <a:pt x="3124090" y="1187038"/>
                      <a:pt x="3117366" y="1193762"/>
                    </a:cubicBezTo>
                    <a:cubicBezTo>
                      <a:pt x="3110642" y="1200486"/>
                      <a:pt x="3101522" y="1204263"/>
                      <a:pt x="3092013" y="1204263"/>
                    </a:cubicBezTo>
                    <a:lnTo>
                      <a:pt x="35854" y="1204263"/>
                    </a:lnTo>
                    <a:cubicBezTo>
                      <a:pt x="26345" y="1204263"/>
                      <a:pt x="17225" y="1200486"/>
                      <a:pt x="10501" y="1193762"/>
                    </a:cubicBezTo>
                    <a:cubicBezTo>
                      <a:pt x="3777" y="1187038"/>
                      <a:pt x="0" y="1177918"/>
                      <a:pt x="0" y="1168409"/>
                    </a:cubicBezTo>
                    <a:lnTo>
                      <a:pt x="0" y="35854"/>
                    </a:lnTo>
                    <a:cubicBezTo>
                      <a:pt x="0" y="26345"/>
                      <a:pt x="3777" y="17225"/>
                      <a:pt x="10501" y="10501"/>
                    </a:cubicBezTo>
                    <a:cubicBezTo>
                      <a:pt x="17225" y="3777"/>
                      <a:pt x="26345" y="0"/>
                      <a:pt x="35854" y="0"/>
                    </a:cubicBezTo>
                    <a:close/>
                  </a:path>
                </a:pathLst>
              </a:custGeom>
              <a:solidFill>
                <a:srgbClr val="DBE7FF"/>
              </a:solidFill>
              <a:ln w="85725" cap="rnd">
                <a:solidFill>
                  <a:srgbClr val="4D6BA7"/>
                </a:solidFill>
                <a:prstDash val="solid"/>
                <a:round/>
              </a:ln>
            </p:spPr>
            <p:txBody>
              <a:bodyPr/>
              <a:lstStyle/>
              <a:p>
                <a:endParaRPr lang="es-ES"/>
              </a:p>
            </p:txBody>
          </p:sp>
          <p:sp>
            <p:nvSpPr>
              <p:cNvPr id="20" name="TextBox 20"/>
              <p:cNvSpPr txBox="1"/>
              <p:nvPr/>
            </p:nvSpPr>
            <p:spPr>
              <a:xfrm>
                <a:off x="0" y="-38100"/>
                <a:ext cx="3127867" cy="1242363"/>
              </a:xfrm>
              <a:prstGeom prst="rect">
                <a:avLst/>
              </a:prstGeom>
            </p:spPr>
            <p:txBody>
              <a:bodyPr lIns="50800" tIns="50800" rIns="50800" bIns="50800" rtlCol="0" anchor="ctr"/>
              <a:lstStyle/>
              <a:p>
                <a:pPr algn="ctr">
                  <a:lnSpc>
                    <a:spcPts val="2660"/>
                  </a:lnSpc>
                </a:pPr>
                <a:endParaRPr/>
              </a:p>
            </p:txBody>
          </p:sp>
        </p:grpSp>
        <p:grpSp>
          <p:nvGrpSpPr>
            <p:cNvPr id="21" name="Group 21"/>
            <p:cNvGrpSpPr/>
            <p:nvPr/>
          </p:nvGrpSpPr>
          <p:grpSpPr>
            <a:xfrm>
              <a:off x="5898929" y="2906798"/>
              <a:ext cx="4290986" cy="2703598"/>
              <a:chOff x="0" y="0"/>
              <a:chExt cx="847602" cy="534044"/>
            </a:xfrm>
          </p:grpSpPr>
          <p:sp>
            <p:nvSpPr>
              <p:cNvPr id="22" name="Freeform 22"/>
              <p:cNvSpPr/>
              <p:nvPr/>
            </p:nvSpPr>
            <p:spPr>
              <a:xfrm>
                <a:off x="0" y="0"/>
                <a:ext cx="847602" cy="534044"/>
              </a:xfrm>
              <a:custGeom>
                <a:avLst/>
                <a:gdLst/>
                <a:ahLst/>
                <a:cxnLst/>
                <a:rect l="l" t="t" r="r" b="b"/>
                <a:pathLst>
                  <a:path w="847602" h="534044">
                    <a:moveTo>
                      <a:pt x="132310" y="0"/>
                    </a:moveTo>
                    <a:lnTo>
                      <a:pt x="715292" y="0"/>
                    </a:lnTo>
                    <a:cubicBezTo>
                      <a:pt x="750383" y="0"/>
                      <a:pt x="784036" y="13940"/>
                      <a:pt x="808849" y="38753"/>
                    </a:cubicBezTo>
                    <a:cubicBezTo>
                      <a:pt x="833662" y="63566"/>
                      <a:pt x="847602" y="97219"/>
                      <a:pt x="847602" y="132310"/>
                    </a:cubicBezTo>
                    <a:lnTo>
                      <a:pt x="847602" y="401734"/>
                    </a:lnTo>
                    <a:cubicBezTo>
                      <a:pt x="847602" y="436825"/>
                      <a:pt x="833662" y="470478"/>
                      <a:pt x="808849" y="495291"/>
                    </a:cubicBezTo>
                    <a:cubicBezTo>
                      <a:pt x="784036" y="520104"/>
                      <a:pt x="750383" y="534044"/>
                      <a:pt x="715292" y="534044"/>
                    </a:cubicBezTo>
                    <a:lnTo>
                      <a:pt x="132310" y="534044"/>
                    </a:lnTo>
                    <a:cubicBezTo>
                      <a:pt x="97219" y="534044"/>
                      <a:pt x="63566" y="520104"/>
                      <a:pt x="38753" y="495291"/>
                    </a:cubicBezTo>
                    <a:cubicBezTo>
                      <a:pt x="13940" y="470478"/>
                      <a:pt x="0" y="436825"/>
                      <a:pt x="0" y="401734"/>
                    </a:cubicBezTo>
                    <a:lnTo>
                      <a:pt x="0" y="132310"/>
                    </a:lnTo>
                    <a:cubicBezTo>
                      <a:pt x="0" y="97219"/>
                      <a:pt x="13940" y="63566"/>
                      <a:pt x="38753" y="38753"/>
                    </a:cubicBezTo>
                    <a:cubicBezTo>
                      <a:pt x="63566" y="13940"/>
                      <a:pt x="97219" y="0"/>
                      <a:pt x="132310" y="0"/>
                    </a:cubicBezTo>
                    <a:close/>
                  </a:path>
                </a:pathLst>
              </a:custGeom>
              <a:solidFill>
                <a:srgbClr val="4D6BA7"/>
              </a:solidFill>
              <a:ln cap="rnd">
                <a:noFill/>
                <a:prstDash val="solid"/>
                <a:round/>
              </a:ln>
            </p:spPr>
            <p:txBody>
              <a:bodyPr/>
              <a:lstStyle/>
              <a:p>
                <a:endParaRPr lang="es-ES"/>
              </a:p>
            </p:txBody>
          </p:sp>
          <p:sp>
            <p:nvSpPr>
              <p:cNvPr id="23" name="TextBox 23"/>
              <p:cNvSpPr txBox="1"/>
              <p:nvPr/>
            </p:nvSpPr>
            <p:spPr>
              <a:xfrm>
                <a:off x="0" y="-38100"/>
                <a:ext cx="847602" cy="572144"/>
              </a:xfrm>
              <a:prstGeom prst="rect">
                <a:avLst/>
              </a:prstGeom>
            </p:spPr>
            <p:txBody>
              <a:bodyPr lIns="50800" tIns="50800" rIns="50800" bIns="50800" rtlCol="0" anchor="ctr"/>
              <a:lstStyle/>
              <a:p>
                <a:pPr algn="ctr">
                  <a:lnSpc>
                    <a:spcPts val="2660"/>
                  </a:lnSpc>
                </a:pPr>
                <a:endParaRPr/>
              </a:p>
            </p:txBody>
          </p:sp>
        </p:grpSp>
        <p:grpSp>
          <p:nvGrpSpPr>
            <p:cNvPr id="24" name="Group 24"/>
            <p:cNvGrpSpPr/>
            <p:nvPr/>
          </p:nvGrpSpPr>
          <p:grpSpPr>
            <a:xfrm>
              <a:off x="12484447" y="490687"/>
              <a:ext cx="4290986" cy="2703598"/>
              <a:chOff x="0" y="0"/>
              <a:chExt cx="847602" cy="534044"/>
            </a:xfrm>
          </p:grpSpPr>
          <p:sp>
            <p:nvSpPr>
              <p:cNvPr id="25" name="Freeform 25"/>
              <p:cNvSpPr/>
              <p:nvPr/>
            </p:nvSpPr>
            <p:spPr>
              <a:xfrm>
                <a:off x="0" y="0"/>
                <a:ext cx="847602" cy="534044"/>
              </a:xfrm>
              <a:custGeom>
                <a:avLst/>
                <a:gdLst/>
                <a:ahLst/>
                <a:cxnLst/>
                <a:rect l="l" t="t" r="r" b="b"/>
                <a:pathLst>
                  <a:path w="847602" h="534044">
                    <a:moveTo>
                      <a:pt x="132310" y="0"/>
                    </a:moveTo>
                    <a:lnTo>
                      <a:pt x="715292" y="0"/>
                    </a:lnTo>
                    <a:cubicBezTo>
                      <a:pt x="750383" y="0"/>
                      <a:pt x="784036" y="13940"/>
                      <a:pt x="808849" y="38753"/>
                    </a:cubicBezTo>
                    <a:cubicBezTo>
                      <a:pt x="833662" y="63566"/>
                      <a:pt x="847602" y="97219"/>
                      <a:pt x="847602" y="132310"/>
                    </a:cubicBezTo>
                    <a:lnTo>
                      <a:pt x="847602" y="401734"/>
                    </a:lnTo>
                    <a:cubicBezTo>
                      <a:pt x="847602" y="436825"/>
                      <a:pt x="833662" y="470478"/>
                      <a:pt x="808849" y="495291"/>
                    </a:cubicBezTo>
                    <a:cubicBezTo>
                      <a:pt x="784036" y="520104"/>
                      <a:pt x="750383" y="534044"/>
                      <a:pt x="715292" y="534044"/>
                    </a:cubicBezTo>
                    <a:lnTo>
                      <a:pt x="132310" y="534044"/>
                    </a:lnTo>
                    <a:cubicBezTo>
                      <a:pt x="97219" y="534044"/>
                      <a:pt x="63566" y="520104"/>
                      <a:pt x="38753" y="495291"/>
                    </a:cubicBezTo>
                    <a:cubicBezTo>
                      <a:pt x="13940" y="470478"/>
                      <a:pt x="0" y="436825"/>
                      <a:pt x="0" y="401734"/>
                    </a:cubicBezTo>
                    <a:lnTo>
                      <a:pt x="0" y="132310"/>
                    </a:lnTo>
                    <a:cubicBezTo>
                      <a:pt x="0" y="97219"/>
                      <a:pt x="13940" y="63566"/>
                      <a:pt x="38753" y="38753"/>
                    </a:cubicBezTo>
                    <a:cubicBezTo>
                      <a:pt x="63566" y="13940"/>
                      <a:pt x="97219" y="0"/>
                      <a:pt x="132310" y="0"/>
                    </a:cubicBezTo>
                    <a:close/>
                  </a:path>
                </a:pathLst>
              </a:custGeom>
              <a:solidFill>
                <a:srgbClr val="4D6BA7"/>
              </a:solidFill>
              <a:ln cap="rnd">
                <a:noFill/>
                <a:prstDash val="solid"/>
                <a:round/>
              </a:ln>
            </p:spPr>
            <p:txBody>
              <a:bodyPr/>
              <a:lstStyle/>
              <a:p>
                <a:endParaRPr lang="es-ES"/>
              </a:p>
            </p:txBody>
          </p:sp>
          <p:sp>
            <p:nvSpPr>
              <p:cNvPr id="26" name="TextBox 26"/>
              <p:cNvSpPr txBox="1"/>
              <p:nvPr/>
            </p:nvSpPr>
            <p:spPr>
              <a:xfrm>
                <a:off x="0" y="-38100"/>
                <a:ext cx="847602" cy="572144"/>
              </a:xfrm>
              <a:prstGeom prst="rect">
                <a:avLst/>
              </a:prstGeom>
            </p:spPr>
            <p:txBody>
              <a:bodyPr lIns="50800" tIns="50800" rIns="50800" bIns="50800" rtlCol="0" anchor="ctr"/>
              <a:lstStyle/>
              <a:p>
                <a:pPr algn="ctr">
                  <a:lnSpc>
                    <a:spcPts val="2660"/>
                  </a:lnSpc>
                </a:pPr>
                <a:endParaRPr/>
              </a:p>
            </p:txBody>
          </p:sp>
        </p:grpSp>
        <p:sp>
          <p:nvSpPr>
            <p:cNvPr id="27" name="Freeform 27"/>
            <p:cNvSpPr/>
            <p:nvPr/>
          </p:nvSpPr>
          <p:spPr>
            <a:xfrm flipV="1">
              <a:off x="10189915" y="4131645"/>
              <a:ext cx="9194787" cy="126952"/>
            </a:xfrm>
            <a:custGeom>
              <a:avLst/>
              <a:gdLst/>
              <a:ahLst/>
              <a:cxnLst/>
              <a:rect l="l" t="t" r="r" b="b"/>
              <a:pathLst>
                <a:path w="4750955">
                  <a:moveTo>
                    <a:pt x="4750955" y="0"/>
                  </a:moveTo>
                  <a:lnTo>
                    <a:pt x="0" y="0"/>
                  </a:lnTo>
                </a:path>
              </a:pathLst>
            </a:custGeom>
            <a:ln w="254000" cap="flat">
              <a:solidFill>
                <a:srgbClr val="4D6BA7"/>
              </a:solidFill>
              <a:prstDash val="solid"/>
              <a:headEnd type="none" w="sm" len="sm"/>
              <a:tailEnd type="none" w="sm" len="sm"/>
            </a:ln>
          </p:spPr>
          <p:txBody>
            <a:bodyPr/>
            <a:lstStyle/>
            <a:p>
              <a:endParaRPr lang="es-ES"/>
            </a:p>
          </p:txBody>
        </p:sp>
        <p:sp>
          <p:nvSpPr>
            <p:cNvPr id="28" name="Freeform 28"/>
            <p:cNvSpPr/>
            <p:nvPr/>
          </p:nvSpPr>
          <p:spPr>
            <a:xfrm>
              <a:off x="10189914" y="2418501"/>
              <a:ext cx="2294532" cy="1840096"/>
            </a:xfrm>
            <a:custGeom>
              <a:avLst/>
              <a:gdLst/>
              <a:ahLst/>
              <a:cxnLst/>
              <a:rect l="l" t="t" r="r" b="b"/>
              <a:pathLst>
                <a:path w="2294532" h="1840096">
                  <a:moveTo>
                    <a:pt x="2294532" y="0"/>
                  </a:moveTo>
                  <a:lnTo>
                    <a:pt x="1452067" y="0"/>
                  </a:lnTo>
                  <a:cubicBezTo>
                    <a:pt x="1371229" y="0"/>
                    <a:pt x="1293702" y="32112"/>
                    <a:pt x="1236540" y="89273"/>
                  </a:cubicBezTo>
                  <a:cubicBezTo>
                    <a:pt x="1179380" y="146434"/>
                    <a:pt x="1147267" y="223962"/>
                    <a:pt x="1147267" y="304800"/>
                  </a:cubicBezTo>
                  <a:lnTo>
                    <a:pt x="1147267" y="1535296"/>
                  </a:lnTo>
                  <a:cubicBezTo>
                    <a:pt x="1147267" y="1616134"/>
                    <a:pt x="1115154" y="1693661"/>
                    <a:pt x="1057993" y="1750822"/>
                  </a:cubicBezTo>
                  <a:cubicBezTo>
                    <a:pt x="1000832" y="1807983"/>
                    <a:pt x="923305" y="1840096"/>
                    <a:pt x="842467" y="1840096"/>
                  </a:cubicBezTo>
                  <a:lnTo>
                    <a:pt x="0" y="1840096"/>
                  </a:lnTo>
                </a:path>
              </a:pathLst>
            </a:custGeom>
            <a:ln w="254000" cap="flat">
              <a:solidFill>
                <a:srgbClr val="4D6BA7"/>
              </a:solidFill>
              <a:prstDash val="solid"/>
              <a:headEnd type="none" w="sm" len="sm"/>
              <a:tailEnd type="none" w="sm" len="sm"/>
            </a:ln>
          </p:spPr>
          <p:txBody>
            <a:bodyPr/>
            <a:lstStyle/>
            <a:p>
              <a:endParaRPr lang="es-ES"/>
            </a:p>
          </p:txBody>
        </p:sp>
        <p:sp>
          <p:nvSpPr>
            <p:cNvPr id="29" name="Freeform 29"/>
            <p:cNvSpPr/>
            <p:nvPr/>
          </p:nvSpPr>
          <p:spPr>
            <a:xfrm flipV="1">
              <a:off x="16775431" y="1168389"/>
              <a:ext cx="2609271" cy="60959"/>
            </a:xfrm>
            <a:custGeom>
              <a:avLst/>
              <a:gdLst/>
              <a:ahLst/>
              <a:cxnLst/>
              <a:rect l="l" t="t" r="r" b="b"/>
              <a:pathLst>
                <a:path w="1471386">
                  <a:moveTo>
                    <a:pt x="1471386" y="0"/>
                  </a:moveTo>
                  <a:lnTo>
                    <a:pt x="0" y="0"/>
                  </a:lnTo>
                </a:path>
              </a:pathLst>
            </a:custGeom>
            <a:ln w="254000" cap="flat">
              <a:solidFill>
                <a:srgbClr val="4D6BA7"/>
              </a:solidFill>
              <a:prstDash val="solid"/>
              <a:headEnd type="none" w="sm" len="sm"/>
              <a:tailEnd type="none" w="sm" len="sm"/>
            </a:ln>
          </p:spPr>
          <p:txBody>
            <a:bodyPr/>
            <a:lstStyle/>
            <a:p>
              <a:endParaRPr lang="es-ES"/>
            </a:p>
          </p:txBody>
        </p:sp>
        <p:sp>
          <p:nvSpPr>
            <p:cNvPr id="30" name="Freeform 30"/>
            <p:cNvSpPr/>
            <p:nvPr/>
          </p:nvSpPr>
          <p:spPr>
            <a:xfrm>
              <a:off x="16775432" y="2418500"/>
              <a:ext cx="2609269" cy="60959"/>
            </a:xfrm>
            <a:custGeom>
              <a:avLst/>
              <a:gdLst/>
              <a:ahLst/>
              <a:cxnLst/>
              <a:rect l="l" t="t" r="r" b="b"/>
              <a:pathLst>
                <a:path w="1471386">
                  <a:moveTo>
                    <a:pt x="1471386" y="0"/>
                  </a:moveTo>
                  <a:lnTo>
                    <a:pt x="0" y="0"/>
                  </a:lnTo>
                </a:path>
              </a:pathLst>
            </a:custGeom>
            <a:ln w="254000" cap="flat">
              <a:solidFill>
                <a:srgbClr val="4D6BA7"/>
              </a:solidFill>
              <a:prstDash val="solid"/>
              <a:headEnd type="none" w="sm" len="sm"/>
              <a:tailEnd type="none" w="sm" len="sm"/>
            </a:ln>
          </p:spPr>
          <p:txBody>
            <a:bodyPr/>
            <a:lstStyle/>
            <a:p>
              <a:endParaRPr lang="es-ES"/>
            </a:p>
          </p:txBody>
        </p:sp>
        <p:sp>
          <p:nvSpPr>
            <p:cNvPr id="31" name="Freeform 31"/>
            <p:cNvSpPr/>
            <p:nvPr/>
          </p:nvSpPr>
          <p:spPr>
            <a:xfrm>
              <a:off x="1103092" y="1047909"/>
              <a:ext cx="5980811" cy="0"/>
            </a:xfrm>
            <a:custGeom>
              <a:avLst/>
              <a:gdLst/>
              <a:ahLst/>
              <a:cxnLst/>
              <a:rect l="l" t="t" r="r" b="b"/>
              <a:pathLst>
                <a:path w="5980811">
                  <a:moveTo>
                    <a:pt x="5980811" y="0"/>
                  </a:moveTo>
                  <a:lnTo>
                    <a:pt x="0" y="0"/>
                  </a:lnTo>
                </a:path>
              </a:pathLst>
            </a:custGeom>
            <a:ln w="254000" cap="flat">
              <a:solidFill>
                <a:srgbClr val="4D6BA7"/>
              </a:solidFill>
              <a:prstDash val="solid"/>
              <a:headEnd type="none" w="sm" len="sm"/>
              <a:tailEnd type="none" w="sm" len="sm"/>
            </a:ln>
          </p:spPr>
          <p:txBody>
            <a:bodyPr/>
            <a:lstStyle/>
            <a:p>
              <a:endParaRPr lang="es-ES"/>
            </a:p>
          </p:txBody>
        </p:sp>
        <p:sp>
          <p:nvSpPr>
            <p:cNvPr id="32" name="Freeform 32"/>
            <p:cNvSpPr/>
            <p:nvPr/>
          </p:nvSpPr>
          <p:spPr>
            <a:xfrm>
              <a:off x="1103092" y="1733205"/>
              <a:ext cx="5980811" cy="0"/>
            </a:xfrm>
            <a:custGeom>
              <a:avLst/>
              <a:gdLst/>
              <a:ahLst/>
              <a:cxnLst/>
              <a:rect l="l" t="t" r="r" b="b"/>
              <a:pathLst>
                <a:path w="5980811">
                  <a:moveTo>
                    <a:pt x="5980811" y="0"/>
                  </a:moveTo>
                  <a:lnTo>
                    <a:pt x="0" y="0"/>
                  </a:lnTo>
                </a:path>
              </a:pathLst>
            </a:custGeom>
            <a:ln w="254000" cap="flat">
              <a:solidFill>
                <a:srgbClr val="4D6BA7"/>
              </a:solidFill>
              <a:prstDash val="solid"/>
              <a:headEnd type="none" w="sm" len="sm"/>
              <a:tailEnd type="none" w="sm" len="sm"/>
            </a:ln>
          </p:spPr>
          <p:txBody>
            <a:bodyPr/>
            <a:lstStyle/>
            <a:p>
              <a:endParaRPr lang="es-ES"/>
            </a:p>
          </p:txBody>
        </p:sp>
        <p:sp>
          <p:nvSpPr>
            <p:cNvPr id="33" name="Freeform 33"/>
            <p:cNvSpPr/>
            <p:nvPr/>
          </p:nvSpPr>
          <p:spPr>
            <a:xfrm>
              <a:off x="5025171" y="1842486"/>
              <a:ext cx="873758" cy="1766187"/>
            </a:xfrm>
            <a:custGeom>
              <a:avLst/>
              <a:gdLst/>
              <a:ahLst/>
              <a:cxnLst/>
              <a:rect l="l" t="t" r="r" b="b"/>
              <a:pathLst>
                <a:path w="873758" h="1766187">
                  <a:moveTo>
                    <a:pt x="873758" y="1766186"/>
                  </a:moveTo>
                  <a:lnTo>
                    <a:pt x="873758" y="1187893"/>
                  </a:lnTo>
                  <a:cubicBezTo>
                    <a:pt x="873758" y="1107055"/>
                    <a:pt x="841645" y="1029528"/>
                    <a:pt x="784484" y="972367"/>
                  </a:cubicBezTo>
                  <a:cubicBezTo>
                    <a:pt x="727323" y="915206"/>
                    <a:pt x="649796" y="883093"/>
                    <a:pt x="568958" y="883093"/>
                  </a:cubicBezTo>
                  <a:lnTo>
                    <a:pt x="304800" y="883093"/>
                  </a:lnTo>
                  <a:cubicBezTo>
                    <a:pt x="136464" y="883093"/>
                    <a:pt x="0" y="746629"/>
                    <a:pt x="0" y="578293"/>
                  </a:cubicBezTo>
                  <a:lnTo>
                    <a:pt x="0" y="0"/>
                  </a:lnTo>
                </a:path>
              </a:pathLst>
            </a:custGeom>
            <a:ln w="254000" cap="flat">
              <a:solidFill>
                <a:srgbClr val="4D6BA7"/>
              </a:solidFill>
              <a:prstDash val="solid"/>
              <a:headEnd type="none" w="sm" len="sm"/>
              <a:tailEnd type="none" w="sm" len="sm"/>
            </a:ln>
          </p:spPr>
          <p:txBody>
            <a:bodyPr/>
            <a:lstStyle/>
            <a:p>
              <a:endParaRPr lang="es-ES"/>
            </a:p>
          </p:txBody>
        </p:sp>
        <p:sp>
          <p:nvSpPr>
            <p:cNvPr id="34" name="Freeform 34"/>
            <p:cNvSpPr/>
            <p:nvPr/>
          </p:nvSpPr>
          <p:spPr>
            <a:xfrm>
              <a:off x="4081883" y="1047909"/>
              <a:ext cx="1817046" cy="3788101"/>
            </a:xfrm>
            <a:custGeom>
              <a:avLst/>
              <a:gdLst/>
              <a:ahLst/>
              <a:cxnLst/>
              <a:rect l="l" t="t" r="r" b="b"/>
              <a:pathLst>
                <a:path w="1817046" h="3788101">
                  <a:moveTo>
                    <a:pt x="1817046" y="3788102"/>
                  </a:moveTo>
                  <a:lnTo>
                    <a:pt x="1817046" y="2198851"/>
                  </a:lnTo>
                  <a:cubicBezTo>
                    <a:pt x="1817046" y="2030515"/>
                    <a:pt x="1680582" y="1894051"/>
                    <a:pt x="1512246" y="1894051"/>
                  </a:cubicBezTo>
                  <a:lnTo>
                    <a:pt x="304800" y="1894051"/>
                  </a:lnTo>
                  <a:cubicBezTo>
                    <a:pt x="136464" y="1894051"/>
                    <a:pt x="0" y="1757587"/>
                    <a:pt x="0" y="1589251"/>
                  </a:cubicBezTo>
                  <a:lnTo>
                    <a:pt x="0" y="0"/>
                  </a:lnTo>
                </a:path>
              </a:pathLst>
            </a:custGeom>
            <a:ln w="254000" cap="flat">
              <a:solidFill>
                <a:srgbClr val="4D6BA7"/>
              </a:solidFill>
              <a:prstDash val="solid"/>
              <a:headEnd type="none" w="sm" len="sm"/>
              <a:tailEnd type="none" w="sm" len="sm"/>
            </a:ln>
          </p:spPr>
          <p:txBody>
            <a:bodyPr/>
            <a:lstStyle/>
            <a:p>
              <a:endParaRPr lang="es-ES"/>
            </a:p>
          </p:txBody>
        </p:sp>
        <p:sp>
          <p:nvSpPr>
            <p:cNvPr id="35" name="TextBox 35"/>
            <p:cNvSpPr txBox="1"/>
            <p:nvPr/>
          </p:nvSpPr>
          <p:spPr>
            <a:xfrm>
              <a:off x="3766640" y="379043"/>
              <a:ext cx="630486" cy="1223433"/>
            </a:xfrm>
            <a:prstGeom prst="rect">
              <a:avLst/>
            </a:prstGeom>
          </p:spPr>
          <p:txBody>
            <a:bodyPr lIns="0" tIns="0" rIns="0" bIns="0" rtlCol="0" anchor="t">
              <a:spAutoFit/>
            </a:bodyPr>
            <a:lstStyle/>
            <a:p>
              <a:pPr algn="ctr">
                <a:lnSpc>
                  <a:spcPts val="7699"/>
                </a:lnSpc>
                <a:spcBef>
                  <a:spcPct val="0"/>
                </a:spcBef>
              </a:pPr>
              <a:r>
                <a:rPr lang="en-US" sz="5499">
                  <a:solidFill>
                    <a:srgbClr val="203660"/>
                  </a:solidFill>
                  <a:latin typeface="Bantayog"/>
                  <a:ea typeface="Bantayog"/>
                  <a:cs typeface="Bantayog"/>
                  <a:sym typeface="Bantayog"/>
                </a:rPr>
                <a:t>X</a:t>
              </a:r>
            </a:p>
          </p:txBody>
        </p:sp>
        <p:sp>
          <p:nvSpPr>
            <p:cNvPr id="36" name="TextBox 36"/>
            <p:cNvSpPr txBox="1"/>
            <p:nvPr/>
          </p:nvSpPr>
          <p:spPr>
            <a:xfrm>
              <a:off x="4709928" y="1115048"/>
              <a:ext cx="630486" cy="1223433"/>
            </a:xfrm>
            <a:prstGeom prst="rect">
              <a:avLst/>
            </a:prstGeom>
          </p:spPr>
          <p:txBody>
            <a:bodyPr lIns="0" tIns="0" rIns="0" bIns="0" rtlCol="0" anchor="t">
              <a:spAutoFit/>
            </a:bodyPr>
            <a:lstStyle/>
            <a:p>
              <a:pPr algn="ctr">
                <a:lnSpc>
                  <a:spcPts val="7699"/>
                </a:lnSpc>
                <a:spcBef>
                  <a:spcPct val="0"/>
                </a:spcBef>
              </a:pPr>
              <a:r>
                <a:rPr lang="en-US" sz="5499">
                  <a:solidFill>
                    <a:srgbClr val="203660"/>
                  </a:solidFill>
                  <a:latin typeface="Bantayog"/>
                  <a:ea typeface="Bantayog"/>
                  <a:cs typeface="Bantayog"/>
                  <a:sym typeface="Bantayog"/>
                </a:rPr>
                <a:t>X</a:t>
              </a:r>
            </a:p>
          </p:txBody>
        </p:sp>
        <p:sp>
          <p:nvSpPr>
            <p:cNvPr id="37" name="TextBox 37"/>
            <p:cNvSpPr txBox="1"/>
            <p:nvPr/>
          </p:nvSpPr>
          <p:spPr>
            <a:xfrm>
              <a:off x="10987806" y="3562005"/>
              <a:ext cx="630486" cy="1223433"/>
            </a:xfrm>
            <a:prstGeom prst="rect">
              <a:avLst/>
            </a:prstGeom>
          </p:spPr>
          <p:txBody>
            <a:bodyPr lIns="0" tIns="0" rIns="0" bIns="0" rtlCol="0" anchor="t">
              <a:spAutoFit/>
            </a:bodyPr>
            <a:lstStyle/>
            <a:p>
              <a:pPr algn="ctr">
                <a:lnSpc>
                  <a:spcPts val="7699"/>
                </a:lnSpc>
                <a:spcBef>
                  <a:spcPct val="0"/>
                </a:spcBef>
              </a:pPr>
              <a:r>
                <a:rPr lang="en-US" sz="5499">
                  <a:solidFill>
                    <a:srgbClr val="203660"/>
                  </a:solidFill>
                  <a:latin typeface="Bantayog"/>
                  <a:ea typeface="Bantayog"/>
                  <a:cs typeface="Bantayog"/>
                  <a:sym typeface="Bantayog"/>
                </a:rPr>
                <a:t>X</a:t>
              </a:r>
            </a:p>
          </p:txBody>
        </p:sp>
        <p:sp>
          <p:nvSpPr>
            <p:cNvPr id="38" name="TextBox 38"/>
            <p:cNvSpPr txBox="1"/>
            <p:nvPr/>
          </p:nvSpPr>
          <p:spPr>
            <a:xfrm>
              <a:off x="6056222" y="3673627"/>
              <a:ext cx="3976399" cy="1223433"/>
            </a:xfrm>
            <a:prstGeom prst="rect">
              <a:avLst/>
            </a:prstGeom>
          </p:spPr>
          <p:txBody>
            <a:bodyPr lIns="0" tIns="0" rIns="0" bIns="0" rtlCol="0" anchor="t">
              <a:spAutoFit/>
            </a:bodyPr>
            <a:lstStyle/>
            <a:p>
              <a:pPr algn="ctr">
                <a:lnSpc>
                  <a:spcPts val="7699"/>
                </a:lnSpc>
                <a:spcBef>
                  <a:spcPct val="0"/>
                </a:spcBef>
              </a:pPr>
              <a:r>
                <a:rPr lang="en-US" sz="5499">
                  <a:solidFill>
                    <a:srgbClr val="FFFFFF"/>
                  </a:solidFill>
                  <a:latin typeface="Bantayog"/>
                  <a:ea typeface="Bantayog"/>
                  <a:cs typeface="Bantayog"/>
                  <a:sym typeface="Bantayog"/>
                </a:rPr>
                <a:t>MODELO 1</a:t>
              </a:r>
            </a:p>
          </p:txBody>
        </p:sp>
        <p:sp>
          <p:nvSpPr>
            <p:cNvPr id="39" name="TextBox 39"/>
            <p:cNvSpPr txBox="1"/>
            <p:nvPr/>
          </p:nvSpPr>
          <p:spPr>
            <a:xfrm>
              <a:off x="12483790" y="1173619"/>
              <a:ext cx="4291642" cy="1223433"/>
            </a:xfrm>
            <a:prstGeom prst="rect">
              <a:avLst/>
            </a:prstGeom>
          </p:spPr>
          <p:txBody>
            <a:bodyPr lIns="0" tIns="0" rIns="0" bIns="0" rtlCol="0" anchor="t">
              <a:spAutoFit/>
            </a:bodyPr>
            <a:lstStyle/>
            <a:p>
              <a:pPr algn="ctr">
                <a:lnSpc>
                  <a:spcPts val="7699"/>
                </a:lnSpc>
                <a:spcBef>
                  <a:spcPct val="0"/>
                </a:spcBef>
              </a:pPr>
              <a:r>
                <a:rPr lang="en-US" sz="5499">
                  <a:solidFill>
                    <a:srgbClr val="FFFFFF"/>
                  </a:solidFill>
                  <a:latin typeface="Bantayog"/>
                  <a:ea typeface="Bantayog"/>
                  <a:cs typeface="Bantayog"/>
                  <a:sym typeface="Bantayog"/>
                </a:rPr>
                <a:t>MODELO 2</a:t>
              </a:r>
            </a:p>
          </p:txBody>
        </p:sp>
        <p:sp>
          <p:nvSpPr>
            <p:cNvPr id="40" name="TextBox 40"/>
            <p:cNvSpPr txBox="1"/>
            <p:nvPr/>
          </p:nvSpPr>
          <p:spPr>
            <a:xfrm>
              <a:off x="0" y="255022"/>
              <a:ext cx="858823"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P</a:t>
              </a:r>
            </a:p>
          </p:txBody>
        </p:sp>
        <p:sp>
          <p:nvSpPr>
            <p:cNvPr id="41" name="TextBox 41"/>
            <p:cNvSpPr txBox="1"/>
            <p:nvPr/>
          </p:nvSpPr>
          <p:spPr>
            <a:xfrm>
              <a:off x="0" y="1297676"/>
              <a:ext cx="858823"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Q</a:t>
              </a:r>
            </a:p>
          </p:txBody>
        </p:sp>
        <p:sp>
          <p:nvSpPr>
            <p:cNvPr id="42" name="TextBox 42"/>
            <p:cNvSpPr txBox="1"/>
            <p:nvPr/>
          </p:nvSpPr>
          <p:spPr>
            <a:xfrm>
              <a:off x="19844226" y="3494373"/>
              <a:ext cx="858823"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Q</a:t>
              </a:r>
            </a:p>
          </p:txBody>
        </p:sp>
        <p:sp>
          <p:nvSpPr>
            <p:cNvPr id="43" name="TextBox 43"/>
            <p:cNvSpPr txBox="1"/>
            <p:nvPr/>
          </p:nvSpPr>
          <p:spPr>
            <a:xfrm>
              <a:off x="20397585" y="3849564"/>
              <a:ext cx="1916315" cy="900135"/>
            </a:xfrm>
            <a:prstGeom prst="rect">
              <a:avLst/>
            </a:prstGeom>
          </p:spPr>
          <p:txBody>
            <a:bodyPr lIns="0" tIns="0" rIns="0" bIns="0" rtlCol="0" anchor="t">
              <a:spAutoFit/>
            </a:bodyPr>
            <a:lstStyle/>
            <a:p>
              <a:pPr algn="ctr">
                <a:lnSpc>
                  <a:spcPts val="5653"/>
                </a:lnSpc>
                <a:spcBef>
                  <a:spcPct val="0"/>
                </a:spcBef>
              </a:pPr>
              <a:r>
                <a:rPr lang="en-US" sz="4038">
                  <a:solidFill>
                    <a:srgbClr val="4D6BA7"/>
                  </a:solidFill>
                  <a:latin typeface="Bantayog"/>
                  <a:ea typeface="Bantayog"/>
                  <a:cs typeface="Bantayog"/>
                  <a:sym typeface="Bantayog"/>
                </a:rPr>
                <a:t>GEN7</a:t>
              </a:r>
            </a:p>
          </p:txBody>
        </p:sp>
        <p:sp>
          <p:nvSpPr>
            <p:cNvPr id="44" name="TextBox 44"/>
            <p:cNvSpPr txBox="1"/>
            <p:nvPr/>
          </p:nvSpPr>
          <p:spPr>
            <a:xfrm>
              <a:off x="19959504" y="509772"/>
              <a:ext cx="858823"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V</a:t>
              </a:r>
            </a:p>
          </p:txBody>
        </p:sp>
        <p:sp>
          <p:nvSpPr>
            <p:cNvPr id="45" name="TextBox 45"/>
            <p:cNvSpPr txBox="1"/>
            <p:nvPr/>
          </p:nvSpPr>
          <p:spPr>
            <a:xfrm>
              <a:off x="20081189" y="1749634"/>
              <a:ext cx="2148148"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PERD</a:t>
              </a:r>
            </a:p>
          </p:txBody>
        </p:sp>
      </p:grpSp>
      <p:grpSp>
        <p:nvGrpSpPr>
          <p:cNvPr id="46" name="Group 46"/>
          <p:cNvGrpSpPr/>
          <p:nvPr/>
        </p:nvGrpSpPr>
        <p:grpSpPr>
          <a:xfrm>
            <a:off x="3801551" y="8115200"/>
            <a:ext cx="9326448" cy="2099678"/>
            <a:chOff x="0" y="0"/>
            <a:chExt cx="12435265" cy="2799571"/>
          </a:xfrm>
        </p:grpSpPr>
        <p:sp>
          <p:nvSpPr>
            <p:cNvPr id="47" name="Freeform 47"/>
            <p:cNvSpPr/>
            <p:nvPr/>
          </p:nvSpPr>
          <p:spPr>
            <a:xfrm>
              <a:off x="0" y="248696"/>
              <a:ext cx="4723843" cy="2550875"/>
            </a:xfrm>
            <a:custGeom>
              <a:avLst/>
              <a:gdLst/>
              <a:ahLst/>
              <a:cxnLst/>
              <a:rect l="l" t="t" r="r" b="b"/>
              <a:pathLst>
                <a:path w="4723843" h="2550875">
                  <a:moveTo>
                    <a:pt x="0" y="0"/>
                  </a:moveTo>
                  <a:lnTo>
                    <a:pt x="4723843" y="0"/>
                  </a:lnTo>
                  <a:lnTo>
                    <a:pt x="4723843" y="2550875"/>
                  </a:lnTo>
                  <a:lnTo>
                    <a:pt x="0" y="2550875"/>
                  </a:lnTo>
                  <a:lnTo>
                    <a:pt x="0" y="0"/>
                  </a:lnTo>
                  <a:close/>
                </a:path>
              </a:pathLst>
            </a:custGeom>
            <a:blipFill>
              <a:blip r:embed="rId2"/>
              <a:stretch>
                <a:fillRect/>
              </a:stretch>
            </a:blipFill>
          </p:spPr>
          <p:txBody>
            <a:bodyPr/>
            <a:lstStyle/>
            <a:p>
              <a:endParaRPr lang="es-ES"/>
            </a:p>
          </p:txBody>
        </p:sp>
        <p:sp>
          <p:nvSpPr>
            <p:cNvPr id="48" name="TextBox 48"/>
            <p:cNvSpPr txBox="1"/>
            <p:nvPr/>
          </p:nvSpPr>
          <p:spPr>
            <a:xfrm>
              <a:off x="4967735" y="855266"/>
              <a:ext cx="5138993" cy="1223433"/>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COMPATIBLE</a:t>
              </a:r>
            </a:p>
          </p:txBody>
        </p:sp>
        <p:sp>
          <p:nvSpPr>
            <p:cNvPr id="49" name="Freeform 49"/>
            <p:cNvSpPr/>
            <p:nvPr/>
          </p:nvSpPr>
          <p:spPr>
            <a:xfrm>
              <a:off x="10495834" y="0"/>
              <a:ext cx="1812430" cy="1524133"/>
            </a:xfrm>
            <a:custGeom>
              <a:avLst/>
              <a:gdLst/>
              <a:ahLst/>
              <a:cxnLst/>
              <a:rect l="l" t="t" r="r" b="b"/>
              <a:pathLst>
                <a:path w="1812430" h="1524133">
                  <a:moveTo>
                    <a:pt x="1812430" y="0"/>
                  </a:moveTo>
                  <a:lnTo>
                    <a:pt x="1812430" y="1219333"/>
                  </a:lnTo>
                  <a:cubicBezTo>
                    <a:pt x="1812430" y="1387670"/>
                    <a:pt x="1675966" y="1524133"/>
                    <a:pt x="1507630" y="1524133"/>
                  </a:cubicBezTo>
                  <a:lnTo>
                    <a:pt x="0" y="1524133"/>
                  </a:lnTo>
                </a:path>
              </a:pathLst>
            </a:custGeom>
            <a:ln w="254000" cap="flat">
              <a:solidFill>
                <a:srgbClr val="4D6BA7"/>
              </a:solidFill>
              <a:prstDash val="solid"/>
              <a:headEnd type="triangle" w="lg" len="med"/>
              <a:tailEnd type="none" w="sm" len="sm"/>
            </a:ln>
          </p:spPr>
          <p:txBody>
            <a:bodyPr/>
            <a:lstStyle/>
            <a:p>
              <a:endParaRPr lang="es-ES"/>
            </a:p>
          </p:txBody>
        </p:sp>
      </p:gr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4" fill="hold" nodeType="clickEffect">
                                  <p:stCondLst>
                                    <p:cond delay="0"/>
                                  </p:stCondLst>
                                  <p:childTnLst>
                                    <p:set>
                                      <p:cBhvr>
                                        <p:cTn id="6" dur="1" fill="hold">
                                          <p:stCondLst>
                                            <p:cond delay="0"/>
                                          </p:stCondLst>
                                        </p:cTn>
                                        <p:tgtEl>
                                          <p:spTgt spid="46"/>
                                        </p:tgtEl>
                                        <p:attrNameLst>
                                          <p:attrName>style.visibility</p:attrName>
                                        </p:attrNameLst>
                                      </p:cBhvr>
                                      <p:to>
                                        <p:strVal val="visible"/>
                                      </p:to>
                                    </p:set>
                                    <p:anim calcmode="lin" valueType="num">
                                      <p:cBhvr additive="base">
                                        <p:cTn id="7" dur="500"/>
                                        <p:tgtEl>
                                          <p:spTgt spid="46"/>
                                        </p:tgtEl>
                                        <p:attrNameLst>
                                          <p:attrName>ppt_y</p:attrName>
                                        </p:attrNameLst>
                                      </p:cBhvr>
                                      <p:tavLst>
                                        <p:tav tm="0">
                                          <p:val>
                                            <p:strVal val="#ppt_y+#ppt_h*1.125000"/>
                                          </p:val>
                                        </p:tav>
                                        <p:tav tm="100000">
                                          <p:val>
                                            <p:strVal val="#ppt_y"/>
                                          </p:val>
                                        </p:tav>
                                      </p:tavLst>
                                    </p:anim>
                                    <p:animEffect transition="in" filter="wipe(up)">
                                      <p:cBhvr>
                                        <p:cTn id="8" dur="5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31</a:t>
            </a:r>
          </a:p>
        </p:txBody>
      </p:sp>
      <p:sp>
        <p:nvSpPr>
          <p:cNvPr id="15" name="TextBox 15"/>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ENTRENAMIENTO</a:t>
            </a:r>
          </a:p>
        </p:txBody>
      </p:sp>
      <p:sp>
        <p:nvSpPr>
          <p:cNvPr id="16" name="Freeform 16"/>
          <p:cNvSpPr/>
          <p:nvPr/>
        </p:nvSpPr>
        <p:spPr>
          <a:xfrm>
            <a:off x="13803139" y="2074846"/>
            <a:ext cx="2014215" cy="2160016"/>
          </a:xfrm>
          <a:custGeom>
            <a:avLst/>
            <a:gdLst/>
            <a:ahLst/>
            <a:cxnLst/>
            <a:rect l="l" t="t" r="r" b="b"/>
            <a:pathLst>
              <a:path w="2014215" h="2160016">
                <a:moveTo>
                  <a:pt x="0" y="0"/>
                </a:moveTo>
                <a:lnTo>
                  <a:pt x="2014214" y="0"/>
                </a:lnTo>
                <a:lnTo>
                  <a:pt x="2014214" y="2160016"/>
                </a:lnTo>
                <a:lnTo>
                  <a:pt x="0" y="2160016"/>
                </a:lnTo>
                <a:lnTo>
                  <a:pt x="0" y="0"/>
                </a:lnTo>
                <a:close/>
              </a:path>
            </a:pathLst>
          </a:custGeom>
          <a:blipFill>
            <a:blip r:embed="rId2"/>
            <a:stretch>
              <a:fillRect/>
            </a:stretch>
          </a:blipFill>
        </p:spPr>
        <p:txBody>
          <a:bodyPr/>
          <a:lstStyle/>
          <a:p>
            <a:endParaRPr lang="es-ES"/>
          </a:p>
        </p:txBody>
      </p:sp>
      <p:sp>
        <p:nvSpPr>
          <p:cNvPr id="17" name="Freeform 17"/>
          <p:cNvSpPr/>
          <p:nvPr/>
        </p:nvSpPr>
        <p:spPr>
          <a:xfrm>
            <a:off x="795483" y="2483459"/>
            <a:ext cx="4630309" cy="1342790"/>
          </a:xfrm>
          <a:custGeom>
            <a:avLst/>
            <a:gdLst/>
            <a:ahLst/>
            <a:cxnLst/>
            <a:rect l="l" t="t" r="r" b="b"/>
            <a:pathLst>
              <a:path w="4630309" h="1342790">
                <a:moveTo>
                  <a:pt x="0" y="0"/>
                </a:moveTo>
                <a:lnTo>
                  <a:pt x="4630310" y="0"/>
                </a:lnTo>
                <a:lnTo>
                  <a:pt x="4630310" y="1342790"/>
                </a:lnTo>
                <a:lnTo>
                  <a:pt x="0" y="1342790"/>
                </a:lnTo>
                <a:lnTo>
                  <a:pt x="0" y="0"/>
                </a:lnTo>
                <a:close/>
              </a:path>
            </a:pathLst>
          </a:custGeom>
          <a:blipFill>
            <a:blip r:embed="rId3"/>
            <a:stretch>
              <a:fillRect/>
            </a:stretch>
          </a:blipFill>
        </p:spPr>
        <p:txBody>
          <a:bodyPr/>
          <a:lstStyle/>
          <a:p>
            <a:endParaRPr lang="es-ES"/>
          </a:p>
        </p:txBody>
      </p:sp>
      <p:sp>
        <p:nvSpPr>
          <p:cNvPr id="18" name="TextBox 18"/>
          <p:cNvSpPr txBox="1"/>
          <p:nvPr/>
        </p:nvSpPr>
        <p:spPr>
          <a:xfrm>
            <a:off x="5061005" y="2624629"/>
            <a:ext cx="8165989" cy="946150"/>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REDES NEURONALES</a:t>
            </a:r>
          </a:p>
        </p:txBody>
      </p:sp>
      <p:grpSp>
        <p:nvGrpSpPr>
          <p:cNvPr id="19" name="Group 19"/>
          <p:cNvGrpSpPr/>
          <p:nvPr/>
        </p:nvGrpSpPr>
        <p:grpSpPr>
          <a:xfrm>
            <a:off x="795483" y="4727575"/>
            <a:ext cx="16463817" cy="3390900"/>
            <a:chOff x="0" y="0"/>
            <a:chExt cx="21951755" cy="4521200"/>
          </a:xfrm>
        </p:grpSpPr>
        <p:sp>
          <p:nvSpPr>
            <p:cNvPr id="20" name="TextBox 20"/>
            <p:cNvSpPr txBox="1"/>
            <p:nvPr/>
          </p:nvSpPr>
          <p:spPr>
            <a:xfrm>
              <a:off x="0" y="-114300"/>
              <a:ext cx="18686350" cy="1223433"/>
            </a:xfrm>
            <a:prstGeom prst="rect">
              <a:avLst/>
            </a:prstGeom>
          </p:spPr>
          <p:txBody>
            <a:bodyPr lIns="0" tIns="0" rIns="0" bIns="0" rtlCol="0" anchor="t">
              <a:spAutoFit/>
            </a:bodyPr>
            <a:lstStyle/>
            <a:p>
              <a:pPr marL="1187449" lvl="1" indent="-593725" algn="l">
                <a:lnSpc>
                  <a:spcPts val="7699"/>
                </a:lnSpc>
                <a:buFont typeface="Arial"/>
                <a:buChar char="•"/>
              </a:pPr>
              <a:r>
                <a:rPr lang="en-US" sz="5499">
                  <a:solidFill>
                    <a:srgbClr val="4D6BA7"/>
                  </a:solidFill>
                  <a:latin typeface="Bantayog"/>
                  <a:ea typeface="Bantayog"/>
                  <a:cs typeface="Bantayog"/>
                  <a:sym typeface="Bantayog"/>
                </a:rPr>
                <a:t>NORMALIZACIÓN DE ENTRADAS Y SALIDAS</a:t>
              </a:r>
            </a:p>
          </p:txBody>
        </p:sp>
        <p:sp>
          <p:nvSpPr>
            <p:cNvPr id="21" name="TextBox 21"/>
            <p:cNvSpPr txBox="1"/>
            <p:nvPr/>
          </p:nvSpPr>
          <p:spPr>
            <a:xfrm>
              <a:off x="0" y="1591733"/>
              <a:ext cx="21951755" cy="1223433"/>
            </a:xfrm>
            <a:prstGeom prst="rect">
              <a:avLst/>
            </a:prstGeom>
          </p:spPr>
          <p:txBody>
            <a:bodyPr lIns="0" tIns="0" rIns="0" bIns="0" rtlCol="0" anchor="t">
              <a:spAutoFit/>
            </a:bodyPr>
            <a:lstStyle/>
            <a:p>
              <a:pPr marL="1187449" lvl="1" indent="-593725" algn="l">
                <a:lnSpc>
                  <a:spcPts val="7699"/>
                </a:lnSpc>
                <a:buFont typeface="Arial"/>
                <a:buChar char="•"/>
              </a:pPr>
              <a:r>
                <a:rPr lang="en-US" sz="5499">
                  <a:solidFill>
                    <a:srgbClr val="4D6BA7"/>
                  </a:solidFill>
                  <a:latin typeface="Bantayog"/>
                  <a:ea typeface="Bantayog"/>
                  <a:cs typeface="Bantayog"/>
                  <a:sym typeface="Bantayog"/>
                </a:rPr>
                <a:t>ASIGNACIÓN DE PESOS A LAS VARIABLES OBJETIVO</a:t>
              </a:r>
            </a:p>
          </p:txBody>
        </p:sp>
        <p:sp>
          <p:nvSpPr>
            <p:cNvPr id="22" name="TextBox 22"/>
            <p:cNvSpPr txBox="1"/>
            <p:nvPr/>
          </p:nvSpPr>
          <p:spPr>
            <a:xfrm>
              <a:off x="0" y="3297767"/>
              <a:ext cx="21951755" cy="1223433"/>
            </a:xfrm>
            <a:prstGeom prst="rect">
              <a:avLst/>
            </a:prstGeom>
          </p:spPr>
          <p:txBody>
            <a:bodyPr lIns="0" tIns="0" rIns="0" bIns="0" rtlCol="0" anchor="t">
              <a:spAutoFit/>
            </a:bodyPr>
            <a:lstStyle/>
            <a:p>
              <a:pPr marL="1187449" lvl="1" indent="-593725" algn="l">
                <a:lnSpc>
                  <a:spcPts val="7699"/>
                </a:lnSpc>
                <a:buFont typeface="Arial"/>
                <a:buChar char="•"/>
              </a:pPr>
              <a:r>
                <a:rPr lang="en-US" sz="5499">
                  <a:solidFill>
                    <a:srgbClr val="4D6BA7"/>
                  </a:solidFill>
                  <a:latin typeface="Bantayog"/>
                  <a:ea typeface="Bantayog"/>
                  <a:cs typeface="Bantayog"/>
                  <a:sym typeface="Bantayog"/>
                </a:rPr>
                <a:t>MODELO BASADO EN LÓGICA ESR</a:t>
              </a:r>
            </a:p>
          </p:txBody>
        </p:sp>
      </p:gr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32</a:t>
            </a:r>
          </a:p>
        </p:txBody>
      </p:sp>
      <p:sp>
        <p:nvSpPr>
          <p:cNvPr id="15" name="TextBox 15"/>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ENTRENAMIENTO</a:t>
            </a:r>
          </a:p>
        </p:txBody>
      </p:sp>
      <p:sp>
        <p:nvSpPr>
          <p:cNvPr id="16" name="Freeform 16"/>
          <p:cNvSpPr/>
          <p:nvPr/>
        </p:nvSpPr>
        <p:spPr>
          <a:xfrm>
            <a:off x="13803139" y="2074846"/>
            <a:ext cx="2014215" cy="2160016"/>
          </a:xfrm>
          <a:custGeom>
            <a:avLst/>
            <a:gdLst/>
            <a:ahLst/>
            <a:cxnLst/>
            <a:rect l="l" t="t" r="r" b="b"/>
            <a:pathLst>
              <a:path w="2014215" h="2160016">
                <a:moveTo>
                  <a:pt x="0" y="0"/>
                </a:moveTo>
                <a:lnTo>
                  <a:pt x="2014214" y="0"/>
                </a:lnTo>
                <a:lnTo>
                  <a:pt x="2014214" y="2160016"/>
                </a:lnTo>
                <a:lnTo>
                  <a:pt x="0" y="2160016"/>
                </a:lnTo>
                <a:lnTo>
                  <a:pt x="0" y="0"/>
                </a:lnTo>
                <a:close/>
              </a:path>
            </a:pathLst>
          </a:custGeom>
          <a:blipFill>
            <a:blip r:embed="rId2"/>
            <a:stretch>
              <a:fillRect/>
            </a:stretch>
          </a:blipFill>
        </p:spPr>
        <p:txBody>
          <a:bodyPr/>
          <a:lstStyle/>
          <a:p>
            <a:endParaRPr lang="es-ES"/>
          </a:p>
        </p:txBody>
      </p:sp>
      <p:sp>
        <p:nvSpPr>
          <p:cNvPr id="17" name="Freeform 17"/>
          <p:cNvSpPr/>
          <p:nvPr/>
        </p:nvSpPr>
        <p:spPr>
          <a:xfrm>
            <a:off x="795483" y="2483459"/>
            <a:ext cx="4630309" cy="1342790"/>
          </a:xfrm>
          <a:custGeom>
            <a:avLst/>
            <a:gdLst/>
            <a:ahLst/>
            <a:cxnLst/>
            <a:rect l="l" t="t" r="r" b="b"/>
            <a:pathLst>
              <a:path w="4630309" h="1342790">
                <a:moveTo>
                  <a:pt x="0" y="0"/>
                </a:moveTo>
                <a:lnTo>
                  <a:pt x="4630310" y="0"/>
                </a:lnTo>
                <a:lnTo>
                  <a:pt x="4630310" y="1342790"/>
                </a:lnTo>
                <a:lnTo>
                  <a:pt x="0" y="1342790"/>
                </a:lnTo>
                <a:lnTo>
                  <a:pt x="0" y="0"/>
                </a:lnTo>
                <a:close/>
              </a:path>
            </a:pathLst>
          </a:custGeom>
          <a:blipFill>
            <a:blip r:embed="rId3"/>
            <a:stretch>
              <a:fillRect/>
            </a:stretch>
          </a:blipFill>
        </p:spPr>
        <p:txBody>
          <a:bodyPr/>
          <a:lstStyle/>
          <a:p>
            <a:endParaRPr lang="es-ES"/>
          </a:p>
        </p:txBody>
      </p:sp>
      <p:sp>
        <p:nvSpPr>
          <p:cNvPr id="18" name="TextBox 18"/>
          <p:cNvSpPr txBox="1"/>
          <p:nvPr/>
        </p:nvSpPr>
        <p:spPr>
          <a:xfrm>
            <a:off x="5061005" y="2624629"/>
            <a:ext cx="8165989" cy="946150"/>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REDES NEURONALES</a:t>
            </a:r>
          </a:p>
        </p:txBody>
      </p:sp>
      <p:grpSp>
        <p:nvGrpSpPr>
          <p:cNvPr id="19" name="Group 19"/>
          <p:cNvGrpSpPr/>
          <p:nvPr/>
        </p:nvGrpSpPr>
        <p:grpSpPr>
          <a:xfrm>
            <a:off x="795483" y="4727575"/>
            <a:ext cx="16463817" cy="3082925"/>
            <a:chOff x="0" y="0"/>
            <a:chExt cx="21951755" cy="4110567"/>
          </a:xfrm>
        </p:grpSpPr>
        <p:sp>
          <p:nvSpPr>
            <p:cNvPr id="20" name="TextBox 20"/>
            <p:cNvSpPr txBox="1"/>
            <p:nvPr/>
          </p:nvSpPr>
          <p:spPr>
            <a:xfrm>
              <a:off x="0" y="-114300"/>
              <a:ext cx="18686350" cy="1223433"/>
            </a:xfrm>
            <a:prstGeom prst="rect">
              <a:avLst/>
            </a:prstGeom>
          </p:spPr>
          <p:txBody>
            <a:bodyPr lIns="0" tIns="0" rIns="0" bIns="0" rtlCol="0" anchor="t">
              <a:spAutoFit/>
            </a:bodyPr>
            <a:lstStyle/>
            <a:p>
              <a:pPr marL="1187449" lvl="1" indent="-593725" algn="l">
                <a:lnSpc>
                  <a:spcPts val="7699"/>
                </a:lnSpc>
                <a:buFont typeface="Arial"/>
                <a:buChar char="•"/>
              </a:pPr>
              <a:r>
                <a:rPr lang="en-US" sz="5499">
                  <a:solidFill>
                    <a:srgbClr val="4D6BA7"/>
                  </a:solidFill>
                  <a:latin typeface="Bantayog"/>
                  <a:ea typeface="Bantayog"/>
                  <a:cs typeface="Bantayog"/>
                  <a:sym typeface="Bantayog"/>
                </a:rPr>
                <a:t>AUTO-OPTIMIZACIÓN DE HIPERPARÁMETROS</a:t>
              </a:r>
            </a:p>
          </p:txBody>
        </p:sp>
        <p:sp>
          <p:nvSpPr>
            <p:cNvPr id="21" name="TextBox 21"/>
            <p:cNvSpPr txBox="1"/>
            <p:nvPr/>
          </p:nvSpPr>
          <p:spPr>
            <a:xfrm>
              <a:off x="0" y="1591733"/>
              <a:ext cx="21951755" cy="2518833"/>
            </a:xfrm>
            <a:prstGeom prst="rect">
              <a:avLst/>
            </a:prstGeom>
          </p:spPr>
          <p:txBody>
            <a:bodyPr lIns="0" tIns="0" rIns="0" bIns="0" rtlCol="0" anchor="t">
              <a:spAutoFit/>
            </a:bodyPr>
            <a:lstStyle/>
            <a:p>
              <a:pPr marL="1187449" lvl="1" indent="-593725" algn="l">
                <a:lnSpc>
                  <a:spcPts val="7699"/>
                </a:lnSpc>
                <a:buFont typeface="Arial"/>
                <a:buChar char="•"/>
              </a:pPr>
              <a:r>
                <a:rPr lang="en-US" sz="5499">
                  <a:solidFill>
                    <a:srgbClr val="4D6BA7"/>
                  </a:solidFill>
                  <a:latin typeface="Bantayog"/>
                  <a:ea typeface="Bantayog"/>
                  <a:cs typeface="Bantayog"/>
                  <a:sym typeface="Bantayog"/>
                </a:rPr>
                <a:t>IMPLEMENTA ESTRATEGIAS DE OPTIMIZACIÓN (DROPOUT Y BATCH NORMALIZATION)</a:t>
              </a:r>
            </a:p>
          </p:txBody>
        </p:sp>
      </p:gr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Freeform 14"/>
          <p:cNvSpPr/>
          <p:nvPr/>
        </p:nvSpPr>
        <p:spPr>
          <a:xfrm>
            <a:off x="1608685" y="3437170"/>
            <a:ext cx="2096600" cy="2096600"/>
          </a:xfrm>
          <a:custGeom>
            <a:avLst/>
            <a:gdLst/>
            <a:ahLst/>
            <a:cxnLst/>
            <a:rect l="l" t="t" r="r" b="b"/>
            <a:pathLst>
              <a:path w="2096600" h="2096600">
                <a:moveTo>
                  <a:pt x="0" y="0"/>
                </a:moveTo>
                <a:lnTo>
                  <a:pt x="2096600" y="0"/>
                </a:lnTo>
                <a:lnTo>
                  <a:pt x="2096600" y="2096600"/>
                </a:lnTo>
                <a:lnTo>
                  <a:pt x="0" y="2096600"/>
                </a:lnTo>
                <a:lnTo>
                  <a:pt x="0" y="0"/>
                </a:lnTo>
                <a:close/>
              </a:path>
            </a:pathLst>
          </a:custGeom>
          <a:blipFill>
            <a:blip r:embed="rId2"/>
            <a:stretch>
              <a:fillRect/>
            </a:stretch>
          </a:blipFill>
        </p:spPr>
        <p:txBody>
          <a:bodyPr/>
          <a:lstStyle/>
          <a:p>
            <a:endParaRPr lang="es-ES"/>
          </a:p>
        </p:txBody>
      </p:sp>
      <p:sp>
        <p:nvSpPr>
          <p:cNvPr id="15" name="TextBox 15"/>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33</a:t>
            </a:r>
          </a:p>
        </p:txBody>
      </p:sp>
      <p:sp>
        <p:nvSpPr>
          <p:cNvPr id="16" name="TextBox 16"/>
          <p:cNvSpPr txBox="1"/>
          <p:nvPr/>
        </p:nvSpPr>
        <p:spPr>
          <a:xfrm>
            <a:off x="2470647" y="215123"/>
            <a:ext cx="13346707" cy="2611755"/>
          </a:xfrm>
          <a:prstGeom prst="rect">
            <a:avLst/>
          </a:prstGeom>
        </p:spPr>
        <p:txBody>
          <a:bodyPr lIns="0" tIns="0" rIns="0" bIns="0" rtlCol="0" anchor="t">
            <a:spAutoFit/>
          </a:bodyPr>
          <a:lstStyle/>
          <a:p>
            <a:pPr algn="ctr">
              <a:lnSpc>
                <a:spcPts val="10260"/>
              </a:lnSpc>
            </a:pPr>
            <a:r>
              <a:rPr lang="en-US" sz="9000">
                <a:solidFill>
                  <a:srgbClr val="203660"/>
                </a:solidFill>
                <a:latin typeface="Bantayog"/>
                <a:ea typeface="Bantayog"/>
                <a:cs typeface="Bantayog"/>
                <a:sym typeface="Bantayog"/>
              </a:rPr>
              <a:t>OPTIMIZACIÓN DE HIPERPARÁMETROS</a:t>
            </a:r>
          </a:p>
        </p:txBody>
      </p:sp>
      <p:sp>
        <p:nvSpPr>
          <p:cNvPr id="17" name="TextBox 17"/>
          <p:cNvSpPr txBox="1"/>
          <p:nvPr/>
        </p:nvSpPr>
        <p:spPr>
          <a:xfrm>
            <a:off x="4152960" y="2958083"/>
            <a:ext cx="5150415" cy="2889250"/>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LIMITACIÓN DE POTENCIA COMPUTACIONAL</a:t>
            </a:r>
          </a:p>
        </p:txBody>
      </p:sp>
      <p:sp>
        <p:nvSpPr>
          <p:cNvPr id="18" name="AutoShape 18"/>
          <p:cNvSpPr/>
          <p:nvPr/>
        </p:nvSpPr>
        <p:spPr>
          <a:xfrm flipH="1">
            <a:off x="9303375" y="4485470"/>
            <a:ext cx="1776073" cy="0"/>
          </a:xfrm>
          <a:prstGeom prst="line">
            <a:avLst/>
          </a:prstGeom>
          <a:ln w="254000" cap="flat">
            <a:solidFill>
              <a:srgbClr val="4D6BA7"/>
            </a:solidFill>
            <a:prstDash val="solid"/>
            <a:headEnd type="triangle" w="lg" len="med"/>
            <a:tailEnd type="none" w="sm" len="sm"/>
          </a:ln>
        </p:spPr>
        <p:txBody>
          <a:bodyPr/>
          <a:lstStyle/>
          <a:p>
            <a:endParaRPr lang="es-ES"/>
          </a:p>
        </p:txBody>
      </p:sp>
      <p:sp>
        <p:nvSpPr>
          <p:cNvPr id="19" name="TextBox 19"/>
          <p:cNvSpPr txBox="1"/>
          <p:nvPr/>
        </p:nvSpPr>
        <p:spPr>
          <a:xfrm>
            <a:off x="11528900" y="2983695"/>
            <a:ext cx="5150415" cy="2889250"/>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DESCARTADA EXPLORACIÓN EN REJILLA</a:t>
            </a:r>
          </a:p>
        </p:txBody>
      </p:sp>
      <p:grpSp>
        <p:nvGrpSpPr>
          <p:cNvPr id="20" name="Group 20"/>
          <p:cNvGrpSpPr/>
          <p:nvPr/>
        </p:nvGrpSpPr>
        <p:grpSpPr>
          <a:xfrm>
            <a:off x="3685124" y="6094983"/>
            <a:ext cx="9622036" cy="3502476"/>
            <a:chOff x="0" y="0"/>
            <a:chExt cx="12829381" cy="4669968"/>
          </a:xfrm>
        </p:grpSpPr>
        <p:sp>
          <p:nvSpPr>
            <p:cNvPr id="21" name="AutoShape 21"/>
            <p:cNvSpPr/>
            <p:nvPr/>
          </p:nvSpPr>
          <p:spPr>
            <a:xfrm flipH="1" flipV="1">
              <a:off x="4057391" y="0"/>
              <a:ext cx="0" cy="2368098"/>
            </a:xfrm>
            <a:prstGeom prst="line">
              <a:avLst/>
            </a:prstGeom>
            <a:ln w="254000" cap="flat">
              <a:solidFill>
                <a:srgbClr val="4D6BA7"/>
              </a:solidFill>
              <a:prstDash val="solid"/>
              <a:headEnd type="triangle" w="lg" len="med"/>
              <a:tailEnd type="none" w="sm" len="sm"/>
            </a:ln>
          </p:spPr>
          <p:txBody>
            <a:bodyPr/>
            <a:lstStyle/>
            <a:p>
              <a:endParaRPr lang="es-ES"/>
            </a:p>
          </p:txBody>
        </p:sp>
        <p:sp>
          <p:nvSpPr>
            <p:cNvPr id="22" name="TextBox 22"/>
            <p:cNvSpPr txBox="1"/>
            <p:nvPr/>
          </p:nvSpPr>
          <p:spPr>
            <a:xfrm>
              <a:off x="2152621" y="2994322"/>
              <a:ext cx="10676759"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EXPLORACIÓN ALEATORIA</a:t>
              </a:r>
            </a:p>
          </p:txBody>
        </p:sp>
        <p:sp>
          <p:nvSpPr>
            <p:cNvPr id="23" name="Freeform 23"/>
            <p:cNvSpPr/>
            <p:nvPr/>
          </p:nvSpPr>
          <p:spPr>
            <a:xfrm>
              <a:off x="0" y="2656410"/>
              <a:ext cx="2013557" cy="2013557"/>
            </a:xfrm>
            <a:custGeom>
              <a:avLst/>
              <a:gdLst/>
              <a:ahLst/>
              <a:cxnLst/>
              <a:rect l="l" t="t" r="r" b="b"/>
              <a:pathLst>
                <a:path w="2013557" h="2013557">
                  <a:moveTo>
                    <a:pt x="0" y="0"/>
                  </a:moveTo>
                  <a:lnTo>
                    <a:pt x="2013557" y="0"/>
                  </a:lnTo>
                  <a:lnTo>
                    <a:pt x="2013557" y="2013558"/>
                  </a:lnTo>
                  <a:lnTo>
                    <a:pt x="0" y="2013558"/>
                  </a:lnTo>
                  <a:lnTo>
                    <a:pt x="0" y="0"/>
                  </a:lnTo>
                  <a:close/>
                </a:path>
              </a:pathLst>
            </a:custGeom>
            <a:blipFill>
              <a:blip r:embed="rId3"/>
              <a:stretch>
                <a:fillRect/>
              </a:stretch>
            </a:blipFill>
          </p:spPr>
          <p:txBody>
            <a:bodyPr/>
            <a:lstStyle/>
            <a:p>
              <a:endParaRPr lang="es-ES"/>
            </a:p>
          </p:txBody>
        </p:sp>
      </p:gr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4"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 calcmode="lin" valueType="num">
                                      <p:cBhvr additive="base">
                                        <p:cTn id="7" dur="500"/>
                                        <p:tgtEl>
                                          <p:spTgt spid="20"/>
                                        </p:tgtEl>
                                        <p:attrNameLst>
                                          <p:attrName>ppt_y</p:attrName>
                                        </p:attrNameLst>
                                      </p:cBhvr>
                                      <p:tavLst>
                                        <p:tav tm="0">
                                          <p:val>
                                            <p:strVal val="#ppt_y+#ppt_h*1.125000"/>
                                          </p:val>
                                        </p:tav>
                                        <p:tav tm="100000">
                                          <p:val>
                                            <p:strVal val="#ppt_y"/>
                                          </p:val>
                                        </p:tav>
                                      </p:tavLst>
                                    </p:anim>
                                    <p:animEffect transition="in" filter="wipe(up)">
                                      <p:cBhvr>
                                        <p:cTn id="8"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34</a:t>
            </a:r>
          </a:p>
        </p:txBody>
      </p:sp>
      <p:sp>
        <p:nvSpPr>
          <p:cNvPr id="15" name="TextBox 15"/>
          <p:cNvSpPr txBox="1"/>
          <p:nvPr/>
        </p:nvSpPr>
        <p:spPr>
          <a:xfrm>
            <a:off x="2470647" y="215123"/>
            <a:ext cx="13346707" cy="2611755"/>
          </a:xfrm>
          <a:prstGeom prst="rect">
            <a:avLst/>
          </a:prstGeom>
        </p:spPr>
        <p:txBody>
          <a:bodyPr lIns="0" tIns="0" rIns="0" bIns="0" rtlCol="0" anchor="t">
            <a:spAutoFit/>
          </a:bodyPr>
          <a:lstStyle/>
          <a:p>
            <a:pPr algn="ctr">
              <a:lnSpc>
                <a:spcPts val="10260"/>
              </a:lnSpc>
            </a:pPr>
            <a:r>
              <a:rPr lang="en-US" sz="9000">
                <a:solidFill>
                  <a:srgbClr val="203660"/>
                </a:solidFill>
                <a:latin typeface="Bantayog"/>
                <a:ea typeface="Bantayog"/>
                <a:cs typeface="Bantayog"/>
                <a:sym typeface="Bantayog"/>
              </a:rPr>
              <a:t>OPTIMIZACIÓN DE HIPERPARÁMETROS</a:t>
            </a:r>
          </a:p>
        </p:txBody>
      </p:sp>
      <p:sp>
        <p:nvSpPr>
          <p:cNvPr id="16" name="TextBox 16"/>
          <p:cNvSpPr txBox="1"/>
          <p:nvPr/>
        </p:nvSpPr>
        <p:spPr>
          <a:xfrm>
            <a:off x="2973186" y="2712578"/>
            <a:ext cx="12341628" cy="946150"/>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ELECTRIC SEQUENTIAL REGRESSOR (ESR)</a:t>
            </a:r>
          </a:p>
        </p:txBody>
      </p:sp>
      <p:grpSp>
        <p:nvGrpSpPr>
          <p:cNvPr id="17" name="Group 17"/>
          <p:cNvGrpSpPr/>
          <p:nvPr/>
        </p:nvGrpSpPr>
        <p:grpSpPr>
          <a:xfrm>
            <a:off x="1860755" y="4787672"/>
            <a:ext cx="7283245" cy="3118550"/>
            <a:chOff x="0" y="0"/>
            <a:chExt cx="9710993" cy="4158067"/>
          </a:xfrm>
        </p:grpSpPr>
        <p:sp>
          <p:nvSpPr>
            <p:cNvPr id="18" name="Freeform 18"/>
            <p:cNvSpPr/>
            <p:nvPr/>
          </p:nvSpPr>
          <p:spPr>
            <a:xfrm>
              <a:off x="2493575" y="0"/>
              <a:ext cx="4723843" cy="2550875"/>
            </a:xfrm>
            <a:custGeom>
              <a:avLst/>
              <a:gdLst/>
              <a:ahLst/>
              <a:cxnLst/>
              <a:rect l="l" t="t" r="r" b="b"/>
              <a:pathLst>
                <a:path w="4723843" h="2550875">
                  <a:moveTo>
                    <a:pt x="0" y="0"/>
                  </a:moveTo>
                  <a:lnTo>
                    <a:pt x="4723843" y="0"/>
                  </a:lnTo>
                  <a:lnTo>
                    <a:pt x="4723843" y="2550875"/>
                  </a:lnTo>
                  <a:lnTo>
                    <a:pt x="0" y="2550875"/>
                  </a:lnTo>
                  <a:lnTo>
                    <a:pt x="0" y="0"/>
                  </a:lnTo>
                  <a:close/>
                </a:path>
              </a:pathLst>
            </a:custGeom>
            <a:blipFill>
              <a:blip r:embed="rId2"/>
              <a:stretch>
                <a:fillRect/>
              </a:stretch>
            </a:blipFill>
          </p:spPr>
          <p:txBody>
            <a:bodyPr/>
            <a:lstStyle/>
            <a:p>
              <a:endParaRPr lang="es-ES"/>
            </a:p>
          </p:txBody>
        </p:sp>
        <p:sp>
          <p:nvSpPr>
            <p:cNvPr id="19" name="TextBox 19"/>
            <p:cNvSpPr txBox="1"/>
            <p:nvPr/>
          </p:nvSpPr>
          <p:spPr>
            <a:xfrm>
              <a:off x="0" y="2934634"/>
              <a:ext cx="9710993"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RANDOMIZEDSEARCHCV</a:t>
              </a:r>
            </a:p>
          </p:txBody>
        </p:sp>
      </p:grpSp>
      <p:grpSp>
        <p:nvGrpSpPr>
          <p:cNvPr id="20" name="Group 20"/>
          <p:cNvGrpSpPr/>
          <p:nvPr/>
        </p:nvGrpSpPr>
        <p:grpSpPr>
          <a:xfrm>
            <a:off x="9144000" y="4799900"/>
            <a:ext cx="7283245" cy="3106323"/>
            <a:chOff x="0" y="0"/>
            <a:chExt cx="9710993" cy="4141764"/>
          </a:xfrm>
        </p:grpSpPr>
        <p:sp>
          <p:nvSpPr>
            <p:cNvPr id="21" name="TextBox 21"/>
            <p:cNvSpPr txBox="1"/>
            <p:nvPr/>
          </p:nvSpPr>
          <p:spPr>
            <a:xfrm rot="-1063670">
              <a:off x="2544215" y="560556"/>
              <a:ext cx="4587759"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METAGEN</a:t>
              </a:r>
            </a:p>
          </p:txBody>
        </p:sp>
        <p:sp>
          <p:nvSpPr>
            <p:cNvPr id="22" name="TextBox 22"/>
            <p:cNvSpPr txBox="1"/>
            <p:nvPr/>
          </p:nvSpPr>
          <p:spPr>
            <a:xfrm>
              <a:off x="0" y="2918331"/>
              <a:ext cx="9710993"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RANDOMSEARCH</a:t>
              </a:r>
            </a:p>
          </p:txBody>
        </p:sp>
      </p:gr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35</a:t>
            </a:r>
          </a:p>
        </p:txBody>
      </p:sp>
      <p:sp>
        <p:nvSpPr>
          <p:cNvPr id="15" name="TextBox 15"/>
          <p:cNvSpPr txBox="1"/>
          <p:nvPr/>
        </p:nvSpPr>
        <p:spPr>
          <a:xfrm>
            <a:off x="2470647" y="215123"/>
            <a:ext cx="13346707" cy="2611755"/>
          </a:xfrm>
          <a:prstGeom prst="rect">
            <a:avLst/>
          </a:prstGeom>
        </p:spPr>
        <p:txBody>
          <a:bodyPr lIns="0" tIns="0" rIns="0" bIns="0" rtlCol="0" anchor="t">
            <a:spAutoFit/>
          </a:bodyPr>
          <a:lstStyle/>
          <a:p>
            <a:pPr algn="ctr">
              <a:lnSpc>
                <a:spcPts val="10260"/>
              </a:lnSpc>
            </a:pPr>
            <a:r>
              <a:rPr lang="en-US" sz="9000">
                <a:solidFill>
                  <a:srgbClr val="203660"/>
                </a:solidFill>
                <a:latin typeface="Bantayog"/>
                <a:ea typeface="Bantayog"/>
                <a:cs typeface="Bantayog"/>
                <a:sym typeface="Bantayog"/>
              </a:rPr>
              <a:t>OPTIMIZACIÓN DE HIPERPARÁMETROS</a:t>
            </a:r>
          </a:p>
        </p:txBody>
      </p:sp>
      <p:sp>
        <p:nvSpPr>
          <p:cNvPr id="16" name="TextBox 16"/>
          <p:cNvSpPr txBox="1"/>
          <p:nvPr/>
        </p:nvSpPr>
        <p:spPr>
          <a:xfrm>
            <a:off x="2973186" y="2712578"/>
            <a:ext cx="12341628" cy="946150"/>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ELECTRIC SEQUENTIAL REGRESSOR (ESR)</a:t>
            </a:r>
          </a:p>
        </p:txBody>
      </p:sp>
      <p:grpSp>
        <p:nvGrpSpPr>
          <p:cNvPr id="17" name="Group 17"/>
          <p:cNvGrpSpPr/>
          <p:nvPr/>
        </p:nvGrpSpPr>
        <p:grpSpPr>
          <a:xfrm>
            <a:off x="1333651" y="3996531"/>
            <a:ext cx="7723282" cy="5261769"/>
            <a:chOff x="0" y="0"/>
            <a:chExt cx="10297709" cy="7015692"/>
          </a:xfrm>
        </p:grpSpPr>
        <p:sp>
          <p:nvSpPr>
            <p:cNvPr id="18" name="TextBox 18"/>
            <p:cNvSpPr txBox="1"/>
            <p:nvPr/>
          </p:nvSpPr>
          <p:spPr>
            <a:xfrm>
              <a:off x="64960" y="-114300"/>
              <a:ext cx="7214227"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RANDOM FOREST</a:t>
              </a:r>
            </a:p>
          </p:txBody>
        </p:sp>
        <p:sp>
          <p:nvSpPr>
            <p:cNvPr id="19" name="TextBox 19"/>
            <p:cNvSpPr txBox="1"/>
            <p:nvPr/>
          </p:nvSpPr>
          <p:spPr>
            <a:xfrm>
              <a:off x="0" y="1207558"/>
              <a:ext cx="7703667" cy="1223433"/>
            </a:xfrm>
            <a:prstGeom prst="rect">
              <a:avLst/>
            </a:prstGeom>
          </p:spPr>
          <p:txBody>
            <a:bodyPr lIns="0" tIns="0" rIns="0" bIns="0" rtlCol="0" anchor="t">
              <a:spAutoFit/>
            </a:bodyPr>
            <a:lstStyle/>
            <a:p>
              <a:pPr marL="1187449" lvl="1" indent="-593725" algn="l">
                <a:lnSpc>
                  <a:spcPts val="7699"/>
                </a:lnSpc>
                <a:buFont typeface="Arial"/>
                <a:buChar char="•"/>
              </a:pPr>
              <a:r>
                <a:rPr lang="en-US" sz="5499">
                  <a:solidFill>
                    <a:srgbClr val="4D6BA7"/>
                  </a:solidFill>
                  <a:latin typeface="Bantayog"/>
                  <a:ea typeface="Bantayog"/>
                  <a:cs typeface="Bantayog"/>
                  <a:sym typeface="Bantayog"/>
                </a:rPr>
                <a:t>N_ESTIMATORS</a:t>
              </a:r>
            </a:p>
          </p:txBody>
        </p:sp>
        <p:sp>
          <p:nvSpPr>
            <p:cNvPr id="20" name="TextBox 20"/>
            <p:cNvSpPr txBox="1"/>
            <p:nvPr/>
          </p:nvSpPr>
          <p:spPr>
            <a:xfrm>
              <a:off x="0" y="2735792"/>
              <a:ext cx="7703667" cy="1223433"/>
            </a:xfrm>
            <a:prstGeom prst="rect">
              <a:avLst/>
            </a:prstGeom>
          </p:spPr>
          <p:txBody>
            <a:bodyPr lIns="0" tIns="0" rIns="0" bIns="0" rtlCol="0" anchor="t">
              <a:spAutoFit/>
            </a:bodyPr>
            <a:lstStyle/>
            <a:p>
              <a:pPr marL="1187449" lvl="1" indent="-593725" algn="l">
                <a:lnSpc>
                  <a:spcPts val="7699"/>
                </a:lnSpc>
                <a:buFont typeface="Arial"/>
                <a:buChar char="•"/>
              </a:pPr>
              <a:r>
                <a:rPr lang="en-US" sz="5499">
                  <a:solidFill>
                    <a:srgbClr val="4D6BA7"/>
                  </a:solidFill>
                  <a:latin typeface="Bantayog"/>
                  <a:ea typeface="Bantayog"/>
                  <a:cs typeface="Bantayog"/>
                  <a:sym typeface="Bantayog"/>
                </a:rPr>
                <a:t>MAX_DEPTH</a:t>
              </a:r>
            </a:p>
          </p:txBody>
        </p:sp>
        <p:sp>
          <p:nvSpPr>
            <p:cNvPr id="21" name="TextBox 21"/>
            <p:cNvSpPr txBox="1"/>
            <p:nvPr/>
          </p:nvSpPr>
          <p:spPr>
            <a:xfrm>
              <a:off x="0" y="4264025"/>
              <a:ext cx="10297709" cy="1223433"/>
            </a:xfrm>
            <a:prstGeom prst="rect">
              <a:avLst/>
            </a:prstGeom>
          </p:spPr>
          <p:txBody>
            <a:bodyPr lIns="0" tIns="0" rIns="0" bIns="0" rtlCol="0" anchor="t">
              <a:spAutoFit/>
            </a:bodyPr>
            <a:lstStyle/>
            <a:p>
              <a:pPr marL="1187449" lvl="1" indent="-593725" algn="l">
                <a:lnSpc>
                  <a:spcPts val="7699"/>
                </a:lnSpc>
                <a:buFont typeface="Arial"/>
                <a:buChar char="•"/>
              </a:pPr>
              <a:r>
                <a:rPr lang="en-US" sz="5499">
                  <a:solidFill>
                    <a:srgbClr val="4D6BA7"/>
                  </a:solidFill>
                  <a:latin typeface="Bantayog"/>
                  <a:ea typeface="Bantayog"/>
                  <a:cs typeface="Bantayog"/>
                  <a:sym typeface="Bantayog"/>
                </a:rPr>
                <a:t>MIN_SAMPLES_SPLIT</a:t>
              </a:r>
            </a:p>
          </p:txBody>
        </p:sp>
        <p:sp>
          <p:nvSpPr>
            <p:cNvPr id="22" name="TextBox 22"/>
            <p:cNvSpPr txBox="1"/>
            <p:nvPr/>
          </p:nvSpPr>
          <p:spPr>
            <a:xfrm>
              <a:off x="0" y="5792258"/>
              <a:ext cx="8128146" cy="1223433"/>
            </a:xfrm>
            <a:prstGeom prst="rect">
              <a:avLst/>
            </a:prstGeom>
          </p:spPr>
          <p:txBody>
            <a:bodyPr lIns="0" tIns="0" rIns="0" bIns="0" rtlCol="0" anchor="t">
              <a:spAutoFit/>
            </a:bodyPr>
            <a:lstStyle/>
            <a:p>
              <a:pPr marL="1187449" lvl="1" indent="-593725" algn="l">
                <a:lnSpc>
                  <a:spcPts val="7699"/>
                </a:lnSpc>
                <a:buFont typeface="Arial"/>
                <a:buChar char="•"/>
              </a:pPr>
              <a:r>
                <a:rPr lang="en-US" sz="5499">
                  <a:solidFill>
                    <a:srgbClr val="4D6BA7"/>
                  </a:solidFill>
                  <a:latin typeface="Bantayog"/>
                  <a:ea typeface="Bantayog"/>
                  <a:cs typeface="Bantayog"/>
                  <a:sym typeface="Bantayog"/>
                </a:rPr>
                <a:t>MAX_FEATURES</a:t>
              </a:r>
            </a:p>
          </p:txBody>
        </p:sp>
      </p:grpSp>
      <p:grpSp>
        <p:nvGrpSpPr>
          <p:cNvPr id="23" name="Group 23"/>
          <p:cNvGrpSpPr/>
          <p:nvPr/>
        </p:nvGrpSpPr>
        <p:grpSpPr>
          <a:xfrm>
            <a:off x="9056933" y="3996531"/>
            <a:ext cx="7723282" cy="5261769"/>
            <a:chOff x="0" y="0"/>
            <a:chExt cx="10297709" cy="7015692"/>
          </a:xfrm>
        </p:grpSpPr>
        <p:sp>
          <p:nvSpPr>
            <p:cNvPr id="24" name="TextBox 24"/>
            <p:cNvSpPr txBox="1"/>
            <p:nvPr/>
          </p:nvSpPr>
          <p:spPr>
            <a:xfrm>
              <a:off x="64960" y="-114300"/>
              <a:ext cx="4490482"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XGBOOST</a:t>
              </a:r>
            </a:p>
          </p:txBody>
        </p:sp>
        <p:sp>
          <p:nvSpPr>
            <p:cNvPr id="25" name="TextBox 25"/>
            <p:cNvSpPr txBox="1"/>
            <p:nvPr/>
          </p:nvSpPr>
          <p:spPr>
            <a:xfrm>
              <a:off x="0" y="1207558"/>
              <a:ext cx="7703667" cy="1223433"/>
            </a:xfrm>
            <a:prstGeom prst="rect">
              <a:avLst/>
            </a:prstGeom>
          </p:spPr>
          <p:txBody>
            <a:bodyPr lIns="0" tIns="0" rIns="0" bIns="0" rtlCol="0" anchor="t">
              <a:spAutoFit/>
            </a:bodyPr>
            <a:lstStyle/>
            <a:p>
              <a:pPr marL="1187449" lvl="1" indent="-593725" algn="l">
                <a:lnSpc>
                  <a:spcPts val="7699"/>
                </a:lnSpc>
                <a:buFont typeface="Arial"/>
                <a:buChar char="•"/>
              </a:pPr>
              <a:r>
                <a:rPr lang="en-US" sz="5499">
                  <a:solidFill>
                    <a:srgbClr val="4D6BA7"/>
                  </a:solidFill>
                  <a:latin typeface="Bantayog"/>
                  <a:ea typeface="Bantayog"/>
                  <a:cs typeface="Bantayog"/>
                  <a:sym typeface="Bantayog"/>
                </a:rPr>
                <a:t>N_ESTIMATORS</a:t>
              </a:r>
            </a:p>
          </p:txBody>
        </p:sp>
        <p:sp>
          <p:nvSpPr>
            <p:cNvPr id="26" name="TextBox 26"/>
            <p:cNvSpPr txBox="1"/>
            <p:nvPr/>
          </p:nvSpPr>
          <p:spPr>
            <a:xfrm>
              <a:off x="0" y="2735792"/>
              <a:ext cx="7703667" cy="1223433"/>
            </a:xfrm>
            <a:prstGeom prst="rect">
              <a:avLst/>
            </a:prstGeom>
          </p:spPr>
          <p:txBody>
            <a:bodyPr lIns="0" tIns="0" rIns="0" bIns="0" rtlCol="0" anchor="t">
              <a:spAutoFit/>
            </a:bodyPr>
            <a:lstStyle/>
            <a:p>
              <a:pPr marL="1187449" lvl="1" indent="-593725" algn="l">
                <a:lnSpc>
                  <a:spcPts val="7699"/>
                </a:lnSpc>
                <a:buFont typeface="Arial"/>
                <a:buChar char="•"/>
              </a:pPr>
              <a:r>
                <a:rPr lang="en-US" sz="5499">
                  <a:solidFill>
                    <a:srgbClr val="4D6BA7"/>
                  </a:solidFill>
                  <a:latin typeface="Bantayog"/>
                  <a:ea typeface="Bantayog"/>
                  <a:cs typeface="Bantayog"/>
                  <a:sym typeface="Bantayog"/>
                </a:rPr>
                <a:t>MAX_DEPTH</a:t>
              </a:r>
            </a:p>
          </p:txBody>
        </p:sp>
        <p:sp>
          <p:nvSpPr>
            <p:cNvPr id="27" name="TextBox 27"/>
            <p:cNvSpPr txBox="1"/>
            <p:nvPr/>
          </p:nvSpPr>
          <p:spPr>
            <a:xfrm>
              <a:off x="0" y="4264025"/>
              <a:ext cx="10297709" cy="1223433"/>
            </a:xfrm>
            <a:prstGeom prst="rect">
              <a:avLst/>
            </a:prstGeom>
          </p:spPr>
          <p:txBody>
            <a:bodyPr lIns="0" tIns="0" rIns="0" bIns="0" rtlCol="0" anchor="t">
              <a:spAutoFit/>
            </a:bodyPr>
            <a:lstStyle/>
            <a:p>
              <a:pPr marL="1187449" lvl="1" indent="-593725" algn="l">
                <a:lnSpc>
                  <a:spcPts val="7699"/>
                </a:lnSpc>
                <a:buFont typeface="Arial"/>
                <a:buChar char="•"/>
              </a:pPr>
              <a:r>
                <a:rPr lang="en-US" sz="5499">
                  <a:solidFill>
                    <a:srgbClr val="4D6BA7"/>
                  </a:solidFill>
                  <a:latin typeface="Bantayog"/>
                  <a:ea typeface="Bantayog"/>
                  <a:cs typeface="Bantayog"/>
                  <a:sym typeface="Bantayog"/>
                </a:rPr>
                <a:t>COLSAMPLE_BYTREE</a:t>
              </a:r>
            </a:p>
          </p:txBody>
        </p:sp>
        <p:sp>
          <p:nvSpPr>
            <p:cNvPr id="28" name="TextBox 28"/>
            <p:cNvSpPr txBox="1"/>
            <p:nvPr/>
          </p:nvSpPr>
          <p:spPr>
            <a:xfrm>
              <a:off x="0" y="5792258"/>
              <a:ext cx="8128146" cy="1223433"/>
            </a:xfrm>
            <a:prstGeom prst="rect">
              <a:avLst/>
            </a:prstGeom>
          </p:spPr>
          <p:txBody>
            <a:bodyPr lIns="0" tIns="0" rIns="0" bIns="0" rtlCol="0" anchor="t">
              <a:spAutoFit/>
            </a:bodyPr>
            <a:lstStyle/>
            <a:p>
              <a:pPr marL="1187449" lvl="1" indent="-593725" algn="l">
                <a:lnSpc>
                  <a:spcPts val="7699"/>
                </a:lnSpc>
                <a:buFont typeface="Arial"/>
                <a:buChar char="•"/>
              </a:pPr>
              <a:r>
                <a:rPr lang="en-US" sz="5499">
                  <a:solidFill>
                    <a:srgbClr val="4D6BA7"/>
                  </a:solidFill>
                  <a:latin typeface="Bantayog"/>
                  <a:ea typeface="Bantayog"/>
                  <a:cs typeface="Bantayog"/>
                  <a:sym typeface="Bantayog"/>
                </a:rPr>
                <a:t>LEARNING_RATE</a:t>
              </a:r>
            </a:p>
          </p:txBody>
        </p:sp>
      </p:gr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36</a:t>
            </a:r>
          </a:p>
        </p:txBody>
      </p:sp>
      <p:sp>
        <p:nvSpPr>
          <p:cNvPr id="15" name="TextBox 15"/>
          <p:cNvSpPr txBox="1"/>
          <p:nvPr/>
        </p:nvSpPr>
        <p:spPr>
          <a:xfrm>
            <a:off x="2470647" y="215123"/>
            <a:ext cx="13346707" cy="2611755"/>
          </a:xfrm>
          <a:prstGeom prst="rect">
            <a:avLst/>
          </a:prstGeom>
        </p:spPr>
        <p:txBody>
          <a:bodyPr lIns="0" tIns="0" rIns="0" bIns="0" rtlCol="0" anchor="t">
            <a:spAutoFit/>
          </a:bodyPr>
          <a:lstStyle/>
          <a:p>
            <a:pPr algn="ctr">
              <a:lnSpc>
                <a:spcPts val="10260"/>
              </a:lnSpc>
            </a:pPr>
            <a:r>
              <a:rPr lang="en-US" sz="9000">
                <a:solidFill>
                  <a:srgbClr val="203660"/>
                </a:solidFill>
                <a:latin typeface="Bantayog"/>
                <a:ea typeface="Bantayog"/>
                <a:cs typeface="Bantayog"/>
                <a:sym typeface="Bantayog"/>
              </a:rPr>
              <a:t>OPTIMIZACIÓN DE HIPERPARÁMETROS</a:t>
            </a:r>
          </a:p>
        </p:txBody>
      </p:sp>
      <p:sp>
        <p:nvSpPr>
          <p:cNvPr id="16" name="TextBox 16"/>
          <p:cNvSpPr txBox="1"/>
          <p:nvPr/>
        </p:nvSpPr>
        <p:spPr>
          <a:xfrm>
            <a:off x="2973186" y="2712578"/>
            <a:ext cx="12341628" cy="946150"/>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REDES NEURONALES</a:t>
            </a:r>
          </a:p>
        </p:txBody>
      </p:sp>
      <p:grpSp>
        <p:nvGrpSpPr>
          <p:cNvPr id="17" name="Group 17"/>
          <p:cNvGrpSpPr/>
          <p:nvPr/>
        </p:nvGrpSpPr>
        <p:grpSpPr>
          <a:xfrm>
            <a:off x="2096161" y="3801269"/>
            <a:ext cx="13701409" cy="1342790"/>
            <a:chOff x="0" y="0"/>
            <a:chExt cx="18268545" cy="1790386"/>
          </a:xfrm>
        </p:grpSpPr>
        <p:sp>
          <p:nvSpPr>
            <p:cNvPr id="18" name="Freeform 18"/>
            <p:cNvSpPr/>
            <p:nvPr/>
          </p:nvSpPr>
          <p:spPr>
            <a:xfrm>
              <a:off x="0" y="0"/>
              <a:ext cx="6173745" cy="1790386"/>
            </a:xfrm>
            <a:custGeom>
              <a:avLst/>
              <a:gdLst/>
              <a:ahLst/>
              <a:cxnLst/>
              <a:rect l="l" t="t" r="r" b="b"/>
              <a:pathLst>
                <a:path w="6173745" h="1790386">
                  <a:moveTo>
                    <a:pt x="0" y="0"/>
                  </a:moveTo>
                  <a:lnTo>
                    <a:pt x="6173745" y="0"/>
                  </a:lnTo>
                  <a:lnTo>
                    <a:pt x="6173745" y="1790386"/>
                  </a:lnTo>
                  <a:lnTo>
                    <a:pt x="0" y="1790386"/>
                  </a:lnTo>
                  <a:lnTo>
                    <a:pt x="0" y="0"/>
                  </a:lnTo>
                  <a:close/>
                </a:path>
              </a:pathLst>
            </a:custGeom>
            <a:blipFill>
              <a:blip r:embed="rId2"/>
              <a:stretch>
                <a:fillRect/>
              </a:stretch>
            </a:blipFill>
          </p:spPr>
          <p:txBody>
            <a:bodyPr/>
            <a:lstStyle/>
            <a:p>
              <a:endParaRPr lang="es-ES"/>
            </a:p>
          </p:txBody>
        </p:sp>
        <p:sp>
          <p:nvSpPr>
            <p:cNvPr id="19" name="TextBox 19"/>
            <p:cNvSpPr txBox="1"/>
            <p:nvPr/>
          </p:nvSpPr>
          <p:spPr>
            <a:xfrm>
              <a:off x="6903850" y="226326"/>
              <a:ext cx="11364695"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TIMESERIESRANDOMSEARCH</a:t>
              </a:r>
            </a:p>
          </p:txBody>
        </p:sp>
      </p:grpSp>
      <p:grpSp>
        <p:nvGrpSpPr>
          <p:cNvPr id="20" name="Group 20"/>
          <p:cNvGrpSpPr/>
          <p:nvPr/>
        </p:nvGrpSpPr>
        <p:grpSpPr>
          <a:xfrm>
            <a:off x="2470647" y="5762981"/>
            <a:ext cx="12575611" cy="3844502"/>
            <a:chOff x="0" y="0"/>
            <a:chExt cx="16767481" cy="5126003"/>
          </a:xfrm>
        </p:grpSpPr>
        <p:sp>
          <p:nvSpPr>
            <p:cNvPr id="21" name="TextBox 21"/>
            <p:cNvSpPr txBox="1"/>
            <p:nvPr/>
          </p:nvSpPr>
          <p:spPr>
            <a:xfrm>
              <a:off x="22431" y="-114300"/>
              <a:ext cx="16745050" cy="2518833"/>
            </a:xfrm>
            <a:prstGeom prst="rect">
              <a:avLst/>
            </a:prstGeom>
          </p:spPr>
          <p:txBody>
            <a:bodyPr lIns="0" tIns="0" rIns="0" bIns="0" rtlCol="0" anchor="t">
              <a:spAutoFit/>
            </a:bodyPr>
            <a:lstStyle/>
            <a:p>
              <a:pPr marL="1187449" lvl="1" indent="-593725" algn="l">
                <a:lnSpc>
                  <a:spcPts val="7699"/>
                </a:lnSpc>
                <a:buFont typeface="Arial"/>
                <a:buChar char="•"/>
              </a:pPr>
              <a:r>
                <a:rPr lang="en-US" sz="5499">
                  <a:solidFill>
                    <a:srgbClr val="4D6BA7"/>
                  </a:solidFill>
                  <a:latin typeface="Bantayog"/>
                  <a:ea typeface="Bantayog"/>
                  <a:cs typeface="Bantayog"/>
                  <a:sym typeface="Bantayog"/>
                </a:rPr>
                <a:t>VALIDACIÓN CRUZADA PARA SERIES TEMPORALES</a:t>
              </a:r>
            </a:p>
          </p:txBody>
        </p:sp>
        <p:sp>
          <p:nvSpPr>
            <p:cNvPr id="22" name="TextBox 22"/>
            <p:cNvSpPr txBox="1"/>
            <p:nvPr/>
          </p:nvSpPr>
          <p:spPr>
            <a:xfrm>
              <a:off x="0" y="2607169"/>
              <a:ext cx="16767481" cy="2518833"/>
            </a:xfrm>
            <a:prstGeom prst="rect">
              <a:avLst/>
            </a:prstGeom>
          </p:spPr>
          <p:txBody>
            <a:bodyPr lIns="0" tIns="0" rIns="0" bIns="0" rtlCol="0" anchor="t">
              <a:spAutoFit/>
            </a:bodyPr>
            <a:lstStyle/>
            <a:p>
              <a:pPr marL="1187449" lvl="1" indent="-593725" algn="l">
                <a:lnSpc>
                  <a:spcPts val="7699"/>
                </a:lnSpc>
                <a:buFont typeface="Arial"/>
                <a:buChar char="•"/>
              </a:pPr>
              <a:r>
                <a:rPr lang="en-US" sz="5499">
                  <a:solidFill>
                    <a:srgbClr val="4D6BA7"/>
                  </a:solidFill>
                  <a:latin typeface="Bantayog"/>
                  <a:ea typeface="Bantayog"/>
                  <a:cs typeface="Bantayog"/>
                  <a:sym typeface="Bantayog"/>
                </a:rPr>
                <a:t>PREVENCIÓN DE FUGAS DE DATOS EN NORMALIZACIÓN</a:t>
              </a:r>
            </a:p>
          </p:txBody>
        </p:sp>
      </p:gr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37</a:t>
            </a:r>
          </a:p>
        </p:txBody>
      </p:sp>
      <p:sp>
        <p:nvSpPr>
          <p:cNvPr id="15" name="TextBox 15"/>
          <p:cNvSpPr txBox="1"/>
          <p:nvPr/>
        </p:nvSpPr>
        <p:spPr>
          <a:xfrm>
            <a:off x="2470647" y="215123"/>
            <a:ext cx="13346707" cy="2611755"/>
          </a:xfrm>
          <a:prstGeom prst="rect">
            <a:avLst/>
          </a:prstGeom>
        </p:spPr>
        <p:txBody>
          <a:bodyPr lIns="0" tIns="0" rIns="0" bIns="0" rtlCol="0" anchor="t">
            <a:spAutoFit/>
          </a:bodyPr>
          <a:lstStyle/>
          <a:p>
            <a:pPr algn="ctr">
              <a:lnSpc>
                <a:spcPts val="10260"/>
              </a:lnSpc>
            </a:pPr>
            <a:r>
              <a:rPr lang="en-US" sz="9000">
                <a:solidFill>
                  <a:srgbClr val="203660"/>
                </a:solidFill>
                <a:latin typeface="Bantayog"/>
                <a:ea typeface="Bantayog"/>
                <a:cs typeface="Bantayog"/>
                <a:sym typeface="Bantayog"/>
              </a:rPr>
              <a:t>OPTIMIZACIÓN DE HIPERPARÁMETROS</a:t>
            </a:r>
          </a:p>
        </p:txBody>
      </p:sp>
      <p:sp>
        <p:nvSpPr>
          <p:cNvPr id="16" name="TextBox 16"/>
          <p:cNvSpPr txBox="1"/>
          <p:nvPr/>
        </p:nvSpPr>
        <p:spPr>
          <a:xfrm>
            <a:off x="2973186" y="2712578"/>
            <a:ext cx="12341628" cy="946150"/>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REDES NEURONALES</a:t>
            </a:r>
          </a:p>
        </p:txBody>
      </p:sp>
      <p:grpSp>
        <p:nvGrpSpPr>
          <p:cNvPr id="17" name="Group 17"/>
          <p:cNvGrpSpPr/>
          <p:nvPr/>
        </p:nvGrpSpPr>
        <p:grpSpPr>
          <a:xfrm>
            <a:off x="2096161" y="3801269"/>
            <a:ext cx="13701409" cy="1342790"/>
            <a:chOff x="0" y="0"/>
            <a:chExt cx="18268545" cy="1790386"/>
          </a:xfrm>
        </p:grpSpPr>
        <p:sp>
          <p:nvSpPr>
            <p:cNvPr id="18" name="Freeform 18"/>
            <p:cNvSpPr/>
            <p:nvPr/>
          </p:nvSpPr>
          <p:spPr>
            <a:xfrm>
              <a:off x="0" y="0"/>
              <a:ext cx="6173745" cy="1790386"/>
            </a:xfrm>
            <a:custGeom>
              <a:avLst/>
              <a:gdLst/>
              <a:ahLst/>
              <a:cxnLst/>
              <a:rect l="l" t="t" r="r" b="b"/>
              <a:pathLst>
                <a:path w="6173745" h="1790386">
                  <a:moveTo>
                    <a:pt x="0" y="0"/>
                  </a:moveTo>
                  <a:lnTo>
                    <a:pt x="6173745" y="0"/>
                  </a:lnTo>
                  <a:lnTo>
                    <a:pt x="6173745" y="1790386"/>
                  </a:lnTo>
                  <a:lnTo>
                    <a:pt x="0" y="1790386"/>
                  </a:lnTo>
                  <a:lnTo>
                    <a:pt x="0" y="0"/>
                  </a:lnTo>
                  <a:close/>
                </a:path>
              </a:pathLst>
            </a:custGeom>
            <a:blipFill>
              <a:blip r:embed="rId2"/>
              <a:stretch>
                <a:fillRect/>
              </a:stretch>
            </a:blipFill>
          </p:spPr>
          <p:txBody>
            <a:bodyPr/>
            <a:lstStyle/>
            <a:p>
              <a:endParaRPr lang="es-ES"/>
            </a:p>
          </p:txBody>
        </p:sp>
        <p:sp>
          <p:nvSpPr>
            <p:cNvPr id="19" name="TextBox 19"/>
            <p:cNvSpPr txBox="1"/>
            <p:nvPr/>
          </p:nvSpPr>
          <p:spPr>
            <a:xfrm>
              <a:off x="6903850" y="226326"/>
              <a:ext cx="11364695"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TIMESERIESRANDOMSEARCH</a:t>
              </a:r>
            </a:p>
          </p:txBody>
        </p:sp>
      </p:grpSp>
      <p:grpSp>
        <p:nvGrpSpPr>
          <p:cNvPr id="20" name="Group 20"/>
          <p:cNvGrpSpPr/>
          <p:nvPr/>
        </p:nvGrpSpPr>
        <p:grpSpPr>
          <a:xfrm>
            <a:off x="2856195" y="5762981"/>
            <a:ext cx="12575611" cy="3911244"/>
            <a:chOff x="0" y="0"/>
            <a:chExt cx="16767481" cy="5214991"/>
          </a:xfrm>
        </p:grpSpPr>
        <p:sp>
          <p:nvSpPr>
            <p:cNvPr id="21" name="TextBox 21"/>
            <p:cNvSpPr txBox="1"/>
            <p:nvPr/>
          </p:nvSpPr>
          <p:spPr>
            <a:xfrm>
              <a:off x="22431" y="-114300"/>
              <a:ext cx="16745050" cy="1223433"/>
            </a:xfrm>
            <a:prstGeom prst="rect">
              <a:avLst/>
            </a:prstGeom>
          </p:spPr>
          <p:txBody>
            <a:bodyPr lIns="0" tIns="0" rIns="0" bIns="0" rtlCol="0" anchor="t">
              <a:spAutoFit/>
            </a:bodyPr>
            <a:lstStyle/>
            <a:p>
              <a:pPr marL="1187449" lvl="1" indent="-593725" algn="l">
                <a:lnSpc>
                  <a:spcPts val="7699"/>
                </a:lnSpc>
                <a:buFont typeface="Arial"/>
                <a:buChar char="•"/>
              </a:pPr>
              <a:r>
                <a:rPr lang="en-US" sz="5499">
                  <a:solidFill>
                    <a:srgbClr val="4D6BA7"/>
                  </a:solidFill>
                  <a:latin typeface="Bantayog"/>
                  <a:ea typeface="Bantayog"/>
                  <a:cs typeface="Bantayog"/>
                  <a:sym typeface="Bantayog"/>
                </a:rPr>
                <a:t>FUNCIÓN DE ACTIVACIÓN (RELU Y ELU)</a:t>
              </a:r>
            </a:p>
          </p:txBody>
        </p:sp>
        <p:sp>
          <p:nvSpPr>
            <p:cNvPr id="22" name="TextBox 22"/>
            <p:cNvSpPr txBox="1"/>
            <p:nvPr/>
          </p:nvSpPr>
          <p:spPr>
            <a:xfrm>
              <a:off x="0" y="1311769"/>
              <a:ext cx="16767481" cy="2518833"/>
            </a:xfrm>
            <a:prstGeom prst="rect">
              <a:avLst/>
            </a:prstGeom>
          </p:spPr>
          <p:txBody>
            <a:bodyPr lIns="0" tIns="0" rIns="0" bIns="0" rtlCol="0" anchor="t">
              <a:spAutoFit/>
            </a:bodyPr>
            <a:lstStyle/>
            <a:p>
              <a:pPr marL="1187449" lvl="1" indent="-593725" algn="l">
                <a:lnSpc>
                  <a:spcPts val="7699"/>
                </a:lnSpc>
                <a:buFont typeface="Arial"/>
                <a:buChar char="•"/>
              </a:pPr>
              <a:r>
                <a:rPr lang="en-US" sz="5499">
                  <a:solidFill>
                    <a:srgbClr val="4D6BA7"/>
                  </a:solidFill>
                  <a:latin typeface="Bantayog"/>
                  <a:ea typeface="Bantayog"/>
                  <a:cs typeface="Bantayog"/>
                  <a:sym typeface="Bantayog"/>
                </a:rPr>
                <a:t>NÚMERO DE CAPAS OCULTAS Y NEURONAS POR CADA RAMA</a:t>
              </a:r>
            </a:p>
          </p:txBody>
        </p:sp>
        <p:sp>
          <p:nvSpPr>
            <p:cNvPr id="23" name="TextBox 23"/>
            <p:cNvSpPr txBox="1"/>
            <p:nvPr/>
          </p:nvSpPr>
          <p:spPr>
            <a:xfrm>
              <a:off x="0" y="3991558"/>
              <a:ext cx="16767481" cy="1223433"/>
            </a:xfrm>
            <a:prstGeom prst="rect">
              <a:avLst/>
            </a:prstGeom>
          </p:spPr>
          <p:txBody>
            <a:bodyPr lIns="0" tIns="0" rIns="0" bIns="0" rtlCol="0" anchor="t">
              <a:spAutoFit/>
            </a:bodyPr>
            <a:lstStyle/>
            <a:p>
              <a:pPr marL="1187449" lvl="1" indent="-593725" algn="l">
                <a:lnSpc>
                  <a:spcPts val="7699"/>
                </a:lnSpc>
                <a:buFont typeface="Arial"/>
                <a:buChar char="•"/>
              </a:pPr>
              <a:r>
                <a:rPr lang="en-US" sz="5499">
                  <a:solidFill>
                    <a:srgbClr val="4D6BA7"/>
                  </a:solidFill>
                  <a:latin typeface="Bantayog"/>
                  <a:ea typeface="Bantayog"/>
                  <a:cs typeface="Bantayog"/>
                  <a:sym typeface="Bantayog"/>
                </a:rPr>
                <a:t>OPTIMIZADOR (SGD Y ADAM)</a:t>
              </a:r>
            </a:p>
          </p:txBody>
        </p:sp>
      </p:gr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38</a:t>
            </a:r>
          </a:p>
        </p:txBody>
      </p:sp>
      <p:sp>
        <p:nvSpPr>
          <p:cNvPr id="15" name="TextBox 15"/>
          <p:cNvSpPr txBox="1"/>
          <p:nvPr/>
        </p:nvSpPr>
        <p:spPr>
          <a:xfrm>
            <a:off x="2470647" y="215123"/>
            <a:ext cx="13346707" cy="2611755"/>
          </a:xfrm>
          <a:prstGeom prst="rect">
            <a:avLst/>
          </a:prstGeom>
        </p:spPr>
        <p:txBody>
          <a:bodyPr lIns="0" tIns="0" rIns="0" bIns="0" rtlCol="0" anchor="t">
            <a:spAutoFit/>
          </a:bodyPr>
          <a:lstStyle/>
          <a:p>
            <a:pPr algn="ctr">
              <a:lnSpc>
                <a:spcPts val="10260"/>
              </a:lnSpc>
            </a:pPr>
            <a:r>
              <a:rPr lang="en-US" sz="9000">
                <a:solidFill>
                  <a:srgbClr val="203660"/>
                </a:solidFill>
                <a:latin typeface="Bantayog"/>
                <a:ea typeface="Bantayog"/>
                <a:cs typeface="Bantayog"/>
                <a:sym typeface="Bantayog"/>
              </a:rPr>
              <a:t>OPTIMIZACIÓN DE HIPERPARÁMETROS</a:t>
            </a:r>
          </a:p>
        </p:txBody>
      </p:sp>
      <p:sp>
        <p:nvSpPr>
          <p:cNvPr id="16" name="TextBox 16"/>
          <p:cNvSpPr txBox="1"/>
          <p:nvPr/>
        </p:nvSpPr>
        <p:spPr>
          <a:xfrm>
            <a:off x="2973186" y="2712578"/>
            <a:ext cx="12341628" cy="946150"/>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REDES NEURONALES</a:t>
            </a:r>
          </a:p>
        </p:txBody>
      </p:sp>
      <p:grpSp>
        <p:nvGrpSpPr>
          <p:cNvPr id="17" name="Group 17"/>
          <p:cNvGrpSpPr/>
          <p:nvPr/>
        </p:nvGrpSpPr>
        <p:grpSpPr>
          <a:xfrm>
            <a:off x="2096161" y="3801269"/>
            <a:ext cx="13701409" cy="1342790"/>
            <a:chOff x="0" y="0"/>
            <a:chExt cx="18268545" cy="1790386"/>
          </a:xfrm>
        </p:grpSpPr>
        <p:sp>
          <p:nvSpPr>
            <p:cNvPr id="18" name="Freeform 18"/>
            <p:cNvSpPr/>
            <p:nvPr/>
          </p:nvSpPr>
          <p:spPr>
            <a:xfrm>
              <a:off x="0" y="0"/>
              <a:ext cx="6173745" cy="1790386"/>
            </a:xfrm>
            <a:custGeom>
              <a:avLst/>
              <a:gdLst/>
              <a:ahLst/>
              <a:cxnLst/>
              <a:rect l="l" t="t" r="r" b="b"/>
              <a:pathLst>
                <a:path w="6173745" h="1790386">
                  <a:moveTo>
                    <a:pt x="0" y="0"/>
                  </a:moveTo>
                  <a:lnTo>
                    <a:pt x="6173745" y="0"/>
                  </a:lnTo>
                  <a:lnTo>
                    <a:pt x="6173745" y="1790386"/>
                  </a:lnTo>
                  <a:lnTo>
                    <a:pt x="0" y="1790386"/>
                  </a:lnTo>
                  <a:lnTo>
                    <a:pt x="0" y="0"/>
                  </a:lnTo>
                  <a:close/>
                </a:path>
              </a:pathLst>
            </a:custGeom>
            <a:blipFill>
              <a:blip r:embed="rId2"/>
              <a:stretch>
                <a:fillRect/>
              </a:stretch>
            </a:blipFill>
          </p:spPr>
          <p:txBody>
            <a:bodyPr/>
            <a:lstStyle/>
            <a:p>
              <a:endParaRPr lang="es-ES"/>
            </a:p>
          </p:txBody>
        </p:sp>
        <p:sp>
          <p:nvSpPr>
            <p:cNvPr id="19" name="TextBox 19"/>
            <p:cNvSpPr txBox="1"/>
            <p:nvPr/>
          </p:nvSpPr>
          <p:spPr>
            <a:xfrm>
              <a:off x="6903850" y="226326"/>
              <a:ext cx="11364695"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TIMESERIESRANDOMSEARCH</a:t>
              </a:r>
            </a:p>
          </p:txBody>
        </p:sp>
      </p:grpSp>
      <p:grpSp>
        <p:nvGrpSpPr>
          <p:cNvPr id="20" name="Group 20"/>
          <p:cNvGrpSpPr/>
          <p:nvPr/>
        </p:nvGrpSpPr>
        <p:grpSpPr>
          <a:xfrm>
            <a:off x="4799145" y="5908896"/>
            <a:ext cx="8295441" cy="2939694"/>
            <a:chOff x="0" y="0"/>
            <a:chExt cx="11060587" cy="3919591"/>
          </a:xfrm>
        </p:grpSpPr>
        <p:sp>
          <p:nvSpPr>
            <p:cNvPr id="21" name="TextBox 21"/>
            <p:cNvSpPr txBox="1"/>
            <p:nvPr/>
          </p:nvSpPr>
          <p:spPr>
            <a:xfrm>
              <a:off x="14797" y="-114300"/>
              <a:ext cx="11045791" cy="1223433"/>
            </a:xfrm>
            <a:prstGeom prst="rect">
              <a:avLst/>
            </a:prstGeom>
          </p:spPr>
          <p:txBody>
            <a:bodyPr lIns="0" tIns="0" rIns="0" bIns="0" rtlCol="0" anchor="t">
              <a:spAutoFit/>
            </a:bodyPr>
            <a:lstStyle/>
            <a:p>
              <a:pPr marL="1187449" lvl="1" indent="-593725" algn="l">
                <a:lnSpc>
                  <a:spcPts val="7699"/>
                </a:lnSpc>
                <a:buFont typeface="Arial"/>
                <a:buChar char="•"/>
              </a:pPr>
              <a:r>
                <a:rPr lang="en-US" sz="5499">
                  <a:solidFill>
                    <a:srgbClr val="4D6BA7"/>
                  </a:solidFill>
                  <a:latin typeface="Bantayog"/>
                  <a:ea typeface="Bantayog"/>
                  <a:cs typeface="Bantayog"/>
                  <a:sym typeface="Bantayog"/>
                </a:rPr>
                <a:t>TASA DE DROPOUT</a:t>
              </a:r>
            </a:p>
          </p:txBody>
        </p:sp>
        <p:sp>
          <p:nvSpPr>
            <p:cNvPr id="22" name="TextBox 22"/>
            <p:cNvSpPr txBox="1"/>
            <p:nvPr/>
          </p:nvSpPr>
          <p:spPr>
            <a:xfrm>
              <a:off x="0" y="1311769"/>
              <a:ext cx="11060587" cy="1223433"/>
            </a:xfrm>
            <a:prstGeom prst="rect">
              <a:avLst/>
            </a:prstGeom>
          </p:spPr>
          <p:txBody>
            <a:bodyPr lIns="0" tIns="0" rIns="0" bIns="0" rtlCol="0" anchor="t">
              <a:spAutoFit/>
            </a:bodyPr>
            <a:lstStyle/>
            <a:p>
              <a:pPr marL="1187449" lvl="1" indent="-593725" algn="l">
                <a:lnSpc>
                  <a:spcPts val="7699"/>
                </a:lnSpc>
                <a:buFont typeface="Arial"/>
                <a:buChar char="•"/>
              </a:pPr>
              <a:r>
                <a:rPr lang="en-US" sz="5499">
                  <a:solidFill>
                    <a:srgbClr val="4D6BA7"/>
                  </a:solidFill>
                  <a:latin typeface="Bantayog"/>
                  <a:ea typeface="Bantayog"/>
                  <a:cs typeface="Bantayog"/>
                  <a:sym typeface="Bantayog"/>
                </a:rPr>
                <a:t>BATCH NORMALIZATION</a:t>
              </a:r>
            </a:p>
          </p:txBody>
        </p:sp>
        <p:sp>
          <p:nvSpPr>
            <p:cNvPr id="23" name="TextBox 23"/>
            <p:cNvSpPr txBox="1"/>
            <p:nvPr/>
          </p:nvSpPr>
          <p:spPr>
            <a:xfrm>
              <a:off x="0" y="2696158"/>
              <a:ext cx="11060587" cy="1223433"/>
            </a:xfrm>
            <a:prstGeom prst="rect">
              <a:avLst/>
            </a:prstGeom>
          </p:spPr>
          <p:txBody>
            <a:bodyPr lIns="0" tIns="0" rIns="0" bIns="0" rtlCol="0" anchor="t">
              <a:spAutoFit/>
            </a:bodyPr>
            <a:lstStyle/>
            <a:p>
              <a:pPr marL="1187449" lvl="1" indent="-593725" algn="l">
                <a:lnSpc>
                  <a:spcPts val="7699"/>
                </a:lnSpc>
                <a:buFont typeface="Arial"/>
                <a:buChar char="•"/>
              </a:pPr>
              <a:r>
                <a:rPr lang="en-US" sz="5499">
                  <a:solidFill>
                    <a:srgbClr val="4D6BA7"/>
                  </a:solidFill>
                  <a:latin typeface="Bantayog"/>
                  <a:ea typeface="Bantayog"/>
                  <a:cs typeface="Bantayog"/>
                  <a:sym typeface="Bantayog"/>
                </a:rPr>
                <a:t>LEARNING RATE</a:t>
              </a:r>
            </a:p>
          </p:txBody>
        </p:sp>
      </p:gr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39</a:t>
            </a:r>
          </a:p>
        </p:txBody>
      </p:sp>
      <p:sp>
        <p:nvSpPr>
          <p:cNvPr id="15" name="TextBox 15"/>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grpSp>
        <p:nvGrpSpPr>
          <p:cNvPr id="34" name="Grupo 33">
            <a:extLst>
              <a:ext uri="{FF2B5EF4-FFF2-40B4-BE49-F238E27FC236}">
                <a16:creationId xmlns:a16="http://schemas.microsoft.com/office/drawing/2014/main" id="{8CF3FC87-C0E4-696B-241A-FD4DDFEC1579}"/>
              </a:ext>
            </a:extLst>
          </p:cNvPr>
          <p:cNvGrpSpPr/>
          <p:nvPr/>
        </p:nvGrpSpPr>
        <p:grpSpPr>
          <a:xfrm>
            <a:off x="10077778" y="3009900"/>
            <a:ext cx="4768522" cy="5029200"/>
            <a:chOff x="10077778" y="2705100"/>
            <a:chExt cx="4768522" cy="5029200"/>
          </a:xfrm>
        </p:grpSpPr>
        <p:sp>
          <p:nvSpPr>
            <p:cNvPr id="31" name="TextBox 31"/>
            <p:cNvSpPr txBox="1"/>
            <p:nvPr/>
          </p:nvSpPr>
          <p:spPr>
            <a:xfrm>
              <a:off x="10077778" y="2705100"/>
              <a:ext cx="4768522" cy="1889125"/>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GRÁFICAS DEL ERROR</a:t>
              </a:r>
            </a:p>
          </p:txBody>
        </p:sp>
        <p:pic>
          <p:nvPicPr>
            <p:cNvPr id="33" name="Imagen 32">
              <a:extLst>
                <a:ext uri="{FF2B5EF4-FFF2-40B4-BE49-F238E27FC236}">
                  <a16:creationId xmlns:a16="http://schemas.microsoft.com/office/drawing/2014/main" id="{06F0560E-5418-6561-829F-83B6034F4FFB}"/>
                </a:ext>
              </a:extLst>
            </p:cNvPr>
            <p:cNvPicPr>
              <a:picLocks noChangeAspect="1"/>
            </p:cNvPicPr>
            <p:nvPr/>
          </p:nvPicPr>
          <p:blipFill>
            <a:blip r:embed="rId3"/>
            <a:stretch>
              <a:fillRect/>
            </a:stretch>
          </p:blipFill>
          <p:spPr>
            <a:xfrm>
              <a:off x="11201400" y="5219700"/>
              <a:ext cx="2514600" cy="2514600"/>
            </a:xfrm>
            <a:prstGeom prst="rect">
              <a:avLst/>
            </a:prstGeom>
          </p:spPr>
        </p:pic>
      </p:grpSp>
      <p:grpSp>
        <p:nvGrpSpPr>
          <p:cNvPr id="37" name="Grupo 36">
            <a:extLst>
              <a:ext uri="{FF2B5EF4-FFF2-40B4-BE49-F238E27FC236}">
                <a16:creationId xmlns:a16="http://schemas.microsoft.com/office/drawing/2014/main" id="{E9BBD22D-EEA8-1353-C971-98BA6346EB19}"/>
              </a:ext>
            </a:extLst>
          </p:cNvPr>
          <p:cNvGrpSpPr/>
          <p:nvPr/>
        </p:nvGrpSpPr>
        <p:grpSpPr>
          <a:xfrm>
            <a:off x="3441700" y="2933700"/>
            <a:ext cx="4768522" cy="4953000"/>
            <a:chOff x="3441700" y="2628900"/>
            <a:chExt cx="4768522" cy="4953000"/>
          </a:xfrm>
        </p:grpSpPr>
        <p:sp>
          <p:nvSpPr>
            <p:cNvPr id="30" name="TextBox 30"/>
            <p:cNvSpPr txBox="1"/>
            <p:nvPr/>
          </p:nvSpPr>
          <p:spPr>
            <a:xfrm>
              <a:off x="3441700" y="2628900"/>
              <a:ext cx="4768522" cy="1889125"/>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MÉTRICAS POR VARIABLE</a:t>
              </a:r>
            </a:p>
          </p:txBody>
        </p:sp>
        <p:pic>
          <p:nvPicPr>
            <p:cNvPr id="36" name="Imagen 35">
              <a:extLst>
                <a:ext uri="{FF2B5EF4-FFF2-40B4-BE49-F238E27FC236}">
                  <a16:creationId xmlns:a16="http://schemas.microsoft.com/office/drawing/2014/main" id="{AEC33844-A7D4-CFE3-F194-0F0D6CBF3ACB}"/>
                </a:ext>
              </a:extLst>
            </p:cNvPr>
            <p:cNvPicPr>
              <a:picLocks noChangeAspect="1"/>
            </p:cNvPicPr>
            <p:nvPr/>
          </p:nvPicPr>
          <p:blipFill>
            <a:blip r:embed="rId4"/>
            <a:stretch>
              <a:fillRect/>
            </a:stretch>
          </p:blipFill>
          <p:spPr>
            <a:xfrm>
              <a:off x="4606761" y="5143500"/>
              <a:ext cx="2438400" cy="2438400"/>
            </a:xfrm>
            <a:prstGeom prst="rect">
              <a:avLst/>
            </a:prstGeom>
          </p:spPr>
        </p:pic>
      </p:gr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Freeform 14"/>
          <p:cNvSpPr/>
          <p:nvPr/>
        </p:nvSpPr>
        <p:spPr>
          <a:xfrm>
            <a:off x="300947" y="2187413"/>
            <a:ext cx="16690842" cy="5320206"/>
          </a:xfrm>
          <a:custGeom>
            <a:avLst/>
            <a:gdLst/>
            <a:ahLst/>
            <a:cxnLst/>
            <a:rect l="l" t="t" r="r" b="b"/>
            <a:pathLst>
              <a:path w="16690842" h="5320206">
                <a:moveTo>
                  <a:pt x="0" y="0"/>
                </a:moveTo>
                <a:lnTo>
                  <a:pt x="16690842" y="0"/>
                </a:lnTo>
                <a:lnTo>
                  <a:pt x="16690842" y="5320206"/>
                </a:lnTo>
                <a:lnTo>
                  <a:pt x="0" y="5320206"/>
                </a:lnTo>
                <a:lnTo>
                  <a:pt x="0" y="0"/>
                </a:lnTo>
                <a:close/>
              </a:path>
            </a:pathLst>
          </a:custGeom>
          <a:blipFill>
            <a:blip r:embed="rId2"/>
            <a:stretch>
              <a:fillRect/>
            </a:stretch>
          </a:blipFill>
        </p:spPr>
        <p:txBody>
          <a:bodyPr/>
          <a:lstStyle/>
          <a:p>
            <a:endParaRPr lang="es-ES"/>
          </a:p>
        </p:txBody>
      </p:sp>
      <p:sp>
        <p:nvSpPr>
          <p:cNvPr id="15" name="TextBox 15"/>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40</a:t>
            </a:r>
          </a:p>
        </p:txBody>
      </p:sp>
      <p:sp>
        <p:nvSpPr>
          <p:cNvPr id="16" name="TextBox 16"/>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1028700"/>
          </a:xfrm>
          <a:prstGeom prst="rect">
            <a:avLst/>
          </a:prstGeom>
        </p:spPr>
        <p:txBody>
          <a:bodyPr lIns="0" tIns="0" rIns="0" bIns="0" rtlCol="0" anchor="t">
            <a:spAutoFit/>
          </a:bodyPr>
          <a:lstStyle/>
          <a:p>
            <a:pPr algn="ctr">
              <a:lnSpc>
                <a:spcPts val="8399"/>
              </a:lnSpc>
              <a:spcBef>
                <a:spcPct val="0"/>
              </a:spcBef>
            </a:pPr>
            <a:r>
              <a:rPr lang="en-US" sz="5999">
                <a:solidFill>
                  <a:srgbClr val="FFFFFF"/>
                </a:solidFill>
                <a:latin typeface="Bantayog"/>
                <a:ea typeface="Bantayog"/>
                <a:cs typeface="Bantayog"/>
                <a:sym typeface="Bantayog"/>
              </a:rPr>
              <a:t>48</a:t>
            </a:r>
          </a:p>
        </p:txBody>
      </p:sp>
      <p:sp>
        <p:nvSpPr>
          <p:cNvPr id="15" name="TextBox 15"/>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sp>
        <p:nvSpPr>
          <p:cNvPr id="16" name="Freeform 16"/>
          <p:cNvSpPr/>
          <p:nvPr/>
        </p:nvSpPr>
        <p:spPr>
          <a:xfrm>
            <a:off x="1181732" y="2196717"/>
            <a:ext cx="25381280" cy="8090283"/>
          </a:xfrm>
          <a:custGeom>
            <a:avLst/>
            <a:gdLst/>
            <a:ahLst/>
            <a:cxnLst/>
            <a:rect l="l" t="t" r="r" b="b"/>
            <a:pathLst>
              <a:path w="25381280" h="8090283">
                <a:moveTo>
                  <a:pt x="0" y="0"/>
                </a:moveTo>
                <a:lnTo>
                  <a:pt x="25381280" y="0"/>
                </a:lnTo>
                <a:lnTo>
                  <a:pt x="25381280" y="8090283"/>
                </a:lnTo>
                <a:lnTo>
                  <a:pt x="0" y="8090283"/>
                </a:lnTo>
                <a:lnTo>
                  <a:pt x="0" y="0"/>
                </a:lnTo>
                <a:close/>
              </a:path>
            </a:pathLst>
          </a:custGeom>
          <a:blipFill>
            <a:blip r:embed="rId2"/>
            <a:stretch>
              <a:fillRect/>
            </a:stretch>
          </a:blipFill>
        </p:spPr>
        <p:txBody>
          <a:bodyPr/>
          <a:lstStyle/>
          <a:p>
            <a:endParaRPr lang="es-E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1028700"/>
          </a:xfrm>
          <a:prstGeom prst="rect">
            <a:avLst/>
          </a:prstGeom>
        </p:spPr>
        <p:txBody>
          <a:bodyPr lIns="0" tIns="0" rIns="0" bIns="0" rtlCol="0" anchor="t">
            <a:spAutoFit/>
          </a:bodyPr>
          <a:lstStyle/>
          <a:p>
            <a:pPr algn="ctr">
              <a:lnSpc>
                <a:spcPts val="8399"/>
              </a:lnSpc>
              <a:spcBef>
                <a:spcPct val="0"/>
              </a:spcBef>
            </a:pPr>
            <a:r>
              <a:rPr lang="en-US" sz="5999">
                <a:solidFill>
                  <a:srgbClr val="FFFFFF"/>
                </a:solidFill>
                <a:latin typeface="Bantayog"/>
                <a:ea typeface="Bantayog"/>
                <a:cs typeface="Bantayog"/>
                <a:sym typeface="Bantayog"/>
              </a:rPr>
              <a:t>48</a:t>
            </a:r>
          </a:p>
        </p:txBody>
      </p:sp>
      <p:sp>
        <p:nvSpPr>
          <p:cNvPr id="15" name="TextBox 15"/>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sp>
        <p:nvSpPr>
          <p:cNvPr id="16" name="Freeform 16"/>
          <p:cNvSpPr/>
          <p:nvPr/>
        </p:nvSpPr>
        <p:spPr>
          <a:xfrm>
            <a:off x="-5724906" y="2196717"/>
            <a:ext cx="25381280" cy="8090283"/>
          </a:xfrm>
          <a:custGeom>
            <a:avLst/>
            <a:gdLst/>
            <a:ahLst/>
            <a:cxnLst/>
            <a:rect l="l" t="t" r="r" b="b"/>
            <a:pathLst>
              <a:path w="25381280" h="8090283">
                <a:moveTo>
                  <a:pt x="0" y="0"/>
                </a:moveTo>
                <a:lnTo>
                  <a:pt x="25381280" y="0"/>
                </a:lnTo>
                <a:lnTo>
                  <a:pt x="25381280" y="8090283"/>
                </a:lnTo>
                <a:lnTo>
                  <a:pt x="0" y="8090283"/>
                </a:lnTo>
                <a:lnTo>
                  <a:pt x="0" y="0"/>
                </a:lnTo>
                <a:close/>
              </a:path>
            </a:pathLst>
          </a:custGeom>
          <a:blipFill>
            <a:blip r:embed="rId2"/>
            <a:stretch>
              <a:fillRect/>
            </a:stretch>
          </a:blipFill>
        </p:spPr>
        <p:txBody>
          <a:bodyPr/>
          <a:lstStyle/>
          <a:p>
            <a:endParaRPr lang="es-E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40</a:t>
            </a:r>
          </a:p>
        </p:txBody>
      </p:sp>
      <p:sp>
        <p:nvSpPr>
          <p:cNvPr id="15" name="TextBox 15"/>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sp>
        <p:nvSpPr>
          <p:cNvPr id="16" name="Freeform 16"/>
          <p:cNvSpPr/>
          <p:nvPr/>
        </p:nvSpPr>
        <p:spPr>
          <a:xfrm>
            <a:off x="-11512864" y="2196717"/>
            <a:ext cx="25381280" cy="8090283"/>
          </a:xfrm>
          <a:custGeom>
            <a:avLst/>
            <a:gdLst/>
            <a:ahLst/>
            <a:cxnLst/>
            <a:rect l="l" t="t" r="r" b="b"/>
            <a:pathLst>
              <a:path w="25381280" h="8090283">
                <a:moveTo>
                  <a:pt x="0" y="0"/>
                </a:moveTo>
                <a:lnTo>
                  <a:pt x="25381280" y="0"/>
                </a:lnTo>
                <a:lnTo>
                  <a:pt x="25381280" y="8090283"/>
                </a:lnTo>
                <a:lnTo>
                  <a:pt x="0" y="8090283"/>
                </a:lnTo>
                <a:lnTo>
                  <a:pt x="0" y="0"/>
                </a:lnTo>
                <a:close/>
              </a:path>
            </a:pathLst>
          </a:custGeom>
          <a:blipFill>
            <a:blip r:embed="rId2"/>
            <a:stretch>
              <a:fillRect/>
            </a:stretch>
          </a:blipFill>
        </p:spPr>
        <p:txBody>
          <a:bodyPr/>
          <a:lstStyle/>
          <a:p>
            <a:endParaRPr lang="es-E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40</a:t>
            </a:r>
          </a:p>
        </p:txBody>
      </p:sp>
      <p:sp>
        <p:nvSpPr>
          <p:cNvPr id="15" name="TextBox 15"/>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sp>
        <p:nvSpPr>
          <p:cNvPr id="16" name="Freeform 16"/>
          <p:cNvSpPr/>
          <p:nvPr/>
        </p:nvSpPr>
        <p:spPr>
          <a:xfrm>
            <a:off x="-8570194" y="2196717"/>
            <a:ext cx="22551312" cy="8090283"/>
          </a:xfrm>
          <a:custGeom>
            <a:avLst/>
            <a:gdLst/>
            <a:ahLst/>
            <a:cxnLst/>
            <a:rect l="l" t="t" r="r" b="b"/>
            <a:pathLst>
              <a:path w="22551312" h="8090283">
                <a:moveTo>
                  <a:pt x="0" y="0"/>
                </a:moveTo>
                <a:lnTo>
                  <a:pt x="22551312" y="0"/>
                </a:lnTo>
                <a:lnTo>
                  <a:pt x="22551312" y="8090283"/>
                </a:lnTo>
                <a:lnTo>
                  <a:pt x="0" y="8090283"/>
                </a:lnTo>
                <a:lnTo>
                  <a:pt x="0" y="0"/>
                </a:lnTo>
                <a:close/>
              </a:path>
            </a:pathLst>
          </a:custGeom>
          <a:blipFill>
            <a:blip r:embed="rId2"/>
            <a:stretch>
              <a:fillRect/>
            </a:stretch>
          </a:blipFill>
        </p:spPr>
        <p:txBody>
          <a:bodyPr/>
          <a:lstStyle/>
          <a:p>
            <a:endParaRPr lang="es-E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Freeform 14"/>
          <p:cNvSpPr/>
          <p:nvPr/>
        </p:nvSpPr>
        <p:spPr>
          <a:xfrm>
            <a:off x="6700296" y="2183043"/>
            <a:ext cx="4887408" cy="7651520"/>
          </a:xfrm>
          <a:custGeom>
            <a:avLst/>
            <a:gdLst/>
            <a:ahLst/>
            <a:cxnLst/>
            <a:rect l="l" t="t" r="r" b="b"/>
            <a:pathLst>
              <a:path w="4887408" h="7651520">
                <a:moveTo>
                  <a:pt x="0" y="0"/>
                </a:moveTo>
                <a:lnTo>
                  <a:pt x="4887408" y="0"/>
                </a:lnTo>
                <a:lnTo>
                  <a:pt x="4887408" y="7651519"/>
                </a:lnTo>
                <a:lnTo>
                  <a:pt x="0" y="7651519"/>
                </a:lnTo>
                <a:lnTo>
                  <a:pt x="0" y="0"/>
                </a:lnTo>
                <a:close/>
              </a:path>
            </a:pathLst>
          </a:custGeom>
          <a:blipFill>
            <a:blip r:embed="rId2"/>
            <a:stretch>
              <a:fillRect/>
            </a:stretch>
          </a:blipFill>
        </p:spPr>
        <p:txBody>
          <a:bodyPr/>
          <a:lstStyle/>
          <a:p>
            <a:endParaRPr lang="es-ES"/>
          </a:p>
        </p:txBody>
      </p:sp>
      <p:sp>
        <p:nvSpPr>
          <p:cNvPr id="15" name="TextBox 15"/>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41</a:t>
            </a:r>
          </a:p>
        </p:txBody>
      </p:sp>
      <p:sp>
        <p:nvSpPr>
          <p:cNvPr id="16" name="TextBox 16"/>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41</a:t>
            </a:r>
          </a:p>
        </p:txBody>
      </p:sp>
      <p:sp>
        <p:nvSpPr>
          <p:cNvPr id="15" name="TextBox 15"/>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sp>
        <p:nvSpPr>
          <p:cNvPr id="16" name="Freeform 16"/>
          <p:cNvSpPr/>
          <p:nvPr/>
        </p:nvSpPr>
        <p:spPr>
          <a:xfrm>
            <a:off x="1572485" y="2249647"/>
            <a:ext cx="15143031" cy="23707289"/>
          </a:xfrm>
          <a:custGeom>
            <a:avLst/>
            <a:gdLst/>
            <a:ahLst/>
            <a:cxnLst/>
            <a:rect l="l" t="t" r="r" b="b"/>
            <a:pathLst>
              <a:path w="15143031" h="23707289">
                <a:moveTo>
                  <a:pt x="0" y="0"/>
                </a:moveTo>
                <a:lnTo>
                  <a:pt x="15143030" y="0"/>
                </a:lnTo>
                <a:lnTo>
                  <a:pt x="15143030" y="23707289"/>
                </a:lnTo>
                <a:lnTo>
                  <a:pt x="0" y="23707289"/>
                </a:lnTo>
                <a:lnTo>
                  <a:pt x="0" y="0"/>
                </a:lnTo>
                <a:close/>
              </a:path>
            </a:pathLst>
          </a:custGeom>
          <a:blipFill>
            <a:blip r:embed="rId2"/>
            <a:stretch>
              <a:fillRect/>
            </a:stretch>
          </a:blipFill>
        </p:spPr>
        <p:txBody>
          <a:bodyPr/>
          <a:lstStyle/>
          <a:p>
            <a:endParaRPr lang="es-E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41</a:t>
            </a:r>
          </a:p>
        </p:txBody>
      </p:sp>
      <p:sp>
        <p:nvSpPr>
          <p:cNvPr id="15" name="TextBox 15"/>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RESULTADOS AVANZADOS</a:t>
            </a:r>
          </a:p>
        </p:txBody>
      </p:sp>
      <p:sp>
        <p:nvSpPr>
          <p:cNvPr id="16" name="Freeform 16"/>
          <p:cNvSpPr/>
          <p:nvPr/>
        </p:nvSpPr>
        <p:spPr>
          <a:xfrm>
            <a:off x="1572485" y="-4316523"/>
            <a:ext cx="15143031" cy="23707289"/>
          </a:xfrm>
          <a:custGeom>
            <a:avLst/>
            <a:gdLst/>
            <a:ahLst/>
            <a:cxnLst/>
            <a:rect l="l" t="t" r="r" b="b"/>
            <a:pathLst>
              <a:path w="15143031" h="23707289">
                <a:moveTo>
                  <a:pt x="0" y="0"/>
                </a:moveTo>
                <a:lnTo>
                  <a:pt x="15143030" y="0"/>
                </a:lnTo>
                <a:lnTo>
                  <a:pt x="15143030" y="23707288"/>
                </a:lnTo>
                <a:lnTo>
                  <a:pt x="0" y="23707288"/>
                </a:lnTo>
                <a:lnTo>
                  <a:pt x="0" y="0"/>
                </a:lnTo>
                <a:close/>
              </a:path>
            </a:pathLst>
          </a:custGeom>
          <a:blipFill>
            <a:blip r:embed="rId2"/>
            <a:stretch>
              <a:fillRect/>
            </a:stretch>
          </a:blipFill>
        </p:spPr>
        <p:txBody>
          <a:bodyPr/>
          <a:lstStyle/>
          <a:p>
            <a:endParaRPr lang="es-E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RESULTADOS AVANZADOS</a:t>
            </a:r>
          </a:p>
        </p:txBody>
      </p:sp>
      <p:sp>
        <p:nvSpPr>
          <p:cNvPr id="15" name="Freeform 15"/>
          <p:cNvSpPr/>
          <p:nvPr/>
        </p:nvSpPr>
        <p:spPr>
          <a:xfrm>
            <a:off x="1572485" y="-13420289"/>
            <a:ext cx="15143031" cy="23707289"/>
          </a:xfrm>
          <a:custGeom>
            <a:avLst/>
            <a:gdLst/>
            <a:ahLst/>
            <a:cxnLst/>
            <a:rect l="l" t="t" r="r" b="b"/>
            <a:pathLst>
              <a:path w="15143031" h="23707289">
                <a:moveTo>
                  <a:pt x="0" y="0"/>
                </a:moveTo>
                <a:lnTo>
                  <a:pt x="15143030" y="0"/>
                </a:lnTo>
                <a:lnTo>
                  <a:pt x="15143030" y="23707289"/>
                </a:lnTo>
                <a:lnTo>
                  <a:pt x="0" y="23707289"/>
                </a:lnTo>
                <a:lnTo>
                  <a:pt x="0" y="0"/>
                </a:lnTo>
                <a:close/>
              </a:path>
            </a:pathLst>
          </a:custGeom>
          <a:blipFill>
            <a:blip r:embed="rId2"/>
            <a:stretch>
              <a:fillRect/>
            </a:stretch>
          </a:blipFill>
        </p:spPr>
        <p:txBody>
          <a:bodyPr/>
          <a:lstStyle/>
          <a:p>
            <a:endParaRPr lang="es-ES"/>
          </a:p>
        </p:txBody>
      </p:sp>
      <p:sp>
        <p:nvSpPr>
          <p:cNvPr id="16" name="TextBox 16"/>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41</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Freeform 14"/>
          <p:cNvSpPr/>
          <p:nvPr/>
        </p:nvSpPr>
        <p:spPr>
          <a:xfrm>
            <a:off x="6700296" y="2183043"/>
            <a:ext cx="4887408" cy="7651520"/>
          </a:xfrm>
          <a:custGeom>
            <a:avLst/>
            <a:gdLst/>
            <a:ahLst/>
            <a:cxnLst/>
            <a:rect l="l" t="t" r="r" b="b"/>
            <a:pathLst>
              <a:path w="4887408" h="7651520">
                <a:moveTo>
                  <a:pt x="0" y="0"/>
                </a:moveTo>
                <a:lnTo>
                  <a:pt x="4887408" y="0"/>
                </a:lnTo>
                <a:lnTo>
                  <a:pt x="4887408" y="7651519"/>
                </a:lnTo>
                <a:lnTo>
                  <a:pt x="0" y="7651519"/>
                </a:lnTo>
                <a:lnTo>
                  <a:pt x="0" y="0"/>
                </a:lnTo>
                <a:close/>
              </a:path>
            </a:pathLst>
          </a:custGeom>
          <a:blipFill>
            <a:blip r:embed="rId2"/>
            <a:stretch>
              <a:fillRect/>
            </a:stretch>
          </a:blipFill>
        </p:spPr>
        <p:txBody>
          <a:bodyPr/>
          <a:lstStyle/>
          <a:p>
            <a:endParaRPr lang="es-ES"/>
          </a:p>
        </p:txBody>
      </p:sp>
      <p:sp>
        <p:nvSpPr>
          <p:cNvPr id="15" name="TextBox 15"/>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42</a:t>
            </a:r>
          </a:p>
        </p:txBody>
      </p:sp>
      <p:sp>
        <p:nvSpPr>
          <p:cNvPr id="16" name="TextBox 16"/>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42</a:t>
            </a:r>
          </a:p>
        </p:txBody>
      </p:sp>
      <p:sp>
        <p:nvSpPr>
          <p:cNvPr id="15" name="TextBox 15"/>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sp>
        <p:nvSpPr>
          <p:cNvPr id="16" name="Freeform 16"/>
          <p:cNvSpPr/>
          <p:nvPr/>
        </p:nvSpPr>
        <p:spPr>
          <a:xfrm>
            <a:off x="1572485" y="2454175"/>
            <a:ext cx="15143031" cy="23707289"/>
          </a:xfrm>
          <a:custGeom>
            <a:avLst/>
            <a:gdLst/>
            <a:ahLst/>
            <a:cxnLst/>
            <a:rect l="l" t="t" r="r" b="b"/>
            <a:pathLst>
              <a:path w="15143031" h="23707289">
                <a:moveTo>
                  <a:pt x="0" y="0"/>
                </a:moveTo>
                <a:lnTo>
                  <a:pt x="15143030" y="0"/>
                </a:lnTo>
                <a:lnTo>
                  <a:pt x="15143030" y="23707289"/>
                </a:lnTo>
                <a:lnTo>
                  <a:pt x="0" y="23707289"/>
                </a:lnTo>
                <a:lnTo>
                  <a:pt x="0" y="0"/>
                </a:lnTo>
                <a:close/>
              </a:path>
            </a:pathLst>
          </a:custGeom>
          <a:blipFill>
            <a:blip r:embed="rId2"/>
            <a:stretch>
              <a:fillRect/>
            </a:stretch>
          </a:blipFill>
        </p:spPr>
        <p:txBody>
          <a:bodyPr/>
          <a:lstStyle/>
          <a:p>
            <a:endParaRPr lang="es-E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42</a:t>
            </a:r>
          </a:p>
        </p:txBody>
      </p:sp>
      <p:sp>
        <p:nvSpPr>
          <p:cNvPr id="15" name="TextBox 15"/>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RESULTADOS AVANZADOS</a:t>
            </a:r>
          </a:p>
        </p:txBody>
      </p:sp>
      <p:sp>
        <p:nvSpPr>
          <p:cNvPr id="16" name="Freeform 16"/>
          <p:cNvSpPr/>
          <p:nvPr/>
        </p:nvSpPr>
        <p:spPr>
          <a:xfrm>
            <a:off x="1572485" y="-4306548"/>
            <a:ext cx="15143031" cy="23707289"/>
          </a:xfrm>
          <a:custGeom>
            <a:avLst/>
            <a:gdLst/>
            <a:ahLst/>
            <a:cxnLst/>
            <a:rect l="l" t="t" r="r" b="b"/>
            <a:pathLst>
              <a:path w="15143031" h="23707289">
                <a:moveTo>
                  <a:pt x="0" y="0"/>
                </a:moveTo>
                <a:lnTo>
                  <a:pt x="15143030" y="0"/>
                </a:lnTo>
                <a:lnTo>
                  <a:pt x="15143030" y="23707288"/>
                </a:lnTo>
                <a:lnTo>
                  <a:pt x="0" y="23707288"/>
                </a:lnTo>
                <a:lnTo>
                  <a:pt x="0" y="0"/>
                </a:lnTo>
                <a:close/>
              </a:path>
            </a:pathLst>
          </a:custGeom>
          <a:blipFill>
            <a:blip r:embed="rId2"/>
            <a:stretch>
              <a:fillRect/>
            </a:stretch>
          </a:blipFill>
        </p:spPr>
        <p:txBody>
          <a:bodyPr/>
          <a:lstStyle/>
          <a:p>
            <a:endParaRPr lang="es-E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42</a:t>
            </a:r>
          </a:p>
        </p:txBody>
      </p:sp>
      <p:sp>
        <p:nvSpPr>
          <p:cNvPr id="15" name="TextBox 15"/>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RESULTADOS AVANZADOS</a:t>
            </a:r>
          </a:p>
        </p:txBody>
      </p:sp>
      <p:sp>
        <p:nvSpPr>
          <p:cNvPr id="16" name="Freeform 16"/>
          <p:cNvSpPr/>
          <p:nvPr/>
        </p:nvSpPr>
        <p:spPr>
          <a:xfrm>
            <a:off x="1572485" y="-13420289"/>
            <a:ext cx="15143031" cy="23707289"/>
          </a:xfrm>
          <a:custGeom>
            <a:avLst/>
            <a:gdLst/>
            <a:ahLst/>
            <a:cxnLst/>
            <a:rect l="l" t="t" r="r" b="b"/>
            <a:pathLst>
              <a:path w="15143031" h="23707289">
                <a:moveTo>
                  <a:pt x="0" y="0"/>
                </a:moveTo>
                <a:lnTo>
                  <a:pt x="15143030" y="0"/>
                </a:lnTo>
                <a:lnTo>
                  <a:pt x="15143030" y="23707289"/>
                </a:lnTo>
                <a:lnTo>
                  <a:pt x="0" y="23707289"/>
                </a:lnTo>
                <a:lnTo>
                  <a:pt x="0" y="0"/>
                </a:lnTo>
                <a:close/>
              </a:path>
            </a:pathLst>
          </a:custGeom>
          <a:blipFill>
            <a:blip r:embed="rId2"/>
            <a:stretch>
              <a:fillRect/>
            </a:stretch>
          </a:blipFill>
        </p:spPr>
        <p:txBody>
          <a:bodyPr/>
          <a:lstStyle/>
          <a:p>
            <a:endParaRPr lang="es-E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Freeform 14"/>
          <p:cNvSpPr/>
          <p:nvPr/>
        </p:nvSpPr>
        <p:spPr>
          <a:xfrm>
            <a:off x="6700296" y="2183043"/>
            <a:ext cx="4887408" cy="7651520"/>
          </a:xfrm>
          <a:custGeom>
            <a:avLst/>
            <a:gdLst/>
            <a:ahLst/>
            <a:cxnLst/>
            <a:rect l="l" t="t" r="r" b="b"/>
            <a:pathLst>
              <a:path w="4887408" h="7651520">
                <a:moveTo>
                  <a:pt x="0" y="0"/>
                </a:moveTo>
                <a:lnTo>
                  <a:pt x="4887408" y="0"/>
                </a:lnTo>
                <a:lnTo>
                  <a:pt x="4887408" y="7651519"/>
                </a:lnTo>
                <a:lnTo>
                  <a:pt x="0" y="7651519"/>
                </a:lnTo>
                <a:lnTo>
                  <a:pt x="0" y="0"/>
                </a:lnTo>
                <a:close/>
              </a:path>
            </a:pathLst>
          </a:custGeom>
          <a:blipFill>
            <a:blip r:embed="rId2"/>
            <a:stretch>
              <a:fillRect/>
            </a:stretch>
          </a:blipFill>
        </p:spPr>
        <p:txBody>
          <a:bodyPr/>
          <a:lstStyle/>
          <a:p>
            <a:endParaRPr lang="es-ES"/>
          </a:p>
        </p:txBody>
      </p:sp>
      <p:sp>
        <p:nvSpPr>
          <p:cNvPr id="15" name="TextBox 15"/>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43</a:t>
            </a:r>
          </a:p>
        </p:txBody>
      </p:sp>
      <p:sp>
        <p:nvSpPr>
          <p:cNvPr id="16" name="TextBox 16"/>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43</a:t>
            </a:r>
          </a:p>
        </p:txBody>
      </p:sp>
      <p:sp>
        <p:nvSpPr>
          <p:cNvPr id="15" name="TextBox 15"/>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sp>
        <p:nvSpPr>
          <p:cNvPr id="16" name="Freeform 16"/>
          <p:cNvSpPr/>
          <p:nvPr/>
        </p:nvSpPr>
        <p:spPr>
          <a:xfrm>
            <a:off x="1572485" y="2444228"/>
            <a:ext cx="15143031" cy="23707289"/>
          </a:xfrm>
          <a:custGeom>
            <a:avLst/>
            <a:gdLst/>
            <a:ahLst/>
            <a:cxnLst/>
            <a:rect l="l" t="t" r="r" b="b"/>
            <a:pathLst>
              <a:path w="15143031" h="23707289">
                <a:moveTo>
                  <a:pt x="0" y="0"/>
                </a:moveTo>
                <a:lnTo>
                  <a:pt x="15143030" y="0"/>
                </a:lnTo>
                <a:lnTo>
                  <a:pt x="15143030" y="23707289"/>
                </a:lnTo>
                <a:lnTo>
                  <a:pt x="0" y="23707289"/>
                </a:lnTo>
                <a:lnTo>
                  <a:pt x="0" y="0"/>
                </a:lnTo>
                <a:close/>
              </a:path>
            </a:pathLst>
          </a:custGeom>
          <a:blipFill>
            <a:blip r:embed="rId2"/>
            <a:stretch>
              <a:fillRect/>
            </a:stretch>
          </a:blipFill>
        </p:spPr>
        <p:txBody>
          <a:bodyPr/>
          <a:lstStyle/>
          <a:p>
            <a:endParaRPr lang="es-E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43</a:t>
            </a:r>
          </a:p>
        </p:txBody>
      </p:sp>
      <p:sp>
        <p:nvSpPr>
          <p:cNvPr id="15" name="TextBox 15"/>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RESULTADOS AVANZADOS</a:t>
            </a:r>
          </a:p>
        </p:txBody>
      </p:sp>
      <p:sp>
        <p:nvSpPr>
          <p:cNvPr id="16" name="Freeform 16"/>
          <p:cNvSpPr/>
          <p:nvPr/>
        </p:nvSpPr>
        <p:spPr>
          <a:xfrm>
            <a:off x="1572485" y="-4344094"/>
            <a:ext cx="15143031" cy="23707289"/>
          </a:xfrm>
          <a:custGeom>
            <a:avLst/>
            <a:gdLst/>
            <a:ahLst/>
            <a:cxnLst/>
            <a:rect l="l" t="t" r="r" b="b"/>
            <a:pathLst>
              <a:path w="15143031" h="23707289">
                <a:moveTo>
                  <a:pt x="0" y="0"/>
                </a:moveTo>
                <a:lnTo>
                  <a:pt x="15143030" y="0"/>
                </a:lnTo>
                <a:lnTo>
                  <a:pt x="15143030" y="23707289"/>
                </a:lnTo>
                <a:lnTo>
                  <a:pt x="0" y="23707289"/>
                </a:lnTo>
                <a:lnTo>
                  <a:pt x="0" y="0"/>
                </a:lnTo>
                <a:close/>
              </a:path>
            </a:pathLst>
          </a:custGeom>
          <a:blipFill>
            <a:blip r:embed="rId2"/>
            <a:stretch>
              <a:fillRect/>
            </a:stretch>
          </a:blipFill>
        </p:spPr>
        <p:txBody>
          <a:bodyPr/>
          <a:lstStyle/>
          <a:p>
            <a:endParaRPr lang="es-E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43</a:t>
            </a:r>
          </a:p>
        </p:txBody>
      </p:sp>
      <p:sp>
        <p:nvSpPr>
          <p:cNvPr id="15" name="TextBox 15"/>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RESULTADOS AVANZADOS</a:t>
            </a:r>
          </a:p>
        </p:txBody>
      </p:sp>
      <p:sp>
        <p:nvSpPr>
          <p:cNvPr id="16" name="Freeform 16"/>
          <p:cNvSpPr/>
          <p:nvPr/>
        </p:nvSpPr>
        <p:spPr>
          <a:xfrm>
            <a:off x="1572485" y="-13420289"/>
            <a:ext cx="15143031" cy="23707289"/>
          </a:xfrm>
          <a:custGeom>
            <a:avLst/>
            <a:gdLst/>
            <a:ahLst/>
            <a:cxnLst/>
            <a:rect l="l" t="t" r="r" b="b"/>
            <a:pathLst>
              <a:path w="15143031" h="23707289">
                <a:moveTo>
                  <a:pt x="0" y="0"/>
                </a:moveTo>
                <a:lnTo>
                  <a:pt x="15143030" y="0"/>
                </a:lnTo>
                <a:lnTo>
                  <a:pt x="15143030" y="23707289"/>
                </a:lnTo>
                <a:lnTo>
                  <a:pt x="0" y="23707289"/>
                </a:lnTo>
                <a:lnTo>
                  <a:pt x="0" y="0"/>
                </a:lnTo>
                <a:close/>
              </a:path>
            </a:pathLst>
          </a:custGeom>
          <a:blipFill>
            <a:blip r:embed="rId2"/>
            <a:stretch>
              <a:fillRect/>
            </a:stretch>
          </a:blipFill>
        </p:spPr>
        <p:txBody>
          <a:bodyPr/>
          <a:lstStyle/>
          <a:p>
            <a:endParaRPr lang="es-E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44</a:t>
            </a:r>
          </a:p>
        </p:txBody>
      </p:sp>
      <p:sp>
        <p:nvSpPr>
          <p:cNvPr id="15" name="TextBox 15"/>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RESULTADOS FINALES</a:t>
            </a:r>
          </a:p>
        </p:txBody>
      </p:sp>
      <p:sp>
        <p:nvSpPr>
          <p:cNvPr id="16" name="TextBox 16"/>
          <p:cNvSpPr txBox="1"/>
          <p:nvPr/>
        </p:nvSpPr>
        <p:spPr>
          <a:xfrm>
            <a:off x="6030047" y="2061334"/>
            <a:ext cx="6227907" cy="946150"/>
          </a:xfrm>
          <a:prstGeom prst="rect">
            <a:avLst/>
          </a:prstGeom>
        </p:spPr>
        <p:txBody>
          <a:bodyPr lIns="0" tIns="0" rIns="0" bIns="0" rtlCol="0" anchor="t">
            <a:spAutoFit/>
          </a:bodyPr>
          <a:lstStyle/>
          <a:p>
            <a:pPr algn="ctr">
              <a:lnSpc>
                <a:spcPts val="7699"/>
              </a:lnSpc>
              <a:spcBef>
                <a:spcPct val="0"/>
              </a:spcBef>
            </a:pPr>
            <a:r>
              <a:rPr lang="en-US" sz="5499">
                <a:solidFill>
                  <a:srgbClr val="203660"/>
                </a:solidFill>
                <a:latin typeface="Bantayog"/>
                <a:ea typeface="Bantayog"/>
                <a:cs typeface="Bantayog"/>
                <a:sym typeface="Bantayog"/>
              </a:rPr>
              <a:t>MEJORES MODELOS:</a:t>
            </a:r>
          </a:p>
        </p:txBody>
      </p:sp>
      <p:grpSp>
        <p:nvGrpSpPr>
          <p:cNvPr id="17" name="Group 17"/>
          <p:cNvGrpSpPr/>
          <p:nvPr/>
        </p:nvGrpSpPr>
        <p:grpSpPr>
          <a:xfrm>
            <a:off x="1662682" y="3293234"/>
            <a:ext cx="7065221" cy="5507732"/>
            <a:chOff x="0" y="0"/>
            <a:chExt cx="9420294" cy="7343643"/>
          </a:xfrm>
        </p:grpSpPr>
        <p:sp>
          <p:nvSpPr>
            <p:cNvPr id="18" name="TextBox 18"/>
            <p:cNvSpPr txBox="1"/>
            <p:nvPr/>
          </p:nvSpPr>
          <p:spPr>
            <a:xfrm>
              <a:off x="0" y="-114300"/>
              <a:ext cx="9420294"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VARIABLES DE ESTADO</a:t>
              </a:r>
            </a:p>
          </p:txBody>
        </p:sp>
        <p:sp>
          <p:nvSpPr>
            <p:cNvPr id="19" name="Freeform 19"/>
            <p:cNvSpPr/>
            <p:nvPr/>
          </p:nvSpPr>
          <p:spPr>
            <a:xfrm>
              <a:off x="3221400" y="4366148"/>
              <a:ext cx="2977495" cy="2977495"/>
            </a:xfrm>
            <a:custGeom>
              <a:avLst/>
              <a:gdLst/>
              <a:ahLst/>
              <a:cxnLst/>
              <a:rect l="l" t="t" r="r" b="b"/>
              <a:pathLst>
                <a:path w="2977495" h="2977495">
                  <a:moveTo>
                    <a:pt x="0" y="0"/>
                  </a:moveTo>
                  <a:lnTo>
                    <a:pt x="2977495" y="0"/>
                  </a:lnTo>
                  <a:lnTo>
                    <a:pt x="2977495" y="2977495"/>
                  </a:lnTo>
                  <a:lnTo>
                    <a:pt x="0" y="2977495"/>
                  </a:lnTo>
                  <a:lnTo>
                    <a:pt x="0" y="0"/>
                  </a:lnTo>
                  <a:close/>
                </a:path>
              </a:pathLst>
            </a:custGeom>
            <a:blipFill>
              <a:blip r:embed="rId2"/>
              <a:stretch>
                <a:fillRect/>
              </a:stretch>
            </a:blipFill>
          </p:spPr>
          <p:txBody>
            <a:bodyPr/>
            <a:lstStyle/>
            <a:p>
              <a:endParaRPr lang="es-ES"/>
            </a:p>
          </p:txBody>
        </p:sp>
        <p:sp>
          <p:nvSpPr>
            <p:cNvPr id="20" name="TextBox 20"/>
            <p:cNvSpPr txBox="1"/>
            <p:nvPr/>
          </p:nvSpPr>
          <p:spPr>
            <a:xfrm>
              <a:off x="2374647" y="1642533"/>
              <a:ext cx="4671000" cy="25188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RED NEURONAL</a:t>
              </a:r>
            </a:p>
          </p:txBody>
        </p:sp>
      </p:grpSp>
      <p:grpSp>
        <p:nvGrpSpPr>
          <p:cNvPr id="21" name="Group 21"/>
          <p:cNvGrpSpPr/>
          <p:nvPr/>
        </p:nvGrpSpPr>
        <p:grpSpPr>
          <a:xfrm>
            <a:off x="9582707" y="3293234"/>
            <a:ext cx="7065221" cy="5560152"/>
            <a:chOff x="0" y="0"/>
            <a:chExt cx="9420294" cy="7413536"/>
          </a:xfrm>
        </p:grpSpPr>
        <p:sp>
          <p:nvSpPr>
            <p:cNvPr id="22" name="TextBox 22"/>
            <p:cNvSpPr txBox="1"/>
            <p:nvPr/>
          </p:nvSpPr>
          <p:spPr>
            <a:xfrm>
              <a:off x="0" y="-114300"/>
              <a:ext cx="9420294"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VARIABLE DE CONTROL</a:t>
              </a:r>
            </a:p>
          </p:txBody>
        </p:sp>
        <p:sp>
          <p:nvSpPr>
            <p:cNvPr id="23" name="TextBox 23"/>
            <p:cNvSpPr txBox="1"/>
            <p:nvPr/>
          </p:nvSpPr>
          <p:spPr>
            <a:xfrm>
              <a:off x="1753307" y="1642533"/>
              <a:ext cx="5744392" cy="25188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ESR_RANDOMFOREST</a:t>
              </a:r>
            </a:p>
          </p:txBody>
        </p:sp>
        <p:sp>
          <p:nvSpPr>
            <p:cNvPr id="24" name="Freeform 24"/>
            <p:cNvSpPr/>
            <p:nvPr/>
          </p:nvSpPr>
          <p:spPr>
            <a:xfrm>
              <a:off x="2999418" y="4161367"/>
              <a:ext cx="3252169" cy="3252169"/>
            </a:xfrm>
            <a:custGeom>
              <a:avLst/>
              <a:gdLst/>
              <a:ahLst/>
              <a:cxnLst/>
              <a:rect l="l" t="t" r="r" b="b"/>
              <a:pathLst>
                <a:path w="3252169" h="3252169">
                  <a:moveTo>
                    <a:pt x="0" y="0"/>
                  </a:moveTo>
                  <a:lnTo>
                    <a:pt x="3252170" y="0"/>
                  </a:lnTo>
                  <a:lnTo>
                    <a:pt x="3252170" y="3252169"/>
                  </a:lnTo>
                  <a:lnTo>
                    <a:pt x="0" y="3252169"/>
                  </a:lnTo>
                  <a:lnTo>
                    <a:pt x="0" y="0"/>
                  </a:lnTo>
                  <a:close/>
                </a:path>
              </a:pathLst>
            </a:custGeom>
            <a:blipFill>
              <a:blip r:embed="rId3"/>
              <a:stretch>
                <a:fillRect/>
              </a:stretch>
            </a:blipFill>
          </p:spPr>
          <p:txBody>
            <a:bodyPr/>
            <a:lstStyle/>
            <a:p>
              <a:endParaRPr lang="es-ES"/>
            </a:p>
          </p:txBody>
        </p:sp>
      </p:gr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45</a:t>
            </a:r>
          </a:p>
        </p:txBody>
      </p:sp>
      <p:sp>
        <p:nvSpPr>
          <p:cNvPr id="15" name="TextBox 15"/>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RESULTADOS FINALES</a:t>
            </a:r>
          </a:p>
        </p:txBody>
      </p:sp>
      <p:sp>
        <p:nvSpPr>
          <p:cNvPr id="16" name="TextBox 16"/>
          <p:cNvSpPr txBox="1"/>
          <p:nvPr/>
        </p:nvSpPr>
        <p:spPr>
          <a:xfrm>
            <a:off x="6030047" y="2061334"/>
            <a:ext cx="6227907" cy="946150"/>
          </a:xfrm>
          <a:prstGeom prst="rect">
            <a:avLst/>
          </a:prstGeom>
        </p:spPr>
        <p:txBody>
          <a:bodyPr lIns="0" tIns="0" rIns="0" bIns="0" rtlCol="0" anchor="t">
            <a:spAutoFit/>
          </a:bodyPr>
          <a:lstStyle/>
          <a:p>
            <a:pPr algn="ctr">
              <a:lnSpc>
                <a:spcPts val="7699"/>
              </a:lnSpc>
              <a:spcBef>
                <a:spcPct val="0"/>
              </a:spcBef>
            </a:pPr>
            <a:r>
              <a:rPr lang="en-US" sz="5499">
                <a:solidFill>
                  <a:srgbClr val="203660"/>
                </a:solidFill>
                <a:latin typeface="Bantayog"/>
                <a:ea typeface="Bantayog"/>
                <a:cs typeface="Bantayog"/>
                <a:sym typeface="Bantayog"/>
              </a:rPr>
              <a:t>MEJOR MODELO:</a:t>
            </a:r>
          </a:p>
        </p:txBody>
      </p:sp>
      <p:grpSp>
        <p:nvGrpSpPr>
          <p:cNvPr id="17" name="Group 17"/>
          <p:cNvGrpSpPr/>
          <p:nvPr/>
        </p:nvGrpSpPr>
        <p:grpSpPr>
          <a:xfrm>
            <a:off x="831276" y="3638447"/>
            <a:ext cx="5663945" cy="3010106"/>
            <a:chOff x="0" y="0"/>
            <a:chExt cx="7551927" cy="4013475"/>
          </a:xfrm>
        </p:grpSpPr>
        <p:sp>
          <p:nvSpPr>
            <p:cNvPr id="18" name="Freeform 18"/>
            <p:cNvSpPr/>
            <p:nvPr/>
          </p:nvSpPr>
          <p:spPr>
            <a:xfrm>
              <a:off x="2454470" y="1370490"/>
              <a:ext cx="2642986" cy="2642986"/>
            </a:xfrm>
            <a:custGeom>
              <a:avLst/>
              <a:gdLst/>
              <a:ahLst/>
              <a:cxnLst/>
              <a:rect l="l" t="t" r="r" b="b"/>
              <a:pathLst>
                <a:path w="2642986" h="2642986">
                  <a:moveTo>
                    <a:pt x="0" y="0"/>
                  </a:moveTo>
                  <a:lnTo>
                    <a:pt x="2642986" y="0"/>
                  </a:lnTo>
                  <a:lnTo>
                    <a:pt x="2642986" y="2642985"/>
                  </a:lnTo>
                  <a:lnTo>
                    <a:pt x="0" y="2642985"/>
                  </a:lnTo>
                  <a:lnTo>
                    <a:pt x="0" y="0"/>
                  </a:lnTo>
                  <a:close/>
                </a:path>
              </a:pathLst>
            </a:custGeom>
            <a:blipFill>
              <a:blip r:embed="rId2"/>
              <a:stretch>
                <a:fillRect/>
              </a:stretch>
            </a:blipFill>
          </p:spPr>
          <p:txBody>
            <a:bodyPr/>
            <a:lstStyle/>
            <a:p>
              <a:endParaRPr lang="es-ES"/>
            </a:p>
          </p:txBody>
        </p:sp>
        <p:sp>
          <p:nvSpPr>
            <p:cNvPr id="19" name="TextBox 19"/>
            <p:cNvSpPr txBox="1"/>
            <p:nvPr/>
          </p:nvSpPr>
          <p:spPr>
            <a:xfrm>
              <a:off x="0" y="-114300"/>
              <a:ext cx="7551927"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ESR_BEST_MODEL</a:t>
              </a:r>
            </a:p>
          </p:txBody>
        </p:sp>
      </p:grpSp>
      <p:sp>
        <p:nvSpPr>
          <p:cNvPr id="20" name="TextBox 20"/>
          <p:cNvSpPr txBox="1"/>
          <p:nvPr/>
        </p:nvSpPr>
        <p:spPr>
          <a:xfrm>
            <a:off x="2204833" y="7572375"/>
            <a:ext cx="5663945" cy="1917700"/>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DESVIACIÓN DEL 3% EN PÉRDIDAS</a:t>
            </a:r>
          </a:p>
        </p:txBody>
      </p:sp>
      <p:sp>
        <p:nvSpPr>
          <p:cNvPr id="21" name="TextBox 21"/>
          <p:cNvSpPr txBox="1"/>
          <p:nvPr/>
        </p:nvSpPr>
        <p:spPr>
          <a:xfrm>
            <a:off x="8436023" y="7572375"/>
            <a:ext cx="5980094" cy="1917700"/>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DESVIACIÓN DEL 0,1% EN TENSIONES</a:t>
            </a:r>
          </a:p>
        </p:txBody>
      </p:sp>
      <p:sp>
        <p:nvSpPr>
          <p:cNvPr id="22" name="TextBox 22"/>
          <p:cNvSpPr txBox="1"/>
          <p:nvPr/>
        </p:nvSpPr>
        <p:spPr>
          <a:xfrm>
            <a:off x="10248789" y="3845304"/>
            <a:ext cx="7325282" cy="2889250"/>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DESVIACIÓN ABSOLUTA MEDIA DEL 0,0067 P.U. EN POTENCIA REACTIVA</a:t>
            </a:r>
          </a:p>
        </p:txBody>
      </p:sp>
      <p:grpSp>
        <p:nvGrpSpPr>
          <p:cNvPr id="23" name="Group 23"/>
          <p:cNvGrpSpPr/>
          <p:nvPr/>
        </p:nvGrpSpPr>
        <p:grpSpPr>
          <a:xfrm>
            <a:off x="5790814" y="5251830"/>
            <a:ext cx="4457975" cy="2434845"/>
            <a:chOff x="0" y="0"/>
            <a:chExt cx="5943967" cy="3246461"/>
          </a:xfrm>
        </p:grpSpPr>
        <p:sp>
          <p:nvSpPr>
            <p:cNvPr id="24" name="Freeform 24"/>
            <p:cNvSpPr/>
            <p:nvPr/>
          </p:nvSpPr>
          <p:spPr>
            <a:xfrm>
              <a:off x="939209" y="127000"/>
              <a:ext cx="5004758" cy="0"/>
            </a:xfrm>
            <a:custGeom>
              <a:avLst/>
              <a:gdLst/>
              <a:ahLst/>
              <a:cxnLst/>
              <a:rect l="l" t="t" r="r" b="b"/>
              <a:pathLst>
                <a:path w="5004758">
                  <a:moveTo>
                    <a:pt x="0" y="0"/>
                  </a:moveTo>
                  <a:lnTo>
                    <a:pt x="5004758" y="0"/>
                  </a:lnTo>
                </a:path>
              </a:pathLst>
            </a:custGeom>
            <a:ln w="254000" cap="flat">
              <a:solidFill>
                <a:srgbClr val="4D6BA7"/>
              </a:solidFill>
              <a:prstDash val="solid"/>
              <a:headEnd type="none" w="sm" len="sm"/>
              <a:tailEnd type="triangle" w="lg" len="med"/>
            </a:ln>
          </p:spPr>
          <p:txBody>
            <a:bodyPr/>
            <a:lstStyle/>
            <a:p>
              <a:endParaRPr lang="es-ES"/>
            </a:p>
          </p:txBody>
        </p:sp>
        <p:sp>
          <p:nvSpPr>
            <p:cNvPr id="25" name="Freeform 25"/>
            <p:cNvSpPr/>
            <p:nvPr/>
          </p:nvSpPr>
          <p:spPr>
            <a:xfrm>
              <a:off x="0" y="127000"/>
              <a:ext cx="4240543" cy="3119461"/>
            </a:xfrm>
            <a:custGeom>
              <a:avLst/>
              <a:gdLst/>
              <a:ahLst/>
              <a:cxnLst/>
              <a:rect l="l" t="t" r="r" b="b"/>
              <a:pathLst>
                <a:path w="4240543" h="3119461">
                  <a:moveTo>
                    <a:pt x="0" y="0"/>
                  </a:moveTo>
                  <a:lnTo>
                    <a:pt x="2588952" y="0"/>
                  </a:lnTo>
                  <a:cubicBezTo>
                    <a:pt x="2669790" y="0"/>
                    <a:pt x="2747317" y="32113"/>
                    <a:pt x="2804478" y="89274"/>
                  </a:cubicBezTo>
                  <a:cubicBezTo>
                    <a:pt x="2861639" y="146435"/>
                    <a:pt x="2893752" y="223962"/>
                    <a:pt x="2893752" y="304800"/>
                  </a:cubicBezTo>
                  <a:lnTo>
                    <a:pt x="2893752" y="1092186"/>
                  </a:lnTo>
                  <a:cubicBezTo>
                    <a:pt x="2893752" y="1173024"/>
                    <a:pt x="2925865" y="1250551"/>
                    <a:pt x="2983026" y="1307712"/>
                  </a:cubicBezTo>
                  <a:cubicBezTo>
                    <a:pt x="3040187" y="1364873"/>
                    <a:pt x="3117714" y="1396986"/>
                    <a:pt x="3198552" y="1396986"/>
                  </a:cubicBezTo>
                  <a:lnTo>
                    <a:pt x="3935743" y="1396986"/>
                  </a:lnTo>
                  <a:cubicBezTo>
                    <a:pt x="4016581" y="1396986"/>
                    <a:pt x="4094108" y="1429099"/>
                    <a:pt x="4151269" y="1486260"/>
                  </a:cubicBezTo>
                  <a:cubicBezTo>
                    <a:pt x="4208430" y="1543421"/>
                    <a:pt x="4240543" y="1620948"/>
                    <a:pt x="4240543" y="1701786"/>
                  </a:cubicBezTo>
                  <a:lnTo>
                    <a:pt x="4240543" y="3119461"/>
                  </a:lnTo>
                </a:path>
              </a:pathLst>
            </a:custGeom>
            <a:ln w="254000" cap="flat">
              <a:solidFill>
                <a:srgbClr val="4D6BA7"/>
              </a:solidFill>
              <a:prstDash val="solid"/>
              <a:headEnd type="none" w="sm" len="sm"/>
              <a:tailEnd type="triangle" w="lg" len="med"/>
            </a:ln>
          </p:spPr>
          <p:txBody>
            <a:bodyPr/>
            <a:lstStyle/>
            <a:p>
              <a:endParaRPr lang="es-ES"/>
            </a:p>
          </p:txBody>
        </p:sp>
        <p:sp>
          <p:nvSpPr>
            <p:cNvPr id="26" name="Freeform 26"/>
            <p:cNvSpPr/>
            <p:nvPr/>
          </p:nvSpPr>
          <p:spPr>
            <a:xfrm>
              <a:off x="0" y="127000"/>
              <a:ext cx="1098353" cy="3119461"/>
            </a:xfrm>
            <a:custGeom>
              <a:avLst/>
              <a:gdLst/>
              <a:ahLst/>
              <a:cxnLst/>
              <a:rect l="l" t="t" r="r" b="b"/>
              <a:pathLst>
                <a:path w="1098353" h="3119461">
                  <a:moveTo>
                    <a:pt x="0" y="0"/>
                  </a:moveTo>
                  <a:lnTo>
                    <a:pt x="793553" y="0"/>
                  </a:lnTo>
                  <a:cubicBezTo>
                    <a:pt x="961889" y="0"/>
                    <a:pt x="1098353" y="136464"/>
                    <a:pt x="1098353" y="304800"/>
                  </a:cubicBezTo>
                  <a:lnTo>
                    <a:pt x="1098353" y="3119461"/>
                  </a:lnTo>
                </a:path>
              </a:pathLst>
            </a:custGeom>
            <a:ln w="254000" cap="flat">
              <a:solidFill>
                <a:srgbClr val="4D6BA7"/>
              </a:solidFill>
              <a:prstDash val="solid"/>
              <a:headEnd type="none" w="sm" len="sm"/>
              <a:tailEnd type="triangle" w="lg" len="med"/>
            </a:ln>
          </p:spPr>
          <p:txBody>
            <a:bodyPr/>
            <a:lstStyle/>
            <a:p>
              <a:endParaRPr lang="es-ES"/>
            </a:p>
          </p:txBody>
        </p:sp>
      </p:gr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CONCLUSIONES</a:t>
            </a:r>
          </a:p>
        </p:txBody>
      </p:sp>
      <p:sp>
        <p:nvSpPr>
          <p:cNvPr id="15" name="TextBox 15"/>
          <p:cNvSpPr txBox="1"/>
          <p:nvPr/>
        </p:nvSpPr>
        <p:spPr>
          <a:xfrm>
            <a:off x="1724025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46</a:t>
            </a:r>
          </a:p>
        </p:txBody>
      </p:sp>
      <p:grpSp>
        <p:nvGrpSpPr>
          <p:cNvPr id="16" name="Group 16"/>
          <p:cNvGrpSpPr/>
          <p:nvPr/>
        </p:nvGrpSpPr>
        <p:grpSpPr>
          <a:xfrm>
            <a:off x="2808002" y="3023951"/>
            <a:ext cx="12671996" cy="5711825"/>
            <a:chOff x="0" y="0"/>
            <a:chExt cx="16895994" cy="7615767"/>
          </a:xfrm>
        </p:grpSpPr>
        <p:sp>
          <p:nvSpPr>
            <p:cNvPr id="17" name="TextBox 17"/>
            <p:cNvSpPr txBox="1"/>
            <p:nvPr/>
          </p:nvSpPr>
          <p:spPr>
            <a:xfrm>
              <a:off x="4537242" y="-114300"/>
              <a:ext cx="7821511" cy="25188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VIABILIDAD DE LA IA EN SMART GRIDS</a:t>
              </a:r>
            </a:p>
          </p:txBody>
        </p:sp>
        <p:sp>
          <p:nvSpPr>
            <p:cNvPr id="18" name="TextBox 18"/>
            <p:cNvSpPr txBox="1"/>
            <p:nvPr/>
          </p:nvSpPr>
          <p:spPr>
            <a:xfrm>
              <a:off x="9074483" y="3801533"/>
              <a:ext cx="7821511" cy="38142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RUPTURA DEL ENFOQUE MONOLÍTICO</a:t>
              </a:r>
            </a:p>
          </p:txBody>
        </p:sp>
        <p:sp>
          <p:nvSpPr>
            <p:cNvPr id="19" name="TextBox 19"/>
            <p:cNvSpPr txBox="1"/>
            <p:nvPr/>
          </p:nvSpPr>
          <p:spPr>
            <a:xfrm>
              <a:off x="0" y="3801533"/>
              <a:ext cx="7821511" cy="38142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ÉXITO DE LA ARQUITECTURA HÍBRIDA (ESR)</a:t>
              </a:r>
            </a:p>
          </p:txBody>
        </p:sp>
      </p:gr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2804</TotalTime>
  <Words>1996</Words>
  <Application>Microsoft Office PowerPoint</Application>
  <PresentationFormat>Personalizado</PresentationFormat>
  <Paragraphs>434</Paragraphs>
  <Slides>66</Slides>
  <Notes>19</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66</vt:i4>
      </vt:variant>
    </vt:vector>
  </HeadingPairs>
  <TitlesOfParts>
    <vt:vector size="71" baseType="lpstr">
      <vt:lpstr>Calibri</vt:lpstr>
      <vt:lpstr>Arial</vt:lpstr>
      <vt:lpstr>Aptos</vt:lpstr>
      <vt:lpstr>Bantayog</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 Grids: Control de Redes Eléctricas con IA</dc:title>
  <cp:lastModifiedBy>DANIEL LÓPEZ RAMOS</cp:lastModifiedBy>
  <cp:revision>13</cp:revision>
  <dcterms:created xsi:type="dcterms:W3CDTF">2006-08-16T00:00:00Z</dcterms:created>
  <dcterms:modified xsi:type="dcterms:W3CDTF">2026-05-11T14:50:52Z</dcterms:modified>
  <dc:identifier>DAHH9DGzV84</dc:identifier>
</cp:coreProperties>
</file>