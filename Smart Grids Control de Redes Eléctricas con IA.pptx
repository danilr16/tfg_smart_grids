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0" r:id="rId85"/>
    <p:sldId id="341" r:id="rId86"/>
    <p:sldId id="342" r:id="rId87"/>
    <p:sldId id="343" r:id="rId88"/>
    <p:sldId id="344" r:id="rId89"/>
  </p:sldIdLst>
  <p:sldSz cx="18288000" cy="10287000"/>
  <p:notesSz cx="6858000" cy="9144000"/>
  <p:embeddedFontLst>
    <p:embeddedFont>
      <p:font typeface="Bantayog" panose="020B0604020202020204" charset="0"/>
      <p:regular r:id="rId9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5" d="100"/>
          <a:sy n="45" d="100"/>
        </p:scale>
        <p:origin x="620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font" Target="fonts/font1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11530567" y="-3574416"/>
            <a:ext cx="5983240" cy="3369636"/>
            <a:chOff x="0" y="0"/>
            <a:chExt cx="744168" cy="4191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-4434283" y="7487696"/>
            <a:ext cx="6252050" cy="3864704"/>
            <a:chOff x="0" y="0"/>
            <a:chExt cx="744168" cy="46000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4155465" y="4010394"/>
            <a:ext cx="9679118" cy="4948927"/>
            <a:chOff x="0" y="0"/>
            <a:chExt cx="836041" cy="42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-2570167">
            <a:off x="13588866" y="-457285"/>
            <a:ext cx="6331387" cy="4427994"/>
            <a:chOff x="0" y="0"/>
            <a:chExt cx="787469" cy="55073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87469" cy="550734"/>
            </a:xfrm>
            <a:custGeom>
              <a:avLst/>
              <a:gdLst/>
              <a:ahLst/>
              <a:cxnLst/>
              <a:rect l="l" t="t" r="r" b="b"/>
              <a:pathLst>
                <a:path w="787469" h="550734">
                  <a:moveTo>
                    <a:pt x="47765" y="0"/>
                  </a:moveTo>
                  <a:lnTo>
                    <a:pt x="739704" y="0"/>
                  </a:lnTo>
                  <a:cubicBezTo>
                    <a:pt x="766084" y="0"/>
                    <a:pt x="787469" y="21385"/>
                    <a:pt x="787469" y="47765"/>
                  </a:cubicBezTo>
                  <a:lnTo>
                    <a:pt x="787469" y="502969"/>
                  </a:lnTo>
                  <a:cubicBezTo>
                    <a:pt x="787469" y="529349"/>
                    <a:pt x="766084" y="550734"/>
                    <a:pt x="739704" y="550734"/>
                  </a:cubicBezTo>
                  <a:lnTo>
                    <a:pt x="47765" y="550734"/>
                  </a:lnTo>
                  <a:cubicBezTo>
                    <a:pt x="21385" y="550734"/>
                    <a:pt x="0" y="529349"/>
                    <a:pt x="0" y="502969"/>
                  </a:cubicBezTo>
                  <a:lnTo>
                    <a:pt x="0" y="47765"/>
                  </a:lnTo>
                  <a:cubicBezTo>
                    <a:pt x="0" y="21385"/>
                    <a:pt x="21385" y="0"/>
                    <a:pt x="47765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787469" cy="5888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 rot="-2570167">
            <a:off x="12529921" y="9302160"/>
            <a:ext cx="3281763" cy="4043454"/>
            <a:chOff x="0" y="0"/>
            <a:chExt cx="408171" cy="50290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08171" cy="502906"/>
            </a:xfrm>
            <a:custGeom>
              <a:avLst/>
              <a:gdLst/>
              <a:ahLst/>
              <a:cxnLst/>
              <a:rect l="l" t="t" r="r" b="b"/>
              <a:pathLst>
                <a:path w="408171" h="502906">
                  <a:moveTo>
                    <a:pt x="92151" y="0"/>
                  </a:moveTo>
                  <a:lnTo>
                    <a:pt x="316019" y="0"/>
                  </a:lnTo>
                  <a:cubicBezTo>
                    <a:pt x="366913" y="0"/>
                    <a:pt x="408171" y="41258"/>
                    <a:pt x="408171" y="92151"/>
                  </a:cubicBezTo>
                  <a:lnTo>
                    <a:pt x="408171" y="410755"/>
                  </a:lnTo>
                  <a:cubicBezTo>
                    <a:pt x="408171" y="461649"/>
                    <a:pt x="366913" y="502906"/>
                    <a:pt x="316019" y="502906"/>
                  </a:cubicBezTo>
                  <a:lnTo>
                    <a:pt x="92151" y="502906"/>
                  </a:lnTo>
                  <a:cubicBezTo>
                    <a:pt x="41258" y="502906"/>
                    <a:pt x="0" y="461649"/>
                    <a:pt x="0" y="410755"/>
                  </a:cubicBezTo>
                  <a:lnTo>
                    <a:pt x="0" y="92151"/>
                  </a:lnTo>
                  <a:cubicBezTo>
                    <a:pt x="0" y="41258"/>
                    <a:pt x="41258" y="0"/>
                    <a:pt x="92151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408171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2004365" y="789156"/>
            <a:ext cx="10923483" cy="474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SMART GRIDS: CONTROL DE REDES ELÉCTRICAS 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004365" y="5361156"/>
            <a:ext cx="10923483" cy="3143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CON INTELIGENCIA ARTIFICIAL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329759" y="9153525"/>
            <a:ext cx="8272695" cy="86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sz="5000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POR DANIEL LÓPEZ RAMOS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41088" y="8354648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681614" y="7330785"/>
            <a:ext cx="14432104" cy="2558246"/>
            <a:chOff x="0" y="0"/>
            <a:chExt cx="19242805" cy="3410995"/>
          </a:xfrm>
        </p:grpSpPr>
        <p:sp>
          <p:nvSpPr>
            <p:cNvPr id="15" name="AutoShape 15"/>
            <p:cNvSpPr/>
            <p:nvPr/>
          </p:nvSpPr>
          <p:spPr>
            <a:xfrm>
              <a:off x="2134743" y="2109496"/>
              <a:ext cx="2598459" cy="0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14300"/>
              <a:ext cx="6867945" cy="122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UNIDIRECCIONAL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8942328" y="1261621"/>
              <a:ext cx="1949749" cy="1949749"/>
              <a:chOff x="0" y="0"/>
              <a:chExt cx="736600" cy="7366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736600" cy="7366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736600">
                    <a:moveTo>
                      <a:pt x="403917" y="1726"/>
                    </a:moveTo>
                    <a:lnTo>
                      <a:pt x="415649" y="58853"/>
                    </a:lnTo>
                    <a:cubicBezTo>
                      <a:pt x="438357" y="62325"/>
                      <a:pt x="460614" y="68279"/>
                      <a:pt x="482015" y="76631"/>
                    </a:cubicBezTo>
                    <a:lnTo>
                      <a:pt x="520737" y="33030"/>
                    </a:lnTo>
                    <a:cubicBezTo>
                      <a:pt x="542404" y="42874"/>
                      <a:pt x="563067" y="54809"/>
                      <a:pt x="582433" y="68642"/>
                    </a:cubicBezTo>
                    <a:lnTo>
                      <a:pt x="564034" y="123985"/>
                    </a:lnTo>
                    <a:cubicBezTo>
                      <a:pt x="581961" y="138346"/>
                      <a:pt x="598253" y="154633"/>
                      <a:pt x="612616" y="172565"/>
                    </a:cubicBezTo>
                    <a:lnTo>
                      <a:pt x="667950" y="154159"/>
                    </a:lnTo>
                    <a:cubicBezTo>
                      <a:pt x="681791" y="173526"/>
                      <a:pt x="693720" y="194192"/>
                      <a:pt x="703572" y="215859"/>
                    </a:cubicBezTo>
                    <a:lnTo>
                      <a:pt x="659969" y="254582"/>
                    </a:lnTo>
                    <a:cubicBezTo>
                      <a:pt x="668315" y="275985"/>
                      <a:pt x="674277" y="298239"/>
                      <a:pt x="677752" y="320940"/>
                    </a:cubicBezTo>
                    <a:lnTo>
                      <a:pt x="734873" y="332680"/>
                    </a:lnTo>
                    <a:cubicBezTo>
                      <a:pt x="737175" y="356371"/>
                      <a:pt x="737175" y="380229"/>
                      <a:pt x="734873" y="403920"/>
                    </a:cubicBezTo>
                    <a:lnTo>
                      <a:pt x="677752" y="415646"/>
                    </a:lnTo>
                    <a:cubicBezTo>
                      <a:pt x="674277" y="438361"/>
                      <a:pt x="668315" y="460615"/>
                      <a:pt x="659969" y="482018"/>
                    </a:cubicBezTo>
                    <a:lnTo>
                      <a:pt x="703572" y="520741"/>
                    </a:lnTo>
                    <a:cubicBezTo>
                      <a:pt x="693720" y="542408"/>
                      <a:pt x="681791" y="563060"/>
                      <a:pt x="667950" y="582427"/>
                    </a:cubicBezTo>
                    <a:lnTo>
                      <a:pt x="612616" y="564035"/>
                    </a:lnTo>
                    <a:cubicBezTo>
                      <a:pt x="598253" y="581953"/>
                      <a:pt x="581961" y="598254"/>
                      <a:pt x="564034" y="612616"/>
                    </a:cubicBezTo>
                    <a:lnTo>
                      <a:pt x="582433" y="667945"/>
                    </a:lnTo>
                    <a:cubicBezTo>
                      <a:pt x="563067" y="681791"/>
                      <a:pt x="542404" y="693712"/>
                      <a:pt x="520737" y="703571"/>
                    </a:cubicBezTo>
                    <a:lnTo>
                      <a:pt x="482015" y="659968"/>
                    </a:lnTo>
                    <a:cubicBezTo>
                      <a:pt x="460614" y="668307"/>
                      <a:pt x="438357" y="674275"/>
                      <a:pt x="415649" y="677747"/>
                    </a:cubicBezTo>
                    <a:lnTo>
                      <a:pt x="403917" y="734874"/>
                    </a:lnTo>
                    <a:cubicBezTo>
                      <a:pt x="380227" y="737175"/>
                      <a:pt x="356368" y="737175"/>
                      <a:pt x="332676" y="734874"/>
                    </a:cubicBezTo>
                    <a:lnTo>
                      <a:pt x="320944" y="677747"/>
                    </a:lnTo>
                    <a:cubicBezTo>
                      <a:pt x="298235" y="674275"/>
                      <a:pt x="275981" y="668307"/>
                      <a:pt x="254579" y="659968"/>
                    </a:cubicBezTo>
                    <a:lnTo>
                      <a:pt x="215849" y="703571"/>
                    </a:lnTo>
                    <a:cubicBezTo>
                      <a:pt x="194194" y="693712"/>
                      <a:pt x="173529" y="681791"/>
                      <a:pt x="154161" y="667945"/>
                    </a:cubicBezTo>
                    <a:lnTo>
                      <a:pt x="172568" y="612616"/>
                    </a:lnTo>
                    <a:cubicBezTo>
                      <a:pt x="154635" y="598254"/>
                      <a:pt x="138335" y="581953"/>
                      <a:pt x="123972" y="564035"/>
                    </a:cubicBezTo>
                    <a:lnTo>
                      <a:pt x="68643" y="582427"/>
                    </a:lnTo>
                    <a:cubicBezTo>
                      <a:pt x="54810" y="563060"/>
                      <a:pt x="42874" y="542408"/>
                      <a:pt x="33016" y="520741"/>
                    </a:cubicBezTo>
                    <a:lnTo>
                      <a:pt x="76619" y="482018"/>
                    </a:lnTo>
                    <a:cubicBezTo>
                      <a:pt x="68280" y="460615"/>
                      <a:pt x="62312" y="438361"/>
                      <a:pt x="58840" y="415646"/>
                    </a:cubicBezTo>
                    <a:lnTo>
                      <a:pt x="1726" y="403920"/>
                    </a:lnTo>
                    <a:cubicBezTo>
                      <a:pt x="-575" y="380229"/>
                      <a:pt x="-575" y="356371"/>
                      <a:pt x="1726" y="332680"/>
                    </a:cubicBezTo>
                    <a:lnTo>
                      <a:pt x="58840" y="320940"/>
                    </a:lnTo>
                    <a:cubicBezTo>
                      <a:pt x="62312" y="298239"/>
                      <a:pt x="68280" y="275985"/>
                      <a:pt x="76619" y="254582"/>
                    </a:cubicBezTo>
                    <a:lnTo>
                      <a:pt x="33016" y="215859"/>
                    </a:lnTo>
                    <a:cubicBezTo>
                      <a:pt x="42874" y="194192"/>
                      <a:pt x="54810" y="173526"/>
                      <a:pt x="68643" y="154159"/>
                    </a:cubicBezTo>
                    <a:lnTo>
                      <a:pt x="123972" y="172565"/>
                    </a:lnTo>
                    <a:cubicBezTo>
                      <a:pt x="138335" y="154633"/>
                      <a:pt x="154635" y="138346"/>
                      <a:pt x="172568" y="123985"/>
                    </a:cubicBezTo>
                    <a:lnTo>
                      <a:pt x="154161" y="68642"/>
                    </a:lnTo>
                    <a:cubicBezTo>
                      <a:pt x="173529" y="54809"/>
                      <a:pt x="194194" y="42874"/>
                      <a:pt x="215849" y="33030"/>
                    </a:cubicBezTo>
                    <a:lnTo>
                      <a:pt x="254579" y="76631"/>
                    </a:lnTo>
                    <a:cubicBezTo>
                      <a:pt x="275981" y="68279"/>
                      <a:pt x="298235" y="62325"/>
                      <a:pt x="320944" y="58853"/>
                    </a:cubicBezTo>
                    <a:lnTo>
                      <a:pt x="332676" y="1726"/>
                    </a:lnTo>
                    <a:cubicBezTo>
                      <a:pt x="356368" y="-575"/>
                      <a:pt x="380227" y="-575"/>
                      <a:pt x="403917" y="1726"/>
                    </a:cubicBezTo>
                    <a:close/>
                    <a:moveTo>
                      <a:pt x="368297" y="138124"/>
                    </a:moveTo>
                    <a:cubicBezTo>
                      <a:pt x="241256" y="138124"/>
                      <a:pt x="138125" y="241266"/>
                      <a:pt x="138125" y="368294"/>
                    </a:cubicBezTo>
                    <a:cubicBezTo>
                      <a:pt x="138125" y="495334"/>
                      <a:pt x="241256" y="598476"/>
                      <a:pt x="368297" y="598476"/>
                    </a:cubicBezTo>
                    <a:cubicBezTo>
                      <a:pt x="495334" y="598476"/>
                      <a:pt x="598472" y="495334"/>
                      <a:pt x="598472" y="368294"/>
                    </a:cubicBezTo>
                    <a:cubicBezTo>
                      <a:pt x="598472" y="241266"/>
                      <a:pt x="495334" y="138124"/>
                      <a:pt x="368297" y="138124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46050" y="107950"/>
                <a:ext cx="444500" cy="482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6483231" y="-114300"/>
              <a:ext cx="6867945" cy="122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CONTROL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374860" y="-114300"/>
              <a:ext cx="6867945" cy="122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CENTRALIZADO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15491372" y="2030375"/>
              <a:ext cx="641402" cy="641402"/>
              <a:chOff x="0" y="0"/>
              <a:chExt cx="812800" cy="8128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41626" tIns="41626" rIns="41626" bIns="41626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5" name="AutoShape 25"/>
            <p:cNvSpPr/>
            <p:nvPr/>
          </p:nvSpPr>
          <p:spPr>
            <a:xfrm flipV="1">
              <a:off x="14376920" y="2302273"/>
              <a:ext cx="1030083" cy="0"/>
            </a:xfrm>
            <a:prstGeom prst="line">
              <a:avLst/>
            </a:prstGeom>
            <a:ln w="1397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14954468" y="1198443"/>
              <a:ext cx="676126" cy="777126"/>
            </a:xfrm>
            <a:prstGeom prst="line">
              <a:avLst/>
            </a:prstGeom>
            <a:ln w="1397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7" name="AutoShape 27"/>
            <p:cNvSpPr/>
            <p:nvPr/>
          </p:nvSpPr>
          <p:spPr>
            <a:xfrm flipV="1">
              <a:off x="14857209" y="2717538"/>
              <a:ext cx="808204" cy="638652"/>
            </a:xfrm>
            <a:prstGeom prst="line">
              <a:avLst/>
            </a:prstGeom>
            <a:ln w="1397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AutoShape 28"/>
            <p:cNvSpPr/>
            <p:nvPr/>
          </p:nvSpPr>
          <p:spPr>
            <a:xfrm flipH="1">
              <a:off x="16006196" y="1146921"/>
              <a:ext cx="575438" cy="854367"/>
            </a:xfrm>
            <a:prstGeom prst="line">
              <a:avLst/>
            </a:prstGeom>
            <a:ln w="1397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AutoShape 29"/>
            <p:cNvSpPr/>
            <p:nvPr/>
          </p:nvSpPr>
          <p:spPr>
            <a:xfrm flipH="1">
              <a:off x="16210662" y="2343480"/>
              <a:ext cx="1030083" cy="0"/>
            </a:xfrm>
            <a:prstGeom prst="line">
              <a:avLst/>
            </a:prstGeom>
            <a:ln w="1397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0" name="AutoShape 30"/>
            <p:cNvSpPr/>
            <p:nvPr/>
          </p:nvSpPr>
          <p:spPr>
            <a:xfrm flipH="1" flipV="1">
              <a:off x="15975289" y="2692847"/>
              <a:ext cx="803756" cy="644241"/>
            </a:xfrm>
            <a:prstGeom prst="line">
              <a:avLst/>
            </a:prstGeom>
            <a:ln w="1397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31" name="Freeform 31"/>
          <p:cNvSpPr/>
          <p:nvPr/>
        </p:nvSpPr>
        <p:spPr>
          <a:xfrm>
            <a:off x="12228510" y="5383260"/>
            <a:ext cx="3107048" cy="254877"/>
          </a:xfrm>
          <a:custGeom>
            <a:avLst/>
            <a:gdLst/>
            <a:ahLst/>
            <a:cxnLst/>
            <a:rect l="l" t="t" r="r" b="b"/>
            <a:pathLst>
              <a:path w="3107048" h="254877">
                <a:moveTo>
                  <a:pt x="0" y="0"/>
                </a:moveTo>
                <a:quadBezTo>
                  <a:pt x="1553524" y="509753"/>
                  <a:pt x="3107048" y="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32" name="Freeform 32"/>
          <p:cNvSpPr/>
          <p:nvPr/>
        </p:nvSpPr>
        <p:spPr>
          <a:xfrm>
            <a:off x="8401577" y="4339061"/>
            <a:ext cx="3277282" cy="1044199"/>
          </a:xfrm>
          <a:custGeom>
            <a:avLst/>
            <a:gdLst/>
            <a:ahLst/>
            <a:cxnLst/>
            <a:rect l="l" t="t" r="r" b="b"/>
            <a:pathLst>
              <a:path w="3277282" h="1044199">
                <a:moveTo>
                  <a:pt x="0" y="0"/>
                </a:moveTo>
                <a:quadBezTo>
                  <a:pt x="1483890" y="1007795"/>
                  <a:pt x="3277282" y="1044199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33" name="Freeform 33"/>
          <p:cNvSpPr/>
          <p:nvPr/>
        </p:nvSpPr>
        <p:spPr>
          <a:xfrm>
            <a:off x="4626972" y="4339061"/>
            <a:ext cx="2522721" cy="1428145"/>
          </a:xfrm>
          <a:custGeom>
            <a:avLst/>
            <a:gdLst/>
            <a:ahLst/>
            <a:cxnLst/>
            <a:rect l="l" t="t" r="r" b="b"/>
            <a:pathLst>
              <a:path w="2522721" h="1428145">
                <a:moveTo>
                  <a:pt x="0" y="1428145"/>
                </a:moveTo>
                <a:quadBezTo>
                  <a:pt x="1512490" y="1157674"/>
                  <a:pt x="2522722" y="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34" name="Group 34"/>
          <p:cNvGrpSpPr/>
          <p:nvPr/>
        </p:nvGrpSpPr>
        <p:grpSpPr>
          <a:xfrm>
            <a:off x="8209603" y="4147088"/>
            <a:ext cx="383946" cy="383946"/>
            <a:chOff x="0" y="0"/>
            <a:chExt cx="812800" cy="812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036537" y="5191286"/>
            <a:ext cx="383946" cy="383946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3998548" y="5767206"/>
            <a:ext cx="383946" cy="383946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Freeform 43"/>
          <p:cNvSpPr/>
          <p:nvPr/>
        </p:nvSpPr>
        <p:spPr>
          <a:xfrm>
            <a:off x="6253337" y="3526136"/>
            <a:ext cx="3029999" cy="3029999"/>
          </a:xfrm>
          <a:custGeom>
            <a:avLst/>
            <a:gdLst/>
            <a:ahLst/>
            <a:cxnLst/>
            <a:rect l="l" t="t" r="r" b="b"/>
            <a:pathLst>
              <a:path w="3029999" h="3029999">
                <a:moveTo>
                  <a:pt x="0" y="0"/>
                </a:moveTo>
                <a:lnTo>
                  <a:pt x="3029999" y="0"/>
                </a:lnTo>
                <a:lnTo>
                  <a:pt x="3029999" y="3029998"/>
                </a:lnTo>
                <a:lnTo>
                  <a:pt x="0" y="30299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4" name="Freeform 44"/>
          <p:cNvSpPr/>
          <p:nvPr/>
        </p:nvSpPr>
        <p:spPr>
          <a:xfrm>
            <a:off x="782282" y="2778322"/>
            <a:ext cx="3966286" cy="3966286"/>
          </a:xfrm>
          <a:custGeom>
            <a:avLst/>
            <a:gdLst/>
            <a:ahLst/>
            <a:cxnLst/>
            <a:rect l="l" t="t" r="r" b="b"/>
            <a:pathLst>
              <a:path w="3966286" h="3966286">
                <a:moveTo>
                  <a:pt x="0" y="0"/>
                </a:moveTo>
                <a:lnTo>
                  <a:pt x="3966286" y="0"/>
                </a:lnTo>
                <a:lnTo>
                  <a:pt x="3966286" y="3966286"/>
                </a:lnTo>
                <a:lnTo>
                  <a:pt x="0" y="39662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5" name="Freeform 45"/>
          <p:cNvSpPr/>
          <p:nvPr/>
        </p:nvSpPr>
        <p:spPr>
          <a:xfrm>
            <a:off x="11201667" y="5041135"/>
            <a:ext cx="1452142" cy="1452142"/>
          </a:xfrm>
          <a:custGeom>
            <a:avLst/>
            <a:gdLst/>
            <a:ahLst/>
            <a:cxnLst/>
            <a:rect l="l" t="t" r="r" b="b"/>
            <a:pathLst>
              <a:path w="1452142" h="1452142">
                <a:moveTo>
                  <a:pt x="0" y="0"/>
                </a:moveTo>
                <a:lnTo>
                  <a:pt x="1452143" y="0"/>
                </a:lnTo>
                <a:lnTo>
                  <a:pt x="1452143" y="1452142"/>
                </a:lnTo>
                <a:lnTo>
                  <a:pt x="0" y="1452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6" name="Freeform 46"/>
          <p:cNvSpPr/>
          <p:nvPr/>
        </p:nvSpPr>
        <p:spPr>
          <a:xfrm>
            <a:off x="15035060" y="4022619"/>
            <a:ext cx="2470658" cy="2470658"/>
          </a:xfrm>
          <a:custGeom>
            <a:avLst/>
            <a:gdLst/>
            <a:ahLst/>
            <a:cxnLst/>
            <a:rect l="l" t="t" r="r" b="b"/>
            <a:pathLst>
              <a:path w="2470658" h="2470658">
                <a:moveTo>
                  <a:pt x="0" y="0"/>
                </a:moveTo>
                <a:lnTo>
                  <a:pt x="2470658" y="0"/>
                </a:lnTo>
                <a:lnTo>
                  <a:pt x="2470658" y="2470658"/>
                </a:lnTo>
                <a:lnTo>
                  <a:pt x="0" y="24706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7" name="TextBox 47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3682259" y="494206"/>
            <a:ext cx="10923483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PARADIGMA INICIAL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52 0.00124 L 0.00052 0.00124 L 0.00911 -0.00154 C 0.01146 -0.00247 0.01371 -0.0037 0.01614 -0.00432 C 0.0184 -0.00509 0.02083 -0.00525 0.02317 -0.00571 C 0.02474 -0.00617 0.0263 -0.00663 0.02786 -0.0071 C 0.03845 -0.01528 0.02777 -0.00772 0.04192 -0.01543 C 0.05052 -0.02022 0.0408 -0.01682 0.05052 -0.0196 C 0.05208 -0.02099 0.05364 -0.02238 0.05521 -0.02376 C 0.05651 -0.02515 0.05764 -0.02685 0.05911 -0.02793 C 0.06553 -0.03302 0.06762 -0.03349 0.07396 -0.03626 C 0.07656 -0.03873 0.09062 -0.05077 0.09271 -0.05432 C 0.10356 -0.07376 0.08906 -0.04846 0.1013 -0.06821 C 0.10286 -0.07099 0.10425 -0.07407 0.10599 -0.07654 C 0.11102 -0.0841 0.10998 -0.0804 0.11536 -0.08626 C 0.12413 -0.09599 0.11762 -0.08997 0.12552 -0.10154 C 0.13802 -0.12022 0.12109 -0.09228 0.13646 -0.11265 C 0.14184 -0.11991 0.14201 -0.12315 0.14583 -0.13071 C 0.14678 -0.13272 0.148 -0.13426 0.14896 -0.13626 C 0.14965 -0.13796 0.14982 -0.14028 0.15052 -0.14182 C 0.15113 -0.14352 0.15208 -0.1446 0.15286 -0.14599 C 0.15338 -0.14738 0.1539 -0.14876 0.15442 -0.15015 C 0.15468 -0.15154 0.15468 -0.15324 0.15521 -0.15432 C 0.15581 -0.15602 0.15677 -0.1571 0.15755 -0.15849 L 0.15833 -0.15988 " pathEditMode="relative" ptsTypes="AAAAAAAAAAAAAAAAAAAAAAAAA">
                                      <p:cBhvr>
                                        <p:cTn id="6" dur="13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3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300"/>
                            </p:stCondLst>
                            <p:childTnLst>
                              <p:par>
                                <p:cTn id="11" presetID="0" presetClass="path" presetSubtype="0" repeatCount="indefinite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56 0.00463 L -0.00156 0.00463 C 0.00131 0.00494 0.00434 0.00386 0.00704 0.00586 C 0.01112 0.0091 0.01381 0.01651 0.01797 0.01975 C 0.02032 0.0216 0.02275 0.02299 0.02501 0.02531 C 0.02674 0.02716 0.02804 0.03009 0.02969 0.03225 C 0.03143 0.03472 0.03343 0.03657 0.03516 0.0392 C 0.03664 0.04167 0.03733 0.04568 0.03907 0.04753 C 0.04037 0.04907 0.04218 0.04846 0.04375 0.04892 C 0.05148 0.05494 0.05382 0.0571 0.06093 0.06142 C 0.06319 0.06296 0.06553 0.06466 0.06797 0.06559 C 0.06997 0.06651 0.07213 0.06651 0.07422 0.06697 C 0.07856 0.07037 0.08195 0.0733 0.08672 0.07531 C 0.08846 0.07608 0.09037 0.07623 0.09218 0.0767 C 0.09402 0.07809 0.09575 0.07994 0.09766 0.08086 C 0.09905 0.08164 0.10947 0.08349 0.11016 0.08364 C 0.11224 0.08457 0.11433 0.08518 0.11641 0.08642 C 0.11823 0.0875 0.11988 0.08997 0.12188 0.09059 C 0.1283 0.09275 0.1349 0.09321 0.14141 0.09475 C 0.14428 0.09552 0.14705 0.09691 0.15001 0.09753 C 0.15278 0.0983 0.15573 0.09846 0.1586 0.09892 C 0.16876 0.10077 0.16094 0.10031 0.17188 0.10031 " pathEditMode="relative" ptsTypes="AAAAAAAAAAAAAAAAAAAAAA">
                                      <p:cBhvr>
                                        <p:cTn id="12" dur="13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6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600"/>
                            </p:stCondLst>
                            <p:childTnLst>
                              <p:par>
                                <p:cTn id="17" presetID="0" presetClass="path" presetSubtype="0" repeatCount="indefinite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712 0.00155 L 0.00712 0.00155 C 0.01302 0.00324 0.01988 0.00494 0.02587 0.0071 C 0.02795 0.00803 0.03004 0.00895 0.03212 0.00988 C 0.03473 0.01127 0.03724 0.01327 0.03993 0.01405 C 0.04401 0.01559 0.04827 0.0159 0.05243 0.01682 L 0.05782 0.01821 C 0.08273 0.01775 0.11519 0.02315 0.14219 0.01266 C 0.16051 0.00571 0.15113 0.00972 0.16181 0.00016 C 0.16302 -0.00092 0.16441 -0.00139 0.16563 -0.00262 C 0.16702 -0.0037 0.16823 -0.00555 0.16962 -0.00679 C 0.17032 -0.0074 0.17197 -0.00802 0.17197 -0.00802 " pathEditMode="relative" ptsTypes="AAAAAAAAAAAA">
                                      <p:cBhvr>
                                        <p:cTn id="18" dur="13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41088" y="8354648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9380129" y="6023013"/>
            <a:ext cx="855209" cy="1227893"/>
          </a:xfrm>
          <a:custGeom>
            <a:avLst/>
            <a:gdLst/>
            <a:ahLst/>
            <a:cxnLst/>
            <a:rect l="l" t="t" r="r" b="b"/>
            <a:pathLst>
              <a:path w="855209" h="1227893">
                <a:moveTo>
                  <a:pt x="0" y="1227893"/>
                </a:moveTo>
                <a:quadBezTo>
                  <a:pt x="818474" y="1125976"/>
                  <a:pt x="855209" y="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15" name="Freeform 15"/>
          <p:cNvSpPr/>
          <p:nvPr/>
        </p:nvSpPr>
        <p:spPr>
          <a:xfrm>
            <a:off x="6114358" y="5274604"/>
            <a:ext cx="2658408" cy="1988074"/>
          </a:xfrm>
          <a:custGeom>
            <a:avLst/>
            <a:gdLst/>
            <a:ahLst/>
            <a:cxnLst/>
            <a:rect l="l" t="t" r="r" b="b"/>
            <a:pathLst>
              <a:path w="2658408" h="1988074">
                <a:moveTo>
                  <a:pt x="0" y="0"/>
                </a:moveTo>
                <a:quadBezTo>
                  <a:pt x="746398" y="2141054"/>
                  <a:pt x="2658408" y="1976302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16" name="Freeform 16"/>
          <p:cNvSpPr/>
          <p:nvPr/>
        </p:nvSpPr>
        <p:spPr>
          <a:xfrm>
            <a:off x="3682259" y="4531034"/>
            <a:ext cx="1151014" cy="747283"/>
          </a:xfrm>
          <a:custGeom>
            <a:avLst/>
            <a:gdLst/>
            <a:ahLst/>
            <a:cxnLst/>
            <a:rect l="l" t="t" r="r" b="b"/>
            <a:pathLst>
              <a:path w="1151014" h="747283">
                <a:moveTo>
                  <a:pt x="0" y="0"/>
                </a:moveTo>
                <a:quadBezTo>
                  <a:pt x="298899" y="799963"/>
                  <a:pt x="1151014" y="74357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9380129" y="5274604"/>
            <a:ext cx="2139147" cy="1998073"/>
          </a:xfrm>
          <a:custGeom>
            <a:avLst/>
            <a:gdLst/>
            <a:ahLst/>
            <a:cxnLst/>
            <a:rect l="l" t="t" r="r" b="b"/>
            <a:pathLst>
              <a:path w="2139147" h="1998073">
                <a:moveTo>
                  <a:pt x="0" y="1976302"/>
                </a:moveTo>
                <a:quadBezTo>
                  <a:pt x="1433625" y="2206638"/>
                  <a:pt x="2139147" y="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18" name="Freeform 18"/>
          <p:cNvSpPr/>
          <p:nvPr/>
        </p:nvSpPr>
        <p:spPr>
          <a:xfrm>
            <a:off x="13654787" y="2481975"/>
            <a:ext cx="3063661" cy="3063661"/>
          </a:xfrm>
          <a:custGeom>
            <a:avLst/>
            <a:gdLst/>
            <a:ahLst/>
            <a:cxnLst/>
            <a:rect l="l" t="t" r="r" b="b"/>
            <a:pathLst>
              <a:path w="3063661" h="3063661">
                <a:moveTo>
                  <a:pt x="0" y="0"/>
                </a:moveTo>
                <a:lnTo>
                  <a:pt x="3063661" y="0"/>
                </a:lnTo>
                <a:lnTo>
                  <a:pt x="3063661" y="3063661"/>
                </a:lnTo>
                <a:lnTo>
                  <a:pt x="0" y="30636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Freeform 19"/>
          <p:cNvSpPr/>
          <p:nvPr/>
        </p:nvSpPr>
        <p:spPr>
          <a:xfrm>
            <a:off x="12770836" y="4995353"/>
            <a:ext cx="2415781" cy="618921"/>
          </a:xfrm>
          <a:custGeom>
            <a:avLst/>
            <a:gdLst/>
            <a:ahLst/>
            <a:cxnLst/>
            <a:rect l="l" t="t" r="r" b="b"/>
            <a:pathLst>
              <a:path w="2415781" h="618921">
                <a:moveTo>
                  <a:pt x="0" y="279251"/>
                </a:moveTo>
                <a:quadBezTo>
                  <a:pt x="1760863" y="1077429"/>
                  <a:pt x="2415781" y="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20" name="Group 20"/>
          <p:cNvGrpSpPr/>
          <p:nvPr/>
        </p:nvGrpSpPr>
        <p:grpSpPr>
          <a:xfrm>
            <a:off x="14994644" y="4803380"/>
            <a:ext cx="383946" cy="383946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256444" y="5232747"/>
            <a:ext cx="383946" cy="383946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322877" y="7018506"/>
            <a:ext cx="383946" cy="383946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384037" y="4137563"/>
            <a:ext cx="383946" cy="383946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18298" y="5274604"/>
            <a:ext cx="383946" cy="383946"/>
            <a:chOff x="0" y="0"/>
            <a:chExt cx="812800" cy="8128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5" name="Freeform 35"/>
          <p:cNvSpPr/>
          <p:nvPr/>
        </p:nvSpPr>
        <p:spPr>
          <a:xfrm>
            <a:off x="3998548" y="4666572"/>
            <a:ext cx="3029999" cy="3029999"/>
          </a:xfrm>
          <a:custGeom>
            <a:avLst/>
            <a:gdLst/>
            <a:ahLst/>
            <a:cxnLst/>
            <a:rect l="l" t="t" r="r" b="b"/>
            <a:pathLst>
              <a:path w="3029999" h="3029999">
                <a:moveTo>
                  <a:pt x="0" y="0"/>
                </a:moveTo>
                <a:lnTo>
                  <a:pt x="3029998" y="0"/>
                </a:lnTo>
                <a:lnTo>
                  <a:pt x="3029998" y="3029999"/>
                </a:lnTo>
                <a:lnTo>
                  <a:pt x="0" y="30299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6" name="Freeform 36"/>
          <p:cNvSpPr/>
          <p:nvPr/>
        </p:nvSpPr>
        <p:spPr>
          <a:xfrm>
            <a:off x="1098571" y="1846040"/>
            <a:ext cx="2899976" cy="2899976"/>
          </a:xfrm>
          <a:custGeom>
            <a:avLst/>
            <a:gdLst/>
            <a:ahLst/>
            <a:cxnLst/>
            <a:rect l="l" t="t" r="r" b="b"/>
            <a:pathLst>
              <a:path w="2899976" h="2899976">
                <a:moveTo>
                  <a:pt x="0" y="0"/>
                </a:moveTo>
                <a:lnTo>
                  <a:pt x="2899977" y="0"/>
                </a:lnTo>
                <a:lnTo>
                  <a:pt x="2899977" y="2899976"/>
                </a:lnTo>
                <a:lnTo>
                  <a:pt x="0" y="28999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37" name="Freeform 37"/>
          <p:cNvSpPr/>
          <p:nvPr/>
        </p:nvSpPr>
        <p:spPr>
          <a:xfrm>
            <a:off x="8306626" y="7018506"/>
            <a:ext cx="1452142" cy="1452142"/>
          </a:xfrm>
          <a:custGeom>
            <a:avLst/>
            <a:gdLst/>
            <a:ahLst/>
            <a:cxnLst/>
            <a:rect l="l" t="t" r="r" b="b"/>
            <a:pathLst>
              <a:path w="1452142" h="1452142">
                <a:moveTo>
                  <a:pt x="0" y="0"/>
                </a:moveTo>
                <a:lnTo>
                  <a:pt x="1452142" y="0"/>
                </a:lnTo>
                <a:lnTo>
                  <a:pt x="1452142" y="1452143"/>
                </a:lnTo>
                <a:lnTo>
                  <a:pt x="0" y="14521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38" name="Group 38"/>
          <p:cNvGrpSpPr/>
          <p:nvPr/>
        </p:nvGrpSpPr>
        <p:grpSpPr>
          <a:xfrm>
            <a:off x="7803081" y="1846040"/>
            <a:ext cx="2681839" cy="4335532"/>
            <a:chOff x="0" y="0"/>
            <a:chExt cx="3575785" cy="5780709"/>
          </a:xfrm>
        </p:grpSpPr>
        <p:sp>
          <p:nvSpPr>
            <p:cNvPr id="39" name="Freeform 39"/>
            <p:cNvSpPr/>
            <p:nvPr/>
          </p:nvSpPr>
          <p:spPr>
            <a:xfrm>
              <a:off x="0" y="2486498"/>
              <a:ext cx="3294211" cy="3294211"/>
            </a:xfrm>
            <a:custGeom>
              <a:avLst/>
              <a:gdLst/>
              <a:ahLst/>
              <a:cxnLst/>
              <a:rect l="l" t="t" r="r" b="b"/>
              <a:pathLst>
                <a:path w="3294211" h="3294211">
                  <a:moveTo>
                    <a:pt x="0" y="0"/>
                  </a:moveTo>
                  <a:lnTo>
                    <a:pt x="3294211" y="0"/>
                  </a:lnTo>
                  <a:lnTo>
                    <a:pt x="3294211" y="3294211"/>
                  </a:lnTo>
                  <a:lnTo>
                    <a:pt x="0" y="32942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540365" y="0"/>
              <a:ext cx="3035420" cy="3035420"/>
            </a:xfrm>
            <a:custGeom>
              <a:avLst/>
              <a:gdLst/>
              <a:ahLst/>
              <a:cxnLst/>
              <a:rect l="l" t="t" r="r" b="b"/>
              <a:pathLst>
                <a:path w="3035420" h="3035420">
                  <a:moveTo>
                    <a:pt x="0" y="0"/>
                  </a:moveTo>
                  <a:lnTo>
                    <a:pt x="3035420" y="0"/>
                  </a:lnTo>
                  <a:lnTo>
                    <a:pt x="3035420" y="3035420"/>
                  </a:lnTo>
                  <a:lnTo>
                    <a:pt x="0" y="3035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41" name="Freeform 41"/>
          <p:cNvSpPr/>
          <p:nvPr/>
        </p:nvSpPr>
        <p:spPr>
          <a:xfrm>
            <a:off x="10624788" y="4666572"/>
            <a:ext cx="3029999" cy="3029999"/>
          </a:xfrm>
          <a:custGeom>
            <a:avLst/>
            <a:gdLst/>
            <a:ahLst/>
            <a:cxnLst/>
            <a:rect l="l" t="t" r="r" b="b"/>
            <a:pathLst>
              <a:path w="3029999" h="3029999">
                <a:moveTo>
                  <a:pt x="0" y="0"/>
                </a:moveTo>
                <a:lnTo>
                  <a:pt x="3029999" y="0"/>
                </a:lnTo>
                <a:lnTo>
                  <a:pt x="3029999" y="3029999"/>
                </a:lnTo>
                <a:lnTo>
                  <a:pt x="0" y="30299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2" name="TextBox 42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682259" y="494206"/>
            <a:ext cx="10923483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PARADIGMA ACTUAL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688818" y="7968999"/>
            <a:ext cx="12155072" cy="2161202"/>
            <a:chOff x="0" y="-114300"/>
            <a:chExt cx="16206763" cy="2881603"/>
          </a:xfrm>
        </p:grpSpPr>
        <p:sp>
          <p:nvSpPr>
            <p:cNvPr id="45" name="AutoShape 45"/>
            <p:cNvSpPr/>
            <p:nvPr/>
          </p:nvSpPr>
          <p:spPr>
            <a:xfrm>
              <a:off x="1913843" y="2003263"/>
              <a:ext cx="3209955" cy="0"/>
            </a:xfrm>
            <a:prstGeom prst="line">
              <a:avLst/>
            </a:prstGeom>
            <a:ln w="190500" cap="flat">
              <a:solidFill>
                <a:srgbClr val="4D6BA7"/>
              </a:solidFill>
              <a:prstDash val="solid"/>
              <a:headEnd type="triangle" w="lg" len="med"/>
              <a:tailEnd type="triangle" w="lg" len="med"/>
            </a:ln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14105432" y="1672938"/>
              <a:ext cx="1340069" cy="1010362"/>
            </a:xfrm>
            <a:custGeom>
              <a:avLst/>
              <a:gdLst/>
              <a:ahLst/>
              <a:cxnLst/>
              <a:rect l="l" t="t" r="r" b="b"/>
              <a:pathLst>
                <a:path w="1340069" h="1010362">
                  <a:moveTo>
                    <a:pt x="0" y="1010362"/>
                  </a:moveTo>
                  <a:quadBezTo>
                    <a:pt x="453397" y="-654910"/>
                    <a:pt x="1340070" y="424508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7" name="Freeform 47"/>
            <p:cNvSpPr/>
            <p:nvPr/>
          </p:nvSpPr>
          <p:spPr>
            <a:xfrm>
              <a:off x="14892083" y="2061119"/>
              <a:ext cx="652261" cy="479119"/>
            </a:xfrm>
            <a:custGeom>
              <a:avLst/>
              <a:gdLst/>
              <a:ahLst/>
              <a:cxnLst/>
              <a:rect l="l" t="t" r="r" b="b"/>
              <a:pathLst>
                <a:path w="652261" h="479119">
                  <a:moveTo>
                    <a:pt x="525242" y="0"/>
                  </a:moveTo>
                  <a:quadBezTo>
                    <a:pt x="940097" y="517094"/>
                    <a:pt x="0" y="476109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8" name="Freeform 48"/>
            <p:cNvSpPr/>
            <p:nvPr/>
          </p:nvSpPr>
          <p:spPr>
            <a:xfrm>
              <a:off x="13847391" y="1324356"/>
              <a:ext cx="1127509" cy="1213326"/>
            </a:xfrm>
            <a:custGeom>
              <a:avLst/>
              <a:gdLst/>
              <a:ahLst/>
              <a:cxnLst/>
              <a:rect l="l" t="t" r="r" b="b"/>
              <a:pathLst>
                <a:path w="1127509" h="1213326">
                  <a:moveTo>
                    <a:pt x="1127509" y="1213326"/>
                  </a:moveTo>
                  <a:quadBezTo>
                    <a:pt x="-592067" y="1065825"/>
                    <a:pt x="310901" y="0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9" name="Freeform 49"/>
            <p:cNvSpPr/>
            <p:nvPr/>
          </p:nvSpPr>
          <p:spPr>
            <a:xfrm>
              <a:off x="14149517" y="1247776"/>
              <a:ext cx="532633" cy="813343"/>
            </a:xfrm>
            <a:custGeom>
              <a:avLst/>
              <a:gdLst/>
              <a:ahLst/>
              <a:cxnLst/>
              <a:rect l="l" t="t" r="r" b="b"/>
              <a:pathLst>
                <a:path w="532633" h="813343">
                  <a:moveTo>
                    <a:pt x="0" y="85355"/>
                  </a:moveTo>
                  <a:quadBezTo>
                    <a:pt x="564607" y="-263484"/>
                    <a:pt x="530713" y="813343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" name="Freeform 50"/>
            <p:cNvSpPr/>
            <p:nvPr/>
          </p:nvSpPr>
          <p:spPr>
            <a:xfrm>
              <a:off x="14678791" y="1413085"/>
              <a:ext cx="859181" cy="1354218"/>
            </a:xfrm>
            <a:custGeom>
              <a:avLst/>
              <a:gdLst/>
              <a:ahLst/>
              <a:cxnLst/>
              <a:rect l="l" t="t" r="r" b="b"/>
              <a:pathLst>
                <a:path w="859181" h="1354218">
                  <a:moveTo>
                    <a:pt x="1439" y="319145"/>
                  </a:moveTo>
                  <a:quadBezTo>
                    <a:pt x="-35160" y="2538159"/>
                    <a:pt x="859182" y="0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3268764" y="-114300"/>
              <a:ext cx="2937999" cy="122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CAOS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7400243" y="2015200"/>
              <a:ext cx="854181" cy="658229"/>
              <a:chOff x="-318168" y="0"/>
              <a:chExt cx="1054768" cy="81280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-318168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73524" tIns="73524" rIns="73524" bIns="73524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11626061" y="2015200"/>
              <a:ext cx="801210" cy="658229"/>
              <a:chOff x="76200" y="0"/>
              <a:chExt cx="989358" cy="8128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252758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73524" tIns="73524" rIns="73524" bIns="73524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535335" y="1939406"/>
              <a:ext cx="809817" cy="809817"/>
              <a:chOff x="0" y="0"/>
              <a:chExt cx="812800" cy="8128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73524" tIns="73524" rIns="73524" bIns="73524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2" name="AutoShape 62"/>
            <p:cNvSpPr/>
            <p:nvPr/>
          </p:nvSpPr>
          <p:spPr>
            <a:xfrm>
              <a:off x="10442763" y="2363366"/>
              <a:ext cx="1183299" cy="0"/>
            </a:xfrm>
            <a:prstGeom prst="line">
              <a:avLst/>
            </a:prstGeom>
            <a:ln w="114073" cap="flat">
              <a:solidFill>
                <a:srgbClr val="4D6BA7"/>
              </a:solidFill>
              <a:prstDash val="solid"/>
              <a:headEnd type="triangle" w="lg" len="med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65245"/>
              <a:ext cx="6867945" cy="122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BIDIRECCIONAL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384847" y="676214"/>
              <a:ext cx="5110792" cy="122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DISTRIBUIDO</a:t>
              </a:r>
            </a:p>
          </p:txBody>
        </p:sp>
      </p:grpSp>
      <p:sp>
        <p:nvSpPr>
          <p:cNvPr id="65" name="AutoShape 62">
            <a:extLst>
              <a:ext uri="{FF2B5EF4-FFF2-40B4-BE49-F238E27FC236}">
                <a16:creationId xmlns:a16="http://schemas.microsoft.com/office/drawing/2014/main" id="{8274893D-E1D7-81D4-7DF5-E315B81AF5C7}"/>
              </a:ext>
            </a:extLst>
          </p:cNvPr>
          <p:cNvSpPr/>
          <p:nvPr/>
        </p:nvSpPr>
        <p:spPr>
          <a:xfrm>
            <a:off x="7848600" y="9827248"/>
            <a:ext cx="887474" cy="0"/>
          </a:xfrm>
          <a:prstGeom prst="line">
            <a:avLst/>
          </a:prstGeom>
          <a:ln w="114073" cap="flat">
            <a:solidFill>
              <a:srgbClr val="4D6BA7"/>
            </a:solidFill>
            <a:prstDash val="solid"/>
            <a:headEnd type="triangle" w="lg" len="med"/>
            <a:tailEnd type="triangle" w="lg" len="med"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43 0.01389 L 0.00443 0.01389 C 0.00582 0.02022 0.00999 0.04059 0.01224 0.04723 C 0.01346 0.05077 0.01554 0.0534 0.01693 0.05679 C 0.01867 0.06127 0.01979 0.06636 0.02162 0.07068 C 0.02448 0.07794 0.02726 0.08349 0.03177 0.08735 C 0.03273 0.08827 0.03386 0.08827 0.0349 0.08889 C 0.03672 0.08966 0.03854 0.09074 0.04037 0.09167 C 0.04966 0.09105 0.05903 0.09013 0.06849 0.09013 " pathEditMode="relative" ptsTypes="AAAAAAAAA">
                                      <p:cBhvr>
                                        <p:cTn id="6" dur="13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3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300"/>
                            </p:stCondLst>
                            <p:childTnLst>
                              <p:par>
                                <p:cTn id="11" presetID="0" presetClass="path" presetSubtype="0" repeatCount="indefinite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94 0.01435 L -0.00694 0.01435 C -0.00911 0.01898 -0.0112 0.02345 -0.01328 0.02824 C -0.01458 0.03133 -0.01545 0.03518 -0.0171 0.03796 C -0.01866 0.04043 -0.02092 0.0412 -0.02265 0.04352 C -0.02465 0.04629 -0.02552 0.05262 -0.02804 0.05324 C -0.03515 0.05494 -0.03177 0.05401 -0.03828 0.05602 C -0.03984 0.05694 -0.04132 0.05864 -0.04297 0.05879 C -0.0737 0.05972 -0.07014 0.06003 -0.08984 0.05463 L -0.09609 0.04907 C -0.09713 0.04815 -0.09818 0.04737 -0.09922 0.04629 C -0.10078 0.04444 -0.10225 0.04228 -0.1039 0.04074 C -0.1059 0.03858 -0.10824 0.03765 -0.11015 0.03518 C -0.11432 0.02947 -0.11198 0.03148 -0.1171 0.02963 C -0.11866 0.02824 -0.12022 0.02654 -0.12179 0.02546 C -0.12604 0.02253 -0.13073 0.0216 -0.13515 0.01991 C -0.13594 0.01944 -0.13672 0.01898 -0.13741 0.01852 " pathEditMode="relative" ptsTypes="AAAAAAAAAAAAAAAAA">
                                      <p:cBhvr>
                                        <p:cTn id="12" dur="1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0" presetClass="path" presetSubtype="0" repeatCount="indefinite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1173 L 0.00183 0.01173 C 0.00408 0.01805 0.0066 0.02453 0.00877 0.03102 C 0.01528 0.05 0.01016 0.03811 0.01815 0.05879 C 0.02092 0.06589 0.02787 0.08225 0.03151 0.09074 C 0.03308 0.09444 0.0349 0.09784 0.0362 0.10185 C 0.03724 0.10509 0.03802 0.10864 0.03933 0.11157 C 0.04705 0.12994 0.03933 0.10632 0.04714 0.12685 C 0.04809 0.12947 0.04844 0.13271 0.0494 0.13518 C 0.05235 0.14244 0.05382 0.14259 0.05808 0.14629 C 0.05912 0.14815 0.05999 0.15031 0.0612 0.15185 C 0.0625 0.1537 0.06841 0.15941 0.06971 0.16018 C 0.07414 0.16296 0.07848 0.16605 0.08308 0.16713 C 0.08924 0.16867 0.09549 0.17068 0.10183 0.17129 C 0.10721 0.17191 0.11276 0.17222 0.11815 0.17268 C 0.12882 0.17515 0.12231 0.17407 0.13776 0.17407 " pathEditMode="relative" ptsTypes="AAAAAAAAAAAAAAAA">
                                      <p:cBhvr>
                                        <p:cTn id="16" dur="13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60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id="21" presetID="0" presetClass="path" presetSubtype="0" repeatCount="indefinite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69 0.01158 L -0.00269 0.01158 C -0.00234 0.01945 -0.00104 0.03087 -0.00269 0.03936 C -0.00338 0.04321 -0.00486 0.04661 -0.00581 0.05047 C -0.0066 0.05386 -0.00833 0.06528 -0.00972 0.06991 C -0.01476 0.08704 -0.0138 0.08241 -0.01831 0.09491 C -0.0191 0.09707 -0.0197 0.0997 -0.02066 0.10186 C -0.02179 0.10433 -0.02335 0.10618 -0.02456 0.1088 C -0.02509 0.11004 -0.02743 0.11775 -0.02847 0.11991 C -0.02986 0.12284 -0.0316 0.12531 -0.03316 0.12825 C -0.03576 0.13334 -0.03689 0.13781 -0.04019 0.14213 C -0.04158 0.14383 -0.04331 0.14476 -0.04488 0.1463 C -0.04722 0.14846 -0.04939 0.15139 -0.05191 0.15325 C -0.05382 0.15463 -0.05607 0.15494 -0.05816 0.15602 C -0.07205 0.1625 -0.05755 0.15602 -0.06675 0.16019 C -0.07127 0.16467 -0.07404 0.16868 -0.07925 0.16991 C -0.08515 0.1713 -0.09722 0.17269 -0.09722 0.17269 C -0.10529 0.17624 -0.10139 0.17439 -0.10885 0.17825 " pathEditMode="relative" ptsTypes="AAAAAAAAAAAAAAAAAA">
                                      <p:cBhvr>
                                        <p:cTn id="22" dur="1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0" presetClass="path" presetSubtype="0" repeatCount="indefinite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0371 L 0.00078 -0.00371 C 0.0033 -0.00664 0.00582 -0.00973 0.00851 -0.0122 C 0.00999 -0.01343 0.01189 -0.01312 0.0132 -0.01497 C 0.01589 -0.01837 0.01754 -0.02408 0.02023 -0.02732 L 0.02257 -0.0301 C 0.027 -0.04059 0.02344 -0.03025 0.0257 -0.04399 C 0.02604 -0.04599 0.02691 -0.04769 0.02726 -0.04954 C 0.02795 -0.05278 0.02839 -0.05602 0.02882 -0.05942 C 0.02917 -0.06158 0.02917 -0.06405 0.0296 -0.06621 C 0.03264 -0.08025 0.03212 -0.07362 0.03507 -0.08442 C 0.03551 -0.08565 0.03568 -0.08704 0.03585 -0.08843 C 0.03681 -0.09522 0.03663 -0.09414 0.03663 -0.09954 " pathEditMode="relative" ptsTypes="AAAAAAAAAAAAA">
                                      <p:cBhvr>
                                        <p:cTn id="26" dur="1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41088" y="8354648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82259" y="494206"/>
            <a:ext cx="10923483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PARADIGMA ACTUAL</a:t>
            </a:r>
          </a:p>
        </p:txBody>
      </p:sp>
      <p:sp>
        <p:nvSpPr>
          <p:cNvPr id="39" name="Freeform 39"/>
          <p:cNvSpPr/>
          <p:nvPr/>
        </p:nvSpPr>
        <p:spPr>
          <a:xfrm>
            <a:off x="9380129" y="6023013"/>
            <a:ext cx="855209" cy="1227893"/>
          </a:xfrm>
          <a:custGeom>
            <a:avLst/>
            <a:gdLst/>
            <a:ahLst/>
            <a:cxnLst/>
            <a:rect l="l" t="t" r="r" b="b"/>
            <a:pathLst>
              <a:path w="855209" h="1227893">
                <a:moveTo>
                  <a:pt x="0" y="1227893"/>
                </a:moveTo>
                <a:quadBezTo>
                  <a:pt x="818474" y="1125976"/>
                  <a:pt x="855209" y="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40" name="Freeform 40"/>
          <p:cNvSpPr/>
          <p:nvPr/>
        </p:nvSpPr>
        <p:spPr>
          <a:xfrm>
            <a:off x="6114358" y="5274604"/>
            <a:ext cx="2658408" cy="1988074"/>
          </a:xfrm>
          <a:custGeom>
            <a:avLst/>
            <a:gdLst/>
            <a:ahLst/>
            <a:cxnLst/>
            <a:rect l="l" t="t" r="r" b="b"/>
            <a:pathLst>
              <a:path w="2658408" h="1988074">
                <a:moveTo>
                  <a:pt x="0" y="0"/>
                </a:moveTo>
                <a:quadBezTo>
                  <a:pt x="746398" y="2141054"/>
                  <a:pt x="2658408" y="1976302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41" name="Freeform 41"/>
          <p:cNvSpPr/>
          <p:nvPr/>
        </p:nvSpPr>
        <p:spPr>
          <a:xfrm>
            <a:off x="3682259" y="4531034"/>
            <a:ext cx="1151014" cy="747283"/>
          </a:xfrm>
          <a:custGeom>
            <a:avLst/>
            <a:gdLst/>
            <a:ahLst/>
            <a:cxnLst/>
            <a:rect l="l" t="t" r="r" b="b"/>
            <a:pathLst>
              <a:path w="1151014" h="747283">
                <a:moveTo>
                  <a:pt x="0" y="0"/>
                </a:moveTo>
                <a:quadBezTo>
                  <a:pt x="298899" y="799963"/>
                  <a:pt x="1151014" y="74357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42" name="Freeform 42"/>
          <p:cNvSpPr/>
          <p:nvPr/>
        </p:nvSpPr>
        <p:spPr>
          <a:xfrm>
            <a:off x="9380129" y="5274604"/>
            <a:ext cx="2139147" cy="1998073"/>
          </a:xfrm>
          <a:custGeom>
            <a:avLst/>
            <a:gdLst/>
            <a:ahLst/>
            <a:cxnLst/>
            <a:rect l="l" t="t" r="r" b="b"/>
            <a:pathLst>
              <a:path w="2139147" h="1998073">
                <a:moveTo>
                  <a:pt x="0" y="1976302"/>
                </a:moveTo>
                <a:quadBezTo>
                  <a:pt x="1433625" y="2206638"/>
                  <a:pt x="2139147" y="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43" name="Freeform 43"/>
          <p:cNvSpPr/>
          <p:nvPr/>
        </p:nvSpPr>
        <p:spPr>
          <a:xfrm>
            <a:off x="13654787" y="2481975"/>
            <a:ext cx="3063661" cy="3063661"/>
          </a:xfrm>
          <a:custGeom>
            <a:avLst/>
            <a:gdLst/>
            <a:ahLst/>
            <a:cxnLst/>
            <a:rect l="l" t="t" r="r" b="b"/>
            <a:pathLst>
              <a:path w="3063661" h="3063661">
                <a:moveTo>
                  <a:pt x="0" y="0"/>
                </a:moveTo>
                <a:lnTo>
                  <a:pt x="3063661" y="0"/>
                </a:lnTo>
                <a:lnTo>
                  <a:pt x="3063661" y="3063661"/>
                </a:lnTo>
                <a:lnTo>
                  <a:pt x="0" y="30636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4" name="Freeform 44"/>
          <p:cNvSpPr/>
          <p:nvPr/>
        </p:nvSpPr>
        <p:spPr>
          <a:xfrm>
            <a:off x="12770836" y="4995353"/>
            <a:ext cx="2415781" cy="618921"/>
          </a:xfrm>
          <a:custGeom>
            <a:avLst/>
            <a:gdLst/>
            <a:ahLst/>
            <a:cxnLst/>
            <a:rect l="l" t="t" r="r" b="b"/>
            <a:pathLst>
              <a:path w="2415781" h="618921">
                <a:moveTo>
                  <a:pt x="0" y="279251"/>
                </a:moveTo>
                <a:quadBezTo>
                  <a:pt x="1760863" y="1077429"/>
                  <a:pt x="2415781" y="0"/>
                </a:quadBezTo>
              </a:path>
            </a:pathLst>
          </a:custGeom>
          <a:ln w="38100" cap="flat">
            <a:solidFill>
              <a:srgbClr val="B9B9B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45" name="Group 45"/>
          <p:cNvGrpSpPr/>
          <p:nvPr/>
        </p:nvGrpSpPr>
        <p:grpSpPr>
          <a:xfrm>
            <a:off x="10043365" y="5989598"/>
            <a:ext cx="383946" cy="383946"/>
            <a:chOff x="0" y="0"/>
            <a:chExt cx="812800" cy="8128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8" name="Freeform 48"/>
          <p:cNvSpPr/>
          <p:nvPr/>
        </p:nvSpPr>
        <p:spPr>
          <a:xfrm>
            <a:off x="3998548" y="4666572"/>
            <a:ext cx="3029999" cy="3029999"/>
          </a:xfrm>
          <a:custGeom>
            <a:avLst/>
            <a:gdLst/>
            <a:ahLst/>
            <a:cxnLst/>
            <a:rect l="l" t="t" r="r" b="b"/>
            <a:pathLst>
              <a:path w="3029999" h="3029999">
                <a:moveTo>
                  <a:pt x="0" y="0"/>
                </a:moveTo>
                <a:lnTo>
                  <a:pt x="3029998" y="0"/>
                </a:lnTo>
                <a:lnTo>
                  <a:pt x="3029998" y="3029999"/>
                </a:lnTo>
                <a:lnTo>
                  <a:pt x="0" y="30299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49" name="Freeform 49"/>
          <p:cNvSpPr/>
          <p:nvPr/>
        </p:nvSpPr>
        <p:spPr>
          <a:xfrm>
            <a:off x="1098571" y="1846040"/>
            <a:ext cx="2899976" cy="2899976"/>
          </a:xfrm>
          <a:custGeom>
            <a:avLst/>
            <a:gdLst/>
            <a:ahLst/>
            <a:cxnLst/>
            <a:rect l="l" t="t" r="r" b="b"/>
            <a:pathLst>
              <a:path w="2899976" h="2899976">
                <a:moveTo>
                  <a:pt x="0" y="0"/>
                </a:moveTo>
                <a:lnTo>
                  <a:pt x="2899977" y="0"/>
                </a:lnTo>
                <a:lnTo>
                  <a:pt x="2899977" y="2899976"/>
                </a:lnTo>
                <a:lnTo>
                  <a:pt x="0" y="28999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50" name="Freeform 50"/>
          <p:cNvSpPr/>
          <p:nvPr/>
        </p:nvSpPr>
        <p:spPr>
          <a:xfrm>
            <a:off x="8306626" y="7018506"/>
            <a:ext cx="1452142" cy="1452142"/>
          </a:xfrm>
          <a:custGeom>
            <a:avLst/>
            <a:gdLst/>
            <a:ahLst/>
            <a:cxnLst/>
            <a:rect l="l" t="t" r="r" b="b"/>
            <a:pathLst>
              <a:path w="1452142" h="1452142">
                <a:moveTo>
                  <a:pt x="0" y="0"/>
                </a:moveTo>
                <a:lnTo>
                  <a:pt x="1452142" y="0"/>
                </a:lnTo>
                <a:lnTo>
                  <a:pt x="1452142" y="1452143"/>
                </a:lnTo>
                <a:lnTo>
                  <a:pt x="0" y="14521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51" name="Group 51"/>
          <p:cNvGrpSpPr/>
          <p:nvPr/>
        </p:nvGrpSpPr>
        <p:grpSpPr>
          <a:xfrm>
            <a:off x="7803081" y="1846040"/>
            <a:ext cx="2681839" cy="4335532"/>
            <a:chOff x="0" y="0"/>
            <a:chExt cx="3575785" cy="5780709"/>
          </a:xfrm>
        </p:grpSpPr>
        <p:sp>
          <p:nvSpPr>
            <p:cNvPr id="52" name="Freeform 52"/>
            <p:cNvSpPr/>
            <p:nvPr/>
          </p:nvSpPr>
          <p:spPr>
            <a:xfrm>
              <a:off x="0" y="2486498"/>
              <a:ext cx="3294211" cy="3294211"/>
            </a:xfrm>
            <a:custGeom>
              <a:avLst/>
              <a:gdLst/>
              <a:ahLst/>
              <a:cxnLst/>
              <a:rect l="l" t="t" r="r" b="b"/>
              <a:pathLst>
                <a:path w="3294211" h="3294211">
                  <a:moveTo>
                    <a:pt x="0" y="0"/>
                  </a:moveTo>
                  <a:lnTo>
                    <a:pt x="3294211" y="0"/>
                  </a:lnTo>
                  <a:lnTo>
                    <a:pt x="3294211" y="3294211"/>
                  </a:lnTo>
                  <a:lnTo>
                    <a:pt x="0" y="32942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53" name="Freeform 53"/>
            <p:cNvSpPr/>
            <p:nvPr/>
          </p:nvSpPr>
          <p:spPr>
            <a:xfrm>
              <a:off x="540365" y="0"/>
              <a:ext cx="3035420" cy="3035420"/>
            </a:xfrm>
            <a:custGeom>
              <a:avLst/>
              <a:gdLst/>
              <a:ahLst/>
              <a:cxnLst/>
              <a:rect l="l" t="t" r="r" b="b"/>
              <a:pathLst>
                <a:path w="3035420" h="3035420">
                  <a:moveTo>
                    <a:pt x="0" y="0"/>
                  </a:moveTo>
                  <a:lnTo>
                    <a:pt x="3035420" y="0"/>
                  </a:lnTo>
                  <a:lnTo>
                    <a:pt x="3035420" y="3035420"/>
                  </a:lnTo>
                  <a:lnTo>
                    <a:pt x="0" y="3035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54" name="Freeform 54"/>
          <p:cNvSpPr/>
          <p:nvPr/>
        </p:nvSpPr>
        <p:spPr>
          <a:xfrm>
            <a:off x="10624788" y="4666572"/>
            <a:ext cx="3029999" cy="3029999"/>
          </a:xfrm>
          <a:custGeom>
            <a:avLst/>
            <a:gdLst/>
            <a:ahLst/>
            <a:cxnLst/>
            <a:rect l="l" t="t" r="r" b="b"/>
            <a:pathLst>
              <a:path w="3029999" h="3029999">
                <a:moveTo>
                  <a:pt x="0" y="0"/>
                </a:moveTo>
                <a:lnTo>
                  <a:pt x="3029999" y="0"/>
                </a:lnTo>
                <a:lnTo>
                  <a:pt x="3029999" y="3029999"/>
                </a:lnTo>
                <a:lnTo>
                  <a:pt x="0" y="30299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grpSp>
        <p:nvGrpSpPr>
          <p:cNvPr id="55" name="Group 55"/>
          <p:cNvGrpSpPr/>
          <p:nvPr/>
        </p:nvGrpSpPr>
        <p:grpSpPr>
          <a:xfrm>
            <a:off x="8388820" y="7058932"/>
            <a:ext cx="383946" cy="383946"/>
            <a:chOff x="0" y="0"/>
            <a:chExt cx="812800" cy="8128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9322877" y="7058932"/>
            <a:ext cx="383946" cy="383946"/>
            <a:chOff x="0" y="0"/>
            <a:chExt cx="812800" cy="812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B001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1" name="Group 44">
            <a:extLst>
              <a:ext uri="{FF2B5EF4-FFF2-40B4-BE49-F238E27FC236}">
                <a16:creationId xmlns:a16="http://schemas.microsoft.com/office/drawing/2014/main" id="{360C62F3-C3EC-CC43-C1B4-E7514893E955}"/>
              </a:ext>
            </a:extLst>
          </p:cNvPr>
          <p:cNvGrpSpPr/>
          <p:nvPr/>
        </p:nvGrpSpPr>
        <p:grpSpPr>
          <a:xfrm>
            <a:off x="1688818" y="7968999"/>
            <a:ext cx="12155072" cy="2161202"/>
            <a:chOff x="0" y="-114300"/>
            <a:chExt cx="16206763" cy="2881603"/>
          </a:xfrm>
        </p:grpSpPr>
        <p:sp>
          <p:nvSpPr>
            <p:cNvPr id="62" name="AutoShape 45">
              <a:extLst>
                <a:ext uri="{FF2B5EF4-FFF2-40B4-BE49-F238E27FC236}">
                  <a16:creationId xmlns:a16="http://schemas.microsoft.com/office/drawing/2014/main" id="{D189FD1C-A7A7-145D-9836-E3481AFDF3F3}"/>
                </a:ext>
              </a:extLst>
            </p:cNvPr>
            <p:cNvSpPr/>
            <p:nvPr/>
          </p:nvSpPr>
          <p:spPr>
            <a:xfrm>
              <a:off x="1913843" y="2003263"/>
              <a:ext cx="3209955" cy="0"/>
            </a:xfrm>
            <a:prstGeom prst="line">
              <a:avLst/>
            </a:prstGeom>
            <a:ln w="190500" cap="flat">
              <a:solidFill>
                <a:srgbClr val="4D6BA7"/>
              </a:solidFill>
              <a:prstDash val="solid"/>
              <a:headEnd type="triangle" w="lg" len="med"/>
              <a:tailEnd type="triangle" w="lg" len="med"/>
            </a:ln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63" name="Freeform 46">
              <a:extLst>
                <a:ext uri="{FF2B5EF4-FFF2-40B4-BE49-F238E27FC236}">
                  <a16:creationId xmlns:a16="http://schemas.microsoft.com/office/drawing/2014/main" id="{8C965BBB-D8BA-74F5-620D-621F9CB6677E}"/>
                </a:ext>
              </a:extLst>
            </p:cNvPr>
            <p:cNvSpPr/>
            <p:nvPr/>
          </p:nvSpPr>
          <p:spPr>
            <a:xfrm>
              <a:off x="14105432" y="1672938"/>
              <a:ext cx="1340069" cy="1010362"/>
            </a:xfrm>
            <a:custGeom>
              <a:avLst/>
              <a:gdLst/>
              <a:ahLst/>
              <a:cxnLst/>
              <a:rect l="l" t="t" r="r" b="b"/>
              <a:pathLst>
                <a:path w="1340069" h="1010362">
                  <a:moveTo>
                    <a:pt x="0" y="1010362"/>
                  </a:moveTo>
                  <a:quadBezTo>
                    <a:pt x="453397" y="-654910"/>
                    <a:pt x="1340070" y="424508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4" name="Freeform 47">
              <a:extLst>
                <a:ext uri="{FF2B5EF4-FFF2-40B4-BE49-F238E27FC236}">
                  <a16:creationId xmlns:a16="http://schemas.microsoft.com/office/drawing/2014/main" id="{6F9F41D8-716B-EEEC-C461-0A88E4EAAD42}"/>
                </a:ext>
              </a:extLst>
            </p:cNvPr>
            <p:cNvSpPr/>
            <p:nvPr/>
          </p:nvSpPr>
          <p:spPr>
            <a:xfrm>
              <a:off x="14892083" y="2061119"/>
              <a:ext cx="652261" cy="479119"/>
            </a:xfrm>
            <a:custGeom>
              <a:avLst/>
              <a:gdLst/>
              <a:ahLst/>
              <a:cxnLst/>
              <a:rect l="l" t="t" r="r" b="b"/>
              <a:pathLst>
                <a:path w="652261" h="479119">
                  <a:moveTo>
                    <a:pt x="525242" y="0"/>
                  </a:moveTo>
                  <a:quadBezTo>
                    <a:pt x="940097" y="517094"/>
                    <a:pt x="0" y="476109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5" name="Freeform 48">
              <a:extLst>
                <a:ext uri="{FF2B5EF4-FFF2-40B4-BE49-F238E27FC236}">
                  <a16:creationId xmlns:a16="http://schemas.microsoft.com/office/drawing/2014/main" id="{8C0F58E3-3F2E-7695-6CC0-132617676616}"/>
                </a:ext>
              </a:extLst>
            </p:cNvPr>
            <p:cNvSpPr/>
            <p:nvPr/>
          </p:nvSpPr>
          <p:spPr>
            <a:xfrm>
              <a:off x="13847391" y="1324356"/>
              <a:ext cx="1127509" cy="1213326"/>
            </a:xfrm>
            <a:custGeom>
              <a:avLst/>
              <a:gdLst/>
              <a:ahLst/>
              <a:cxnLst/>
              <a:rect l="l" t="t" r="r" b="b"/>
              <a:pathLst>
                <a:path w="1127509" h="1213326">
                  <a:moveTo>
                    <a:pt x="1127509" y="1213326"/>
                  </a:moveTo>
                  <a:quadBezTo>
                    <a:pt x="-592067" y="1065825"/>
                    <a:pt x="310901" y="0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6" name="Freeform 49">
              <a:extLst>
                <a:ext uri="{FF2B5EF4-FFF2-40B4-BE49-F238E27FC236}">
                  <a16:creationId xmlns:a16="http://schemas.microsoft.com/office/drawing/2014/main" id="{655D77F4-828C-4705-EE1C-DDDA411E2181}"/>
                </a:ext>
              </a:extLst>
            </p:cNvPr>
            <p:cNvSpPr/>
            <p:nvPr/>
          </p:nvSpPr>
          <p:spPr>
            <a:xfrm>
              <a:off x="14149517" y="1247776"/>
              <a:ext cx="532633" cy="813343"/>
            </a:xfrm>
            <a:custGeom>
              <a:avLst/>
              <a:gdLst/>
              <a:ahLst/>
              <a:cxnLst/>
              <a:rect l="l" t="t" r="r" b="b"/>
              <a:pathLst>
                <a:path w="532633" h="813343">
                  <a:moveTo>
                    <a:pt x="0" y="85355"/>
                  </a:moveTo>
                  <a:quadBezTo>
                    <a:pt x="564607" y="-263484"/>
                    <a:pt x="530713" y="813343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7" name="Freeform 50">
              <a:extLst>
                <a:ext uri="{FF2B5EF4-FFF2-40B4-BE49-F238E27FC236}">
                  <a16:creationId xmlns:a16="http://schemas.microsoft.com/office/drawing/2014/main" id="{C0DCF958-1648-62B6-0C1D-F24C17FBF8B2}"/>
                </a:ext>
              </a:extLst>
            </p:cNvPr>
            <p:cNvSpPr/>
            <p:nvPr/>
          </p:nvSpPr>
          <p:spPr>
            <a:xfrm>
              <a:off x="14678791" y="1413085"/>
              <a:ext cx="859181" cy="1354218"/>
            </a:xfrm>
            <a:custGeom>
              <a:avLst/>
              <a:gdLst/>
              <a:ahLst/>
              <a:cxnLst/>
              <a:rect l="l" t="t" r="r" b="b"/>
              <a:pathLst>
                <a:path w="859181" h="1354218">
                  <a:moveTo>
                    <a:pt x="1439" y="319145"/>
                  </a:moveTo>
                  <a:quadBezTo>
                    <a:pt x="-35160" y="2538159"/>
                    <a:pt x="859182" y="0"/>
                  </a:quadBezTo>
                </a:path>
              </a:pathLst>
            </a:custGeom>
            <a:ln w="105299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8" name="TextBox 51">
              <a:extLst>
                <a:ext uri="{FF2B5EF4-FFF2-40B4-BE49-F238E27FC236}">
                  <a16:creationId xmlns:a16="http://schemas.microsoft.com/office/drawing/2014/main" id="{801151DC-8061-44B2-47BB-79F4C5843749}"/>
                </a:ext>
              </a:extLst>
            </p:cNvPr>
            <p:cNvSpPr txBox="1"/>
            <p:nvPr/>
          </p:nvSpPr>
          <p:spPr>
            <a:xfrm>
              <a:off x="13268764" y="-114300"/>
              <a:ext cx="2937999" cy="122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CAOS</a:t>
              </a:r>
            </a:p>
          </p:txBody>
        </p:sp>
        <p:grpSp>
          <p:nvGrpSpPr>
            <p:cNvPr id="69" name="Group 52">
              <a:extLst>
                <a:ext uri="{FF2B5EF4-FFF2-40B4-BE49-F238E27FC236}">
                  <a16:creationId xmlns:a16="http://schemas.microsoft.com/office/drawing/2014/main" id="{A44B16D4-9BEC-18EE-22DE-9190B0EE9969}"/>
                </a:ext>
              </a:extLst>
            </p:cNvPr>
            <p:cNvGrpSpPr/>
            <p:nvPr/>
          </p:nvGrpSpPr>
          <p:grpSpPr>
            <a:xfrm>
              <a:off x="7400243" y="2015200"/>
              <a:ext cx="854181" cy="658229"/>
              <a:chOff x="-318168" y="0"/>
              <a:chExt cx="1054768" cy="812800"/>
            </a:xfrm>
          </p:grpSpPr>
          <p:sp>
            <p:nvSpPr>
              <p:cNvPr id="79" name="Freeform 53">
                <a:extLst>
                  <a:ext uri="{FF2B5EF4-FFF2-40B4-BE49-F238E27FC236}">
                    <a16:creationId xmlns:a16="http://schemas.microsoft.com/office/drawing/2014/main" id="{6DC02A0E-7DEB-96D5-F986-D6ED92B1B2BC}"/>
                  </a:ext>
                </a:extLst>
              </p:cNvPr>
              <p:cNvSpPr/>
              <p:nvPr/>
            </p:nvSpPr>
            <p:spPr>
              <a:xfrm>
                <a:off x="-318168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80" name="TextBox 54">
                <a:extLst>
                  <a:ext uri="{FF2B5EF4-FFF2-40B4-BE49-F238E27FC236}">
                    <a16:creationId xmlns:a16="http://schemas.microsoft.com/office/drawing/2014/main" id="{A78EC440-988E-3148-42BF-00C75BE6E2B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73524" tIns="73524" rIns="73524" bIns="73524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70" name="Group 55">
              <a:extLst>
                <a:ext uri="{FF2B5EF4-FFF2-40B4-BE49-F238E27FC236}">
                  <a16:creationId xmlns:a16="http://schemas.microsoft.com/office/drawing/2014/main" id="{2A979823-B246-99E8-10A6-E42D6B03A0D5}"/>
                </a:ext>
              </a:extLst>
            </p:cNvPr>
            <p:cNvGrpSpPr/>
            <p:nvPr/>
          </p:nvGrpSpPr>
          <p:grpSpPr>
            <a:xfrm>
              <a:off x="11626061" y="2015200"/>
              <a:ext cx="801210" cy="658229"/>
              <a:chOff x="76200" y="0"/>
              <a:chExt cx="989358" cy="812800"/>
            </a:xfrm>
          </p:grpSpPr>
          <p:sp>
            <p:nvSpPr>
              <p:cNvPr id="77" name="Freeform 56">
                <a:extLst>
                  <a:ext uri="{FF2B5EF4-FFF2-40B4-BE49-F238E27FC236}">
                    <a16:creationId xmlns:a16="http://schemas.microsoft.com/office/drawing/2014/main" id="{E196A84A-582D-9B87-AD93-F211D5DA9B79}"/>
                  </a:ext>
                </a:extLst>
              </p:cNvPr>
              <p:cNvSpPr/>
              <p:nvPr/>
            </p:nvSpPr>
            <p:spPr>
              <a:xfrm>
                <a:off x="252758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78" name="TextBox 57">
                <a:extLst>
                  <a:ext uri="{FF2B5EF4-FFF2-40B4-BE49-F238E27FC236}">
                    <a16:creationId xmlns:a16="http://schemas.microsoft.com/office/drawing/2014/main" id="{CC2ABDCE-CBFE-385F-EDEE-D007B766AE3A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73524" tIns="73524" rIns="73524" bIns="73524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71" name="Group 58">
              <a:extLst>
                <a:ext uri="{FF2B5EF4-FFF2-40B4-BE49-F238E27FC236}">
                  <a16:creationId xmlns:a16="http://schemas.microsoft.com/office/drawing/2014/main" id="{33CEEAF0-1C44-6D61-889F-12F7D30F1137}"/>
                </a:ext>
              </a:extLst>
            </p:cNvPr>
            <p:cNvGrpSpPr/>
            <p:nvPr/>
          </p:nvGrpSpPr>
          <p:grpSpPr>
            <a:xfrm>
              <a:off x="9535335" y="1939406"/>
              <a:ext cx="809817" cy="809817"/>
              <a:chOff x="0" y="0"/>
              <a:chExt cx="812800" cy="812800"/>
            </a:xfrm>
          </p:grpSpPr>
          <p:sp>
            <p:nvSpPr>
              <p:cNvPr id="75" name="Freeform 59">
                <a:extLst>
                  <a:ext uri="{FF2B5EF4-FFF2-40B4-BE49-F238E27FC236}">
                    <a16:creationId xmlns:a16="http://schemas.microsoft.com/office/drawing/2014/main" id="{9E7F3A6B-383B-E99C-B2EB-1A5657C1683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76" name="TextBox 60">
                <a:extLst>
                  <a:ext uri="{FF2B5EF4-FFF2-40B4-BE49-F238E27FC236}">
                    <a16:creationId xmlns:a16="http://schemas.microsoft.com/office/drawing/2014/main" id="{BDEA6EED-5203-B586-8112-438B91E5A58D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73524" tIns="73524" rIns="73524" bIns="73524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2" name="AutoShape 62">
              <a:extLst>
                <a:ext uri="{FF2B5EF4-FFF2-40B4-BE49-F238E27FC236}">
                  <a16:creationId xmlns:a16="http://schemas.microsoft.com/office/drawing/2014/main" id="{DE8ABBE1-EDDF-FCE7-0D79-89C87BECA00D}"/>
                </a:ext>
              </a:extLst>
            </p:cNvPr>
            <p:cNvSpPr/>
            <p:nvPr/>
          </p:nvSpPr>
          <p:spPr>
            <a:xfrm>
              <a:off x="10442763" y="2363366"/>
              <a:ext cx="1183299" cy="0"/>
            </a:xfrm>
            <a:prstGeom prst="line">
              <a:avLst/>
            </a:prstGeom>
            <a:ln w="114073" cap="flat">
              <a:solidFill>
                <a:srgbClr val="4D6BA7"/>
              </a:solidFill>
              <a:prstDash val="solid"/>
              <a:headEnd type="triangle" w="lg" len="med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3" name="TextBox 63">
              <a:extLst>
                <a:ext uri="{FF2B5EF4-FFF2-40B4-BE49-F238E27FC236}">
                  <a16:creationId xmlns:a16="http://schemas.microsoft.com/office/drawing/2014/main" id="{34040EB2-8B38-0AC8-6182-9DBBD035D102}"/>
                </a:ext>
              </a:extLst>
            </p:cNvPr>
            <p:cNvSpPr txBox="1"/>
            <p:nvPr/>
          </p:nvSpPr>
          <p:spPr>
            <a:xfrm>
              <a:off x="0" y="-65245"/>
              <a:ext cx="6867945" cy="122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BIDIRECCIONAL</a:t>
              </a:r>
            </a:p>
          </p:txBody>
        </p:sp>
        <p:sp>
          <p:nvSpPr>
            <p:cNvPr id="74" name="TextBox 64">
              <a:extLst>
                <a:ext uri="{FF2B5EF4-FFF2-40B4-BE49-F238E27FC236}">
                  <a16:creationId xmlns:a16="http://schemas.microsoft.com/office/drawing/2014/main" id="{7EC0EC94-AC16-CF4A-8DE2-A697114B6709}"/>
                </a:ext>
              </a:extLst>
            </p:cNvPr>
            <p:cNvSpPr txBox="1"/>
            <p:nvPr/>
          </p:nvSpPr>
          <p:spPr>
            <a:xfrm>
              <a:off x="7384847" y="676214"/>
              <a:ext cx="5110792" cy="122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DISTRIBUIDO</a:t>
              </a:r>
            </a:p>
          </p:txBody>
        </p:sp>
      </p:grpSp>
      <p:sp>
        <p:nvSpPr>
          <p:cNvPr id="81" name="AutoShape 62">
            <a:extLst>
              <a:ext uri="{FF2B5EF4-FFF2-40B4-BE49-F238E27FC236}">
                <a16:creationId xmlns:a16="http://schemas.microsoft.com/office/drawing/2014/main" id="{BA7C2BAD-61A7-CCAD-2824-913A91B44CA6}"/>
              </a:ext>
            </a:extLst>
          </p:cNvPr>
          <p:cNvSpPr/>
          <p:nvPr/>
        </p:nvSpPr>
        <p:spPr>
          <a:xfrm>
            <a:off x="7848600" y="9827248"/>
            <a:ext cx="887474" cy="0"/>
          </a:xfrm>
          <a:prstGeom prst="line">
            <a:avLst/>
          </a:prstGeom>
          <a:ln w="114073" cap="flat">
            <a:solidFill>
              <a:srgbClr val="4D6BA7"/>
            </a:solidFill>
            <a:prstDash val="solid"/>
            <a:headEnd type="triangle" w="lg" len="med"/>
            <a:tailEnd type="triangle" w="lg" len="med"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83 0.00463 L -0.00183 0.00463 C -0.00157 0.01064 -0.00079 0.01651 -0.00105 0.02268 C -0.00183 0.04259 -0.00244 0.03935 -0.00495 0.05185 C -0.00556 0.05447 -0.00565 0.05756 -0.00651 0.06018 C -0.00704 0.06157 -0.00816 0.06172 -0.00886 0.06296 C -0.00981 0.0645 -0.01025 0.06697 -0.0112 0.06851 C -0.01207 0.06975 -0.01346 0.0699 -0.01433 0.07129 C -0.01711 0.07546 -0.01867 0.08302 -0.02214 0.08518 C -0.02292 0.08564 -0.02379 0.0858 -0.02448 0.08657 C -0.02613 0.08811 -0.02744 0.09105 -0.02917 0.09213 L -0.03386 0.0949 L -0.0362 0.09629 C -0.03724 0.09737 -0.04731 0.11018 -0.04948 0.11018 L -0.05026 0.11018 " pathEditMode="relative" ptsTypes="AAAAAAAAAAAAAAA">
                                      <p:cBhvr>
                                        <p:cTn id="6" dur="13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3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0" presetClass="path" presetSubtype="0" repeatCount="indefinite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56 0.01189 L -0.00156 0.01189 C 0.00313 0.01065 0.01762 0.00757 0.02422 0.00494 C 0.02769 0.0034 0.03038 0.00093 0.0336 -0.002 C 0.0349 -0.00339 0.03611 -0.00509 0.03742 -0.00617 C 0.03872 -0.0074 0.04002 -0.00802 0.04141 -0.00895 C 0.04419 -0.01311 0.04731 -0.01682 0.04992 -0.02145 C 0.0513 -0.02376 0.05252 -0.02623 0.05391 -0.02839 C 0.06146 -0.04043 0.06736 -0.04552 0.07179 -0.06311 C 0.07283 -0.06728 0.07379 -0.0716 0.07492 -0.07561 C 0.07665 -0.08132 0.07865 -0.08672 0.08047 -0.09228 C 0.08151 -0.09552 0.08255 -0.09876 0.0836 -0.102 C 0.0849 -0.10617 0.08637 -0.11018 0.08742 -0.1145 C 0.08846 -0.11867 0.0895 -0.12299 0.09054 -0.127 C 0.0921 -0.13271 0.09419 -0.1378 0.09523 -0.14367 C 0.0961 -0.1483 0.09775 -0.15787 0.09922 -0.16172 C 0.1 -0.16404 0.10139 -0.16527 0.10235 -0.16728 C 0.10304 -0.16898 0.1033 -0.17114 0.10391 -0.17284 C 0.10434 -0.17438 0.10495 -0.17561 0.10547 -0.177 " pathEditMode="relative" ptsTypes="AAAAAAAAAAAAAAAAAAA">
                                      <p:cBhvr>
                                        <p:cTn id="11" dur="13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0" presetClass="path" presetSubtype="0" repeatCount="indefinite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738 -0.00061 L 0.00738 -0.00061 L -0.0184 -0.00339 C -0.02013 -0.0037 -0.02812 -0.0074 -0.02864 -0.00771 C -0.03177 -0.00926 -0.03472 -0.01219 -0.03802 -0.01327 L -0.0427 -0.0145 C -0.04531 -0.01635 -0.04774 -0.01898 -0.05052 -0.02006 C -0.05156 -0.02068 -0.0526 -0.02083 -0.05364 -0.0216 C -0.0552 -0.02268 -0.05668 -0.02453 -0.05833 -0.02561 C -0.05928 -0.02638 -0.06041 -0.02654 -0.06145 -0.02716 C -0.06224 -0.02747 -0.06302 -0.02808 -0.06371 -0.02839 C -0.0651 -0.03024 -0.06632 -0.0324 -0.0677 -0.03395 C -0.07257 -0.03981 -0.06944 -0.03302 -0.07465 -0.04228 C -0.07586 -0.04444 -0.07665 -0.04722 -0.07777 -0.04938 C -0.07847 -0.05046 -0.07942 -0.05108 -0.0802 -0.05216 C -0.08593 -0.05972 -0.08194 -0.05571 -0.08715 -0.06049 C -0.08802 -0.06234 -0.08862 -0.06419 -0.08958 -0.06605 C -0.09123 -0.06929 -0.09357 -0.07191 -0.09496 -0.07561 C -0.096 -0.07839 -0.09704 -0.08132 -0.09809 -0.08395 C -0.09913 -0.08642 -0.10026 -0.08858 -0.10121 -0.09105 C -0.10399 -0.09784 -0.10642 -0.10493 -0.10902 -0.11172 C -0.11007 -0.1145 -0.11102 -0.11743 -0.11215 -0.12006 C -0.11866 -0.13503 -0.11579 -0.12855 -0.12083 -0.1395 C -0.12187 -0.14197 -0.12317 -0.14382 -0.12395 -0.1466 C -0.12448 -0.14845 -0.12482 -0.15046 -0.12552 -0.15216 C -0.12612 -0.1537 -0.12717 -0.15463 -0.12777 -0.15617 C -0.13203 -0.16635 -0.12803 -0.16064 -0.13246 -0.16605 C -0.13281 -0.16728 -0.1329 -0.16882 -0.13333 -0.17006 C -0.13394 -0.17222 -0.13515 -0.17361 -0.13559 -0.17561 C -0.13619 -0.17824 -0.13611 -0.18132 -0.13645 -0.18395 C -0.13663 -0.18549 -0.13715 -0.18811 -0.13715 -0.18811 " pathEditMode="relative" ptsTypes="AAAAAAAAAAAAAAAAAAAAAAAAAAAAAAA">
                                      <p:cBhvr>
                                        <p:cTn id="15" dur="13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41088" y="8354648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2790718" y="2529451"/>
            <a:ext cx="12307202" cy="6728849"/>
          </a:xfrm>
          <a:custGeom>
            <a:avLst/>
            <a:gdLst/>
            <a:ahLst/>
            <a:cxnLst/>
            <a:rect l="l" t="t" r="r" b="b"/>
            <a:pathLst>
              <a:path w="12307202" h="6728849">
                <a:moveTo>
                  <a:pt x="0" y="0"/>
                </a:moveTo>
                <a:lnTo>
                  <a:pt x="12307202" y="0"/>
                </a:lnTo>
                <a:lnTo>
                  <a:pt x="12307202" y="6728849"/>
                </a:lnTo>
                <a:lnTo>
                  <a:pt x="0" y="67288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8651" r="-11090"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682259" y="494206"/>
            <a:ext cx="10923483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DATOS DE EUROSTAT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81651" y="8683625"/>
            <a:ext cx="6524697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500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FUENTE ALEASOFT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41088" y="8354648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856019" y="4898233"/>
            <a:ext cx="14622446" cy="1803400"/>
            <a:chOff x="0" y="0"/>
            <a:chExt cx="19496595" cy="2404533"/>
          </a:xfrm>
        </p:grpSpPr>
        <p:sp>
          <p:nvSpPr>
            <p:cNvPr id="15" name="TextBox 15"/>
            <p:cNvSpPr txBox="1"/>
            <p:nvPr/>
          </p:nvSpPr>
          <p:spPr>
            <a:xfrm>
              <a:off x="0" y="-114300"/>
              <a:ext cx="6063731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SISTEMA BIDIRECCIONAL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984760" y="-114300"/>
              <a:ext cx="9511835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DESCONOCIMIENTO DEL ESTADO DE LA RED</a:t>
              </a:r>
            </a:p>
          </p:txBody>
        </p:sp>
        <p:sp>
          <p:nvSpPr>
            <p:cNvPr id="17" name="AutoShape 17"/>
            <p:cNvSpPr/>
            <p:nvPr/>
          </p:nvSpPr>
          <p:spPr>
            <a:xfrm>
              <a:off x="6927331" y="1202267"/>
              <a:ext cx="2598459" cy="0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2018766" y="7359650"/>
            <a:ext cx="13273699" cy="1898650"/>
            <a:chOff x="0" y="0"/>
            <a:chExt cx="17698265" cy="2531533"/>
          </a:xfrm>
        </p:grpSpPr>
        <p:sp>
          <p:nvSpPr>
            <p:cNvPr id="19" name="TextBox 19"/>
            <p:cNvSpPr txBox="1"/>
            <p:nvPr/>
          </p:nvSpPr>
          <p:spPr>
            <a:xfrm>
              <a:off x="0" y="12700"/>
              <a:ext cx="5315991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ENERGÍAS RENOVABLES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983678" y="-114300"/>
              <a:ext cx="6714587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INESTABILIDAD DE GENERACIÓN</a:t>
              </a:r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710336" y="1202267"/>
              <a:ext cx="2598459" cy="0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241871" y="2345175"/>
            <a:ext cx="14048323" cy="1803400"/>
            <a:chOff x="0" y="0"/>
            <a:chExt cx="18731097" cy="2404533"/>
          </a:xfrm>
        </p:grpSpPr>
        <p:sp>
          <p:nvSpPr>
            <p:cNvPr id="23" name="AutoShape 23"/>
            <p:cNvSpPr/>
            <p:nvPr/>
          </p:nvSpPr>
          <p:spPr>
            <a:xfrm>
              <a:off x="6389873" y="1202267"/>
              <a:ext cx="2598459" cy="0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114300"/>
              <a:ext cx="4967473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NUEVO PARADIGMA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12772" y="-114300"/>
              <a:ext cx="8918325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DESCONOCIMIENTO DE LA ARQUITECTURA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001120" y="494348"/>
            <a:ext cx="14112598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PROBLEMAS ENCONTRADOS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3985861" y="3002897"/>
            <a:ext cx="9339510" cy="5306078"/>
            <a:chOff x="0" y="0"/>
            <a:chExt cx="12452680" cy="7074771"/>
          </a:xfrm>
        </p:grpSpPr>
        <p:grpSp>
          <p:nvGrpSpPr>
            <p:cNvPr id="29" name="Group 29"/>
            <p:cNvGrpSpPr/>
            <p:nvPr/>
          </p:nvGrpSpPr>
          <p:grpSpPr>
            <a:xfrm rot="-1048110">
              <a:off x="276788" y="1701268"/>
              <a:ext cx="11899105" cy="3672234"/>
              <a:chOff x="0" y="0"/>
              <a:chExt cx="431999" cy="133321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431999" cy="133321"/>
              </a:xfrm>
              <a:custGeom>
                <a:avLst/>
                <a:gdLst/>
                <a:ahLst/>
                <a:cxnLst/>
                <a:rect l="l" t="t" r="r" b="b"/>
                <a:pathLst>
                  <a:path w="431999" h="133321">
                    <a:moveTo>
                      <a:pt x="60467" y="0"/>
                    </a:moveTo>
                    <a:lnTo>
                      <a:pt x="371532" y="0"/>
                    </a:lnTo>
                    <a:cubicBezTo>
                      <a:pt x="387569" y="0"/>
                      <a:pt x="402949" y="6371"/>
                      <a:pt x="414288" y="17710"/>
                    </a:cubicBezTo>
                    <a:cubicBezTo>
                      <a:pt x="425628" y="29050"/>
                      <a:pt x="431999" y="44430"/>
                      <a:pt x="431999" y="60467"/>
                    </a:cubicBezTo>
                    <a:lnTo>
                      <a:pt x="431999" y="72854"/>
                    </a:lnTo>
                    <a:cubicBezTo>
                      <a:pt x="431999" y="106249"/>
                      <a:pt x="404927" y="133321"/>
                      <a:pt x="371532" y="133321"/>
                    </a:cubicBezTo>
                    <a:lnTo>
                      <a:pt x="60467" y="133321"/>
                    </a:lnTo>
                    <a:cubicBezTo>
                      <a:pt x="44430" y="133321"/>
                      <a:pt x="29050" y="126950"/>
                      <a:pt x="17710" y="115611"/>
                    </a:cubicBezTo>
                    <a:cubicBezTo>
                      <a:pt x="6371" y="104271"/>
                      <a:pt x="0" y="88891"/>
                      <a:pt x="0" y="72854"/>
                    </a:cubicBezTo>
                    <a:lnTo>
                      <a:pt x="0" y="60467"/>
                    </a:lnTo>
                    <a:cubicBezTo>
                      <a:pt x="0" y="27072"/>
                      <a:pt x="27072" y="0"/>
                      <a:pt x="6046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38100"/>
                <a:ext cx="431999" cy="1714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 rot="-1053004">
              <a:off x="933289" y="2217341"/>
              <a:ext cx="10863230" cy="25873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237"/>
                </a:lnSpc>
                <a:spcBef>
                  <a:spcPct val="0"/>
                </a:spcBef>
              </a:pPr>
              <a:r>
                <a:rPr lang="en-US" sz="11598" dirty="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¿SOLUCIÓN?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0538" y="2366864"/>
            <a:ext cx="15526923" cy="7467698"/>
            <a:chOff x="0" y="0"/>
            <a:chExt cx="20702564" cy="9956931"/>
          </a:xfrm>
        </p:grpSpPr>
        <p:sp>
          <p:nvSpPr>
            <p:cNvPr id="15" name="TextBox 15"/>
            <p:cNvSpPr txBox="1"/>
            <p:nvPr/>
          </p:nvSpPr>
          <p:spPr>
            <a:xfrm>
              <a:off x="6999788" y="-114300"/>
              <a:ext cx="5764752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SISTEMA DIGITALIZADO</a:t>
              </a:r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882164" y="2510358"/>
              <a:ext cx="0" cy="2598459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999788" y="5096116"/>
              <a:ext cx="5764752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CONTADORES INTELIGENTES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3140720"/>
              <a:ext cx="461722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SENSORES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937812" y="2589983"/>
              <a:ext cx="5764752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SISTEMAS DISTRIBUIDOS</a:t>
              </a:r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2854343" y="2380287"/>
              <a:ext cx="1837388" cy="1837388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AutoShape 21"/>
            <p:cNvSpPr/>
            <p:nvPr/>
          </p:nvSpPr>
          <p:spPr>
            <a:xfrm flipH="1">
              <a:off x="5072598" y="2380287"/>
              <a:ext cx="1837388" cy="1837388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979965" y="4470345"/>
              <a:ext cx="2657290" cy="2657290"/>
            </a:xfrm>
            <a:custGeom>
              <a:avLst/>
              <a:gdLst/>
              <a:ahLst/>
              <a:cxnLst/>
              <a:rect l="l" t="t" r="r" b="b"/>
              <a:pathLst>
                <a:path w="2657290" h="2657290">
                  <a:moveTo>
                    <a:pt x="0" y="0"/>
                  </a:moveTo>
                  <a:lnTo>
                    <a:pt x="2657290" y="0"/>
                  </a:lnTo>
                  <a:lnTo>
                    <a:pt x="2657290" y="2657290"/>
                  </a:lnTo>
                  <a:lnTo>
                    <a:pt x="0" y="26572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8761974" y="7716550"/>
              <a:ext cx="2240381" cy="2240381"/>
            </a:xfrm>
            <a:custGeom>
              <a:avLst/>
              <a:gdLst/>
              <a:ahLst/>
              <a:cxnLst/>
              <a:rect l="l" t="t" r="r" b="b"/>
              <a:pathLst>
                <a:path w="2240381" h="2240381">
                  <a:moveTo>
                    <a:pt x="0" y="0"/>
                  </a:moveTo>
                  <a:lnTo>
                    <a:pt x="2240381" y="0"/>
                  </a:lnTo>
                  <a:lnTo>
                    <a:pt x="2240381" y="2240381"/>
                  </a:lnTo>
                  <a:lnTo>
                    <a:pt x="0" y="22403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6651360" y="5210416"/>
              <a:ext cx="2337658" cy="2337658"/>
            </a:xfrm>
            <a:custGeom>
              <a:avLst/>
              <a:gdLst/>
              <a:ahLst/>
              <a:cxnLst/>
              <a:rect l="l" t="t" r="r" b="b"/>
              <a:pathLst>
                <a:path w="2337658" h="2337658">
                  <a:moveTo>
                    <a:pt x="0" y="0"/>
                  </a:moveTo>
                  <a:lnTo>
                    <a:pt x="2337657" y="0"/>
                  </a:lnTo>
                  <a:lnTo>
                    <a:pt x="2337657" y="2337658"/>
                  </a:lnTo>
                  <a:lnTo>
                    <a:pt x="0" y="2337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635795" y="494348"/>
            <a:ext cx="7142880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SMART GRIDS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635795" y="494348"/>
            <a:ext cx="7142880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SMART GRIDS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573765" y="2910327"/>
            <a:ext cx="15491087" cy="2774950"/>
            <a:chOff x="0" y="0"/>
            <a:chExt cx="20654783" cy="3699933"/>
          </a:xfrm>
        </p:grpSpPr>
        <p:sp>
          <p:nvSpPr>
            <p:cNvPr id="17" name="TextBox 17"/>
            <p:cNvSpPr txBox="1"/>
            <p:nvPr/>
          </p:nvSpPr>
          <p:spPr>
            <a:xfrm>
              <a:off x="10093647" y="-114300"/>
              <a:ext cx="10561136" cy="381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INTEGRA DINÁMICAMENTE LAS ACCIONES DE LOS USUARIOS CONTECTADOS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14300"/>
              <a:ext cx="7775135" cy="381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INTEGRA SISTEMAS DE INFORMACIÓN Y CONTROL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122877" y="5883542"/>
            <a:ext cx="12826876" cy="3498582"/>
            <a:chOff x="0" y="0"/>
            <a:chExt cx="17102501" cy="4664776"/>
          </a:xfrm>
        </p:grpSpPr>
        <p:sp>
          <p:nvSpPr>
            <p:cNvPr id="20" name="AutoShape 20"/>
            <p:cNvSpPr/>
            <p:nvPr/>
          </p:nvSpPr>
          <p:spPr>
            <a:xfrm>
              <a:off x="3177859" y="89803"/>
              <a:ext cx="1837388" cy="1837388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2664526"/>
              <a:ext cx="17102501" cy="20002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599"/>
                </a:lnSpc>
                <a:spcBef>
                  <a:spcPct val="0"/>
                </a:spcBef>
              </a:pPr>
              <a:r>
                <a:rPr lang="en-US" sz="9000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ALGORITMOS COMPLEJOS</a:t>
              </a:r>
            </a:p>
          </p:txBody>
        </p:sp>
        <p:sp>
          <p:nvSpPr>
            <p:cNvPr id="22" name="AutoShape 22"/>
            <p:cNvSpPr/>
            <p:nvPr/>
          </p:nvSpPr>
          <p:spPr>
            <a:xfrm flipH="1">
              <a:off x="13260839" y="179605"/>
              <a:ext cx="1837388" cy="1837388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19456" y="494348"/>
            <a:ext cx="12649088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INTELIGENCIA ARTIFICIAL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763782" y="2283941"/>
            <a:ext cx="11495518" cy="6537966"/>
            <a:chOff x="0" y="0"/>
            <a:chExt cx="15327357" cy="8717287"/>
          </a:xfrm>
        </p:grpSpPr>
        <p:sp>
          <p:nvSpPr>
            <p:cNvPr id="17" name="TextBox 17"/>
            <p:cNvSpPr txBox="1"/>
            <p:nvPr/>
          </p:nvSpPr>
          <p:spPr>
            <a:xfrm>
              <a:off x="1543518" y="-114300"/>
              <a:ext cx="5926880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APRENDIZAJE AUTOMÁTICO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08496" y="6198454"/>
              <a:ext cx="6996922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APRENDIZAJE NO SUPERVISADO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141074" y="3698445"/>
              <a:ext cx="6186284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APRENDIZAJE POR REFUERZO</a:t>
              </a:r>
            </a:p>
          </p:txBody>
        </p:sp>
        <p:sp>
          <p:nvSpPr>
            <p:cNvPr id="20" name="AutoShape 20"/>
            <p:cNvSpPr/>
            <p:nvPr/>
          </p:nvSpPr>
          <p:spPr>
            <a:xfrm flipH="1">
              <a:off x="89803" y="2894052"/>
              <a:ext cx="1837388" cy="1837388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7213883" y="2983854"/>
              <a:ext cx="1837388" cy="1837388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4506957" y="2894052"/>
              <a:ext cx="0" cy="2598459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31920" y="4472664"/>
            <a:ext cx="4998393" cy="3086124"/>
            <a:chOff x="0" y="0"/>
            <a:chExt cx="757924" cy="4679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57924" cy="467960"/>
            </a:xfrm>
            <a:custGeom>
              <a:avLst/>
              <a:gdLst/>
              <a:ahLst/>
              <a:cxnLst/>
              <a:rect l="l" t="t" r="r" b="b"/>
              <a:pathLst>
                <a:path w="757924" h="467960">
                  <a:moveTo>
                    <a:pt x="378962" y="0"/>
                  </a:moveTo>
                  <a:cubicBezTo>
                    <a:pt x="169667" y="0"/>
                    <a:pt x="0" y="104756"/>
                    <a:pt x="0" y="233980"/>
                  </a:cubicBezTo>
                  <a:cubicBezTo>
                    <a:pt x="0" y="363204"/>
                    <a:pt x="169667" y="467960"/>
                    <a:pt x="378962" y="467960"/>
                  </a:cubicBezTo>
                  <a:cubicBezTo>
                    <a:pt x="588257" y="467960"/>
                    <a:pt x="757924" y="363204"/>
                    <a:pt x="757924" y="233980"/>
                  </a:cubicBezTo>
                  <a:cubicBezTo>
                    <a:pt x="757924" y="104756"/>
                    <a:pt x="588257" y="0"/>
                    <a:pt x="378962" y="0"/>
                  </a:cubicBezTo>
                  <a:close/>
                </a:path>
              </a:pathLst>
            </a:custGeom>
            <a:solidFill>
              <a:srgbClr val="DBE7FF"/>
            </a:solidFill>
            <a:ln w="38100" cap="sq">
              <a:solidFill>
                <a:srgbClr val="203660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055" y="5771"/>
              <a:ext cx="615814" cy="4183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028699" y="5129381"/>
            <a:ext cx="4445159" cy="188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 dirty="0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APRENDIZAJE SUPERVISADO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832393" y="3595133"/>
            <a:ext cx="4664032" cy="4145569"/>
            <a:chOff x="0" y="0"/>
            <a:chExt cx="6218709" cy="5527425"/>
          </a:xfrm>
        </p:grpSpPr>
        <p:sp>
          <p:nvSpPr>
            <p:cNvPr id="15" name="Freeform 15"/>
            <p:cNvSpPr/>
            <p:nvPr/>
          </p:nvSpPr>
          <p:spPr>
            <a:xfrm>
              <a:off x="1491376" y="2291469"/>
              <a:ext cx="3235956" cy="3235956"/>
            </a:xfrm>
            <a:custGeom>
              <a:avLst/>
              <a:gdLst/>
              <a:ahLst/>
              <a:cxnLst/>
              <a:rect l="l" t="t" r="r" b="b"/>
              <a:pathLst>
                <a:path w="3235956" h="3235956">
                  <a:moveTo>
                    <a:pt x="0" y="0"/>
                  </a:moveTo>
                  <a:lnTo>
                    <a:pt x="3235957" y="0"/>
                  </a:lnTo>
                  <a:lnTo>
                    <a:pt x="3235957" y="3235956"/>
                  </a:lnTo>
                  <a:lnTo>
                    <a:pt x="0" y="3235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14300"/>
              <a:ext cx="6218709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CLASIFICACIÓN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424886" y="2768127"/>
            <a:ext cx="5457217" cy="5457217"/>
            <a:chOff x="0" y="0"/>
            <a:chExt cx="812800" cy="8128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BE7FF"/>
            </a:solidFill>
            <a:ln w="38100" cap="sq">
              <a:solidFill>
                <a:srgbClr val="4D6BA7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791575" y="3509408"/>
            <a:ext cx="4664032" cy="917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REGRESIÓN</a:t>
            </a:r>
          </a:p>
        </p:txBody>
      </p:sp>
      <p:sp>
        <p:nvSpPr>
          <p:cNvPr id="22" name="Freeform 22"/>
          <p:cNvSpPr/>
          <p:nvPr/>
        </p:nvSpPr>
        <p:spPr>
          <a:xfrm>
            <a:off x="10910107" y="5313734"/>
            <a:ext cx="2426967" cy="2426967"/>
          </a:xfrm>
          <a:custGeom>
            <a:avLst/>
            <a:gdLst/>
            <a:ahLst/>
            <a:cxnLst/>
            <a:rect l="l" t="t" r="r" b="b"/>
            <a:pathLst>
              <a:path w="3235956" h="3235956">
                <a:moveTo>
                  <a:pt x="0" y="0"/>
                </a:moveTo>
                <a:lnTo>
                  <a:pt x="3235957" y="0"/>
                </a:lnTo>
                <a:lnTo>
                  <a:pt x="3235957" y="3235956"/>
                </a:lnTo>
                <a:lnTo>
                  <a:pt x="0" y="32359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3" name="TextBox 23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9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046677" y="494348"/>
            <a:ext cx="13845006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APRENDIZAJE SUPERVISADO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629164" y="3084430"/>
            <a:ext cx="13029672" cy="4701799"/>
            <a:chOff x="0" y="0"/>
            <a:chExt cx="17372896" cy="6269065"/>
          </a:xfrm>
        </p:grpSpPr>
        <p:sp>
          <p:nvSpPr>
            <p:cNvPr id="15" name="Freeform 15"/>
            <p:cNvSpPr/>
            <p:nvPr/>
          </p:nvSpPr>
          <p:spPr>
            <a:xfrm>
              <a:off x="13411311" y="3016896"/>
              <a:ext cx="3252169" cy="3252169"/>
            </a:xfrm>
            <a:custGeom>
              <a:avLst/>
              <a:gdLst/>
              <a:ahLst/>
              <a:cxnLst/>
              <a:rect l="l" t="t" r="r" b="b"/>
              <a:pathLst>
                <a:path w="3252169" h="3252169">
                  <a:moveTo>
                    <a:pt x="0" y="0"/>
                  </a:moveTo>
                  <a:lnTo>
                    <a:pt x="3252169" y="0"/>
                  </a:lnTo>
                  <a:lnTo>
                    <a:pt x="3252169" y="3252169"/>
                  </a:lnTo>
                  <a:lnTo>
                    <a:pt x="0" y="3252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7060363" y="3016896"/>
              <a:ext cx="3252169" cy="3252169"/>
            </a:xfrm>
            <a:custGeom>
              <a:avLst/>
              <a:gdLst/>
              <a:ahLst/>
              <a:cxnLst/>
              <a:rect l="l" t="t" r="r" b="b"/>
              <a:pathLst>
                <a:path w="3252169" h="3252169">
                  <a:moveTo>
                    <a:pt x="0" y="0"/>
                  </a:moveTo>
                  <a:lnTo>
                    <a:pt x="3252169" y="0"/>
                  </a:lnTo>
                  <a:lnTo>
                    <a:pt x="3252169" y="3252169"/>
                  </a:lnTo>
                  <a:lnTo>
                    <a:pt x="0" y="3252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14300"/>
              <a:ext cx="4078624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RANDOM FOREST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47136" y="533400"/>
              <a:ext cx="4078624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XGBOOST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701895" y="-114300"/>
              <a:ext cx="4671000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RED NEURONAL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413227" y="3016896"/>
              <a:ext cx="3252169" cy="3252169"/>
            </a:xfrm>
            <a:custGeom>
              <a:avLst/>
              <a:gdLst/>
              <a:ahLst/>
              <a:cxnLst/>
              <a:rect l="l" t="t" r="r" b="b"/>
              <a:pathLst>
                <a:path w="3252169" h="3252169">
                  <a:moveTo>
                    <a:pt x="0" y="0"/>
                  </a:moveTo>
                  <a:lnTo>
                    <a:pt x="3252170" y="0"/>
                  </a:lnTo>
                  <a:lnTo>
                    <a:pt x="3252170" y="3252169"/>
                  </a:lnTo>
                  <a:lnTo>
                    <a:pt x="0" y="3252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10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919116" y="494348"/>
            <a:ext cx="12449768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MODELOS UTILIZADOS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7551" y="494348"/>
            <a:ext cx="567289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OBJETIVOS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028700" y="2368121"/>
            <a:ext cx="15675859" cy="6709172"/>
            <a:chOff x="0" y="0"/>
            <a:chExt cx="20901146" cy="8945562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14300"/>
              <a:ext cx="19506848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spcBef>
                  <a:spcPct val="0"/>
                </a:spcBef>
                <a:buAutoNum type="arabicPeriod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 ANÁLISIS E INVESTIGACIÓN DE TECNOLOGÍAS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1842029"/>
              <a:ext cx="19691826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spcBef>
                  <a:spcPct val="0"/>
                </a:spcBef>
                <a:buAutoNum type="arabicPeriod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 INGENIERÍA DE DATOS Y PREPROCESAMIENTO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802062"/>
              <a:ext cx="20901146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spcBef>
                  <a:spcPct val="0"/>
                </a:spcBef>
                <a:buAutoNum type="arabicPeriod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 CONSTRUCCIÓN Y ENTRENAMIENTO DE MODELOS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5762095"/>
              <a:ext cx="19506848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spcBef>
                  <a:spcPct val="0"/>
                </a:spcBef>
                <a:buAutoNum type="arabicPeriod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 OPTIMIZACIÓN DE HIPERPARÁMETROS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722129"/>
              <a:ext cx="19506848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spcBef>
                  <a:spcPct val="0"/>
                </a:spcBef>
                <a:buAutoNum type="arabicPeriod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 EVALUACIÓN Y ANÁLISIS DE RESULTADOS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7072036" y="2717016"/>
            <a:ext cx="2195789" cy="2545842"/>
          </a:xfrm>
          <a:custGeom>
            <a:avLst/>
            <a:gdLst/>
            <a:ahLst/>
            <a:cxnLst/>
            <a:rect l="l" t="t" r="r" b="b"/>
            <a:pathLst>
              <a:path w="2195789" h="2545842">
                <a:moveTo>
                  <a:pt x="0" y="0"/>
                </a:moveTo>
                <a:lnTo>
                  <a:pt x="2195789" y="0"/>
                </a:lnTo>
                <a:lnTo>
                  <a:pt x="2195789" y="2545842"/>
                </a:lnTo>
                <a:lnTo>
                  <a:pt x="0" y="25458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Freeform 15"/>
          <p:cNvSpPr/>
          <p:nvPr/>
        </p:nvSpPr>
        <p:spPr>
          <a:xfrm>
            <a:off x="10455758" y="2597658"/>
            <a:ext cx="5657427" cy="2545842"/>
          </a:xfrm>
          <a:custGeom>
            <a:avLst/>
            <a:gdLst/>
            <a:ahLst/>
            <a:cxnLst/>
            <a:rect l="l" t="t" r="r" b="b"/>
            <a:pathLst>
              <a:path w="5657427" h="2545842">
                <a:moveTo>
                  <a:pt x="0" y="0"/>
                </a:moveTo>
                <a:lnTo>
                  <a:pt x="5657427" y="0"/>
                </a:lnTo>
                <a:lnTo>
                  <a:pt x="5657427" y="2545842"/>
                </a:lnTo>
                <a:lnTo>
                  <a:pt x="0" y="25458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6" name="Freeform 16"/>
          <p:cNvSpPr/>
          <p:nvPr/>
        </p:nvSpPr>
        <p:spPr>
          <a:xfrm>
            <a:off x="1028700" y="5262858"/>
            <a:ext cx="7315200" cy="2953512"/>
          </a:xfrm>
          <a:custGeom>
            <a:avLst/>
            <a:gdLst/>
            <a:ahLst/>
            <a:cxnLst/>
            <a:rect l="l" t="t" r="r" b="b"/>
            <a:pathLst>
              <a:path w="7315200" h="2953512">
                <a:moveTo>
                  <a:pt x="0" y="0"/>
                </a:moveTo>
                <a:lnTo>
                  <a:pt x="7315200" y="0"/>
                </a:lnTo>
                <a:lnTo>
                  <a:pt x="7315200" y="2953512"/>
                </a:lnTo>
                <a:lnTo>
                  <a:pt x="0" y="29535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9944100" y="5705475"/>
            <a:ext cx="7315200" cy="1755648"/>
          </a:xfrm>
          <a:custGeom>
            <a:avLst/>
            <a:gdLst/>
            <a:ahLst/>
            <a:cxnLst/>
            <a:rect l="l" t="t" r="r" b="b"/>
            <a:pathLst>
              <a:path w="7315200" h="1755648">
                <a:moveTo>
                  <a:pt x="0" y="0"/>
                </a:moveTo>
                <a:lnTo>
                  <a:pt x="7315200" y="0"/>
                </a:lnTo>
                <a:lnTo>
                  <a:pt x="7315200" y="1755648"/>
                </a:lnTo>
                <a:lnTo>
                  <a:pt x="0" y="17556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8" name="Freeform 18"/>
          <p:cNvSpPr/>
          <p:nvPr/>
        </p:nvSpPr>
        <p:spPr>
          <a:xfrm>
            <a:off x="5481017" y="7805219"/>
            <a:ext cx="7315200" cy="2098824"/>
          </a:xfrm>
          <a:custGeom>
            <a:avLst/>
            <a:gdLst/>
            <a:ahLst/>
            <a:cxnLst/>
            <a:rect l="l" t="t" r="r" b="b"/>
            <a:pathLst>
              <a:path w="7315200" h="2098824">
                <a:moveTo>
                  <a:pt x="0" y="0"/>
                </a:moveTo>
                <a:lnTo>
                  <a:pt x="7315200" y="0"/>
                </a:lnTo>
                <a:lnTo>
                  <a:pt x="7315200" y="2098824"/>
                </a:lnTo>
                <a:lnTo>
                  <a:pt x="0" y="20988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9" name="Freeform 19"/>
          <p:cNvSpPr/>
          <p:nvPr/>
        </p:nvSpPr>
        <p:spPr>
          <a:xfrm>
            <a:off x="2997027" y="2890805"/>
            <a:ext cx="2198265" cy="2198265"/>
          </a:xfrm>
          <a:custGeom>
            <a:avLst/>
            <a:gdLst/>
            <a:ahLst/>
            <a:cxnLst/>
            <a:rect l="l" t="t" r="r" b="b"/>
            <a:pathLst>
              <a:path w="2198265" h="2198265">
                <a:moveTo>
                  <a:pt x="0" y="0"/>
                </a:moveTo>
                <a:lnTo>
                  <a:pt x="2198265" y="0"/>
                </a:lnTo>
                <a:lnTo>
                  <a:pt x="2198265" y="2198265"/>
                </a:lnTo>
                <a:lnTo>
                  <a:pt x="0" y="21982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20" name="TextBox 20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709592" y="494348"/>
            <a:ext cx="6868815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TECNOLOGÍAS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2293764" y="2994290"/>
            <a:ext cx="5475460" cy="2956748"/>
          </a:xfrm>
          <a:custGeom>
            <a:avLst/>
            <a:gdLst/>
            <a:ahLst/>
            <a:cxnLst/>
            <a:rect l="l" t="t" r="r" b="b"/>
            <a:pathLst>
              <a:path w="5475460" h="2956748">
                <a:moveTo>
                  <a:pt x="0" y="0"/>
                </a:moveTo>
                <a:lnTo>
                  <a:pt x="5475460" y="0"/>
                </a:lnTo>
                <a:lnTo>
                  <a:pt x="5475460" y="2956748"/>
                </a:lnTo>
                <a:lnTo>
                  <a:pt x="0" y="29567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Freeform 15"/>
          <p:cNvSpPr/>
          <p:nvPr/>
        </p:nvSpPr>
        <p:spPr>
          <a:xfrm>
            <a:off x="12001155" y="2837427"/>
            <a:ext cx="3049717" cy="3270474"/>
          </a:xfrm>
          <a:custGeom>
            <a:avLst/>
            <a:gdLst/>
            <a:ahLst/>
            <a:cxnLst/>
            <a:rect l="l" t="t" r="r" b="b"/>
            <a:pathLst>
              <a:path w="3049717" h="3270474">
                <a:moveTo>
                  <a:pt x="0" y="0"/>
                </a:moveTo>
                <a:lnTo>
                  <a:pt x="3049717" y="0"/>
                </a:lnTo>
                <a:lnTo>
                  <a:pt x="3049717" y="3270475"/>
                </a:lnTo>
                <a:lnTo>
                  <a:pt x="0" y="32704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6" name="Freeform 16"/>
          <p:cNvSpPr/>
          <p:nvPr/>
        </p:nvSpPr>
        <p:spPr>
          <a:xfrm>
            <a:off x="5445116" y="7112947"/>
            <a:ext cx="7397767" cy="2145353"/>
          </a:xfrm>
          <a:custGeom>
            <a:avLst/>
            <a:gdLst/>
            <a:ahLst/>
            <a:cxnLst/>
            <a:rect l="l" t="t" r="r" b="b"/>
            <a:pathLst>
              <a:path w="7397767" h="2145353">
                <a:moveTo>
                  <a:pt x="0" y="0"/>
                </a:moveTo>
                <a:lnTo>
                  <a:pt x="7397768" y="0"/>
                </a:lnTo>
                <a:lnTo>
                  <a:pt x="7397768" y="2145353"/>
                </a:lnTo>
                <a:lnTo>
                  <a:pt x="0" y="21453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TextBox 17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709592" y="494348"/>
            <a:ext cx="6868815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TECNOLOGÍAS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50863" y="277918"/>
            <a:ext cx="13346707" cy="261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CICLO DE VIDA DEL APRENDIZAJE AUTOMÁTICO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299594" y="3202093"/>
            <a:ext cx="17621679" cy="6632470"/>
            <a:chOff x="0" y="0"/>
            <a:chExt cx="23495573" cy="8843293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7787151" cy="1756985"/>
              <a:chOff x="0" y="0"/>
              <a:chExt cx="1538203" cy="34705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538203" cy="347059"/>
              </a:xfrm>
              <a:custGeom>
                <a:avLst/>
                <a:gdLst/>
                <a:ahLst/>
                <a:cxnLst/>
                <a:rect l="l" t="t" r="r" b="b"/>
                <a:pathLst>
                  <a:path w="1538203" h="347059">
                    <a:moveTo>
                      <a:pt x="43744" y="0"/>
                    </a:moveTo>
                    <a:lnTo>
                      <a:pt x="1494458" y="0"/>
                    </a:lnTo>
                    <a:cubicBezTo>
                      <a:pt x="1506060" y="0"/>
                      <a:pt x="1517187" y="4609"/>
                      <a:pt x="1525390" y="12812"/>
                    </a:cubicBezTo>
                    <a:cubicBezTo>
                      <a:pt x="1533594" y="21016"/>
                      <a:pt x="1538203" y="32143"/>
                      <a:pt x="1538203" y="43744"/>
                    </a:cubicBezTo>
                    <a:lnTo>
                      <a:pt x="1538203" y="303314"/>
                    </a:lnTo>
                    <a:cubicBezTo>
                      <a:pt x="1538203" y="314916"/>
                      <a:pt x="1533594" y="326043"/>
                      <a:pt x="1525390" y="334246"/>
                    </a:cubicBezTo>
                    <a:cubicBezTo>
                      <a:pt x="1517187" y="342450"/>
                      <a:pt x="1506060" y="347059"/>
                      <a:pt x="1494458" y="347059"/>
                    </a:cubicBezTo>
                    <a:lnTo>
                      <a:pt x="43744" y="347059"/>
                    </a:lnTo>
                    <a:cubicBezTo>
                      <a:pt x="32143" y="347059"/>
                      <a:pt x="21016" y="342450"/>
                      <a:pt x="12812" y="334246"/>
                    </a:cubicBezTo>
                    <a:cubicBezTo>
                      <a:pt x="4609" y="326043"/>
                      <a:pt x="0" y="314916"/>
                      <a:pt x="0" y="303314"/>
                    </a:cubicBezTo>
                    <a:lnTo>
                      <a:pt x="0" y="43744"/>
                    </a:lnTo>
                    <a:cubicBezTo>
                      <a:pt x="0" y="32143"/>
                      <a:pt x="4609" y="21016"/>
                      <a:pt x="12812" y="12812"/>
                    </a:cubicBezTo>
                    <a:cubicBezTo>
                      <a:pt x="21016" y="4609"/>
                      <a:pt x="32143" y="0"/>
                      <a:pt x="43744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38100"/>
                <a:ext cx="1538203" cy="38515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544041" y="390602"/>
              <a:ext cx="6699070" cy="8900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600"/>
                </a:lnSpc>
                <a:spcBef>
                  <a:spcPct val="0"/>
                </a:spcBef>
              </a:pPr>
              <a:r>
                <a:rPr lang="en-US" sz="40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ADQUISICIÓN DE DATOS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9996505" y="345715"/>
              <a:ext cx="6749534" cy="2242828"/>
              <a:chOff x="0" y="0"/>
              <a:chExt cx="1333241" cy="443028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333241" cy="443028"/>
              </a:xfrm>
              <a:custGeom>
                <a:avLst/>
                <a:gdLst/>
                <a:ahLst/>
                <a:cxnLst/>
                <a:rect l="l" t="t" r="r" b="b"/>
                <a:pathLst>
                  <a:path w="1333241" h="443028">
                    <a:moveTo>
                      <a:pt x="50469" y="0"/>
                    </a:moveTo>
                    <a:lnTo>
                      <a:pt x="1282772" y="0"/>
                    </a:lnTo>
                    <a:cubicBezTo>
                      <a:pt x="1296157" y="0"/>
                      <a:pt x="1308994" y="5317"/>
                      <a:pt x="1318459" y="14782"/>
                    </a:cubicBezTo>
                    <a:cubicBezTo>
                      <a:pt x="1327924" y="24247"/>
                      <a:pt x="1333241" y="37084"/>
                      <a:pt x="1333241" y="50469"/>
                    </a:cubicBezTo>
                    <a:lnTo>
                      <a:pt x="1333241" y="392558"/>
                    </a:lnTo>
                    <a:cubicBezTo>
                      <a:pt x="1333241" y="420432"/>
                      <a:pt x="1310645" y="443028"/>
                      <a:pt x="1282772" y="443028"/>
                    </a:cubicBezTo>
                    <a:lnTo>
                      <a:pt x="50469" y="443028"/>
                    </a:lnTo>
                    <a:cubicBezTo>
                      <a:pt x="22596" y="443028"/>
                      <a:pt x="0" y="420432"/>
                      <a:pt x="0" y="392558"/>
                    </a:cubicBezTo>
                    <a:lnTo>
                      <a:pt x="0" y="50469"/>
                    </a:lnTo>
                    <a:cubicBezTo>
                      <a:pt x="0" y="22596"/>
                      <a:pt x="22596" y="0"/>
                      <a:pt x="50469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333241" cy="48112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0345993" y="509338"/>
              <a:ext cx="6050559" cy="18298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600"/>
                </a:lnSpc>
                <a:spcBef>
                  <a:spcPct val="0"/>
                </a:spcBef>
              </a:pPr>
              <a:r>
                <a:rPr lang="en-US" sz="40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ENTRENAMIENTO DE MODELOS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6746039" y="2845723"/>
              <a:ext cx="6749534" cy="2242828"/>
              <a:chOff x="0" y="0"/>
              <a:chExt cx="1333241" cy="443028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333241" cy="443028"/>
              </a:xfrm>
              <a:custGeom>
                <a:avLst/>
                <a:gdLst/>
                <a:ahLst/>
                <a:cxnLst/>
                <a:rect l="l" t="t" r="r" b="b"/>
                <a:pathLst>
                  <a:path w="1333241" h="443028">
                    <a:moveTo>
                      <a:pt x="50469" y="0"/>
                    </a:moveTo>
                    <a:lnTo>
                      <a:pt x="1282772" y="0"/>
                    </a:lnTo>
                    <a:cubicBezTo>
                      <a:pt x="1296157" y="0"/>
                      <a:pt x="1308994" y="5317"/>
                      <a:pt x="1318459" y="14782"/>
                    </a:cubicBezTo>
                    <a:cubicBezTo>
                      <a:pt x="1327924" y="24247"/>
                      <a:pt x="1333241" y="37084"/>
                      <a:pt x="1333241" y="50469"/>
                    </a:cubicBezTo>
                    <a:lnTo>
                      <a:pt x="1333241" y="392558"/>
                    </a:lnTo>
                    <a:cubicBezTo>
                      <a:pt x="1333241" y="420432"/>
                      <a:pt x="1310645" y="443028"/>
                      <a:pt x="1282772" y="443028"/>
                    </a:cubicBezTo>
                    <a:lnTo>
                      <a:pt x="50469" y="443028"/>
                    </a:lnTo>
                    <a:cubicBezTo>
                      <a:pt x="22596" y="443028"/>
                      <a:pt x="0" y="420432"/>
                      <a:pt x="0" y="392558"/>
                    </a:cubicBezTo>
                    <a:lnTo>
                      <a:pt x="0" y="50469"/>
                    </a:lnTo>
                    <a:cubicBezTo>
                      <a:pt x="0" y="22596"/>
                      <a:pt x="22596" y="0"/>
                      <a:pt x="50469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333241" cy="48112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7095527" y="3009346"/>
              <a:ext cx="6050559" cy="18298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600"/>
                </a:lnSpc>
                <a:spcBef>
                  <a:spcPct val="0"/>
                </a:spcBef>
              </a:pPr>
              <a:r>
                <a:rPr lang="en-US" sz="40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AJUSTE DE HIPERPARÁMETROS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1945532" y="3088645"/>
              <a:ext cx="7787151" cy="1756985"/>
              <a:chOff x="0" y="0"/>
              <a:chExt cx="1538203" cy="347059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538203" cy="347059"/>
              </a:xfrm>
              <a:custGeom>
                <a:avLst/>
                <a:gdLst/>
                <a:ahLst/>
                <a:cxnLst/>
                <a:rect l="l" t="t" r="r" b="b"/>
                <a:pathLst>
                  <a:path w="1538203" h="347059">
                    <a:moveTo>
                      <a:pt x="43744" y="0"/>
                    </a:moveTo>
                    <a:lnTo>
                      <a:pt x="1494458" y="0"/>
                    </a:lnTo>
                    <a:cubicBezTo>
                      <a:pt x="1506060" y="0"/>
                      <a:pt x="1517187" y="4609"/>
                      <a:pt x="1525390" y="12812"/>
                    </a:cubicBezTo>
                    <a:cubicBezTo>
                      <a:pt x="1533594" y="21016"/>
                      <a:pt x="1538203" y="32143"/>
                      <a:pt x="1538203" y="43744"/>
                    </a:cubicBezTo>
                    <a:lnTo>
                      <a:pt x="1538203" y="303314"/>
                    </a:lnTo>
                    <a:cubicBezTo>
                      <a:pt x="1538203" y="314916"/>
                      <a:pt x="1533594" y="326043"/>
                      <a:pt x="1525390" y="334246"/>
                    </a:cubicBezTo>
                    <a:cubicBezTo>
                      <a:pt x="1517187" y="342450"/>
                      <a:pt x="1506060" y="347059"/>
                      <a:pt x="1494458" y="347059"/>
                    </a:cubicBezTo>
                    <a:lnTo>
                      <a:pt x="43744" y="347059"/>
                    </a:lnTo>
                    <a:cubicBezTo>
                      <a:pt x="32143" y="347059"/>
                      <a:pt x="21016" y="342450"/>
                      <a:pt x="12812" y="334246"/>
                    </a:cubicBezTo>
                    <a:cubicBezTo>
                      <a:pt x="4609" y="326043"/>
                      <a:pt x="0" y="314916"/>
                      <a:pt x="0" y="303314"/>
                    </a:cubicBezTo>
                    <a:lnTo>
                      <a:pt x="0" y="43744"/>
                    </a:lnTo>
                    <a:cubicBezTo>
                      <a:pt x="0" y="32143"/>
                      <a:pt x="4609" y="21016"/>
                      <a:pt x="12812" y="12812"/>
                    </a:cubicBezTo>
                    <a:cubicBezTo>
                      <a:pt x="21016" y="4609"/>
                      <a:pt x="32143" y="0"/>
                      <a:pt x="43744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38100"/>
                <a:ext cx="1538203" cy="38515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2489573" y="3479246"/>
              <a:ext cx="6699070" cy="8900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600"/>
                </a:lnSpc>
                <a:spcBef>
                  <a:spcPct val="0"/>
                </a:spcBef>
              </a:pPr>
              <a:r>
                <a:rPr lang="en-US" sz="40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PROCESADO DE DATOS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718142" y="1580267"/>
              <a:ext cx="1227390" cy="2386871"/>
            </a:xfrm>
            <a:custGeom>
              <a:avLst/>
              <a:gdLst/>
              <a:ahLst/>
              <a:cxnLst/>
              <a:rect l="l" t="t" r="r" b="b"/>
              <a:pathLst>
                <a:path w="1227390" h="2386871">
                  <a:moveTo>
                    <a:pt x="0" y="0"/>
                  </a:moveTo>
                  <a:lnTo>
                    <a:pt x="0" y="2082070"/>
                  </a:lnTo>
                  <a:cubicBezTo>
                    <a:pt x="0" y="2162908"/>
                    <a:pt x="32113" y="2240435"/>
                    <a:pt x="89274" y="2297596"/>
                  </a:cubicBezTo>
                  <a:cubicBezTo>
                    <a:pt x="146435" y="2354758"/>
                    <a:pt x="223962" y="2386870"/>
                    <a:pt x="304800" y="2386870"/>
                  </a:cubicBezTo>
                  <a:lnTo>
                    <a:pt x="1227390" y="2386870"/>
                  </a:lnTo>
                </a:path>
              </a:pathLst>
            </a:custGeom>
            <a:ln w="1905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8603923" y="1467129"/>
              <a:ext cx="1392582" cy="1621516"/>
            </a:xfrm>
            <a:custGeom>
              <a:avLst/>
              <a:gdLst/>
              <a:ahLst/>
              <a:cxnLst/>
              <a:rect l="l" t="t" r="r" b="b"/>
              <a:pathLst>
                <a:path w="1392582" h="1621516">
                  <a:moveTo>
                    <a:pt x="0" y="1621516"/>
                  </a:moveTo>
                  <a:lnTo>
                    <a:pt x="0" y="304800"/>
                  </a:lnTo>
                  <a:cubicBezTo>
                    <a:pt x="0" y="136463"/>
                    <a:pt x="136464" y="0"/>
                    <a:pt x="304800" y="0"/>
                  </a:cubicBezTo>
                  <a:lnTo>
                    <a:pt x="1392582" y="0"/>
                  </a:lnTo>
                </a:path>
              </a:pathLst>
            </a:custGeom>
            <a:ln w="1905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5" name="Freeform 35"/>
            <p:cNvSpPr/>
            <p:nvPr/>
          </p:nvSpPr>
          <p:spPr>
            <a:xfrm>
              <a:off x="16746041" y="1371143"/>
              <a:ext cx="3374765" cy="1474583"/>
            </a:xfrm>
            <a:custGeom>
              <a:avLst/>
              <a:gdLst/>
              <a:ahLst/>
              <a:cxnLst/>
              <a:rect l="l" t="t" r="r" b="b"/>
              <a:pathLst>
                <a:path w="3374766" h="1474582">
                  <a:moveTo>
                    <a:pt x="0" y="0"/>
                  </a:moveTo>
                  <a:lnTo>
                    <a:pt x="3029468" y="0"/>
                  </a:lnTo>
                  <a:cubicBezTo>
                    <a:pt x="3197805" y="0"/>
                    <a:pt x="3334268" y="136463"/>
                    <a:pt x="3334268" y="304800"/>
                  </a:cubicBezTo>
                  <a:lnTo>
                    <a:pt x="3334268" y="844732"/>
                  </a:lnTo>
                  <a:cubicBezTo>
                    <a:pt x="3334268" y="855915"/>
                    <a:pt x="3343334" y="864981"/>
                    <a:pt x="3354518" y="864981"/>
                  </a:cubicBezTo>
                  <a:lnTo>
                    <a:pt x="3354518" y="864981"/>
                  </a:lnTo>
                  <a:cubicBezTo>
                    <a:pt x="3365700" y="864981"/>
                    <a:pt x="3374766" y="874047"/>
                    <a:pt x="3374766" y="885231"/>
                  </a:cubicBezTo>
                  <a:lnTo>
                    <a:pt x="3374766" y="1474581"/>
                  </a:lnTo>
                </a:path>
              </a:pathLst>
            </a:custGeom>
            <a:ln w="1905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36" name="Freeform 36"/>
            <p:cNvSpPr/>
            <p:nvPr/>
          </p:nvSpPr>
          <p:spPr>
            <a:xfrm>
              <a:off x="14445320" y="2636401"/>
              <a:ext cx="2437478" cy="1295609"/>
            </a:xfrm>
            <a:custGeom>
              <a:avLst/>
              <a:gdLst/>
              <a:ahLst/>
              <a:cxnLst/>
              <a:rect l="l" t="t" r="r" b="b"/>
              <a:pathLst>
                <a:path w="2437478" h="1295609">
                  <a:moveTo>
                    <a:pt x="2437477" y="1295609"/>
                  </a:moveTo>
                  <a:lnTo>
                    <a:pt x="304800" y="1295609"/>
                  </a:lnTo>
                  <a:cubicBezTo>
                    <a:pt x="223961" y="1295609"/>
                    <a:pt x="146434" y="1263496"/>
                    <a:pt x="89273" y="1206335"/>
                  </a:cubicBezTo>
                  <a:cubicBezTo>
                    <a:pt x="32113" y="1149174"/>
                    <a:pt x="0" y="1071647"/>
                    <a:pt x="0" y="990809"/>
                  </a:cubicBezTo>
                  <a:lnTo>
                    <a:pt x="0" y="0"/>
                  </a:lnTo>
                </a:path>
              </a:pathLst>
            </a:custGeom>
            <a:ln w="1905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2889449" y="2393990"/>
              <a:ext cx="5735" cy="4288267"/>
            </a:xfrm>
            <a:custGeom>
              <a:avLst/>
              <a:gdLst/>
              <a:ahLst/>
              <a:cxnLst/>
              <a:rect l="l" t="t" r="r" b="b"/>
              <a:pathLst>
                <a:path w="5735" h="4288267">
                  <a:moveTo>
                    <a:pt x="5734" y="0"/>
                  </a:moveTo>
                  <a:lnTo>
                    <a:pt x="5734" y="496486"/>
                  </a:lnTo>
                  <a:cubicBezTo>
                    <a:pt x="5734" y="497246"/>
                    <a:pt x="5432" y="497976"/>
                    <a:pt x="4895" y="498513"/>
                  </a:cubicBezTo>
                  <a:cubicBezTo>
                    <a:pt x="4357" y="499051"/>
                    <a:pt x="3628" y="499353"/>
                    <a:pt x="2867" y="499353"/>
                  </a:cubicBezTo>
                  <a:lnTo>
                    <a:pt x="2867" y="499353"/>
                  </a:lnTo>
                  <a:cubicBezTo>
                    <a:pt x="2107" y="499353"/>
                    <a:pt x="1377" y="499655"/>
                    <a:pt x="840" y="500193"/>
                  </a:cubicBezTo>
                  <a:cubicBezTo>
                    <a:pt x="302" y="500731"/>
                    <a:pt x="0" y="501460"/>
                    <a:pt x="0" y="502220"/>
                  </a:cubicBezTo>
                  <a:lnTo>
                    <a:pt x="0" y="4288266"/>
                  </a:lnTo>
                </a:path>
              </a:pathLst>
            </a:custGeom>
            <a:ln w="1905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grpSp>
          <p:nvGrpSpPr>
            <p:cNvPr id="38" name="Group 38"/>
            <p:cNvGrpSpPr/>
            <p:nvPr/>
          </p:nvGrpSpPr>
          <p:grpSpPr>
            <a:xfrm>
              <a:off x="2868359" y="6651160"/>
              <a:ext cx="5167877" cy="2192132"/>
              <a:chOff x="0" y="0"/>
              <a:chExt cx="1020815" cy="433014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1020815" cy="433014"/>
              </a:xfrm>
              <a:custGeom>
                <a:avLst/>
                <a:gdLst/>
                <a:ahLst/>
                <a:cxnLst/>
                <a:rect l="l" t="t" r="r" b="b"/>
                <a:pathLst>
                  <a:path w="1020815" h="433014">
                    <a:moveTo>
                      <a:pt x="65916" y="0"/>
                    </a:moveTo>
                    <a:lnTo>
                      <a:pt x="954899" y="0"/>
                    </a:lnTo>
                    <a:cubicBezTo>
                      <a:pt x="972381" y="0"/>
                      <a:pt x="989147" y="6945"/>
                      <a:pt x="1001509" y="19306"/>
                    </a:cubicBezTo>
                    <a:cubicBezTo>
                      <a:pt x="1013870" y="31668"/>
                      <a:pt x="1020815" y="48434"/>
                      <a:pt x="1020815" y="65916"/>
                    </a:cubicBezTo>
                    <a:lnTo>
                      <a:pt x="1020815" y="367098"/>
                    </a:lnTo>
                    <a:cubicBezTo>
                      <a:pt x="1020815" y="384580"/>
                      <a:pt x="1013870" y="401346"/>
                      <a:pt x="1001509" y="413708"/>
                    </a:cubicBezTo>
                    <a:cubicBezTo>
                      <a:pt x="989147" y="426069"/>
                      <a:pt x="972381" y="433014"/>
                      <a:pt x="954899" y="433014"/>
                    </a:cubicBezTo>
                    <a:lnTo>
                      <a:pt x="65916" y="433014"/>
                    </a:lnTo>
                    <a:cubicBezTo>
                      <a:pt x="48434" y="433014"/>
                      <a:pt x="31668" y="426069"/>
                      <a:pt x="19306" y="413708"/>
                    </a:cubicBezTo>
                    <a:cubicBezTo>
                      <a:pt x="6945" y="401346"/>
                      <a:pt x="0" y="384580"/>
                      <a:pt x="0" y="367098"/>
                    </a:cubicBezTo>
                    <a:lnTo>
                      <a:pt x="0" y="65916"/>
                    </a:lnTo>
                    <a:cubicBezTo>
                      <a:pt x="0" y="48434"/>
                      <a:pt x="6945" y="31668"/>
                      <a:pt x="19306" y="19306"/>
                    </a:cubicBezTo>
                    <a:cubicBezTo>
                      <a:pt x="31668" y="6945"/>
                      <a:pt x="48434" y="0"/>
                      <a:pt x="65916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38100"/>
                <a:ext cx="1020815" cy="47111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3172805" y="6789435"/>
              <a:ext cx="4558985" cy="18298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600"/>
                </a:lnSpc>
                <a:spcBef>
                  <a:spcPct val="0"/>
                </a:spcBef>
              </a:pPr>
              <a:r>
                <a:rPr lang="en-US" sz="40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SELECCIÓN DE MODELOS</a:t>
              </a:r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10225780" y="6600465"/>
              <a:ext cx="5517364" cy="2242828"/>
              <a:chOff x="0" y="0"/>
              <a:chExt cx="1089850" cy="443028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1089850" cy="443028"/>
              </a:xfrm>
              <a:custGeom>
                <a:avLst/>
                <a:gdLst/>
                <a:ahLst/>
                <a:cxnLst/>
                <a:rect l="l" t="t" r="r" b="b"/>
                <a:pathLst>
                  <a:path w="1089850" h="443028">
                    <a:moveTo>
                      <a:pt x="61740" y="0"/>
                    </a:moveTo>
                    <a:lnTo>
                      <a:pt x="1028109" y="0"/>
                    </a:lnTo>
                    <a:cubicBezTo>
                      <a:pt x="1044484" y="0"/>
                      <a:pt x="1060188" y="6505"/>
                      <a:pt x="1071766" y="18083"/>
                    </a:cubicBezTo>
                    <a:cubicBezTo>
                      <a:pt x="1083345" y="29662"/>
                      <a:pt x="1089850" y="45366"/>
                      <a:pt x="1089850" y="61740"/>
                    </a:cubicBezTo>
                    <a:lnTo>
                      <a:pt x="1089850" y="381287"/>
                    </a:lnTo>
                    <a:cubicBezTo>
                      <a:pt x="1089850" y="415386"/>
                      <a:pt x="1062208" y="443028"/>
                      <a:pt x="1028109" y="443028"/>
                    </a:cubicBezTo>
                    <a:lnTo>
                      <a:pt x="61740" y="443028"/>
                    </a:lnTo>
                    <a:cubicBezTo>
                      <a:pt x="45366" y="443028"/>
                      <a:pt x="29662" y="436523"/>
                      <a:pt x="18083" y="424944"/>
                    </a:cubicBezTo>
                    <a:cubicBezTo>
                      <a:pt x="6505" y="413366"/>
                      <a:pt x="0" y="397662"/>
                      <a:pt x="0" y="381287"/>
                    </a:cubicBezTo>
                    <a:lnTo>
                      <a:pt x="0" y="61740"/>
                    </a:lnTo>
                    <a:cubicBezTo>
                      <a:pt x="0" y="45366"/>
                      <a:pt x="6505" y="29662"/>
                      <a:pt x="18083" y="18083"/>
                    </a:cubicBezTo>
                    <a:cubicBezTo>
                      <a:pt x="29662" y="6505"/>
                      <a:pt x="45366" y="0"/>
                      <a:pt x="6174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38100"/>
                <a:ext cx="1089850" cy="48112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5" name="TextBox 45"/>
            <p:cNvSpPr txBox="1"/>
            <p:nvPr/>
          </p:nvSpPr>
          <p:spPr>
            <a:xfrm>
              <a:off x="10575267" y="6764088"/>
              <a:ext cx="4850815" cy="18298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600"/>
                </a:lnSpc>
                <a:spcBef>
                  <a:spcPct val="0"/>
                </a:spcBef>
              </a:pPr>
              <a:r>
                <a:rPr lang="en-US" sz="40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EVALUACIÓN DE MODELOS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8036235" y="7721879"/>
              <a:ext cx="2189545" cy="25347"/>
            </a:xfrm>
            <a:custGeom>
              <a:avLst/>
              <a:gdLst/>
              <a:ahLst/>
              <a:cxnLst/>
              <a:rect l="l" t="t" r="r" b="b"/>
              <a:pathLst>
                <a:path w="2189545" h="25347">
                  <a:moveTo>
                    <a:pt x="2189545" y="0"/>
                  </a:moveTo>
                  <a:lnTo>
                    <a:pt x="622274" y="0"/>
                  </a:lnTo>
                  <a:cubicBezTo>
                    <a:pt x="618913" y="0"/>
                    <a:pt x="615689" y="1336"/>
                    <a:pt x="613312" y="3712"/>
                  </a:cubicBezTo>
                  <a:cubicBezTo>
                    <a:pt x="610936" y="6089"/>
                    <a:pt x="609600" y="9313"/>
                    <a:pt x="609600" y="12674"/>
                  </a:cubicBezTo>
                  <a:lnTo>
                    <a:pt x="609600" y="12674"/>
                  </a:lnTo>
                  <a:cubicBezTo>
                    <a:pt x="609600" y="16035"/>
                    <a:pt x="608264" y="19259"/>
                    <a:pt x="605888" y="21635"/>
                  </a:cubicBezTo>
                  <a:cubicBezTo>
                    <a:pt x="603511" y="24012"/>
                    <a:pt x="600287" y="25347"/>
                    <a:pt x="596926" y="25347"/>
                  </a:cubicBezTo>
                  <a:lnTo>
                    <a:pt x="0" y="25347"/>
                  </a:lnTo>
                </a:path>
              </a:pathLst>
            </a:custGeom>
            <a:ln w="1905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7" name="Freeform 47"/>
            <p:cNvSpPr/>
            <p:nvPr/>
          </p:nvSpPr>
          <p:spPr>
            <a:xfrm>
              <a:off x="8603923" y="4845630"/>
              <a:ext cx="2630625" cy="1754834"/>
            </a:xfrm>
            <a:custGeom>
              <a:avLst/>
              <a:gdLst/>
              <a:ahLst/>
              <a:cxnLst/>
              <a:rect l="l" t="t" r="r" b="b"/>
              <a:pathLst>
                <a:path w="2630625" h="1754834">
                  <a:moveTo>
                    <a:pt x="2630625" y="1754835"/>
                  </a:moveTo>
                  <a:lnTo>
                    <a:pt x="2630625" y="1547311"/>
                  </a:lnTo>
                  <a:cubicBezTo>
                    <a:pt x="2630625" y="1492273"/>
                    <a:pt x="2608762" y="1439488"/>
                    <a:pt x="2569843" y="1400570"/>
                  </a:cubicBezTo>
                  <a:cubicBezTo>
                    <a:pt x="2530925" y="1361652"/>
                    <a:pt x="2478141" y="1339788"/>
                    <a:pt x="2423102" y="1339788"/>
                  </a:cubicBezTo>
                  <a:lnTo>
                    <a:pt x="304800" y="1339788"/>
                  </a:lnTo>
                  <a:cubicBezTo>
                    <a:pt x="223962" y="1339788"/>
                    <a:pt x="146435" y="1307675"/>
                    <a:pt x="89274" y="1250514"/>
                  </a:cubicBezTo>
                  <a:cubicBezTo>
                    <a:pt x="32113" y="1193353"/>
                    <a:pt x="0" y="1115826"/>
                    <a:pt x="0" y="1034988"/>
                  </a:cubicBezTo>
                  <a:lnTo>
                    <a:pt x="0" y="0"/>
                  </a:lnTo>
                </a:path>
              </a:pathLst>
            </a:custGeom>
            <a:ln w="1905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4201477" y="1879833"/>
            <a:ext cx="11596092" cy="8407167"/>
          </a:xfrm>
          <a:custGeom>
            <a:avLst/>
            <a:gdLst/>
            <a:ahLst/>
            <a:cxnLst/>
            <a:rect l="l" t="t" r="r" b="b"/>
            <a:pathLst>
              <a:path w="11596092" h="8407167">
                <a:moveTo>
                  <a:pt x="0" y="0"/>
                </a:moveTo>
                <a:lnTo>
                  <a:pt x="11596092" y="0"/>
                </a:lnTo>
                <a:lnTo>
                  <a:pt x="11596092" y="8407167"/>
                </a:lnTo>
                <a:lnTo>
                  <a:pt x="0" y="84071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15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ADQUISICIÓN DE DATOS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121814D-C161-BC53-67AF-04DC53780BB5}"/>
              </a:ext>
            </a:extLst>
          </p:cNvPr>
          <p:cNvGrpSpPr/>
          <p:nvPr/>
        </p:nvGrpSpPr>
        <p:grpSpPr>
          <a:xfrm>
            <a:off x="941163" y="2444007"/>
            <a:ext cx="3234700" cy="5574090"/>
            <a:chOff x="941163" y="2444007"/>
            <a:chExt cx="3234700" cy="5574090"/>
          </a:xfrm>
        </p:grpSpPr>
        <p:sp>
          <p:nvSpPr>
            <p:cNvPr id="19" name="TextBox 19"/>
            <p:cNvSpPr txBox="1"/>
            <p:nvPr/>
          </p:nvSpPr>
          <p:spPr>
            <a:xfrm>
              <a:off x="941163" y="2444007"/>
              <a:ext cx="3058968" cy="38322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 dirty="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DATOS DE UN DÍA CADA 5 MINUTOS</a:t>
              </a:r>
            </a:p>
          </p:txBody>
        </p:sp>
        <p:sp>
          <p:nvSpPr>
            <p:cNvPr id="20" name="Freeform 28">
              <a:extLst>
                <a:ext uri="{FF2B5EF4-FFF2-40B4-BE49-F238E27FC236}">
                  <a16:creationId xmlns:a16="http://schemas.microsoft.com/office/drawing/2014/main" id="{37037910-450D-113C-309B-5F1015AEE58B}"/>
                </a:ext>
              </a:extLst>
            </p:cNvPr>
            <p:cNvSpPr/>
            <p:nvPr/>
          </p:nvSpPr>
          <p:spPr>
            <a:xfrm rot="16200000" flipV="1">
              <a:off x="2495185" y="6337418"/>
              <a:ext cx="1675924" cy="1685433"/>
            </a:xfrm>
            <a:custGeom>
              <a:avLst/>
              <a:gdLst/>
              <a:ahLst/>
              <a:cxnLst/>
              <a:rect l="l" t="t" r="r" b="b"/>
              <a:pathLst>
                <a:path w="2052290" h="2317890">
                  <a:moveTo>
                    <a:pt x="0" y="0"/>
                  </a:moveTo>
                  <a:lnTo>
                    <a:pt x="0" y="2013090"/>
                  </a:lnTo>
                  <a:cubicBezTo>
                    <a:pt x="0" y="2181426"/>
                    <a:pt x="136463" y="2317890"/>
                    <a:pt x="304800" y="2317890"/>
                  </a:cubicBezTo>
                  <a:lnTo>
                    <a:pt x="2052290" y="231789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2085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16</a:t>
            </a:r>
          </a:p>
          <a:p>
            <a:pPr algn="ctr">
              <a:lnSpc>
                <a:spcPts val="8399"/>
              </a:lnSpc>
              <a:spcBef>
                <a:spcPct val="0"/>
              </a:spcBef>
            </a:pPr>
            <a:endParaRPr lang="en-US" sz="5999">
              <a:solidFill>
                <a:srgbClr val="FFFFFF"/>
              </a:solidFill>
              <a:latin typeface="Bantayog"/>
              <a:ea typeface="Bantayog"/>
              <a:cs typeface="Bantayog"/>
              <a:sym typeface="Bantayog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ADQUISICIÓN DE DATOS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4136715" y="4307732"/>
            <a:ext cx="7017986" cy="4594833"/>
            <a:chOff x="0" y="0"/>
            <a:chExt cx="9357315" cy="6126444"/>
          </a:xfrm>
        </p:grpSpPr>
        <p:sp>
          <p:nvSpPr>
            <p:cNvPr id="17" name="AutoShape 17"/>
            <p:cNvSpPr/>
            <p:nvPr/>
          </p:nvSpPr>
          <p:spPr>
            <a:xfrm>
              <a:off x="0" y="127000"/>
              <a:ext cx="2598459" cy="0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9230315" y="2654585"/>
              <a:ext cx="0" cy="1787820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AutoShape 19"/>
            <p:cNvSpPr/>
            <p:nvPr/>
          </p:nvSpPr>
          <p:spPr>
            <a:xfrm flipH="1">
              <a:off x="2012597" y="5999444"/>
              <a:ext cx="1787820" cy="0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951269" y="7791315"/>
            <a:ext cx="3593112" cy="191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105.120 MUESTRAS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987028" y="7791315"/>
            <a:ext cx="8335346" cy="191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DATOS DE UN AÑO CADA 5 MINUTOS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33674" y="2099419"/>
            <a:ext cx="3058968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SCRIPTS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329444" y="3150021"/>
            <a:ext cx="9267428" cy="2858565"/>
            <a:chOff x="0" y="0"/>
            <a:chExt cx="12356571" cy="3811420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2356571" cy="3811420"/>
              <a:chOff x="0" y="0"/>
              <a:chExt cx="2440804" cy="75287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2440804" cy="752873"/>
              </a:xfrm>
              <a:custGeom>
                <a:avLst/>
                <a:gdLst/>
                <a:ahLst/>
                <a:cxnLst/>
                <a:rect l="l" t="t" r="r" b="b"/>
                <a:pathLst>
                  <a:path w="2440804" h="752873">
                    <a:moveTo>
                      <a:pt x="27568" y="0"/>
                    </a:moveTo>
                    <a:lnTo>
                      <a:pt x="2413236" y="0"/>
                    </a:lnTo>
                    <a:cubicBezTo>
                      <a:pt x="2420548" y="0"/>
                      <a:pt x="2427560" y="2904"/>
                      <a:pt x="2432730" y="8074"/>
                    </a:cubicBezTo>
                    <a:cubicBezTo>
                      <a:pt x="2437900" y="13244"/>
                      <a:pt x="2440804" y="20256"/>
                      <a:pt x="2440804" y="27568"/>
                    </a:cubicBezTo>
                    <a:lnTo>
                      <a:pt x="2440804" y="725305"/>
                    </a:lnTo>
                    <a:cubicBezTo>
                      <a:pt x="2440804" y="732617"/>
                      <a:pt x="2437900" y="739629"/>
                      <a:pt x="2432730" y="744799"/>
                    </a:cubicBezTo>
                    <a:cubicBezTo>
                      <a:pt x="2427560" y="749969"/>
                      <a:pt x="2420548" y="752873"/>
                      <a:pt x="2413236" y="752873"/>
                    </a:cubicBezTo>
                    <a:lnTo>
                      <a:pt x="27568" y="752873"/>
                    </a:lnTo>
                    <a:cubicBezTo>
                      <a:pt x="12343" y="752873"/>
                      <a:pt x="0" y="740531"/>
                      <a:pt x="0" y="725305"/>
                    </a:cubicBezTo>
                    <a:lnTo>
                      <a:pt x="0" y="27568"/>
                    </a:lnTo>
                    <a:cubicBezTo>
                      <a:pt x="0" y="20256"/>
                      <a:pt x="2904" y="13244"/>
                      <a:pt x="8074" y="8074"/>
                    </a:cubicBezTo>
                    <a:cubicBezTo>
                      <a:pt x="13244" y="2904"/>
                      <a:pt x="20256" y="0"/>
                      <a:pt x="27568" y="0"/>
                    </a:cubicBezTo>
                    <a:close/>
                  </a:path>
                </a:pathLst>
              </a:custGeom>
              <a:solidFill>
                <a:srgbClr val="DBE7FF"/>
              </a:solidFill>
              <a:ln w="38100" cap="rnd">
                <a:solidFill>
                  <a:srgbClr val="4D6BA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2440804" cy="79097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4077425" y="686014"/>
              <a:ext cx="8279146" cy="2439391"/>
            </a:xfrm>
            <a:custGeom>
              <a:avLst/>
              <a:gdLst/>
              <a:ahLst/>
              <a:cxnLst/>
              <a:rect l="l" t="t" r="r" b="b"/>
              <a:pathLst>
                <a:path w="8279146" h="2439391">
                  <a:moveTo>
                    <a:pt x="0" y="0"/>
                  </a:moveTo>
                  <a:lnTo>
                    <a:pt x="8279146" y="0"/>
                  </a:lnTo>
                  <a:lnTo>
                    <a:pt x="8279146" y="2439392"/>
                  </a:lnTo>
                  <a:lnTo>
                    <a:pt x="0" y="24393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441407" y="440200"/>
              <a:ext cx="2931020" cy="2931020"/>
            </a:xfrm>
            <a:custGeom>
              <a:avLst/>
              <a:gdLst/>
              <a:ahLst/>
              <a:cxnLst/>
              <a:rect l="l" t="t" r="r" b="b"/>
              <a:pathLst>
                <a:path w="2931020" h="2931020">
                  <a:moveTo>
                    <a:pt x="0" y="0"/>
                  </a:moveTo>
                  <a:lnTo>
                    <a:pt x="2931020" y="0"/>
                  </a:lnTo>
                  <a:lnTo>
                    <a:pt x="2931020" y="2931020"/>
                  </a:lnTo>
                  <a:lnTo>
                    <a:pt x="0" y="2931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941163" y="2415432"/>
            <a:ext cx="3058968" cy="3860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DATOS DE UN DÍA CADA 5 MINUTOS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ADQUISICIÓN DE DATOS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416725" y="2072177"/>
            <a:ext cx="16714375" cy="5416502"/>
            <a:chOff x="0" y="-347873"/>
            <a:chExt cx="22285833" cy="7222003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-347873"/>
              <a:ext cx="22285833" cy="7222003"/>
              <a:chOff x="0" y="-38100"/>
              <a:chExt cx="2440804" cy="790973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40804" cy="752873"/>
              </a:xfrm>
              <a:custGeom>
                <a:avLst/>
                <a:gdLst/>
                <a:ahLst/>
                <a:cxnLst/>
                <a:rect l="l" t="t" r="r" b="b"/>
                <a:pathLst>
                  <a:path w="2440804" h="752873">
                    <a:moveTo>
                      <a:pt x="15285" y="0"/>
                    </a:moveTo>
                    <a:lnTo>
                      <a:pt x="2425519" y="0"/>
                    </a:lnTo>
                    <a:cubicBezTo>
                      <a:pt x="2429573" y="0"/>
                      <a:pt x="2433461" y="1610"/>
                      <a:pt x="2436327" y="4477"/>
                    </a:cubicBezTo>
                    <a:cubicBezTo>
                      <a:pt x="2439194" y="7343"/>
                      <a:pt x="2440804" y="11231"/>
                      <a:pt x="2440804" y="15285"/>
                    </a:cubicBezTo>
                    <a:lnTo>
                      <a:pt x="2440804" y="737588"/>
                    </a:lnTo>
                    <a:cubicBezTo>
                      <a:pt x="2440804" y="741642"/>
                      <a:pt x="2439194" y="745530"/>
                      <a:pt x="2436327" y="748396"/>
                    </a:cubicBezTo>
                    <a:cubicBezTo>
                      <a:pt x="2433461" y="751263"/>
                      <a:pt x="2429573" y="752873"/>
                      <a:pt x="2425519" y="752873"/>
                    </a:cubicBezTo>
                    <a:lnTo>
                      <a:pt x="15285" y="752873"/>
                    </a:lnTo>
                    <a:cubicBezTo>
                      <a:pt x="11231" y="752873"/>
                      <a:pt x="7343" y="751263"/>
                      <a:pt x="4477" y="748396"/>
                    </a:cubicBezTo>
                    <a:cubicBezTo>
                      <a:pt x="1610" y="745530"/>
                      <a:pt x="0" y="741642"/>
                      <a:pt x="0" y="737588"/>
                    </a:cubicBezTo>
                    <a:lnTo>
                      <a:pt x="0" y="15285"/>
                    </a:lnTo>
                    <a:cubicBezTo>
                      <a:pt x="0" y="11231"/>
                      <a:pt x="1610" y="7343"/>
                      <a:pt x="4477" y="4477"/>
                    </a:cubicBezTo>
                    <a:cubicBezTo>
                      <a:pt x="7343" y="1610"/>
                      <a:pt x="11231" y="0"/>
                      <a:pt x="15285" y="0"/>
                    </a:cubicBezTo>
                    <a:close/>
                  </a:path>
                </a:pathLst>
              </a:custGeom>
              <a:solidFill>
                <a:srgbClr val="DBE7FF"/>
              </a:solidFill>
              <a:ln w="38100" cap="rnd">
                <a:solidFill>
                  <a:srgbClr val="4D6BA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38100"/>
                <a:ext cx="2440804" cy="790973"/>
              </a:xfrm>
              <a:prstGeom prst="rect">
                <a:avLst/>
              </a:prstGeom>
            </p:spPr>
            <p:txBody>
              <a:bodyPr lIns="91621" tIns="91621" rIns="91621" bIns="91621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0" name="Freeform 20"/>
            <p:cNvSpPr/>
            <p:nvPr/>
          </p:nvSpPr>
          <p:spPr>
            <a:xfrm>
              <a:off x="15798366" y="779199"/>
              <a:ext cx="6183361" cy="1821883"/>
            </a:xfrm>
            <a:custGeom>
              <a:avLst/>
              <a:gdLst/>
              <a:ahLst/>
              <a:cxnLst/>
              <a:rect l="l" t="t" r="r" b="b"/>
              <a:pathLst>
                <a:path w="6183361" h="1821883">
                  <a:moveTo>
                    <a:pt x="0" y="0"/>
                  </a:moveTo>
                  <a:lnTo>
                    <a:pt x="6183361" y="0"/>
                  </a:lnTo>
                  <a:lnTo>
                    <a:pt x="6183361" y="1821883"/>
                  </a:lnTo>
                  <a:lnTo>
                    <a:pt x="0" y="18218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6625238" y="522365"/>
              <a:ext cx="2335551" cy="2335551"/>
            </a:xfrm>
            <a:custGeom>
              <a:avLst/>
              <a:gdLst/>
              <a:ahLst/>
              <a:cxnLst/>
              <a:rect l="l" t="t" r="r" b="b"/>
              <a:pathLst>
                <a:path w="2335551" h="2335551">
                  <a:moveTo>
                    <a:pt x="0" y="0"/>
                  </a:moveTo>
                  <a:lnTo>
                    <a:pt x="2335550" y="0"/>
                  </a:lnTo>
                  <a:lnTo>
                    <a:pt x="2335550" y="2335551"/>
                  </a:lnTo>
                  <a:lnTo>
                    <a:pt x="0" y="23355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65806" y="2553443"/>
            <a:ext cx="16061367" cy="4643438"/>
            <a:chOff x="0" y="-95250"/>
            <a:chExt cx="21415156" cy="6191250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95250"/>
              <a:ext cx="5847192" cy="31432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VARIACIONES ALEATORIAS DE POTENCIAS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749094" y="2952750"/>
              <a:ext cx="5569029" cy="31432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DATOS DE POTENCIAS PARA UN AÑO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35658" y="210085"/>
              <a:ext cx="5569029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FLUJO DE CARGAS ÓPTIMO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846127" y="3486150"/>
              <a:ext cx="5569029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TENSIONES Y PÉRDIDAS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14195679" y="2254110"/>
              <a:ext cx="2052290" cy="2317890"/>
            </a:xfrm>
            <a:custGeom>
              <a:avLst/>
              <a:gdLst/>
              <a:ahLst/>
              <a:cxnLst/>
              <a:rect l="l" t="t" r="r" b="b"/>
              <a:pathLst>
                <a:path w="2052290" h="2317890">
                  <a:moveTo>
                    <a:pt x="0" y="0"/>
                  </a:moveTo>
                  <a:lnTo>
                    <a:pt x="0" y="2013090"/>
                  </a:lnTo>
                  <a:cubicBezTo>
                    <a:pt x="0" y="2181426"/>
                    <a:pt x="136463" y="2317890"/>
                    <a:pt x="304800" y="2317890"/>
                  </a:cubicBezTo>
                  <a:lnTo>
                    <a:pt x="2052290" y="231789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 dirty="0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634232" y="7484825"/>
            <a:ext cx="11655473" cy="2222770"/>
            <a:chOff x="0" y="0"/>
            <a:chExt cx="15540631" cy="2963694"/>
          </a:xfrm>
        </p:grpSpPr>
        <p:sp>
          <p:nvSpPr>
            <p:cNvPr id="31" name="TextBox 31"/>
            <p:cNvSpPr txBox="1"/>
            <p:nvPr/>
          </p:nvSpPr>
          <p:spPr>
            <a:xfrm>
              <a:off x="0" y="963444"/>
              <a:ext cx="13839694" cy="20002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599"/>
                </a:lnSpc>
                <a:spcBef>
                  <a:spcPct val="0"/>
                </a:spcBef>
              </a:pPr>
              <a:r>
                <a:rPr lang="en-US" sz="9000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PROCESO HEREDADO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13839693" y="0"/>
              <a:ext cx="1573938" cy="2049294"/>
            </a:xfrm>
            <a:custGeom>
              <a:avLst/>
              <a:gdLst/>
              <a:ahLst/>
              <a:cxnLst/>
              <a:rect l="l" t="t" r="r" b="b"/>
              <a:pathLst>
                <a:path w="1573938" h="2049294">
                  <a:moveTo>
                    <a:pt x="0" y="2049294"/>
                  </a:moveTo>
                  <a:lnTo>
                    <a:pt x="1269138" y="2049294"/>
                  </a:lnTo>
                  <a:cubicBezTo>
                    <a:pt x="1349977" y="2049294"/>
                    <a:pt x="1427504" y="2017181"/>
                    <a:pt x="1484665" y="1960020"/>
                  </a:cubicBezTo>
                  <a:cubicBezTo>
                    <a:pt x="1541825" y="1902859"/>
                    <a:pt x="1573938" y="1825332"/>
                    <a:pt x="1573938" y="1744494"/>
                  </a:cubicBezTo>
                  <a:lnTo>
                    <a:pt x="1573938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35" name="Freeform 28">
            <a:extLst>
              <a:ext uri="{FF2B5EF4-FFF2-40B4-BE49-F238E27FC236}">
                <a16:creationId xmlns:a16="http://schemas.microsoft.com/office/drawing/2014/main" id="{B60DDC36-8C27-4EA0-FD21-37F4243C9028}"/>
              </a:ext>
            </a:extLst>
          </p:cNvPr>
          <p:cNvSpPr/>
          <p:nvPr/>
        </p:nvSpPr>
        <p:spPr>
          <a:xfrm rot="16200000">
            <a:off x="8320152" y="4727621"/>
            <a:ext cx="1593087" cy="1107056"/>
          </a:xfrm>
          <a:custGeom>
            <a:avLst/>
            <a:gdLst/>
            <a:ahLst/>
            <a:cxnLst/>
            <a:rect l="l" t="t" r="r" b="b"/>
            <a:pathLst>
              <a:path w="2052290" h="2317890">
                <a:moveTo>
                  <a:pt x="0" y="0"/>
                </a:moveTo>
                <a:lnTo>
                  <a:pt x="0" y="2013090"/>
                </a:lnTo>
                <a:cubicBezTo>
                  <a:pt x="0" y="2181426"/>
                  <a:pt x="136463" y="2317890"/>
                  <a:pt x="304800" y="2317890"/>
                </a:cubicBezTo>
                <a:lnTo>
                  <a:pt x="2052290" y="2317890"/>
                </a:lnTo>
              </a:path>
            </a:pathLst>
          </a:custGeom>
          <a:ln w="254000" cap="flat">
            <a:solidFill>
              <a:srgbClr val="4D6BA7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s-ES" dirty="0"/>
          </a:p>
        </p:txBody>
      </p:sp>
      <p:sp>
        <p:nvSpPr>
          <p:cNvPr id="37" name="Freeform 28">
            <a:extLst>
              <a:ext uri="{FF2B5EF4-FFF2-40B4-BE49-F238E27FC236}">
                <a16:creationId xmlns:a16="http://schemas.microsoft.com/office/drawing/2014/main" id="{1342189D-3A51-0227-BEB4-3D95BFA97D6A}"/>
              </a:ext>
            </a:extLst>
          </p:cNvPr>
          <p:cNvSpPr/>
          <p:nvPr/>
        </p:nvSpPr>
        <p:spPr>
          <a:xfrm>
            <a:off x="2328710" y="4970637"/>
            <a:ext cx="1593087" cy="1107056"/>
          </a:xfrm>
          <a:custGeom>
            <a:avLst/>
            <a:gdLst/>
            <a:ahLst/>
            <a:cxnLst/>
            <a:rect l="l" t="t" r="r" b="b"/>
            <a:pathLst>
              <a:path w="2052290" h="2317890">
                <a:moveTo>
                  <a:pt x="0" y="0"/>
                </a:moveTo>
                <a:lnTo>
                  <a:pt x="0" y="2013090"/>
                </a:lnTo>
                <a:cubicBezTo>
                  <a:pt x="0" y="2181426"/>
                  <a:pt x="136463" y="2317890"/>
                  <a:pt x="304800" y="2317890"/>
                </a:cubicBezTo>
                <a:lnTo>
                  <a:pt x="2052290" y="2317890"/>
                </a:lnTo>
              </a:path>
            </a:pathLst>
          </a:custGeom>
          <a:ln w="254000" cap="flat">
            <a:solidFill>
              <a:srgbClr val="4D6BA7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s-ES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DATASET ENTRADA</a:t>
            </a: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603115" y="2257628"/>
          <a:ext cx="15868248" cy="5399280"/>
        </p:xfrm>
        <a:graphic>
          <a:graphicData uri="http://schemas.openxmlformats.org/drawingml/2006/table">
            <a:tbl>
              <a:tblPr/>
              <a:tblGrid>
                <a:gridCol w="19835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02968"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Index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P1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Q1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P2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Q2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P3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Q3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P4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0344"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day1_min0003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5,5235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2,7253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0,0000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0,0000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0,1507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0,0602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0,1103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0344"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day1_min0008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5,5235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2,7253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0,0000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0,0000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0,1507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0,0602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0,1103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0344"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day1_min0013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5,4248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2,6642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0,0000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0,0000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0,1489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0,0591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0,1075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>
            <a:off x="2802439" y="7867853"/>
            <a:ext cx="11010453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500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*EXTRACTO DE ALGUNA COLUMNAS*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523915" y="2037397"/>
            <a:ext cx="5240170" cy="7865171"/>
          </a:xfrm>
          <a:custGeom>
            <a:avLst/>
            <a:gdLst/>
            <a:ahLst/>
            <a:cxnLst/>
            <a:rect l="l" t="t" r="r" b="b"/>
            <a:pathLst>
              <a:path w="5240170" h="7865171">
                <a:moveTo>
                  <a:pt x="0" y="0"/>
                </a:moveTo>
                <a:lnTo>
                  <a:pt x="5240170" y="0"/>
                </a:lnTo>
                <a:lnTo>
                  <a:pt x="5240170" y="7865172"/>
                </a:lnTo>
                <a:lnTo>
                  <a:pt x="0" y="78651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19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DATASET ENTRADA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766487" y="1880386"/>
            <a:ext cx="16287022" cy="24445811"/>
          </a:xfrm>
          <a:custGeom>
            <a:avLst/>
            <a:gdLst/>
            <a:ahLst/>
            <a:cxnLst/>
            <a:rect l="l" t="t" r="r" b="b"/>
            <a:pathLst>
              <a:path w="16287022" h="24445811">
                <a:moveTo>
                  <a:pt x="0" y="0"/>
                </a:moveTo>
                <a:lnTo>
                  <a:pt x="16287022" y="0"/>
                </a:lnTo>
                <a:lnTo>
                  <a:pt x="16287022" y="24445811"/>
                </a:lnTo>
                <a:lnTo>
                  <a:pt x="0" y="244458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19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DATASET ENTRADA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766487" y="-7921691"/>
            <a:ext cx="16287022" cy="24445811"/>
          </a:xfrm>
          <a:custGeom>
            <a:avLst/>
            <a:gdLst/>
            <a:ahLst/>
            <a:cxnLst/>
            <a:rect l="l" t="t" r="r" b="b"/>
            <a:pathLst>
              <a:path w="16287022" h="24445811">
                <a:moveTo>
                  <a:pt x="0" y="0"/>
                </a:moveTo>
                <a:lnTo>
                  <a:pt x="16287022" y="0"/>
                </a:lnTo>
                <a:lnTo>
                  <a:pt x="16287022" y="24445811"/>
                </a:lnTo>
                <a:lnTo>
                  <a:pt x="0" y="244458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766487" y="-14287500"/>
            <a:ext cx="16287022" cy="24445811"/>
          </a:xfrm>
          <a:custGeom>
            <a:avLst/>
            <a:gdLst/>
            <a:ahLst/>
            <a:cxnLst/>
            <a:rect l="l" t="t" r="r" b="b"/>
            <a:pathLst>
              <a:path w="16287022" h="24445811">
                <a:moveTo>
                  <a:pt x="0" y="0"/>
                </a:moveTo>
                <a:lnTo>
                  <a:pt x="16287022" y="0"/>
                </a:lnTo>
                <a:lnTo>
                  <a:pt x="16287022" y="24445811"/>
                </a:lnTo>
                <a:lnTo>
                  <a:pt x="0" y="244458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DATASET SALIDA</a:t>
            </a: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627434" y="2246765"/>
          <a:ext cx="15868248" cy="5399280"/>
        </p:xfrm>
        <a:graphic>
          <a:graphicData uri="http://schemas.openxmlformats.org/drawingml/2006/table">
            <a:tbl>
              <a:tblPr/>
              <a:tblGrid>
                <a:gridCol w="19835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835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02968"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Index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V1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V2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V3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I0_12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I1_2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PERD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QGEN7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6B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0344"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day1_min0003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0,9888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0,9884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0,8406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0,6228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2,58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0,11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0344"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day1_min0008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0,9888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0,9884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0,8405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0,6228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2,58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0,11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0344"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day1_min0013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0,989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0,9887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0,8259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0,6110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2,54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sz="3999">
                          <a:solidFill>
                            <a:srgbClr val="000000"/>
                          </a:solidFill>
                          <a:latin typeface="Bantayog"/>
                          <a:ea typeface="Bantayog"/>
                          <a:cs typeface="Bantayog"/>
                          <a:sym typeface="Bantayog"/>
                        </a:rPr>
                        <a:t>0,11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036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>
            <a:off x="2802439" y="7867853"/>
            <a:ext cx="11010453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500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*EXTRACTO DE ALGUNA COLUMNAS*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522459" y="2037397"/>
            <a:ext cx="5243082" cy="7869541"/>
          </a:xfrm>
          <a:custGeom>
            <a:avLst/>
            <a:gdLst/>
            <a:ahLst/>
            <a:cxnLst/>
            <a:rect l="l" t="t" r="r" b="b"/>
            <a:pathLst>
              <a:path w="5243082" h="7869541">
                <a:moveTo>
                  <a:pt x="0" y="0"/>
                </a:moveTo>
                <a:lnTo>
                  <a:pt x="5243082" y="0"/>
                </a:lnTo>
                <a:lnTo>
                  <a:pt x="5243082" y="7869542"/>
                </a:lnTo>
                <a:lnTo>
                  <a:pt x="0" y="78695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DATASET SALIDA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63913" y="2037397"/>
            <a:ext cx="16377716" cy="24581938"/>
          </a:xfrm>
          <a:custGeom>
            <a:avLst/>
            <a:gdLst/>
            <a:ahLst/>
            <a:cxnLst/>
            <a:rect l="l" t="t" r="r" b="b"/>
            <a:pathLst>
              <a:path w="16377716" h="24581938">
                <a:moveTo>
                  <a:pt x="0" y="0"/>
                </a:moveTo>
                <a:lnTo>
                  <a:pt x="16377716" y="0"/>
                </a:lnTo>
                <a:lnTo>
                  <a:pt x="16377716" y="24581939"/>
                </a:lnTo>
                <a:lnTo>
                  <a:pt x="0" y="245819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DATASET SALIDA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14073" y="-8399905"/>
            <a:ext cx="16377716" cy="24581938"/>
          </a:xfrm>
          <a:custGeom>
            <a:avLst/>
            <a:gdLst/>
            <a:ahLst/>
            <a:cxnLst/>
            <a:rect l="l" t="t" r="r" b="b"/>
            <a:pathLst>
              <a:path w="16377716" h="24581938">
                <a:moveTo>
                  <a:pt x="0" y="0"/>
                </a:moveTo>
                <a:lnTo>
                  <a:pt x="16377716" y="0"/>
                </a:lnTo>
                <a:lnTo>
                  <a:pt x="16377716" y="24581938"/>
                </a:lnTo>
                <a:lnTo>
                  <a:pt x="0" y="245819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565435" y="-14747376"/>
            <a:ext cx="16377716" cy="24581938"/>
          </a:xfrm>
          <a:custGeom>
            <a:avLst/>
            <a:gdLst/>
            <a:ahLst/>
            <a:cxnLst/>
            <a:rect l="l" t="t" r="r" b="b"/>
            <a:pathLst>
              <a:path w="16377716" h="24581938">
                <a:moveTo>
                  <a:pt x="0" y="0"/>
                </a:moveTo>
                <a:lnTo>
                  <a:pt x="16377716" y="0"/>
                </a:lnTo>
                <a:lnTo>
                  <a:pt x="16377716" y="24581938"/>
                </a:lnTo>
                <a:lnTo>
                  <a:pt x="0" y="245819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19827" y="2303834"/>
            <a:ext cx="15198511" cy="6954466"/>
            <a:chOff x="0" y="0"/>
            <a:chExt cx="20264681" cy="9272621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460040"/>
              <a:ext cx="1604067" cy="1604067"/>
              <a:chOff x="0" y="0"/>
              <a:chExt cx="812800" cy="8128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3401306" y="0"/>
              <a:ext cx="7519481" cy="2524147"/>
              <a:chOff x="0" y="0"/>
              <a:chExt cx="1485330" cy="498597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485330" cy="498597"/>
              </a:xfrm>
              <a:custGeom>
                <a:avLst/>
                <a:gdLst/>
                <a:ahLst/>
                <a:cxnLst/>
                <a:rect l="l" t="t" r="r" b="b"/>
                <a:pathLst>
                  <a:path w="1485330" h="498597">
                    <a:moveTo>
                      <a:pt x="75503" y="0"/>
                    </a:moveTo>
                    <a:lnTo>
                      <a:pt x="1409827" y="0"/>
                    </a:lnTo>
                    <a:cubicBezTo>
                      <a:pt x="1429851" y="0"/>
                      <a:pt x="1449056" y="7955"/>
                      <a:pt x="1463215" y="22114"/>
                    </a:cubicBezTo>
                    <a:cubicBezTo>
                      <a:pt x="1477375" y="36274"/>
                      <a:pt x="1485330" y="55478"/>
                      <a:pt x="1485330" y="75503"/>
                    </a:cubicBezTo>
                    <a:lnTo>
                      <a:pt x="1485330" y="423094"/>
                    </a:lnTo>
                    <a:cubicBezTo>
                      <a:pt x="1485330" y="443119"/>
                      <a:pt x="1477375" y="462323"/>
                      <a:pt x="1463215" y="476483"/>
                    </a:cubicBezTo>
                    <a:cubicBezTo>
                      <a:pt x="1449056" y="490642"/>
                      <a:pt x="1429851" y="498597"/>
                      <a:pt x="1409827" y="498597"/>
                    </a:cubicBezTo>
                    <a:lnTo>
                      <a:pt x="75503" y="498597"/>
                    </a:lnTo>
                    <a:cubicBezTo>
                      <a:pt x="55478" y="498597"/>
                      <a:pt x="36274" y="490642"/>
                      <a:pt x="22114" y="476483"/>
                    </a:cubicBezTo>
                    <a:cubicBezTo>
                      <a:pt x="7955" y="462323"/>
                      <a:pt x="0" y="443119"/>
                      <a:pt x="0" y="423094"/>
                    </a:cubicBezTo>
                    <a:lnTo>
                      <a:pt x="0" y="75503"/>
                    </a:lnTo>
                    <a:cubicBezTo>
                      <a:pt x="0" y="55478"/>
                      <a:pt x="7955" y="36274"/>
                      <a:pt x="22114" y="22114"/>
                    </a:cubicBezTo>
                    <a:cubicBezTo>
                      <a:pt x="36274" y="7955"/>
                      <a:pt x="55478" y="0"/>
                      <a:pt x="75503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1485330" cy="5366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3576713" y="176224"/>
              <a:ext cx="7168668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ELIMINAR COLUMNAS P2 Y Q2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12724187" y="0"/>
              <a:ext cx="7540494" cy="2524147"/>
              <a:chOff x="0" y="0"/>
              <a:chExt cx="1489480" cy="498597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489480" cy="498597"/>
              </a:xfrm>
              <a:custGeom>
                <a:avLst/>
                <a:gdLst/>
                <a:ahLst/>
                <a:cxnLst/>
                <a:rect l="l" t="t" r="r" b="b"/>
                <a:pathLst>
                  <a:path w="1489480" h="498597">
                    <a:moveTo>
                      <a:pt x="75292" y="0"/>
                    </a:moveTo>
                    <a:lnTo>
                      <a:pt x="1414188" y="0"/>
                    </a:lnTo>
                    <a:cubicBezTo>
                      <a:pt x="1434157" y="0"/>
                      <a:pt x="1453308" y="7933"/>
                      <a:pt x="1467428" y="22053"/>
                    </a:cubicBezTo>
                    <a:cubicBezTo>
                      <a:pt x="1481548" y="36173"/>
                      <a:pt x="1489480" y="55324"/>
                      <a:pt x="1489480" y="75292"/>
                    </a:cubicBezTo>
                    <a:lnTo>
                      <a:pt x="1489480" y="423305"/>
                    </a:lnTo>
                    <a:cubicBezTo>
                      <a:pt x="1489480" y="443274"/>
                      <a:pt x="1481548" y="462424"/>
                      <a:pt x="1467428" y="476544"/>
                    </a:cubicBezTo>
                    <a:cubicBezTo>
                      <a:pt x="1453308" y="490664"/>
                      <a:pt x="1434157" y="498597"/>
                      <a:pt x="1414188" y="498597"/>
                    </a:cubicBezTo>
                    <a:lnTo>
                      <a:pt x="75292" y="498597"/>
                    </a:lnTo>
                    <a:cubicBezTo>
                      <a:pt x="55324" y="498597"/>
                      <a:pt x="36173" y="490664"/>
                      <a:pt x="22053" y="476544"/>
                    </a:cubicBezTo>
                    <a:cubicBezTo>
                      <a:pt x="7933" y="462424"/>
                      <a:pt x="0" y="443274"/>
                      <a:pt x="0" y="423305"/>
                    </a:cubicBezTo>
                    <a:lnTo>
                      <a:pt x="0" y="75292"/>
                    </a:lnTo>
                    <a:cubicBezTo>
                      <a:pt x="0" y="55324"/>
                      <a:pt x="7933" y="36173"/>
                      <a:pt x="22053" y="22053"/>
                    </a:cubicBezTo>
                    <a:cubicBezTo>
                      <a:pt x="36173" y="7933"/>
                      <a:pt x="55324" y="0"/>
                      <a:pt x="75292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489480" cy="5366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2900084" y="176224"/>
              <a:ext cx="7188701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ELIMINAR COLUMNAS V1 E INTENSIDADES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1604067" y="1262074"/>
              <a:ext cx="1797240" cy="0"/>
            </a:xfrm>
            <a:custGeom>
              <a:avLst/>
              <a:gdLst/>
              <a:ahLst/>
              <a:cxnLst/>
              <a:rect l="l" t="t" r="r" b="b"/>
              <a:pathLst>
                <a:path w="1797240">
                  <a:moveTo>
                    <a:pt x="0" y="0"/>
                  </a:moveTo>
                  <a:lnTo>
                    <a:pt x="1797239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10920788" y="1262074"/>
              <a:ext cx="1803400" cy="0"/>
            </a:xfrm>
            <a:custGeom>
              <a:avLst/>
              <a:gdLst/>
              <a:ahLst/>
              <a:cxnLst/>
              <a:rect l="l" t="t" r="r" b="b"/>
              <a:pathLst>
                <a:path w="1803400">
                  <a:moveTo>
                    <a:pt x="0" y="0"/>
                  </a:moveTo>
                  <a:lnTo>
                    <a:pt x="180340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1192014" y="2451342"/>
              <a:ext cx="1675892" cy="2315931"/>
            </a:xfrm>
            <a:custGeom>
              <a:avLst/>
              <a:gdLst/>
              <a:ahLst/>
              <a:cxnLst/>
              <a:rect l="l" t="t" r="r" b="b"/>
              <a:pathLst>
                <a:path w="1675892" h="2315931">
                  <a:moveTo>
                    <a:pt x="0" y="0"/>
                  </a:moveTo>
                  <a:lnTo>
                    <a:pt x="1675892" y="0"/>
                  </a:lnTo>
                  <a:lnTo>
                    <a:pt x="1675892" y="2315932"/>
                  </a:lnTo>
                  <a:lnTo>
                    <a:pt x="0" y="23159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58733" y="4875224"/>
              <a:ext cx="3342455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DATASET ORIGINAL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11287314" y="2451342"/>
              <a:ext cx="1675892" cy="2315931"/>
            </a:xfrm>
            <a:custGeom>
              <a:avLst/>
              <a:gdLst/>
              <a:ahLst/>
              <a:cxnLst/>
              <a:rect l="l" t="t" r="r" b="b"/>
              <a:pathLst>
                <a:path w="1675892" h="2315931">
                  <a:moveTo>
                    <a:pt x="0" y="0"/>
                  </a:moveTo>
                  <a:lnTo>
                    <a:pt x="1675892" y="0"/>
                  </a:lnTo>
                  <a:lnTo>
                    <a:pt x="1675892" y="2315932"/>
                  </a:lnTo>
                  <a:lnTo>
                    <a:pt x="0" y="23159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454032" y="4672024"/>
              <a:ext cx="3342455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DATASET LIMPIO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17736316" y="2524147"/>
              <a:ext cx="1553378" cy="5486400"/>
            </a:xfrm>
            <a:custGeom>
              <a:avLst/>
              <a:gdLst/>
              <a:ahLst/>
              <a:cxnLst/>
              <a:rect l="l" t="t" r="r" b="b"/>
              <a:pathLst>
                <a:path w="1553378" h="5486400">
                  <a:moveTo>
                    <a:pt x="1553378" y="0"/>
                  </a:moveTo>
                  <a:lnTo>
                    <a:pt x="1553378" y="5181600"/>
                  </a:lnTo>
                  <a:cubicBezTo>
                    <a:pt x="1553378" y="5349937"/>
                    <a:pt x="1416915" y="5486400"/>
                    <a:pt x="1248578" y="5486400"/>
                  </a:cubicBezTo>
                  <a:lnTo>
                    <a:pt x="0" y="548640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3401306" y="2524147"/>
              <a:ext cx="3759740" cy="1878159"/>
            </a:xfrm>
            <a:custGeom>
              <a:avLst/>
              <a:gdLst/>
              <a:ahLst/>
              <a:cxnLst/>
              <a:rect l="l" t="t" r="r" b="b"/>
              <a:pathLst>
                <a:path w="3759740" h="1878159">
                  <a:moveTo>
                    <a:pt x="0" y="1878159"/>
                  </a:moveTo>
                  <a:lnTo>
                    <a:pt x="3454941" y="1878159"/>
                  </a:lnTo>
                  <a:cubicBezTo>
                    <a:pt x="3623277" y="1878159"/>
                    <a:pt x="3759741" y="1741695"/>
                    <a:pt x="3759741" y="1573359"/>
                  </a:cubicBezTo>
                  <a:lnTo>
                    <a:pt x="3759741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13491620" y="4402306"/>
              <a:ext cx="1715505" cy="2346167"/>
            </a:xfrm>
            <a:custGeom>
              <a:avLst/>
              <a:gdLst/>
              <a:ahLst/>
              <a:cxnLst/>
              <a:rect l="l" t="t" r="r" b="b"/>
              <a:pathLst>
                <a:path w="1715505" h="2346167">
                  <a:moveTo>
                    <a:pt x="1715504" y="2346167"/>
                  </a:moveTo>
                  <a:lnTo>
                    <a:pt x="1715504" y="304800"/>
                  </a:lnTo>
                  <a:cubicBezTo>
                    <a:pt x="1715504" y="136464"/>
                    <a:pt x="1579041" y="0"/>
                    <a:pt x="1410704" y="0"/>
                  </a:cubicBez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563133" y="6748474"/>
              <a:ext cx="9173183" cy="2524147"/>
              <a:chOff x="0" y="0"/>
              <a:chExt cx="1811987" cy="498597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811987" cy="498597"/>
              </a:xfrm>
              <a:custGeom>
                <a:avLst/>
                <a:gdLst/>
                <a:ahLst/>
                <a:cxnLst/>
                <a:rect l="l" t="t" r="r" b="b"/>
                <a:pathLst>
                  <a:path w="1811987" h="498597">
                    <a:moveTo>
                      <a:pt x="61891" y="0"/>
                    </a:moveTo>
                    <a:lnTo>
                      <a:pt x="1750095" y="0"/>
                    </a:lnTo>
                    <a:cubicBezTo>
                      <a:pt x="1784277" y="0"/>
                      <a:pt x="1811987" y="27710"/>
                      <a:pt x="1811987" y="61891"/>
                    </a:cubicBezTo>
                    <a:lnTo>
                      <a:pt x="1811987" y="436706"/>
                    </a:lnTo>
                    <a:cubicBezTo>
                      <a:pt x="1811987" y="453120"/>
                      <a:pt x="1805466" y="468863"/>
                      <a:pt x="1793859" y="480469"/>
                    </a:cubicBezTo>
                    <a:cubicBezTo>
                      <a:pt x="1782252" y="492076"/>
                      <a:pt x="1766510" y="498597"/>
                      <a:pt x="1750095" y="498597"/>
                    </a:cubicBezTo>
                    <a:lnTo>
                      <a:pt x="61891" y="498597"/>
                    </a:lnTo>
                    <a:cubicBezTo>
                      <a:pt x="45477" y="498597"/>
                      <a:pt x="29734" y="492076"/>
                      <a:pt x="18128" y="480469"/>
                    </a:cubicBezTo>
                    <a:cubicBezTo>
                      <a:pt x="6521" y="468863"/>
                      <a:pt x="0" y="453120"/>
                      <a:pt x="0" y="436706"/>
                    </a:cubicBezTo>
                    <a:lnTo>
                      <a:pt x="0" y="61891"/>
                    </a:lnTo>
                    <a:cubicBezTo>
                      <a:pt x="0" y="27710"/>
                      <a:pt x="27710" y="0"/>
                      <a:pt x="61891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38100"/>
                <a:ext cx="1811987" cy="5366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8777116" y="6924697"/>
              <a:ext cx="8745219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ELIMINAR MUESTRAS CON PÉRDIDAS NEGATIVAS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5865550" y="8036488"/>
              <a:ext cx="2980100" cy="0"/>
            </a:xfrm>
            <a:custGeom>
              <a:avLst/>
              <a:gdLst/>
              <a:ahLst/>
              <a:cxnLst/>
              <a:rect l="l" t="t" r="r" b="b"/>
              <a:pathLst>
                <a:path w="2980100">
                  <a:moveTo>
                    <a:pt x="2980100" y="0"/>
                  </a:move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4262482" y="7272014"/>
              <a:ext cx="1604067" cy="1604067"/>
              <a:chOff x="0" y="0"/>
              <a:chExt cx="812800" cy="81280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BE7FF"/>
              </a:solidFill>
              <a:ln w="114300" cap="sq">
                <a:solidFill>
                  <a:srgbClr val="4D6BA7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505673" y="7515206"/>
              <a:ext cx="1117684" cy="1117684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46" name="TextBox 46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PROCESAMIENTO DE DATOS</a:t>
            </a:r>
          </a:p>
        </p:txBody>
      </p:sp>
      <p:grpSp>
        <p:nvGrpSpPr>
          <p:cNvPr id="48" name="Group 48"/>
          <p:cNvGrpSpPr/>
          <p:nvPr/>
        </p:nvGrpSpPr>
        <p:grpSpPr>
          <a:xfrm>
            <a:off x="3889361" y="3085709"/>
            <a:ext cx="10141724" cy="5050249"/>
            <a:chOff x="0" y="0"/>
            <a:chExt cx="13522299" cy="6733665"/>
          </a:xfrm>
        </p:grpSpPr>
        <p:grpSp>
          <p:nvGrpSpPr>
            <p:cNvPr id="49" name="Group 49"/>
            <p:cNvGrpSpPr/>
            <p:nvPr/>
          </p:nvGrpSpPr>
          <p:grpSpPr>
            <a:xfrm rot="-1048110">
              <a:off x="126852" y="1925000"/>
              <a:ext cx="13268596" cy="2883665"/>
              <a:chOff x="0" y="0"/>
              <a:chExt cx="613450" cy="133321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613450" cy="133321"/>
              </a:xfrm>
              <a:custGeom>
                <a:avLst/>
                <a:gdLst/>
                <a:ahLst/>
                <a:cxnLst/>
                <a:rect l="l" t="t" r="r" b="b"/>
                <a:pathLst>
                  <a:path w="613450" h="133321">
                    <a:moveTo>
                      <a:pt x="42582" y="0"/>
                    </a:moveTo>
                    <a:lnTo>
                      <a:pt x="570868" y="0"/>
                    </a:lnTo>
                    <a:cubicBezTo>
                      <a:pt x="582161" y="0"/>
                      <a:pt x="592992" y="4486"/>
                      <a:pt x="600978" y="12472"/>
                    </a:cubicBezTo>
                    <a:cubicBezTo>
                      <a:pt x="608963" y="20457"/>
                      <a:pt x="613450" y="31288"/>
                      <a:pt x="613450" y="42582"/>
                    </a:cubicBezTo>
                    <a:lnTo>
                      <a:pt x="613450" y="90739"/>
                    </a:lnTo>
                    <a:cubicBezTo>
                      <a:pt x="613450" y="102033"/>
                      <a:pt x="608963" y="112864"/>
                      <a:pt x="600978" y="120849"/>
                    </a:cubicBezTo>
                    <a:cubicBezTo>
                      <a:pt x="592992" y="128835"/>
                      <a:pt x="582161" y="133321"/>
                      <a:pt x="570868" y="133321"/>
                    </a:cubicBezTo>
                    <a:lnTo>
                      <a:pt x="42582" y="133321"/>
                    </a:lnTo>
                    <a:cubicBezTo>
                      <a:pt x="31288" y="133321"/>
                      <a:pt x="20457" y="128835"/>
                      <a:pt x="12472" y="120849"/>
                    </a:cubicBezTo>
                    <a:cubicBezTo>
                      <a:pt x="4486" y="112864"/>
                      <a:pt x="0" y="102033"/>
                      <a:pt x="0" y="90739"/>
                    </a:cubicBezTo>
                    <a:lnTo>
                      <a:pt x="0" y="42582"/>
                    </a:lnTo>
                    <a:cubicBezTo>
                      <a:pt x="0" y="31288"/>
                      <a:pt x="4486" y="20457"/>
                      <a:pt x="12472" y="12472"/>
                    </a:cubicBezTo>
                    <a:cubicBezTo>
                      <a:pt x="20457" y="4486"/>
                      <a:pt x="31288" y="0"/>
                      <a:pt x="42582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38100"/>
                <a:ext cx="613450" cy="1714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2" name="TextBox 52"/>
            <p:cNvSpPr txBox="1"/>
            <p:nvPr/>
          </p:nvSpPr>
          <p:spPr>
            <a:xfrm rot="-1053004">
              <a:off x="535654" y="2267685"/>
              <a:ext cx="12396418" cy="20257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50"/>
                </a:lnSpc>
                <a:spcBef>
                  <a:spcPct val="0"/>
                </a:spcBef>
              </a:pPr>
              <a:r>
                <a:rPr lang="en-US" sz="9107" dirty="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¿NORMALIZACIÓN?</a:t>
              </a:r>
            </a:p>
          </p:txBody>
        </p:sp>
      </p:grp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VALIDACIÓN Y MÉTRICAS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9827" y="2303834"/>
            <a:ext cx="16853824" cy="7002091"/>
            <a:chOff x="0" y="0"/>
            <a:chExt cx="22471764" cy="9336121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460040"/>
              <a:ext cx="1604067" cy="1604067"/>
              <a:chOff x="0" y="0"/>
              <a:chExt cx="812800" cy="8128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0" name="Freeform 20"/>
            <p:cNvSpPr/>
            <p:nvPr/>
          </p:nvSpPr>
          <p:spPr>
            <a:xfrm>
              <a:off x="1453685" y="1201116"/>
              <a:ext cx="1947621" cy="60959"/>
            </a:xfrm>
            <a:custGeom>
              <a:avLst/>
              <a:gdLst/>
              <a:ahLst/>
              <a:cxnLst/>
              <a:rect l="l" t="t" r="r" b="b"/>
              <a:pathLst>
                <a:path w="1797240">
                  <a:moveTo>
                    <a:pt x="0" y="0"/>
                  </a:moveTo>
                  <a:lnTo>
                    <a:pt x="1797239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3401306" y="0"/>
              <a:ext cx="9516585" cy="2451342"/>
              <a:chOff x="0" y="0"/>
              <a:chExt cx="1879819" cy="48421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879819" cy="484216"/>
              </a:xfrm>
              <a:custGeom>
                <a:avLst/>
                <a:gdLst/>
                <a:ahLst/>
                <a:cxnLst/>
                <a:rect l="l" t="t" r="r" b="b"/>
                <a:pathLst>
                  <a:path w="1879819" h="484216">
                    <a:moveTo>
                      <a:pt x="59658" y="0"/>
                    </a:moveTo>
                    <a:lnTo>
                      <a:pt x="1820161" y="0"/>
                    </a:lnTo>
                    <a:cubicBezTo>
                      <a:pt x="1835984" y="0"/>
                      <a:pt x="1851158" y="6285"/>
                      <a:pt x="1862346" y="17473"/>
                    </a:cubicBezTo>
                    <a:cubicBezTo>
                      <a:pt x="1873534" y="28661"/>
                      <a:pt x="1879819" y="43836"/>
                      <a:pt x="1879819" y="59658"/>
                    </a:cubicBezTo>
                    <a:lnTo>
                      <a:pt x="1879819" y="424558"/>
                    </a:lnTo>
                    <a:cubicBezTo>
                      <a:pt x="1879819" y="457506"/>
                      <a:pt x="1853110" y="484216"/>
                      <a:pt x="1820161" y="484216"/>
                    </a:cubicBezTo>
                    <a:lnTo>
                      <a:pt x="59658" y="484216"/>
                    </a:lnTo>
                    <a:cubicBezTo>
                      <a:pt x="43836" y="484216"/>
                      <a:pt x="28661" y="477930"/>
                      <a:pt x="17473" y="466742"/>
                    </a:cubicBezTo>
                    <a:cubicBezTo>
                      <a:pt x="6285" y="455554"/>
                      <a:pt x="0" y="440380"/>
                      <a:pt x="0" y="424558"/>
                    </a:cubicBezTo>
                    <a:lnTo>
                      <a:pt x="0" y="59658"/>
                    </a:lnTo>
                    <a:cubicBezTo>
                      <a:pt x="0" y="43836"/>
                      <a:pt x="6285" y="28661"/>
                      <a:pt x="17473" y="17473"/>
                    </a:cubicBezTo>
                    <a:cubicBezTo>
                      <a:pt x="28661" y="6285"/>
                      <a:pt x="43836" y="0"/>
                      <a:pt x="5965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879819" cy="52231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3576713" y="176224"/>
              <a:ext cx="9081774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DIVIDIR EN CONJUNTO DE ENTRENAMIENTO Y PRUEBA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1192014" y="2451342"/>
              <a:ext cx="1675892" cy="2315931"/>
            </a:xfrm>
            <a:custGeom>
              <a:avLst/>
              <a:gdLst/>
              <a:ahLst/>
              <a:cxnLst/>
              <a:rect l="l" t="t" r="r" b="b"/>
              <a:pathLst>
                <a:path w="1675892" h="2315931">
                  <a:moveTo>
                    <a:pt x="0" y="0"/>
                  </a:moveTo>
                  <a:lnTo>
                    <a:pt x="1675892" y="0"/>
                  </a:lnTo>
                  <a:lnTo>
                    <a:pt x="1675892" y="2315932"/>
                  </a:lnTo>
                  <a:lnTo>
                    <a:pt x="0" y="23159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58733" y="4875224"/>
              <a:ext cx="3342455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DATASET ORIGINAL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3401305" y="2451343"/>
              <a:ext cx="1792865" cy="1950964"/>
            </a:xfrm>
            <a:custGeom>
              <a:avLst/>
              <a:gdLst/>
              <a:ahLst/>
              <a:cxnLst/>
              <a:rect l="l" t="t" r="r" b="b"/>
              <a:pathLst>
                <a:path w="931690" h="1950964">
                  <a:moveTo>
                    <a:pt x="0" y="1950964"/>
                  </a:moveTo>
                  <a:lnTo>
                    <a:pt x="626890" y="1950964"/>
                  </a:lnTo>
                  <a:cubicBezTo>
                    <a:pt x="795227" y="1950964"/>
                    <a:pt x="931690" y="1814500"/>
                    <a:pt x="931690" y="1646164"/>
                  </a:cubicBezTo>
                  <a:lnTo>
                    <a:pt x="93169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12917891" y="1225671"/>
              <a:ext cx="4908135" cy="1330902"/>
            </a:xfrm>
            <a:custGeom>
              <a:avLst/>
              <a:gdLst/>
              <a:ahLst/>
              <a:cxnLst/>
              <a:rect l="l" t="t" r="r" b="b"/>
              <a:pathLst>
                <a:path w="4908135" h="1330902">
                  <a:moveTo>
                    <a:pt x="0" y="0"/>
                  </a:moveTo>
                  <a:lnTo>
                    <a:pt x="4603336" y="0"/>
                  </a:lnTo>
                  <a:cubicBezTo>
                    <a:pt x="4771673" y="0"/>
                    <a:pt x="4908136" y="136464"/>
                    <a:pt x="4908136" y="304800"/>
                  </a:cubicBezTo>
                  <a:lnTo>
                    <a:pt x="4908136" y="1330902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13180291" y="2556573"/>
              <a:ext cx="9291473" cy="2459296"/>
              <a:chOff x="0" y="0"/>
              <a:chExt cx="1835353" cy="485787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835353" cy="485787"/>
              </a:xfrm>
              <a:custGeom>
                <a:avLst/>
                <a:gdLst/>
                <a:ahLst/>
                <a:cxnLst/>
                <a:rect l="l" t="t" r="r" b="b"/>
                <a:pathLst>
                  <a:path w="1835353" h="485787">
                    <a:moveTo>
                      <a:pt x="61103" y="0"/>
                    </a:moveTo>
                    <a:lnTo>
                      <a:pt x="1774249" y="0"/>
                    </a:lnTo>
                    <a:cubicBezTo>
                      <a:pt x="1807996" y="0"/>
                      <a:pt x="1835353" y="27357"/>
                      <a:pt x="1835353" y="61103"/>
                    </a:cubicBezTo>
                    <a:lnTo>
                      <a:pt x="1835353" y="424683"/>
                    </a:lnTo>
                    <a:cubicBezTo>
                      <a:pt x="1835353" y="440889"/>
                      <a:pt x="1828915" y="456431"/>
                      <a:pt x="1817456" y="467890"/>
                    </a:cubicBezTo>
                    <a:cubicBezTo>
                      <a:pt x="1805997" y="479349"/>
                      <a:pt x="1790455" y="485787"/>
                      <a:pt x="1774249" y="485787"/>
                    </a:cubicBezTo>
                    <a:lnTo>
                      <a:pt x="61103" y="485787"/>
                    </a:lnTo>
                    <a:cubicBezTo>
                      <a:pt x="44898" y="485787"/>
                      <a:pt x="29356" y="479349"/>
                      <a:pt x="17897" y="467890"/>
                    </a:cubicBezTo>
                    <a:cubicBezTo>
                      <a:pt x="6438" y="456431"/>
                      <a:pt x="0" y="440889"/>
                      <a:pt x="0" y="424683"/>
                    </a:cubicBezTo>
                    <a:lnTo>
                      <a:pt x="0" y="61103"/>
                    </a:lnTo>
                    <a:cubicBezTo>
                      <a:pt x="0" y="44898"/>
                      <a:pt x="6438" y="29356"/>
                      <a:pt x="17897" y="17897"/>
                    </a:cubicBezTo>
                    <a:cubicBezTo>
                      <a:pt x="29356" y="6438"/>
                      <a:pt x="44898" y="0"/>
                      <a:pt x="61103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38100"/>
                <a:ext cx="1835353" cy="5238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3356187" y="2732797"/>
              <a:ext cx="8861036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ENTRENAR CON CONJUNTO DE ENTRENAMIENTO</a:t>
              </a:r>
            </a:p>
          </p:txBody>
        </p:sp>
        <p:grpSp>
          <p:nvGrpSpPr>
            <p:cNvPr id="33" name="Group 33"/>
            <p:cNvGrpSpPr/>
            <p:nvPr/>
          </p:nvGrpSpPr>
          <p:grpSpPr>
            <a:xfrm>
              <a:off x="7330963" y="6811974"/>
              <a:ext cx="9173183" cy="2524147"/>
              <a:chOff x="0" y="0"/>
              <a:chExt cx="1811987" cy="498597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811987" cy="498597"/>
              </a:xfrm>
              <a:custGeom>
                <a:avLst/>
                <a:gdLst/>
                <a:ahLst/>
                <a:cxnLst/>
                <a:rect l="l" t="t" r="r" b="b"/>
                <a:pathLst>
                  <a:path w="1811987" h="498597">
                    <a:moveTo>
                      <a:pt x="61891" y="0"/>
                    </a:moveTo>
                    <a:lnTo>
                      <a:pt x="1750095" y="0"/>
                    </a:lnTo>
                    <a:cubicBezTo>
                      <a:pt x="1784277" y="0"/>
                      <a:pt x="1811987" y="27710"/>
                      <a:pt x="1811987" y="61891"/>
                    </a:cubicBezTo>
                    <a:lnTo>
                      <a:pt x="1811987" y="436706"/>
                    </a:lnTo>
                    <a:cubicBezTo>
                      <a:pt x="1811987" y="453120"/>
                      <a:pt x="1805466" y="468863"/>
                      <a:pt x="1793859" y="480469"/>
                    </a:cubicBezTo>
                    <a:cubicBezTo>
                      <a:pt x="1782252" y="492076"/>
                      <a:pt x="1766510" y="498597"/>
                      <a:pt x="1750095" y="498597"/>
                    </a:cubicBezTo>
                    <a:lnTo>
                      <a:pt x="61891" y="498597"/>
                    </a:lnTo>
                    <a:cubicBezTo>
                      <a:pt x="45477" y="498597"/>
                      <a:pt x="29734" y="492076"/>
                      <a:pt x="18128" y="480469"/>
                    </a:cubicBezTo>
                    <a:cubicBezTo>
                      <a:pt x="6521" y="468863"/>
                      <a:pt x="0" y="453120"/>
                      <a:pt x="0" y="436706"/>
                    </a:cubicBezTo>
                    <a:lnTo>
                      <a:pt x="0" y="61891"/>
                    </a:lnTo>
                    <a:cubicBezTo>
                      <a:pt x="0" y="27710"/>
                      <a:pt x="27710" y="0"/>
                      <a:pt x="61891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1811987" cy="5366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7544945" y="6988197"/>
              <a:ext cx="8745219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 dirty="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CALCULAR MÉTRICAS CON CONJUNTO DE PRUEBA</a:t>
              </a:r>
            </a:p>
          </p:txBody>
        </p:sp>
        <p:grpSp>
          <p:nvGrpSpPr>
            <p:cNvPr id="38" name="Group 38"/>
            <p:cNvGrpSpPr/>
            <p:nvPr/>
          </p:nvGrpSpPr>
          <p:grpSpPr>
            <a:xfrm>
              <a:off x="3701188" y="7272014"/>
              <a:ext cx="1604067" cy="1604067"/>
              <a:chOff x="0" y="0"/>
              <a:chExt cx="812800" cy="812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BE7FF"/>
              </a:solidFill>
              <a:ln w="114300" cap="sq">
                <a:solidFill>
                  <a:srgbClr val="4D6BA7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3944380" y="7515206"/>
              <a:ext cx="1117684" cy="1117684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7186153" y="3070046"/>
              <a:ext cx="1675892" cy="2315931"/>
            </a:xfrm>
            <a:custGeom>
              <a:avLst/>
              <a:gdLst/>
              <a:ahLst/>
              <a:cxnLst/>
              <a:rect l="l" t="t" r="r" b="b"/>
              <a:pathLst>
                <a:path w="1675892" h="2315931">
                  <a:moveTo>
                    <a:pt x="0" y="0"/>
                  </a:moveTo>
                  <a:lnTo>
                    <a:pt x="1675892" y="0"/>
                  </a:lnTo>
                  <a:lnTo>
                    <a:pt x="1675892" y="2315931"/>
                  </a:lnTo>
                  <a:lnTo>
                    <a:pt x="0" y="23159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352871" y="5454852"/>
              <a:ext cx="3342455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MÉTRICAS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5305255" y="8074047"/>
              <a:ext cx="2025709" cy="0"/>
            </a:xfrm>
            <a:custGeom>
              <a:avLst/>
              <a:gdLst/>
              <a:ahLst/>
              <a:cxnLst/>
              <a:rect l="l" t="t" r="r" b="b"/>
              <a:pathLst>
                <a:path w="2025709">
                  <a:moveTo>
                    <a:pt x="2025708" y="0"/>
                  </a:move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7" name="Freeform 47"/>
            <p:cNvSpPr/>
            <p:nvPr/>
          </p:nvSpPr>
          <p:spPr>
            <a:xfrm>
              <a:off x="9695326" y="4280891"/>
              <a:ext cx="2222229" cy="2531083"/>
            </a:xfrm>
            <a:custGeom>
              <a:avLst/>
              <a:gdLst/>
              <a:ahLst/>
              <a:cxnLst/>
              <a:rect l="l" t="t" r="r" b="b"/>
              <a:pathLst>
                <a:path w="2222229" h="2531083">
                  <a:moveTo>
                    <a:pt x="2222229" y="2531082"/>
                  </a:moveTo>
                  <a:lnTo>
                    <a:pt x="2222229" y="304800"/>
                  </a:lnTo>
                  <a:cubicBezTo>
                    <a:pt x="2222229" y="136463"/>
                    <a:pt x="2085765" y="0"/>
                    <a:pt x="1917429" y="0"/>
                  </a:cubicBez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708558" y="1769159"/>
            <a:ext cx="4661938" cy="2907857"/>
            <a:chOff x="0" y="0"/>
            <a:chExt cx="6215917" cy="3877143"/>
          </a:xfrm>
        </p:grpSpPr>
        <p:grpSp>
          <p:nvGrpSpPr>
            <p:cNvPr id="49" name="Group 49"/>
            <p:cNvGrpSpPr/>
            <p:nvPr/>
          </p:nvGrpSpPr>
          <p:grpSpPr>
            <a:xfrm rot="-1048110">
              <a:off x="201451" y="820937"/>
              <a:ext cx="5813015" cy="2235269"/>
              <a:chOff x="0" y="0"/>
              <a:chExt cx="346713" cy="133321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346713" cy="133321"/>
              </a:xfrm>
              <a:custGeom>
                <a:avLst/>
                <a:gdLst/>
                <a:ahLst/>
                <a:cxnLst/>
                <a:rect l="l" t="t" r="r" b="b"/>
                <a:pathLst>
                  <a:path w="346713" h="133321">
                    <a:moveTo>
                      <a:pt x="66661" y="0"/>
                    </a:moveTo>
                    <a:lnTo>
                      <a:pt x="280053" y="0"/>
                    </a:lnTo>
                    <a:cubicBezTo>
                      <a:pt x="297732" y="0"/>
                      <a:pt x="314687" y="7023"/>
                      <a:pt x="327189" y="19524"/>
                    </a:cubicBezTo>
                    <a:cubicBezTo>
                      <a:pt x="339690" y="32026"/>
                      <a:pt x="346713" y="48981"/>
                      <a:pt x="346713" y="66661"/>
                    </a:cubicBezTo>
                    <a:lnTo>
                      <a:pt x="346713" y="66661"/>
                    </a:lnTo>
                    <a:cubicBezTo>
                      <a:pt x="346713" y="103476"/>
                      <a:pt x="316868" y="133321"/>
                      <a:pt x="280053" y="133321"/>
                    </a:cubicBezTo>
                    <a:lnTo>
                      <a:pt x="66661" y="133321"/>
                    </a:lnTo>
                    <a:cubicBezTo>
                      <a:pt x="29845" y="133321"/>
                      <a:pt x="0" y="103476"/>
                      <a:pt x="0" y="66661"/>
                    </a:cubicBezTo>
                    <a:lnTo>
                      <a:pt x="0" y="66661"/>
                    </a:lnTo>
                    <a:cubicBezTo>
                      <a:pt x="0" y="29845"/>
                      <a:pt x="29845" y="0"/>
                      <a:pt x="6666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38100"/>
                <a:ext cx="346713" cy="1714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2" name="TextBox 52"/>
            <p:cNvSpPr txBox="1"/>
            <p:nvPr/>
          </p:nvSpPr>
          <p:spPr>
            <a:xfrm rot="-1053004">
              <a:off x="474056" y="1074734"/>
              <a:ext cx="5221851" cy="15823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83"/>
                </a:lnSpc>
                <a:spcBef>
                  <a:spcPct val="0"/>
                </a:spcBef>
              </a:pPr>
              <a:r>
                <a:rPr lang="en-US" sz="705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¿DIVIDIR?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972495" y="6682738"/>
            <a:ext cx="5437187" cy="3151824"/>
            <a:chOff x="0" y="0"/>
            <a:chExt cx="7249583" cy="4202432"/>
          </a:xfrm>
        </p:grpSpPr>
        <p:grpSp>
          <p:nvGrpSpPr>
            <p:cNvPr id="54" name="Group 54"/>
            <p:cNvGrpSpPr/>
            <p:nvPr/>
          </p:nvGrpSpPr>
          <p:grpSpPr>
            <a:xfrm rot="-1048110">
              <a:off x="176464" y="983582"/>
              <a:ext cx="6896655" cy="2235269"/>
              <a:chOff x="0" y="0"/>
              <a:chExt cx="411346" cy="133321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411346" cy="133321"/>
              </a:xfrm>
              <a:custGeom>
                <a:avLst/>
                <a:gdLst/>
                <a:ahLst/>
                <a:cxnLst/>
                <a:rect l="l" t="t" r="r" b="b"/>
                <a:pathLst>
                  <a:path w="411346" h="133321">
                    <a:moveTo>
                      <a:pt x="63503" y="0"/>
                    </a:moveTo>
                    <a:lnTo>
                      <a:pt x="347843" y="0"/>
                    </a:lnTo>
                    <a:cubicBezTo>
                      <a:pt x="382915" y="0"/>
                      <a:pt x="411346" y="28431"/>
                      <a:pt x="411346" y="63503"/>
                    </a:cubicBezTo>
                    <a:lnTo>
                      <a:pt x="411346" y="69818"/>
                    </a:lnTo>
                    <a:cubicBezTo>
                      <a:pt x="411346" y="104890"/>
                      <a:pt x="382915" y="133321"/>
                      <a:pt x="347843" y="133321"/>
                    </a:cubicBezTo>
                    <a:lnTo>
                      <a:pt x="63503" y="133321"/>
                    </a:lnTo>
                    <a:cubicBezTo>
                      <a:pt x="28431" y="133321"/>
                      <a:pt x="0" y="104890"/>
                      <a:pt x="0" y="69818"/>
                    </a:cubicBezTo>
                    <a:lnTo>
                      <a:pt x="0" y="63503"/>
                    </a:lnTo>
                    <a:cubicBezTo>
                      <a:pt x="0" y="28431"/>
                      <a:pt x="28431" y="0"/>
                      <a:pt x="63503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38100"/>
                <a:ext cx="411346" cy="1714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7" name="TextBox 57"/>
            <p:cNvSpPr txBox="1"/>
            <p:nvPr/>
          </p:nvSpPr>
          <p:spPr>
            <a:xfrm rot="-1053004">
              <a:off x="446782" y="1223332"/>
              <a:ext cx="6393777" cy="15823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83"/>
                </a:lnSpc>
                <a:spcBef>
                  <a:spcPct val="0"/>
                </a:spcBef>
              </a:pPr>
              <a:r>
                <a:rPr lang="en-US" sz="7059" dirty="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¿MÉTRICAS?</a:t>
              </a:r>
            </a:p>
          </p:txBody>
        </p:sp>
      </p:grpSp>
      <p:sp>
        <p:nvSpPr>
          <p:cNvPr id="58" name="Freeform 28">
            <a:extLst>
              <a:ext uri="{FF2B5EF4-FFF2-40B4-BE49-F238E27FC236}">
                <a16:creationId xmlns:a16="http://schemas.microsoft.com/office/drawing/2014/main" id="{BCA16DDE-0F9B-5B2D-C71B-35C0D2E8B9A6}"/>
              </a:ext>
            </a:extLst>
          </p:cNvPr>
          <p:cNvSpPr/>
          <p:nvPr/>
        </p:nvSpPr>
        <p:spPr>
          <a:xfrm rot="5400000">
            <a:off x="12604158" y="6674181"/>
            <a:ext cx="2399117" cy="971260"/>
          </a:xfrm>
          <a:custGeom>
            <a:avLst/>
            <a:gdLst/>
            <a:ahLst/>
            <a:cxnLst/>
            <a:rect l="l" t="t" r="r" b="b"/>
            <a:pathLst>
              <a:path w="4908135" h="1330902">
                <a:moveTo>
                  <a:pt x="0" y="0"/>
                </a:moveTo>
                <a:lnTo>
                  <a:pt x="4603336" y="0"/>
                </a:lnTo>
                <a:cubicBezTo>
                  <a:pt x="4771673" y="0"/>
                  <a:pt x="4908136" y="136464"/>
                  <a:pt x="4908136" y="304800"/>
                </a:cubicBezTo>
                <a:lnTo>
                  <a:pt x="4908136" y="1330902"/>
                </a:lnTo>
              </a:path>
            </a:pathLst>
          </a:custGeom>
          <a:ln w="254000" cap="flat">
            <a:solidFill>
              <a:srgbClr val="4D6BA7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465652" y="2628192"/>
            <a:ext cx="11356695" cy="1844472"/>
            <a:chOff x="0" y="0"/>
            <a:chExt cx="15142260" cy="245929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5142260" cy="2459296"/>
              <a:chOff x="0" y="0"/>
              <a:chExt cx="2991064" cy="485787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991064" cy="485787"/>
              </a:xfrm>
              <a:custGeom>
                <a:avLst/>
                <a:gdLst/>
                <a:ahLst/>
                <a:cxnLst/>
                <a:rect l="l" t="t" r="r" b="b"/>
                <a:pathLst>
                  <a:path w="2991064" h="485787">
                    <a:moveTo>
                      <a:pt x="37494" y="0"/>
                    </a:moveTo>
                    <a:lnTo>
                      <a:pt x="2953570" y="0"/>
                    </a:lnTo>
                    <a:cubicBezTo>
                      <a:pt x="2974277" y="0"/>
                      <a:pt x="2991064" y="16787"/>
                      <a:pt x="2991064" y="37494"/>
                    </a:cubicBezTo>
                    <a:lnTo>
                      <a:pt x="2991064" y="448293"/>
                    </a:lnTo>
                    <a:cubicBezTo>
                      <a:pt x="2991064" y="458237"/>
                      <a:pt x="2987114" y="467774"/>
                      <a:pt x="2980082" y="474805"/>
                    </a:cubicBezTo>
                    <a:cubicBezTo>
                      <a:pt x="2973051" y="481837"/>
                      <a:pt x="2963514" y="485787"/>
                      <a:pt x="2953570" y="485787"/>
                    </a:cubicBezTo>
                    <a:lnTo>
                      <a:pt x="37494" y="485787"/>
                    </a:lnTo>
                    <a:cubicBezTo>
                      <a:pt x="16787" y="485787"/>
                      <a:pt x="0" y="469000"/>
                      <a:pt x="0" y="448293"/>
                    </a:cubicBezTo>
                    <a:lnTo>
                      <a:pt x="0" y="37494"/>
                    </a:lnTo>
                    <a:cubicBezTo>
                      <a:pt x="0" y="16787"/>
                      <a:pt x="16787" y="0"/>
                      <a:pt x="37494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2991064" cy="5238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3889520" y="560781"/>
              <a:ext cx="736322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DATASET ORIGINAL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465652" y="4697755"/>
            <a:ext cx="11356695" cy="3850966"/>
            <a:chOff x="0" y="0"/>
            <a:chExt cx="15142260" cy="5134621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2675325"/>
              <a:ext cx="8430175" cy="2459296"/>
              <a:chOff x="0" y="0"/>
              <a:chExt cx="1665220" cy="485787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1665220" cy="485787"/>
              </a:xfrm>
              <a:custGeom>
                <a:avLst/>
                <a:gdLst/>
                <a:ahLst/>
                <a:cxnLst/>
                <a:rect l="l" t="t" r="r" b="b"/>
                <a:pathLst>
                  <a:path w="1665220" h="485787">
                    <a:moveTo>
                      <a:pt x="67346" y="0"/>
                    </a:moveTo>
                    <a:lnTo>
                      <a:pt x="1597874" y="0"/>
                    </a:lnTo>
                    <a:cubicBezTo>
                      <a:pt x="1635068" y="0"/>
                      <a:pt x="1665220" y="30152"/>
                      <a:pt x="1665220" y="67346"/>
                    </a:cubicBezTo>
                    <a:lnTo>
                      <a:pt x="1665220" y="418441"/>
                    </a:lnTo>
                    <a:cubicBezTo>
                      <a:pt x="1665220" y="436302"/>
                      <a:pt x="1658125" y="453432"/>
                      <a:pt x="1645495" y="466062"/>
                    </a:cubicBezTo>
                    <a:cubicBezTo>
                      <a:pt x="1632865" y="478692"/>
                      <a:pt x="1615735" y="485787"/>
                      <a:pt x="1597874" y="485787"/>
                    </a:cubicBezTo>
                    <a:lnTo>
                      <a:pt x="67346" y="485787"/>
                    </a:lnTo>
                    <a:cubicBezTo>
                      <a:pt x="49485" y="485787"/>
                      <a:pt x="32355" y="478692"/>
                      <a:pt x="19725" y="466062"/>
                    </a:cubicBezTo>
                    <a:cubicBezTo>
                      <a:pt x="7095" y="453432"/>
                      <a:pt x="0" y="436302"/>
                      <a:pt x="0" y="418441"/>
                    </a:cubicBezTo>
                    <a:lnTo>
                      <a:pt x="0" y="67346"/>
                    </a:lnTo>
                    <a:cubicBezTo>
                      <a:pt x="0" y="49485"/>
                      <a:pt x="7095" y="32355"/>
                      <a:pt x="19725" y="19725"/>
                    </a:cubicBezTo>
                    <a:cubicBezTo>
                      <a:pt x="32355" y="7095"/>
                      <a:pt x="49485" y="0"/>
                      <a:pt x="67346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1665220" cy="5238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533477" y="3236106"/>
              <a:ext cx="736322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ENTRENAMIENTO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8633838" y="2675325"/>
              <a:ext cx="6508422" cy="2459296"/>
              <a:chOff x="0" y="0"/>
              <a:chExt cx="1285614" cy="485787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85614" cy="485787"/>
              </a:xfrm>
              <a:custGeom>
                <a:avLst/>
                <a:gdLst/>
                <a:ahLst/>
                <a:cxnLst/>
                <a:rect l="l" t="t" r="r" b="b"/>
                <a:pathLst>
                  <a:path w="1285614" h="485787">
                    <a:moveTo>
                      <a:pt x="87232" y="0"/>
                    </a:moveTo>
                    <a:lnTo>
                      <a:pt x="1198383" y="0"/>
                    </a:lnTo>
                    <a:cubicBezTo>
                      <a:pt x="1246559" y="0"/>
                      <a:pt x="1285614" y="39055"/>
                      <a:pt x="1285614" y="87232"/>
                    </a:cubicBezTo>
                    <a:lnTo>
                      <a:pt x="1285614" y="398555"/>
                    </a:lnTo>
                    <a:cubicBezTo>
                      <a:pt x="1285614" y="421690"/>
                      <a:pt x="1276424" y="443878"/>
                      <a:pt x="1260065" y="460237"/>
                    </a:cubicBezTo>
                    <a:cubicBezTo>
                      <a:pt x="1243706" y="476596"/>
                      <a:pt x="1221518" y="485787"/>
                      <a:pt x="1198383" y="485787"/>
                    </a:cubicBezTo>
                    <a:lnTo>
                      <a:pt x="87232" y="485787"/>
                    </a:lnTo>
                    <a:cubicBezTo>
                      <a:pt x="39055" y="485787"/>
                      <a:pt x="0" y="446732"/>
                      <a:pt x="0" y="398555"/>
                    </a:cubicBezTo>
                    <a:lnTo>
                      <a:pt x="0" y="87232"/>
                    </a:lnTo>
                    <a:cubicBezTo>
                      <a:pt x="0" y="39055"/>
                      <a:pt x="39055" y="0"/>
                      <a:pt x="87232" y="0"/>
                    </a:cubicBezTo>
                    <a:close/>
                  </a:path>
                </a:pathLst>
              </a:custGeom>
              <a:solidFill>
                <a:srgbClr val="203660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1285614" cy="5238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10031209" y="3236106"/>
              <a:ext cx="371368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PRUEBA</a:t>
              </a:r>
            </a:p>
          </p:txBody>
        </p:sp>
        <p:sp>
          <p:nvSpPr>
            <p:cNvPr id="28" name="AutoShape 28"/>
            <p:cNvSpPr/>
            <p:nvPr/>
          </p:nvSpPr>
          <p:spPr>
            <a:xfrm flipH="1">
              <a:off x="7571130" y="0"/>
              <a:ext cx="0" cy="2466823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8633838" y="180823"/>
              <a:ext cx="2013557" cy="2013557"/>
            </a:xfrm>
            <a:custGeom>
              <a:avLst/>
              <a:gdLst/>
              <a:ahLst/>
              <a:cxnLst/>
              <a:rect l="l" t="t" r="r" b="b"/>
              <a:pathLst>
                <a:path w="2013557" h="2013557">
                  <a:moveTo>
                    <a:pt x="0" y="0"/>
                  </a:moveTo>
                  <a:lnTo>
                    <a:pt x="2013558" y="0"/>
                  </a:lnTo>
                  <a:lnTo>
                    <a:pt x="2013558" y="2013557"/>
                  </a:lnTo>
                  <a:lnTo>
                    <a:pt x="0" y="20135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910572" y="494348"/>
            <a:ext cx="1390604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VALIDACIÓN POR RETENCIÓN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4397" y="3532316"/>
            <a:ext cx="11356695" cy="1338161"/>
            <a:chOff x="0" y="0"/>
            <a:chExt cx="15142260" cy="1784215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5142260" cy="1784215"/>
              <a:chOff x="0" y="0"/>
              <a:chExt cx="2991064" cy="352438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991064" cy="352437"/>
              </a:xfrm>
              <a:custGeom>
                <a:avLst/>
                <a:gdLst/>
                <a:ahLst/>
                <a:cxnLst/>
                <a:rect l="l" t="t" r="r" b="b"/>
                <a:pathLst>
                  <a:path w="2991064" h="352437">
                    <a:moveTo>
                      <a:pt x="37494" y="0"/>
                    </a:moveTo>
                    <a:lnTo>
                      <a:pt x="2953570" y="0"/>
                    </a:lnTo>
                    <a:cubicBezTo>
                      <a:pt x="2974277" y="0"/>
                      <a:pt x="2991064" y="16787"/>
                      <a:pt x="2991064" y="37494"/>
                    </a:cubicBezTo>
                    <a:lnTo>
                      <a:pt x="2991064" y="314944"/>
                    </a:lnTo>
                    <a:cubicBezTo>
                      <a:pt x="2991064" y="324888"/>
                      <a:pt x="2987114" y="334424"/>
                      <a:pt x="2980082" y="341456"/>
                    </a:cubicBezTo>
                    <a:cubicBezTo>
                      <a:pt x="2973051" y="348487"/>
                      <a:pt x="2963514" y="352437"/>
                      <a:pt x="2953570" y="352437"/>
                    </a:cubicBezTo>
                    <a:lnTo>
                      <a:pt x="37494" y="352437"/>
                    </a:lnTo>
                    <a:cubicBezTo>
                      <a:pt x="27550" y="352437"/>
                      <a:pt x="18013" y="348487"/>
                      <a:pt x="10982" y="341456"/>
                    </a:cubicBezTo>
                    <a:cubicBezTo>
                      <a:pt x="3950" y="334424"/>
                      <a:pt x="0" y="324888"/>
                      <a:pt x="0" y="314944"/>
                    </a:cubicBezTo>
                    <a:lnTo>
                      <a:pt x="0" y="37494"/>
                    </a:lnTo>
                    <a:cubicBezTo>
                      <a:pt x="0" y="16787"/>
                      <a:pt x="16787" y="0"/>
                      <a:pt x="37494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2991064" cy="39053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3889520" y="223241"/>
              <a:ext cx="736322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DATASET ORIGINAL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25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910572" y="713423"/>
            <a:ext cx="13906047" cy="261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VALIDACIÓN CRUZADA POR K PLIEGUES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180593" y="3717277"/>
            <a:ext cx="5949379" cy="1129374"/>
            <a:chOff x="0" y="0"/>
            <a:chExt cx="7932505" cy="1505833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1649946" cy="1505833"/>
              <a:chOff x="0" y="0"/>
              <a:chExt cx="325915" cy="297448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325915" cy="297448"/>
              </a:xfrm>
              <a:custGeom>
                <a:avLst/>
                <a:gdLst/>
                <a:ahLst/>
                <a:cxnLst/>
                <a:rect l="l" t="t" r="r" b="b"/>
                <a:pathLst>
                  <a:path w="325915" h="297448">
                    <a:moveTo>
                      <a:pt x="148724" y="0"/>
                    </a:moveTo>
                    <a:lnTo>
                      <a:pt x="177191" y="0"/>
                    </a:lnTo>
                    <a:cubicBezTo>
                      <a:pt x="259329" y="0"/>
                      <a:pt x="325915" y="66586"/>
                      <a:pt x="325915" y="148724"/>
                    </a:cubicBezTo>
                    <a:lnTo>
                      <a:pt x="325915" y="148724"/>
                    </a:lnTo>
                    <a:cubicBezTo>
                      <a:pt x="325915" y="188168"/>
                      <a:pt x="310246" y="225997"/>
                      <a:pt x="282355" y="253888"/>
                    </a:cubicBezTo>
                    <a:cubicBezTo>
                      <a:pt x="254464" y="281779"/>
                      <a:pt x="216635" y="297448"/>
                      <a:pt x="177191" y="297448"/>
                    </a:cubicBezTo>
                    <a:lnTo>
                      <a:pt x="148724" y="297448"/>
                    </a:lnTo>
                    <a:cubicBezTo>
                      <a:pt x="109280" y="297448"/>
                      <a:pt x="71452" y="281779"/>
                      <a:pt x="43560" y="253888"/>
                    </a:cubicBezTo>
                    <a:cubicBezTo>
                      <a:pt x="15669" y="225997"/>
                      <a:pt x="0" y="188168"/>
                      <a:pt x="0" y="148724"/>
                    </a:cubicBezTo>
                    <a:lnTo>
                      <a:pt x="0" y="148724"/>
                    </a:lnTo>
                    <a:cubicBezTo>
                      <a:pt x="0" y="109280"/>
                      <a:pt x="15669" y="71452"/>
                      <a:pt x="43560" y="43560"/>
                    </a:cubicBezTo>
                    <a:cubicBezTo>
                      <a:pt x="71452" y="15669"/>
                      <a:pt x="109280" y="0"/>
                      <a:pt x="148724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325915" cy="3355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309208" y="200466"/>
              <a:ext cx="6623297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3776AA"/>
                  </a:solidFill>
                  <a:latin typeface="Bantayog"/>
                  <a:ea typeface="Bantayog"/>
                  <a:cs typeface="Bantayog"/>
                  <a:sym typeface="Bantayog"/>
                </a:rPr>
                <a:t>ENTRENAMIENTO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80593" y="5193807"/>
            <a:ext cx="3933125" cy="1129374"/>
            <a:chOff x="0" y="0"/>
            <a:chExt cx="5244167" cy="1505833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0"/>
              <a:ext cx="1649946" cy="1505833"/>
              <a:chOff x="0" y="0"/>
              <a:chExt cx="325915" cy="297448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325915" cy="297448"/>
              </a:xfrm>
              <a:custGeom>
                <a:avLst/>
                <a:gdLst/>
                <a:ahLst/>
                <a:cxnLst/>
                <a:rect l="l" t="t" r="r" b="b"/>
                <a:pathLst>
                  <a:path w="325915" h="297448">
                    <a:moveTo>
                      <a:pt x="148724" y="0"/>
                    </a:moveTo>
                    <a:lnTo>
                      <a:pt x="177191" y="0"/>
                    </a:lnTo>
                    <a:cubicBezTo>
                      <a:pt x="259329" y="0"/>
                      <a:pt x="325915" y="66586"/>
                      <a:pt x="325915" y="148724"/>
                    </a:cubicBezTo>
                    <a:lnTo>
                      <a:pt x="325915" y="148724"/>
                    </a:lnTo>
                    <a:cubicBezTo>
                      <a:pt x="325915" y="188168"/>
                      <a:pt x="310246" y="225997"/>
                      <a:pt x="282355" y="253888"/>
                    </a:cubicBezTo>
                    <a:cubicBezTo>
                      <a:pt x="254464" y="281779"/>
                      <a:pt x="216635" y="297448"/>
                      <a:pt x="177191" y="297448"/>
                    </a:cubicBezTo>
                    <a:lnTo>
                      <a:pt x="148724" y="297448"/>
                    </a:lnTo>
                    <a:cubicBezTo>
                      <a:pt x="109280" y="297448"/>
                      <a:pt x="71452" y="281779"/>
                      <a:pt x="43560" y="253888"/>
                    </a:cubicBezTo>
                    <a:cubicBezTo>
                      <a:pt x="15669" y="225997"/>
                      <a:pt x="0" y="188168"/>
                      <a:pt x="0" y="148724"/>
                    </a:cubicBezTo>
                    <a:lnTo>
                      <a:pt x="0" y="148724"/>
                    </a:lnTo>
                    <a:cubicBezTo>
                      <a:pt x="0" y="109280"/>
                      <a:pt x="15669" y="71452"/>
                      <a:pt x="43560" y="43560"/>
                    </a:cubicBezTo>
                    <a:cubicBezTo>
                      <a:pt x="71452" y="15669"/>
                      <a:pt x="109280" y="0"/>
                      <a:pt x="148724" y="0"/>
                    </a:cubicBezTo>
                    <a:close/>
                  </a:path>
                </a:pathLst>
              </a:custGeom>
              <a:solidFill>
                <a:srgbClr val="203660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325915" cy="3355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9208" y="200466"/>
              <a:ext cx="3934959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PRUEBA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74397" y="5027181"/>
            <a:ext cx="11356695" cy="1336772"/>
            <a:chOff x="0" y="-192881"/>
            <a:chExt cx="15142260" cy="1782362"/>
          </a:xfrm>
        </p:grpSpPr>
        <p:sp>
          <p:nvSpPr>
            <p:cNvPr id="34" name="TextBox 34"/>
            <p:cNvSpPr txBox="1"/>
            <p:nvPr/>
          </p:nvSpPr>
          <p:spPr>
            <a:xfrm>
              <a:off x="0" y="-192881"/>
              <a:ext cx="3793324" cy="17823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3793324" y="0"/>
              <a:ext cx="3793324" cy="1589481"/>
              <a:chOff x="0" y="0"/>
              <a:chExt cx="749299" cy="31397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3938033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2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7571130" y="0"/>
              <a:ext cx="3793324" cy="1589481"/>
              <a:chOff x="0" y="0"/>
              <a:chExt cx="749299" cy="313972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3" name="TextBox 43"/>
            <p:cNvSpPr txBox="1"/>
            <p:nvPr/>
          </p:nvSpPr>
          <p:spPr>
            <a:xfrm>
              <a:off x="7715839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3</a:t>
              </a:r>
            </a:p>
          </p:txBody>
        </p:sp>
        <p:grpSp>
          <p:nvGrpSpPr>
            <p:cNvPr id="44" name="Group 44"/>
            <p:cNvGrpSpPr/>
            <p:nvPr/>
          </p:nvGrpSpPr>
          <p:grpSpPr>
            <a:xfrm>
              <a:off x="11348936" y="0"/>
              <a:ext cx="3793324" cy="1589481"/>
              <a:chOff x="0" y="0"/>
              <a:chExt cx="749299" cy="313972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11493645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4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218961" y="7497428"/>
            <a:ext cx="14427274" cy="1192111"/>
            <a:chOff x="0" y="0"/>
            <a:chExt cx="19236366" cy="1589481"/>
          </a:xfrm>
        </p:grpSpPr>
        <p:sp>
          <p:nvSpPr>
            <p:cNvPr id="49" name="TextBox 49"/>
            <p:cNvSpPr txBox="1"/>
            <p:nvPr/>
          </p:nvSpPr>
          <p:spPr>
            <a:xfrm>
              <a:off x="0" y="229005"/>
              <a:ext cx="4094105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ITERACIÓN 1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4094105" y="0"/>
              <a:ext cx="3793324" cy="1589481"/>
              <a:chOff x="0" y="0"/>
              <a:chExt cx="749299" cy="313972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203660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3" name="TextBox 53"/>
            <p:cNvSpPr txBox="1"/>
            <p:nvPr/>
          </p:nvSpPr>
          <p:spPr>
            <a:xfrm>
              <a:off x="4174903" y="242291"/>
              <a:ext cx="3648616" cy="100965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 dirty="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1</a:t>
              </a:r>
            </a:p>
          </p:txBody>
        </p:sp>
        <p:grpSp>
          <p:nvGrpSpPr>
            <p:cNvPr id="54" name="Group 54"/>
            <p:cNvGrpSpPr/>
            <p:nvPr/>
          </p:nvGrpSpPr>
          <p:grpSpPr>
            <a:xfrm>
              <a:off x="7887430" y="0"/>
              <a:ext cx="3793324" cy="1589481"/>
              <a:chOff x="0" y="0"/>
              <a:chExt cx="749299" cy="313972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7" name="TextBox 57"/>
            <p:cNvSpPr txBox="1"/>
            <p:nvPr/>
          </p:nvSpPr>
          <p:spPr>
            <a:xfrm>
              <a:off x="8032138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2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11665236" y="0"/>
              <a:ext cx="3793324" cy="1589481"/>
              <a:chOff x="0" y="0"/>
              <a:chExt cx="749299" cy="313972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1" name="TextBox 61"/>
            <p:cNvSpPr txBox="1"/>
            <p:nvPr/>
          </p:nvSpPr>
          <p:spPr>
            <a:xfrm>
              <a:off x="11809944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 dirty="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3</a:t>
              </a:r>
            </a:p>
          </p:txBody>
        </p:sp>
        <p:grpSp>
          <p:nvGrpSpPr>
            <p:cNvPr id="62" name="Group 62"/>
            <p:cNvGrpSpPr/>
            <p:nvPr/>
          </p:nvGrpSpPr>
          <p:grpSpPr>
            <a:xfrm>
              <a:off x="15443042" y="0"/>
              <a:ext cx="3793324" cy="1589481"/>
              <a:chOff x="0" y="0"/>
              <a:chExt cx="749299" cy="313972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5" name="TextBox 65"/>
            <p:cNvSpPr txBox="1"/>
            <p:nvPr/>
          </p:nvSpPr>
          <p:spPr>
            <a:xfrm>
              <a:off x="15587750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4</a:t>
              </a:r>
            </a:p>
          </p:txBody>
        </p:sp>
      </p:grpSp>
      <p:sp>
        <p:nvSpPr>
          <p:cNvPr id="66" name="Freeform 33"/>
          <p:cNvSpPr/>
          <p:nvPr/>
        </p:nvSpPr>
        <p:spPr>
          <a:xfrm>
            <a:off x="474397" y="5171842"/>
            <a:ext cx="2844993" cy="1192111"/>
          </a:xfrm>
          <a:custGeom>
            <a:avLst/>
            <a:gdLst/>
            <a:ahLst/>
            <a:cxnLst/>
            <a:rect l="l" t="t" r="r" b="b"/>
            <a:pathLst>
              <a:path w="749299" h="313972">
                <a:moveTo>
                  <a:pt x="149668" y="0"/>
                </a:moveTo>
                <a:lnTo>
                  <a:pt x="599630" y="0"/>
                </a:lnTo>
                <a:cubicBezTo>
                  <a:pt x="639325" y="0"/>
                  <a:pt x="677394" y="15769"/>
                  <a:pt x="705462" y="43837"/>
                </a:cubicBezTo>
                <a:cubicBezTo>
                  <a:pt x="733530" y="71905"/>
                  <a:pt x="749299" y="109974"/>
                  <a:pt x="749299" y="149668"/>
                </a:cubicBezTo>
                <a:lnTo>
                  <a:pt x="749299" y="164303"/>
                </a:lnTo>
                <a:cubicBezTo>
                  <a:pt x="749299" y="203998"/>
                  <a:pt x="733530" y="242067"/>
                  <a:pt x="705462" y="270135"/>
                </a:cubicBezTo>
                <a:cubicBezTo>
                  <a:pt x="677394" y="298203"/>
                  <a:pt x="639325" y="313972"/>
                  <a:pt x="599630" y="313972"/>
                </a:cubicBezTo>
                <a:lnTo>
                  <a:pt x="149668" y="313972"/>
                </a:lnTo>
                <a:cubicBezTo>
                  <a:pt x="67009" y="313972"/>
                  <a:pt x="0" y="246963"/>
                  <a:pt x="0" y="164303"/>
                </a:cubicBezTo>
                <a:lnTo>
                  <a:pt x="0" y="149668"/>
                </a:lnTo>
                <a:cubicBezTo>
                  <a:pt x="0" y="67009"/>
                  <a:pt x="67009" y="0"/>
                  <a:pt x="149668" y="0"/>
                </a:cubicBezTo>
                <a:close/>
              </a:path>
            </a:pathLst>
          </a:custGeom>
          <a:solidFill>
            <a:srgbClr val="4D6BA7"/>
          </a:solidFill>
        </p:spPr>
        <p:txBody>
          <a:bodyPr/>
          <a:lstStyle/>
          <a:p>
            <a:endParaRPr lang="es-ES" dirty="0"/>
          </a:p>
        </p:txBody>
      </p:sp>
      <p:sp>
        <p:nvSpPr>
          <p:cNvPr id="67" name="TextBox 35">
            <a:extLst>
              <a:ext uri="{FF2B5EF4-FFF2-40B4-BE49-F238E27FC236}">
                <a16:creationId xmlns:a16="http://schemas.microsoft.com/office/drawing/2014/main" id="{BAB35086-60E7-21F6-1A1F-C2BB44DBEBBB}"/>
              </a:ext>
            </a:extLst>
          </p:cNvPr>
          <p:cNvSpPr txBox="1"/>
          <p:nvPr/>
        </p:nvSpPr>
        <p:spPr>
          <a:xfrm>
            <a:off x="560831" y="5353560"/>
            <a:ext cx="2639569" cy="7572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500" dirty="0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PLIEGUE 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4397" y="3532316"/>
            <a:ext cx="11356695" cy="1338161"/>
            <a:chOff x="0" y="0"/>
            <a:chExt cx="15142260" cy="1784215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5142260" cy="1784215"/>
              <a:chOff x="0" y="0"/>
              <a:chExt cx="2991064" cy="352438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991064" cy="352437"/>
              </a:xfrm>
              <a:custGeom>
                <a:avLst/>
                <a:gdLst/>
                <a:ahLst/>
                <a:cxnLst/>
                <a:rect l="l" t="t" r="r" b="b"/>
                <a:pathLst>
                  <a:path w="2991064" h="352437">
                    <a:moveTo>
                      <a:pt x="37494" y="0"/>
                    </a:moveTo>
                    <a:lnTo>
                      <a:pt x="2953570" y="0"/>
                    </a:lnTo>
                    <a:cubicBezTo>
                      <a:pt x="2974277" y="0"/>
                      <a:pt x="2991064" y="16787"/>
                      <a:pt x="2991064" y="37494"/>
                    </a:cubicBezTo>
                    <a:lnTo>
                      <a:pt x="2991064" y="314944"/>
                    </a:lnTo>
                    <a:cubicBezTo>
                      <a:pt x="2991064" y="324888"/>
                      <a:pt x="2987114" y="334424"/>
                      <a:pt x="2980082" y="341456"/>
                    </a:cubicBezTo>
                    <a:cubicBezTo>
                      <a:pt x="2973051" y="348487"/>
                      <a:pt x="2963514" y="352437"/>
                      <a:pt x="2953570" y="352437"/>
                    </a:cubicBezTo>
                    <a:lnTo>
                      <a:pt x="37494" y="352437"/>
                    </a:lnTo>
                    <a:cubicBezTo>
                      <a:pt x="27550" y="352437"/>
                      <a:pt x="18013" y="348487"/>
                      <a:pt x="10982" y="341456"/>
                    </a:cubicBezTo>
                    <a:cubicBezTo>
                      <a:pt x="3950" y="334424"/>
                      <a:pt x="0" y="324888"/>
                      <a:pt x="0" y="314944"/>
                    </a:cubicBezTo>
                    <a:lnTo>
                      <a:pt x="0" y="37494"/>
                    </a:lnTo>
                    <a:cubicBezTo>
                      <a:pt x="0" y="16787"/>
                      <a:pt x="16787" y="0"/>
                      <a:pt x="37494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2991064" cy="39053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3889520" y="223241"/>
              <a:ext cx="736322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DATASET ORIGINAL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25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910572" y="713423"/>
            <a:ext cx="13906047" cy="261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VALIDACIÓN CRUZADA POR K PLIEGUES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180593" y="3717277"/>
            <a:ext cx="5949379" cy="1129374"/>
            <a:chOff x="0" y="0"/>
            <a:chExt cx="7932505" cy="1505833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1649946" cy="1505833"/>
              <a:chOff x="0" y="0"/>
              <a:chExt cx="325915" cy="297448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325915" cy="297448"/>
              </a:xfrm>
              <a:custGeom>
                <a:avLst/>
                <a:gdLst/>
                <a:ahLst/>
                <a:cxnLst/>
                <a:rect l="l" t="t" r="r" b="b"/>
                <a:pathLst>
                  <a:path w="325915" h="297448">
                    <a:moveTo>
                      <a:pt x="148724" y="0"/>
                    </a:moveTo>
                    <a:lnTo>
                      <a:pt x="177191" y="0"/>
                    </a:lnTo>
                    <a:cubicBezTo>
                      <a:pt x="259329" y="0"/>
                      <a:pt x="325915" y="66586"/>
                      <a:pt x="325915" y="148724"/>
                    </a:cubicBezTo>
                    <a:lnTo>
                      <a:pt x="325915" y="148724"/>
                    </a:lnTo>
                    <a:cubicBezTo>
                      <a:pt x="325915" y="188168"/>
                      <a:pt x="310246" y="225997"/>
                      <a:pt x="282355" y="253888"/>
                    </a:cubicBezTo>
                    <a:cubicBezTo>
                      <a:pt x="254464" y="281779"/>
                      <a:pt x="216635" y="297448"/>
                      <a:pt x="177191" y="297448"/>
                    </a:cubicBezTo>
                    <a:lnTo>
                      <a:pt x="148724" y="297448"/>
                    </a:lnTo>
                    <a:cubicBezTo>
                      <a:pt x="109280" y="297448"/>
                      <a:pt x="71452" y="281779"/>
                      <a:pt x="43560" y="253888"/>
                    </a:cubicBezTo>
                    <a:cubicBezTo>
                      <a:pt x="15669" y="225997"/>
                      <a:pt x="0" y="188168"/>
                      <a:pt x="0" y="148724"/>
                    </a:cubicBezTo>
                    <a:lnTo>
                      <a:pt x="0" y="148724"/>
                    </a:lnTo>
                    <a:cubicBezTo>
                      <a:pt x="0" y="109280"/>
                      <a:pt x="15669" y="71452"/>
                      <a:pt x="43560" y="43560"/>
                    </a:cubicBezTo>
                    <a:cubicBezTo>
                      <a:pt x="71452" y="15669"/>
                      <a:pt x="109280" y="0"/>
                      <a:pt x="148724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325915" cy="3355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309208" y="200466"/>
              <a:ext cx="6623297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3776AA"/>
                  </a:solidFill>
                  <a:latin typeface="Bantayog"/>
                  <a:ea typeface="Bantayog"/>
                  <a:cs typeface="Bantayog"/>
                  <a:sym typeface="Bantayog"/>
                </a:rPr>
                <a:t>ENTRENAMIENTO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80593" y="5193807"/>
            <a:ext cx="3933125" cy="1129374"/>
            <a:chOff x="0" y="0"/>
            <a:chExt cx="5244167" cy="1505833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0"/>
              <a:ext cx="1649946" cy="1505833"/>
              <a:chOff x="0" y="0"/>
              <a:chExt cx="325915" cy="297448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325915" cy="297448"/>
              </a:xfrm>
              <a:custGeom>
                <a:avLst/>
                <a:gdLst/>
                <a:ahLst/>
                <a:cxnLst/>
                <a:rect l="l" t="t" r="r" b="b"/>
                <a:pathLst>
                  <a:path w="325915" h="297448">
                    <a:moveTo>
                      <a:pt x="148724" y="0"/>
                    </a:moveTo>
                    <a:lnTo>
                      <a:pt x="177191" y="0"/>
                    </a:lnTo>
                    <a:cubicBezTo>
                      <a:pt x="259329" y="0"/>
                      <a:pt x="325915" y="66586"/>
                      <a:pt x="325915" y="148724"/>
                    </a:cubicBezTo>
                    <a:lnTo>
                      <a:pt x="325915" y="148724"/>
                    </a:lnTo>
                    <a:cubicBezTo>
                      <a:pt x="325915" y="188168"/>
                      <a:pt x="310246" y="225997"/>
                      <a:pt x="282355" y="253888"/>
                    </a:cubicBezTo>
                    <a:cubicBezTo>
                      <a:pt x="254464" y="281779"/>
                      <a:pt x="216635" y="297448"/>
                      <a:pt x="177191" y="297448"/>
                    </a:cubicBezTo>
                    <a:lnTo>
                      <a:pt x="148724" y="297448"/>
                    </a:lnTo>
                    <a:cubicBezTo>
                      <a:pt x="109280" y="297448"/>
                      <a:pt x="71452" y="281779"/>
                      <a:pt x="43560" y="253888"/>
                    </a:cubicBezTo>
                    <a:cubicBezTo>
                      <a:pt x="15669" y="225997"/>
                      <a:pt x="0" y="188168"/>
                      <a:pt x="0" y="148724"/>
                    </a:cubicBezTo>
                    <a:lnTo>
                      <a:pt x="0" y="148724"/>
                    </a:lnTo>
                    <a:cubicBezTo>
                      <a:pt x="0" y="109280"/>
                      <a:pt x="15669" y="71452"/>
                      <a:pt x="43560" y="43560"/>
                    </a:cubicBezTo>
                    <a:cubicBezTo>
                      <a:pt x="71452" y="15669"/>
                      <a:pt x="109280" y="0"/>
                      <a:pt x="148724" y="0"/>
                    </a:cubicBezTo>
                    <a:close/>
                  </a:path>
                </a:pathLst>
              </a:custGeom>
              <a:solidFill>
                <a:srgbClr val="203660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325915" cy="3355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9208" y="200466"/>
              <a:ext cx="3934959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PRUEBA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74397" y="5027181"/>
            <a:ext cx="11356695" cy="1336772"/>
            <a:chOff x="0" y="-192881"/>
            <a:chExt cx="15142260" cy="1782362"/>
          </a:xfrm>
        </p:grpSpPr>
        <p:grpSp>
          <p:nvGrpSpPr>
            <p:cNvPr id="32" name="Group 32"/>
            <p:cNvGrpSpPr/>
            <p:nvPr/>
          </p:nvGrpSpPr>
          <p:grpSpPr>
            <a:xfrm>
              <a:off x="0" y="-192881"/>
              <a:ext cx="3793324" cy="1782362"/>
              <a:chOff x="0" y="-38100"/>
              <a:chExt cx="749299" cy="35207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115245" y="242291"/>
              <a:ext cx="3519425" cy="100965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 dirty="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1</a:t>
              </a:r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3793324" y="0"/>
              <a:ext cx="3793324" cy="1589481"/>
              <a:chOff x="0" y="0"/>
              <a:chExt cx="749299" cy="31397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3938033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2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7571130" y="0"/>
              <a:ext cx="3793324" cy="1589481"/>
              <a:chOff x="0" y="0"/>
              <a:chExt cx="749299" cy="313972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3" name="TextBox 43"/>
            <p:cNvSpPr txBox="1"/>
            <p:nvPr/>
          </p:nvSpPr>
          <p:spPr>
            <a:xfrm>
              <a:off x="7715839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3</a:t>
              </a:r>
            </a:p>
          </p:txBody>
        </p:sp>
        <p:grpSp>
          <p:nvGrpSpPr>
            <p:cNvPr id="44" name="Group 44"/>
            <p:cNvGrpSpPr/>
            <p:nvPr/>
          </p:nvGrpSpPr>
          <p:grpSpPr>
            <a:xfrm>
              <a:off x="11348936" y="0"/>
              <a:ext cx="3793324" cy="1589481"/>
              <a:chOff x="0" y="0"/>
              <a:chExt cx="749299" cy="313972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11493645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4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218961" y="7497428"/>
            <a:ext cx="14427274" cy="1192111"/>
            <a:chOff x="0" y="0"/>
            <a:chExt cx="19236366" cy="1589481"/>
          </a:xfrm>
        </p:grpSpPr>
        <p:sp>
          <p:nvSpPr>
            <p:cNvPr id="49" name="TextBox 49"/>
            <p:cNvSpPr txBox="1"/>
            <p:nvPr/>
          </p:nvSpPr>
          <p:spPr>
            <a:xfrm>
              <a:off x="0" y="229005"/>
              <a:ext cx="4094105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ITERACIÓN 2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4094105" y="0"/>
              <a:ext cx="3793324" cy="1589481"/>
              <a:chOff x="0" y="0"/>
              <a:chExt cx="749299" cy="313972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7887430" y="0"/>
              <a:ext cx="3793324" cy="1589481"/>
              <a:chOff x="0" y="0"/>
              <a:chExt cx="749299" cy="313972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203660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7" name="TextBox 57"/>
            <p:cNvSpPr txBox="1"/>
            <p:nvPr/>
          </p:nvSpPr>
          <p:spPr>
            <a:xfrm>
              <a:off x="8032138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2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11665236" y="0"/>
              <a:ext cx="3793324" cy="1589481"/>
              <a:chOff x="0" y="0"/>
              <a:chExt cx="749299" cy="313972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1" name="TextBox 61"/>
            <p:cNvSpPr txBox="1"/>
            <p:nvPr/>
          </p:nvSpPr>
          <p:spPr>
            <a:xfrm>
              <a:off x="11809944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3</a:t>
              </a:r>
            </a:p>
          </p:txBody>
        </p:sp>
        <p:grpSp>
          <p:nvGrpSpPr>
            <p:cNvPr id="62" name="Group 62"/>
            <p:cNvGrpSpPr/>
            <p:nvPr/>
          </p:nvGrpSpPr>
          <p:grpSpPr>
            <a:xfrm>
              <a:off x="15443042" y="0"/>
              <a:ext cx="3793324" cy="1589481"/>
              <a:chOff x="0" y="0"/>
              <a:chExt cx="749299" cy="313972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5" name="TextBox 65"/>
            <p:cNvSpPr txBox="1"/>
            <p:nvPr/>
          </p:nvSpPr>
          <p:spPr>
            <a:xfrm>
              <a:off x="15587750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4</a:t>
              </a:r>
            </a:p>
          </p:txBody>
        </p:sp>
      </p:grpSp>
      <p:sp>
        <p:nvSpPr>
          <p:cNvPr id="66" name="TextBox 53">
            <a:extLst>
              <a:ext uri="{FF2B5EF4-FFF2-40B4-BE49-F238E27FC236}">
                <a16:creationId xmlns:a16="http://schemas.microsoft.com/office/drawing/2014/main" id="{DD2EB3AB-9F5A-049C-A0BE-3795A08B93EE}"/>
              </a:ext>
            </a:extLst>
          </p:cNvPr>
          <p:cNvSpPr txBox="1"/>
          <p:nvPr/>
        </p:nvSpPr>
        <p:spPr>
          <a:xfrm>
            <a:off x="4350138" y="7679146"/>
            <a:ext cx="2736462" cy="7572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500" dirty="0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PLIEGUE 1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MÉTODO DE VALIDACIÓN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9827" y="2331136"/>
            <a:ext cx="16193558" cy="7597490"/>
            <a:chOff x="0" y="0"/>
            <a:chExt cx="21591410" cy="10129986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423638"/>
              <a:ext cx="1604067" cy="1604067"/>
              <a:chOff x="0" y="0"/>
              <a:chExt cx="812800" cy="8128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0" name="Freeform 20"/>
            <p:cNvSpPr/>
            <p:nvPr/>
          </p:nvSpPr>
          <p:spPr>
            <a:xfrm>
              <a:off x="1604067" y="1225671"/>
              <a:ext cx="2855930" cy="0"/>
            </a:xfrm>
            <a:custGeom>
              <a:avLst/>
              <a:gdLst/>
              <a:ahLst/>
              <a:cxnLst/>
              <a:rect l="l" t="t" r="r" b="b"/>
              <a:pathLst>
                <a:path w="2855930">
                  <a:moveTo>
                    <a:pt x="0" y="0"/>
                  </a:moveTo>
                  <a:lnTo>
                    <a:pt x="2855929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4459996" y="0"/>
              <a:ext cx="7830457" cy="2451342"/>
              <a:chOff x="0" y="0"/>
              <a:chExt cx="1546757" cy="48421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546757" cy="484216"/>
              </a:xfrm>
              <a:custGeom>
                <a:avLst/>
                <a:gdLst/>
                <a:ahLst/>
                <a:cxnLst/>
                <a:rect l="l" t="t" r="r" b="b"/>
                <a:pathLst>
                  <a:path w="1546757" h="484216">
                    <a:moveTo>
                      <a:pt x="72504" y="0"/>
                    </a:moveTo>
                    <a:lnTo>
                      <a:pt x="1474253" y="0"/>
                    </a:lnTo>
                    <a:cubicBezTo>
                      <a:pt x="1493482" y="0"/>
                      <a:pt x="1511924" y="7639"/>
                      <a:pt x="1525521" y="21236"/>
                    </a:cubicBezTo>
                    <a:cubicBezTo>
                      <a:pt x="1539118" y="34833"/>
                      <a:pt x="1546757" y="53275"/>
                      <a:pt x="1546757" y="72504"/>
                    </a:cubicBezTo>
                    <a:lnTo>
                      <a:pt x="1546757" y="411712"/>
                    </a:lnTo>
                    <a:cubicBezTo>
                      <a:pt x="1546757" y="430941"/>
                      <a:pt x="1539118" y="449383"/>
                      <a:pt x="1525521" y="462980"/>
                    </a:cubicBezTo>
                    <a:cubicBezTo>
                      <a:pt x="1511924" y="476577"/>
                      <a:pt x="1493482" y="484216"/>
                      <a:pt x="1474253" y="484216"/>
                    </a:cubicBezTo>
                    <a:lnTo>
                      <a:pt x="72504" y="484216"/>
                    </a:lnTo>
                    <a:cubicBezTo>
                      <a:pt x="53275" y="484216"/>
                      <a:pt x="34833" y="476577"/>
                      <a:pt x="21236" y="462980"/>
                    </a:cubicBezTo>
                    <a:cubicBezTo>
                      <a:pt x="7639" y="449383"/>
                      <a:pt x="0" y="430941"/>
                      <a:pt x="0" y="411712"/>
                    </a:cubicBezTo>
                    <a:lnTo>
                      <a:pt x="0" y="72504"/>
                    </a:lnTo>
                    <a:cubicBezTo>
                      <a:pt x="0" y="53275"/>
                      <a:pt x="7639" y="34833"/>
                      <a:pt x="21236" y="21236"/>
                    </a:cubicBezTo>
                    <a:cubicBezTo>
                      <a:pt x="34833" y="7639"/>
                      <a:pt x="53275" y="0"/>
                      <a:pt x="72504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1546757" cy="52231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4693614" y="139821"/>
              <a:ext cx="7363221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VALIDACIÓN POR RETENCIÓN TEMPORAL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1192014" y="2414940"/>
              <a:ext cx="1675892" cy="2315931"/>
            </a:xfrm>
            <a:custGeom>
              <a:avLst/>
              <a:gdLst/>
              <a:ahLst/>
              <a:cxnLst/>
              <a:rect l="l" t="t" r="r" b="b"/>
              <a:pathLst>
                <a:path w="1675892" h="2315931">
                  <a:moveTo>
                    <a:pt x="0" y="0"/>
                  </a:moveTo>
                  <a:lnTo>
                    <a:pt x="1675892" y="0"/>
                  </a:lnTo>
                  <a:lnTo>
                    <a:pt x="1675892" y="2315931"/>
                  </a:lnTo>
                  <a:lnTo>
                    <a:pt x="0" y="23159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58733" y="4838821"/>
              <a:ext cx="3342455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DATASET ORIGINAL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3401306" y="2451342"/>
              <a:ext cx="1969307" cy="1914561"/>
            </a:xfrm>
            <a:custGeom>
              <a:avLst/>
              <a:gdLst/>
              <a:ahLst/>
              <a:cxnLst/>
              <a:rect l="l" t="t" r="r" b="b"/>
              <a:pathLst>
                <a:path w="1969307" h="1914561">
                  <a:moveTo>
                    <a:pt x="0" y="1914562"/>
                  </a:moveTo>
                  <a:lnTo>
                    <a:pt x="1664507" y="1914562"/>
                  </a:lnTo>
                  <a:cubicBezTo>
                    <a:pt x="1832844" y="1914562"/>
                    <a:pt x="1969307" y="1778098"/>
                    <a:pt x="1969307" y="1609762"/>
                  </a:cubicBezTo>
                  <a:lnTo>
                    <a:pt x="1969307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18287811" y="2414940"/>
              <a:ext cx="1675892" cy="2315931"/>
            </a:xfrm>
            <a:custGeom>
              <a:avLst/>
              <a:gdLst/>
              <a:ahLst/>
              <a:cxnLst/>
              <a:rect l="l" t="t" r="r" b="b"/>
              <a:pathLst>
                <a:path w="1675892" h="2315931">
                  <a:moveTo>
                    <a:pt x="0" y="0"/>
                  </a:moveTo>
                  <a:lnTo>
                    <a:pt x="1675892" y="0"/>
                  </a:lnTo>
                  <a:lnTo>
                    <a:pt x="1675892" y="2315931"/>
                  </a:lnTo>
                  <a:lnTo>
                    <a:pt x="0" y="23159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6660104" y="4635621"/>
              <a:ext cx="4931306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CONJUNTO DE PRUEBA (20%)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12600067" y="2414940"/>
              <a:ext cx="1675892" cy="2315931"/>
            </a:xfrm>
            <a:custGeom>
              <a:avLst/>
              <a:gdLst/>
              <a:ahLst/>
              <a:cxnLst/>
              <a:rect l="l" t="t" r="r" b="b"/>
              <a:pathLst>
                <a:path w="1675892" h="2315931">
                  <a:moveTo>
                    <a:pt x="0" y="0"/>
                  </a:moveTo>
                  <a:lnTo>
                    <a:pt x="1675892" y="0"/>
                  </a:lnTo>
                  <a:lnTo>
                    <a:pt x="1675892" y="2315931"/>
                  </a:lnTo>
                  <a:lnTo>
                    <a:pt x="0" y="23159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745381" y="4635621"/>
              <a:ext cx="5385264" cy="31432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 dirty="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CONJUNTO DE ENTRENAMIENTO (80%)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12290456" y="701819"/>
              <a:ext cx="1592088" cy="1713121"/>
            </a:xfrm>
            <a:custGeom>
              <a:avLst/>
              <a:gdLst/>
              <a:ahLst/>
              <a:cxnLst/>
              <a:rect l="l" t="t" r="r" b="b"/>
              <a:pathLst>
                <a:path w="1147559" h="1189269">
                  <a:moveTo>
                    <a:pt x="0" y="0"/>
                  </a:moveTo>
                  <a:lnTo>
                    <a:pt x="842758" y="0"/>
                  </a:lnTo>
                  <a:cubicBezTo>
                    <a:pt x="1011095" y="0"/>
                    <a:pt x="1147558" y="136464"/>
                    <a:pt x="1147558" y="304800"/>
                  </a:cubicBezTo>
                  <a:lnTo>
                    <a:pt x="1147558" y="1189269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12290454" y="701819"/>
              <a:ext cx="7146661" cy="1713121"/>
            </a:xfrm>
            <a:custGeom>
              <a:avLst/>
              <a:gdLst/>
              <a:ahLst/>
              <a:cxnLst/>
              <a:rect l="l" t="t" r="r" b="b"/>
              <a:pathLst>
                <a:path w="6835303" h="1189269">
                  <a:moveTo>
                    <a:pt x="0" y="0"/>
                  </a:moveTo>
                  <a:lnTo>
                    <a:pt x="6530503" y="0"/>
                  </a:lnTo>
                  <a:cubicBezTo>
                    <a:pt x="6698840" y="0"/>
                    <a:pt x="6835303" y="136464"/>
                    <a:pt x="6835303" y="304800"/>
                  </a:cubicBezTo>
                  <a:lnTo>
                    <a:pt x="6835303" y="1189269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4516818" y="7670690"/>
              <a:ext cx="7716814" cy="2459296"/>
              <a:chOff x="0" y="0"/>
              <a:chExt cx="1524309" cy="48578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524309" cy="485787"/>
              </a:xfrm>
              <a:custGeom>
                <a:avLst/>
                <a:gdLst/>
                <a:ahLst/>
                <a:cxnLst/>
                <a:rect l="l" t="t" r="r" b="b"/>
                <a:pathLst>
                  <a:path w="1524309" h="485787">
                    <a:moveTo>
                      <a:pt x="73572" y="0"/>
                    </a:moveTo>
                    <a:lnTo>
                      <a:pt x="1450737" y="0"/>
                    </a:lnTo>
                    <a:cubicBezTo>
                      <a:pt x="1491370" y="0"/>
                      <a:pt x="1524309" y="32939"/>
                      <a:pt x="1524309" y="73572"/>
                    </a:cubicBezTo>
                    <a:lnTo>
                      <a:pt x="1524309" y="412215"/>
                    </a:lnTo>
                    <a:cubicBezTo>
                      <a:pt x="1524309" y="431727"/>
                      <a:pt x="1516558" y="450441"/>
                      <a:pt x="1502760" y="464238"/>
                    </a:cubicBezTo>
                    <a:cubicBezTo>
                      <a:pt x="1488963" y="478036"/>
                      <a:pt x="1470250" y="485787"/>
                      <a:pt x="1450737" y="485787"/>
                    </a:cubicBezTo>
                    <a:lnTo>
                      <a:pt x="73572" y="485787"/>
                    </a:lnTo>
                    <a:cubicBezTo>
                      <a:pt x="32939" y="485787"/>
                      <a:pt x="0" y="452848"/>
                      <a:pt x="0" y="412215"/>
                    </a:cubicBezTo>
                    <a:lnTo>
                      <a:pt x="0" y="73572"/>
                    </a:lnTo>
                    <a:cubicBezTo>
                      <a:pt x="0" y="32939"/>
                      <a:pt x="32939" y="0"/>
                      <a:pt x="73572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38100"/>
                <a:ext cx="1524309" cy="5238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4722920" y="7814488"/>
              <a:ext cx="7304610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VALIDACIÓN CRUZADA (TIME SERIES SPLIT)</a:t>
              </a:r>
            </a:p>
          </p:txBody>
        </p:sp>
        <p:grpSp>
          <p:nvGrpSpPr>
            <p:cNvPr id="38" name="Group 38"/>
            <p:cNvGrpSpPr/>
            <p:nvPr/>
          </p:nvGrpSpPr>
          <p:grpSpPr>
            <a:xfrm>
              <a:off x="1265726" y="8098305"/>
              <a:ext cx="1604067" cy="1604067"/>
              <a:chOff x="0" y="0"/>
              <a:chExt cx="812800" cy="812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BE7FF"/>
              </a:solidFill>
              <a:ln w="114300" cap="sq">
                <a:solidFill>
                  <a:srgbClr val="4D6BA7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508917" y="8341496"/>
              <a:ext cx="1117684" cy="1117684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12290454" y="7778871"/>
              <a:ext cx="1675892" cy="1121467"/>
            </a:xfrm>
            <a:custGeom>
              <a:avLst/>
              <a:gdLst/>
              <a:ahLst/>
              <a:cxnLst/>
              <a:rect l="l" t="t" r="r" b="b"/>
              <a:pathLst>
                <a:path w="1147559" h="1121467">
                  <a:moveTo>
                    <a:pt x="1147558" y="0"/>
                  </a:moveTo>
                  <a:lnTo>
                    <a:pt x="1147558" y="816667"/>
                  </a:lnTo>
                  <a:cubicBezTo>
                    <a:pt x="1147558" y="897505"/>
                    <a:pt x="1115446" y="975032"/>
                    <a:pt x="1058285" y="1032194"/>
                  </a:cubicBezTo>
                  <a:cubicBezTo>
                    <a:pt x="1001124" y="1089354"/>
                    <a:pt x="923597" y="1121467"/>
                    <a:pt x="842758" y="1121467"/>
                  </a:cubicBezTo>
                  <a:lnTo>
                    <a:pt x="0" y="1121467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2869792" y="8900338"/>
              <a:ext cx="1647026" cy="0"/>
            </a:xfrm>
            <a:custGeom>
              <a:avLst/>
              <a:gdLst/>
              <a:ahLst/>
              <a:cxnLst/>
              <a:rect l="l" t="t" r="r" b="b"/>
              <a:pathLst>
                <a:path w="1647026">
                  <a:moveTo>
                    <a:pt x="1647026" y="0"/>
                  </a:move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4397" y="3532316"/>
            <a:ext cx="11356695" cy="1338161"/>
            <a:chOff x="0" y="0"/>
            <a:chExt cx="15142260" cy="1784215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5142260" cy="1784215"/>
              <a:chOff x="0" y="0"/>
              <a:chExt cx="2991064" cy="352438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991064" cy="352437"/>
              </a:xfrm>
              <a:custGeom>
                <a:avLst/>
                <a:gdLst/>
                <a:ahLst/>
                <a:cxnLst/>
                <a:rect l="l" t="t" r="r" b="b"/>
                <a:pathLst>
                  <a:path w="2991064" h="352437">
                    <a:moveTo>
                      <a:pt x="37494" y="0"/>
                    </a:moveTo>
                    <a:lnTo>
                      <a:pt x="2953570" y="0"/>
                    </a:lnTo>
                    <a:cubicBezTo>
                      <a:pt x="2974277" y="0"/>
                      <a:pt x="2991064" y="16787"/>
                      <a:pt x="2991064" y="37494"/>
                    </a:cubicBezTo>
                    <a:lnTo>
                      <a:pt x="2991064" y="314944"/>
                    </a:lnTo>
                    <a:cubicBezTo>
                      <a:pt x="2991064" y="324888"/>
                      <a:pt x="2987114" y="334424"/>
                      <a:pt x="2980082" y="341456"/>
                    </a:cubicBezTo>
                    <a:cubicBezTo>
                      <a:pt x="2973051" y="348487"/>
                      <a:pt x="2963514" y="352437"/>
                      <a:pt x="2953570" y="352437"/>
                    </a:cubicBezTo>
                    <a:lnTo>
                      <a:pt x="37494" y="352437"/>
                    </a:lnTo>
                    <a:cubicBezTo>
                      <a:pt x="27550" y="352437"/>
                      <a:pt x="18013" y="348487"/>
                      <a:pt x="10982" y="341456"/>
                    </a:cubicBezTo>
                    <a:cubicBezTo>
                      <a:pt x="3950" y="334424"/>
                      <a:pt x="0" y="324888"/>
                      <a:pt x="0" y="314944"/>
                    </a:cubicBezTo>
                    <a:lnTo>
                      <a:pt x="0" y="37494"/>
                    </a:lnTo>
                    <a:cubicBezTo>
                      <a:pt x="0" y="16787"/>
                      <a:pt x="16787" y="0"/>
                      <a:pt x="37494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2991064" cy="39053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3889520" y="223241"/>
              <a:ext cx="736322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DATASET ORIGINAL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489136" y="713423"/>
            <a:ext cx="9309728" cy="1316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TIME SERIES SPLIT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180593" y="3717277"/>
            <a:ext cx="5949379" cy="1129374"/>
            <a:chOff x="0" y="0"/>
            <a:chExt cx="7932505" cy="1505833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1649946" cy="1505833"/>
              <a:chOff x="0" y="0"/>
              <a:chExt cx="325915" cy="297448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325915" cy="297448"/>
              </a:xfrm>
              <a:custGeom>
                <a:avLst/>
                <a:gdLst/>
                <a:ahLst/>
                <a:cxnLst/>
                <a:rect l="l" t="t" r="r" b="b"/>
                <a:pathLst>
                  <a:path w="325915" h="297448">
                    <a:moveTo>
                      <a:pt x="148724" y="0"/>
                    </a:moveTo>
                    <a:lnTo>
                      <a:pt x="177191" y="0"/>
                    </a:lnTo>
                    <a:cubicBezTo>
                      <a:pt x="259329" y="0"/>
                      <a:pt x="325915" y="66586"/>
                      <a:pt x="325915" y="148724"/>
                    </a:cubicBezTo>
                    <a:lnTo>
                      <a:pt x="325915" y="148724"/>
                    </a:lnTo>
                    <a:cubicBezTo>
                      <a:pt x="325915" y="188168"/>
                      <a:pt x="310246" y="225997"/>
                      <a:pt x="282355" y="253888"/>
                    </a:cubicBezTo>
                    <a:cubicBezTo>
                      <a:pt x="254464" y="281779"/>
                      <a:pt x="216635" y="297448"/>
                      <a:pt x="177191" y="297448"/>
                    </a:cubicBezTo>
                    <a:lnTo>
                      <a:pt x="148724" y="297448"/>
                    </a:lnTo>
                    <a:cubicBezTo>
                      <a:pt x="109280" y="297448"/>
                      <a:pt x="71452" y="281779"/>
                      <a:pt x="43560" y="253888"/>
                    </a:cubicBezTo>
                    <a:cubicBezTo>
                      <a:pt x="15669" y="225997"/>
                      <a:pt x="0" y="188168"/>
                      <a:pt x="0" y="148724"/>
                    </a:cubicBezTo>
                    <a:lnTo>
                      <a:pt x="0" y="148724"/>
                    </a:lnTo>
                    <a:cubicBezTo>
                      <a:pt x="0" y="109280"/>
                      <a:pt x="15669" y="71452"/>
                      <a:pt x="43560" y="43560"/>
                    </a:cubicBezTo>
                    <a:cubicBezTo>
                      <a:pt x="71452" y="15669"/>
                      <a:pt x="109280" y="0"/>
                      <a:pt x="148724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325915" cy="3355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309208" y="200466"/>
              <a:ext cx="6623297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3776AA"/>
                  </a:solidFill>
                  <a:latin typeface="Bantayog"/>
                  <a:ea typeface="Bantayog"/>
                  <a:cs typeface="Bantayog"/>
                  <a:sym typeface="Bantayog"/>
                </a:rPr>
                <a:t>ENTRENAMIENTO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80593" y="5193807"/>
            <a:ext cx="3933125" cy="1129374"/>
            <a:chOff x="0" y="0"/>
            <a:chExt cx="5244167" cy="1505833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0"/>
              <a:ext cx="1649946" cy="1505833"/>
              <a:chOff x="0" y="0"/>
              <a:chExt cx="325915" cy="297448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325915" cy="297448"/>
              </a:xfrm>
              <a:custGeom>
                <a:avLst/>
                <a:gdLst/>
                <a:ahLst/>
                <a:cxnLst/>
                <a:rect l="l" t="t" r="r" b="b"/>
                <a:pathLst>
                  <a:path w="325915" h="297448">
                    <a:moveTo>
                      <a:pt x="148724" y="0"/>
                    </a:moveTo>
                    <a:lnTo>
                      <a:pt x="177191" y="0"/>
                    </a:lnTo>
                    <a:cubicBezTo>
                      <a:pt x="259329" y="0"/>
                      <a:pt x="325915" y="66586"/>
                      <a:pt x="325915" y="148724"/>
                    </a:cubicBezTo>
                    <a:lnTo>
                      <a:pt x="325915" y="148724"/>
                    </a:lnTo>
                    <a:cubicBezTo>
                      <a:pt x="325915" y="188168"/>
                      <a:pt x="310246" y="225997"/>
                      <a:pt x="282355" y="253888"/>
                    </a:cubicBezTo>
                    <a:cubicBezTo>
                      <a:pt x="254464" y="281779"/>
                      <a:pt x="216635" y="297448"/>
                      <a:pt x="177191" y="297448"/>
                    </a:cubicBezTo>
                    <a:lnTo>
                      <a:pt x="148724" y="297448"/>
                    </a:lnTo>
                    <a:cubicBezTo>
                      <a:pt x="109280" y="297448"/>
                      <a:pt x="71452" y="281779"/>
                      <a:pt x="43560" y="253888"/>
                    </a:cubicBezTo>
                    <a:cubicBezTo>
                      <a:pt x="15669" y="225997"/>
                      <a:pt x="0" y="188168"/>
                      <a:pt x="0" y="148724"/>
                    </a:cubicBezTo>
                    <a:lnTo>
                      <a:pt x="0" y="148724"/>
                    </a:lnTo>
                    <a:cubicBezTo>
                      <a:pt x="0" y="109280"/>
                      <a:pt x="15669" y="71452"/>
                      <a:pt x="43560" y="43560"/>
                    </a:cubicBezTo>
                    <a:cubicBezTo>
                      <a:pt x="71452" y="15669"/>
                      <a:pt x="109280" y="0"/>
                      <a:pt x="148724" y="0"/>
                    </a:cubicBezTo>
                    <a:close/>
                  </a:path>
                </a:pathLst>
              </a:custGeom>
              <a:solidFill>
                <a:srgbClr val="203660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325915" cy="3355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9208" y="200466"/>
              <a:ext cx="3934959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PRUEBA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74397" y="5171842"/>
            <a:ext cx="11356695" cy="1192111"/>
            <a:chOff x="0" y="0"/>
            <a:chExt cx="15142260" cy="1589481"/>
          </a:xfrm>
        </p:grpSpPr>
        <p:grpSp>
          <p:nvGrpSpPr>
            <p:cNvPr id="32" name="Group 32"/>
            <p:cNvGrpSpPr/>
            <p:nvPr/>
          </p:nvGrpSpPr>
          <p:grpSpPr>
            <a:xfrm>
              <a:off x="0" y="0"/>
              <a:ext cx="3793324" cy="1589481"/>
              <a:chOff x="0" y="0"/>
              <a:chExt cx="749299" cy="31397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3793324" y="0"/>
              <a:ext cx="3793324" cy="1589481"/>
              <a:chOff x="0" y="0"/>
              <a:chExt cx="749299" cy="31397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3938033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2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7571130" y="0"/>
              <a:ext cx="3793324" cy="1589481"/>
              <a:chOff x="0" y="0"/>
              <a:chExt cx="749299" cy="313972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3" name="TextBox 43"/>
            <p:cNvSpPr txBox="1"/>
            <p:nvPr/>
          </p:nvSpPr>
          <p:spPr>
            <a:xfrm>
              <a:off x="7715839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3</a:t>
              </a:r>
            </a:p>
          </p:txBody>
        </p:sp>
        <p:grpSp>
          <p:nvGrpSpPr>
            <p:cNvPr id="44" name="Group 44"/>
            <p:cNvGrpSpPr/>
            <p:nvPr/>
          </p:nvGrpSpPr>
          <p:grpSpPr>
            <a:xfrm>
              <a:off x="11348936" y="0"/>
              <a:ext cx="3793324" cy="1589481"/>
              <a:chOff x="0" y="0"/>
              <a:chExt cx="749299" cy="313972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11493645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4</a:t>
              </a:r>
            </a:p>
          </p:txBody>
        </p:sp>
      </p:grpSp>
      <p:sp>
        <p:nvSpPr>
          <p:cNvPr id="58" name="TextBox 35">
            <a:extLst>
              <a:ext uri="{FF2B5EF4-FFF2-40B4-BE49-F238E27FC236}">
                <a16:creationId xmlns:a16="http://schemas.microsoft.com/office/drawing/2014/main" id="{AD8DDE84-A049-B726-8D1B-A271453FBC79}"/>
              </a:ext>
            </a:extLst>
          </p:cNvPr>
          <p:cNvSpPr txBox="1"/>
          <p:nvPr/>
        </p:nvSpPr>
        <p:spPr>
          <a:xfrm>
            <a:off x="560831" y="5353560"/>
            <a:ext cx="2639569" cy="7572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500" dirty="0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PLIEGUE 1</a:t>
            </a: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388C2E1B-DA79-3C85-8D9C-BE7CCDAC0EA9}"/>
              </a:ext>
            </a:extLst>
          </p:cNvPr>
          <p:cNvGrpSpPr/>
          <p:nvPr/>
        </p:nvGrpSpPr>
        <p:grpSpPr>
          <a:xfrm>
            <a:off x="1218961" y="7497428"/>
            <a:ext cx="8760566" cy="1192111"/>
            <a:chOff x="1218961" y="7497428"/>
            <a:chExt cx="8760566" cy="1192111"/>
          </a:xfrm>
        </p:grpSpPr>
        <p:grpSp>
          <p:nvGrpSpPr>
            <p:cNvPr id="48" name="Group 48"/>
            <p:cNvGrpSpPr/>
            <p:nvPr/>
          </p:nvGrpSpPr>
          <p:grpSpPr>
            <a:xfrm>
              <a:off x="1218961" y="7497428"/>
              <a:ext cx="8760566" cy="1192111"/>
              <a:chOff x="0" y="0"/>
              <a:chExt cx="11680754" cy="1589481"/>
            </a:xfrm>
          </p:grpSpPr>
          <p:sp>
            <p:nvSpPr>
              <p:cNvPr id="49" name="TextBox 49"/>
              <p:cNvSpPr txBox="1"/>
              <p:nvPr/>
            </p:nvSpPr>
            <p:spPr>
              <a:xfrm>
                <a:off x="0" y="229005"/>
                <a:ext cx="4094105" cy="1009650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6299"/>
                  </a:lnSpc>
                  <a:spcBef>
                    <a:spcPct val="0"/>
                  </a:spcBef>
                </a:pPr>
                <a:r>
                  <a:rPr lang="en-US" sz="4500" dirty="0">
                    <a:solidFill>
                      <a:srgbClr val="4D6BA7"/>
                    </a:solidFill>
                    <a:latin typeface="Bantayog"/>
                    <a:ea typeface="Bantayog"/>
                    <a:cs typeface="Bantayog"/>
                    <a:sym typeface="Bantayog"/>
                  </a:rPr>
                  <a:t>ITERACIÓN 1</a:t>
                </a:r>
              </a:p>
            </p:txBody>
          </p:sp>
          <p:grpSp>
            <p:nvGrpSpPr>
              <p:cNvPr id="50" name="Group 50"/>
              <p:cNvGrpSpPr/>
              <p:nvPr/>
            </p:nvGrpSpPr>
            <p:grpSpPr>
              <a:xfrm>
                <a:off x="4094105" y="0"/>
                <a:ext cx="3793324" cy="1589481"/>
                <a:chOff x="0" y="0"/>
                <a:chExt cx="749299" cy="313972"/>
              </a:xfrm>
            </p:grpSpPr>
            <p:sp>
              <p:nvSpPr>
                <p:cNvPr id="51" name="Freeform 51"/>
                <p:cNvSpPr/>
                <p:nvPr/>
              </p:nvSpPr>
              <p:spPr>
                <a:xfrm>
                  <a:off x="0" y="0"/>
                  <a:ext cx="749299" cy="3139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9299" h="313972">
                      <a:moveTo>
                        <a:pt x="149668" y="0"/>
                      </a:moveTo>
                      <a:lnTo>
                        <a:pt x="599630" y="0"/>
                      </a:lnTo>
                      <a:cubicBezTo>
                        <a:pt x="639325" y="0"/>
                        <a:pt x="677394" y="15769"/>
                        <a:pt x="705462" y="43837"/>
                      </a:cubicBezTo>
                      <a:cubicBezTo>
                        <a:pt x="733530" y="71905"/>
                        <a:pt x="749299" y="109974"/>
                        <a:pt x="749299" y="149668"/>
                      </a:cubicBezTo>
                      <a:lnTo>
                        <a:pt x="749299" y="164303"/>
                      </a:lnTo>
                      <a:cubicBezTo>
                        <a:pt x="749299" y="203998"/>
                        <a:pt x="733530" y="242067"/>
                        <a:pt x="705462" y="270135"/>
                      </a:cubicBezTo>
                      <a:cubicBezTo>
                        <a:pt x="677394" y="298203"/>
                        <a:pt x="639325" y="313972"/>
                        <a:pt x="599630" y="313972"/>
                      </a:cubicBezTo>
                      <a:lnTo>
                        <a:pt x="149668" y="313972"/>
                      </a:lnTo>
                      <a:cubicBezTo>
                        <a:pt x="67009" y="313972"/>
                        <a:pt x="0" y="246963"/>
                        <a:pt x="0" y="164303"/>
                      </a:cubicBezTo>
                      <a:lnTo>
                        <a:pt x="0" y="149668"/>
                      </a:lnTo>
                      <a:cubicBezTo>
                        <a:pt x="0" y="67009"/>
                        <a:pt x="67009" y="0"/>
                        <a:pt x="149668" y="0"/>
                      </a:cubicBezTo>
                      <a:close/>
                    </a:path>
                  </a:pathLst>
                </a:custGeom>
                <a:solidFill>
                  <a:srgbClr val="3776AA"/>
                </a:solidFill>
              </p:spPr>
              <p:txBody>
                <a:bodyPr/>
                <a:lstStyle/>
                <a:p>
                  <a:endParaRPr lang="es-ES"/>
                </a:p>
              </p:txBody>
            </p:sp>
            <p:sp>
              <p:nvSpPr>
                <p:cNvPr id="52" name="TextBox 52"/>
                <p:cNvSpPr txBox="1"/>
                <p:nvPr/>
              </p:nvSpPr>
              <p:spPr>
                <a:xfrm>
                  <a:off x="0" y="-38100"/>
                  <a:ext cx="749299" cy="352072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2659"/>
                    </a:lnSpc>
                  </a:pPr>
                  <a:endParaRPr/>
                </a:p>
              </p:txBody>
            </p:sp>
          </p:grpSp>
          <p:grpSp>
            <p:nvGrpSpPr>
              <p:cNvPr id="54" name="Group 54"/>
              <p:cNvGrpSpPr/>
              <p:nvPr/>
            </p:nvGrpSpPr>
            <p:grpSpPr>
              <a:xfrm>
                <a:off x="7887430" y="0"/>
                <a:ext cx="3793324" cy="1589481"/>
                <a:chOff x="0" y="0"/>
                <a:chExt cx="749299" cy="313972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0" y="0"/>
                  <a:ext cx="749299" cy="3139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9299" h="313972">
                      <a:moveTo>
                        <a:pt x="149668" y="0"/>
                      </a:moveTo>
                      <a:lnTo>
                        <a:pt x="599630" y="0"/>
                      </a:lnTo>
                      <a:cubicBezTo>
                        <a:pt x="639325" y="0"/>
                        <a:pt x="677394" y="15769"/>
                        <a:pt x="705462" y="43837"/>
                      </a:cubicBezTo>
                      <a:cubicBezTo>
                        <a:pt x="733530" y="71905"/>
                        <a:pt x="749299" y="109974"/>
                        <a:pt x="749299" y="149668"/>
                      </a:cubicBezTo>
                      <a:lnTo>
                        <a:pt x="749299" y="164303"/>
                      </a:lnTo>
                      <a:cubicBezTo>
                        <a:pt x="749299" y="203998"/>
                        <a:pt x="733530" y="242067"/>
                        <a:pt x="705462" y="270135"/>
                      </a:cubicBezTo>
                      <a:cubicBezTo>
                        <a:pt x="677394" y="298203"/>
                        <a:pt x="639325" y="313972"/>
                        <a:pt x="599630" y="313972"/>
                      </a:cubicBezTo>
                      <a:lnTo>
                        <a:pt x="149668" y="313972"/>
                      </a:lnTo>
                      <a:cubicBezTo>
                        <a:pt x="67009" y="313972"/>
                        <a:pt x="0" y="246963"/>
                        <a:pt x="0" y="164303"/>
                      </a:cubicBezTo>
                      <a:lnTo>
                        <a:pt x="0" y="149668"/>
                      </a:lnTo>
                      <a:cubicBezTo>
                        <a:pt x="0" y="67009"/>
                        <a:pt x="67009" y="0"/>
                        <a:pt x="149668" y="0"/>
                      </a:cubicBezTo>
                      <a:close/>
                    </a:path>
                  </a:pathLst>
                </a:custGeom>
                <a:solidFill>
                  <a:srgbClr val="203660"/>
                </a:solidFill>
              </p:spPr>
              <p:txBody>
                <a:bodyPr/>
                <a:lstStyle/>
                <a:p>
                  <a:endParaRPr lang="es-ES"/>
                </a:p>
              </p:txBody>
            </p:sp>
            <p:sp>
              <p:nvSpPr>
                <p:cNvPr id="56" name="TextBox 56"/>
                <p:cNvSpPr txBox="1"/>
                <p:nvPr/>
              </p:nvSpPr>
              <p:spPr>
                <a:xfrm>
                  <a:off x="0" y="-38100"/>
                  <a:ext cx="749299" cy="352072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2659"/>
                    </a:lnSpc>
                  </a:pPr>
                  <a:endParaRPr/>
                </a:p>
              </p:txBody>
            </p:sp>
          </p:grpSp>
          <p:sp>
            <p:nvSpPr>
              <p:cNvPr id="57" name="TextBox 57"/>
              <p:cNvSpPr txBox="1"/>
              <p:nvPr/>
            </p:nvSpPr>
            <p:spPr>
              <a:xfrm>
                <a:off x="8032138" y="242291"/>
                <a:ext cx="3503908" cy="1009650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6299"/>
                  </a:lnSpc>
                  <a:spcBef>
                    <a:spcPct val="0"/>
                  </a:spcBef>
                </a:pPr>
                <a:r>
                  <a:rPr lang="en-US" sz="4500">
                    <a:solidFill>
                      <a:srgbClr val="FFFFFF"/>
                    </a:solidFill>
                    <a:latin typeface="Bantayog"/>
                    <a:ea typeface="Bantayog"/>
                    <a:cs typeface="Bantayog"/>
                    <a:sym typeface="Bantayog"/>
                  </a:rPr>
                  <a:t>PLIEGUE 2</a:t>
                </a:r>
              </a:p>
            </p:txBody>
          </p:sp>
        </p:grpSp>
        <p:sp>
          <p:nvSpPr>
            <p:cNvPr id="59" name="TextBox 53">
              <a:extLst>
                <a:ext uri="{FF2B5EF4-FFF2-40B4-BE49-F238E27FC236}">
                  <a16:creationId xmlns:a16="http://schemas.microsoft.com/office/drawing/2014/main" id="{B49D93D1-F1D5-5A67-FDE7-14C9DB2B41A8}"/>
                </a:ext>
              </a:extLst>
            </p:cNvPr>
            <p:cNvSpPr txBox="1"/>
            <p:nvPr/>
          </p:nvSpPr>
          <p:spPr>
            <a:xfrm>
              <a:off x="4350138" y="7679146"/>
              <a:ext cx="2736462" cy="75723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 dirty="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1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4397" y="3532316"/>
            <a:ext cx="11356695" cy="1338161"/>
            <a:chOff x="0" y="0"/>
            <a:chExt cx="15142260" cy="1784215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5142260" cy="1784215"/>
              <a:chOff x="0" y="0"/>
              <a:chExt cx="2991064" cy="352438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991064" cy="352437"/>
              </a:xfrm>
              <a:custGeom>
                <a:avLst/>
                <a:gdLst/>
                <a:ahLst/>
                <a:cxnLst/>
                <a:rect l="l" t="t" r="r" b="b"/>
                <a:pathLst>
                  <a:path w="2991064" h="352437">
                    <a:moveTo>
                      <a:pt x="37494" y="0"/>
                    </a:moveTo>
                    <a:lnTo>
                      <a:pt x="2953570" y="0"/>
                    </a:lnTo>
                    <a:cubicBezTo>
                      <a:pt x="2974277" y="0"/>
                      <a:pt x="2991064" y="16787"/>
                      <a:pt x="2991064" y="37494"/>
                    </a:cubicBezTo>
                    <a:lnTo>
                      <a:pt x="2991064" y="314944"/>
                    </a:lnTo>
                    <a:cubicBezTo>
                      <a:pt x="2991064" y="324888"/>
                      <a:pt x="2987114" y="334424"/>
                      <a:pt x="2980082" y="341456"/>
                    </a:cubicBezTo>
                    <a:cubicBezTo>
                      <a:pt x="2973051" y="348487"/>
                      <a:pt x="2963514" y="352437"/>
                      <a:pt x="2953570" y="352437"/>
                    </a:cubicBezTo>
                    <a:lnTo>
                      <a:pt x="37494" y="352437"/>
                    </a:lnTo>
                    <a:cubicBezTo>
                      <a:pt x="27550" y="352437"/>
                      <a:pt x="18013" y="348487"/>
                      <a:pt x="10982" y="341456"/>
                    </a:cubicBezTo>
                    <a:cubicBezTo>
                      <a:pt x="3950" y="334424"/>
                      <a:pt x="0" y="324888"/>
                      <a:pt x="0" y="314944"/>
                    </a:cubicBezTo>
                    <a:lnTo>
                      <a:pt x="0" y="37494"/>
                    </a:lnTo>
                    <a:cubicBezTo>
                      <a:pt x="0" y="16787"/>
                      <a:pt x="16787" y="0"/>
                      <a:pt x="37494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2991064" cy="39053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3889520" y="223241"/>
              <a:ext cx="736322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DATASET ORIGINAL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27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2180593" y="3717277"/>
            <a:ext cx="5949379" cy="1129374"/>
            <a:chOff x="0" y="0"/>
            <a:chExt cx="7932505" cy="1505833"/>
          </a:xfrm>
        </p:grpSpPr>
        <p:grpSp>
          <p:nvGrpSpPr>
            <p:cNvPr id="21" name="Group 21"/>
            <p:cNvGrpSpPr/>
            <p:nvPr/>
          </p:nvGrpSpPr>
          <p:grpSpPr>
            <a:xfrm>
              <a:off x="0" y="0"/>
              <a:ext cx="1649946" cy="1505833"/>
              <a:chOff x="0" y="0"/>
              <a:chExt cx="325915" cy="297448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325915" cy="297448"/>
              </a:xfrm>
              <a:custGeom>
                <a:avLst/>
                <a:gdLst/>
                <a:ahLst/>
                <a:cxnLst/>
                <a:rect l="l" t="t" r="r" b="b"/>
                <a:pathLst>
                  <a:path w="325915" h="297448">
                    <a:moveTo>
                      <a:pt x="148724" y="0"/>
                    </a:moveTo>
                    <a:lnTo>
                      <a:pt x="177191" y="0"/>
                    </a:lnTo>
                    <a:cubicBezTo>
                      <a:pt x="259329" y="0"/>
                      <a:pt x="325915" y="66586"/>
                      <a:pt x="325915" y="148724"/>
                    </a:cubicBezTo>
                    <a:lnTo>
                      <a:pt x="325915" y="148724"/>
                    </a:lnTo>
                    <a:cubicBezTo>
                      <a:pt x="325915" y="188168"/>
                      <a:pt x="310246" y="225997"/>
                      <a:pt x="282355" y="253888"/>
                    </a:cubicBezTo>
                    <a:cubicBezTo>
                      <a:pt x="254464" y="281779"/>
                      <a:pt x="216635" y="297448"/>
                      <a:pt x="177191" y="297448"/>
                    </a:cubicBezTo>
                    <a:lnTo>
                      <a:pt x="148724" y="297448"/>
                    </a:lnTo>
                    <a:cubicBezTo>
                      <a:pt x="109280" y="297448"/>
                      <a:pt x="71452" y="281779"/>
                      <a:pt x="43560" y="253888"/>
                    </a:cubicBezTo>
                    <a:cubicBezTo>
                      <a:pt x="15669" y="225997"/>
                      <a:pt x="0" y="188168"/>
                      <a:pt x="0" y="148724"/>
                    </a:cubicBezTo>
                    <a:lnTo>
                      <a:pt x="0" y="148724"/>
                    </a:lnTo>
                    <a:cubicBezTo>
                      <a:pt x="0" y="109280"/>
                      <a:pt x="15669" y="71452"/>
                      <a:pt x="43560" y="43560"/>
                    </a:cubicBezTo>
                    <a:cubicBezTo>
                      <a:pt x="71452" y="15669"/>
                      <a:pt x="109280" y="0"/>
                      <a:pt x="148724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325915" cy="3355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309208" y="200466"/>
              <a:ext cx="6623297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3776AA"/>
                  </a:solidFill>
                  <a:latin typeface="Bantayog"/>
                  <a:ea typeface="Bantayog"/>
                  <a:cs typeface="Bantayog"/>
                  <a:sym typeface="Bantayog"/>
                </a:rPr>
                <a:t>ENTRENAMIENTO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180593" y="5193807"/>
            <a:ext cx="3933125" cy="1129374"/>
            <a:chOff x="0" y="0"/>
            <a:chExt cx="5244167" cy="1505833"/>
          </a:xfrm>
        </p:grpSpPr>
        <p:grpSp>
          <p:nvGrpSpPr>
            <p:cNvPr id="26" name="Group 26"/>
            <p:cNvGrpSpPr/>
            <p:nvPr/>
          </p:nvGrpSpPr>
          <p:grpSpPr>
            <a:xfrm>
              <a:off x="0" y="0"/>
              <a:ext cx="1649946" cy="1505833"/>
              <a:chOff x="0" y="0"/>
              <a:chExt cx="325915" cy="297448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325915" cy="297448"/>
              </a:xfrm>
              <a:custGeom>
                <a:avLst/>
                <a:gdLst/>
                <a:ahLst/>
                <a:cxnLst/>
                <a:rect l="l" t="t" r="r" b="b"/>
                <a:pathLst>
                  <a:path w="325915" h="297448">
                    <a:moveTo>
                      <a:pt x="148724" y="0"/>
                    </a:moveTo>
                    <a:lnTo>
                      <a:pt x="177191" y="0"/>
                    </a:lnTo>
                    <a:cubicBezTo>
                      <a:pt x="259329" y="0"/>
                      <a:pt x="325915" y="66586"/>
                      <a:pt x="325915" y="148724"/>
                    </a:cubicBezTo>
                    <a:lnTo>
                      <a:pt x="325915" y="148724"/>
                    </a:lnTo>
                    <a:cubicBezTo>
                      <a:pt x="325915" y="188168"/>
                      <a:pt x="310246" y="225997"/>
                      <a:pt x="282355" y="253888"/>
                    </a:cubicBezTo>
                    <a:cubicBezTo>
                      <a:pt x="254464" y="281779"/>
                      <a:pt x="216635" y="297448"/>
                      <a:pt x="177191" y="297448"/>
                    </a:cubicBezTo>
                    <a:lnTo>
                      <a:pt x="148724" y="297448"/>
                    </a:lnTo>
                    <a:cubicBezTo>
                      <a:pt x="109280" y="297448"/>
                      <a:pt x="71452" y="281779"/>
                      <a:pt x="43560" y="253888"/>
                    </a:cubicBezTo>
                    <a:cubicBezTo>
                      <a:pt x="15669" y="225997"/>
                      <a:pt x="0" y="188168"/>
                      <a:pt x="0" y="148724"/>
                    </a:cubicBezTo>
                    <a:lnTo>
                      <a:pt x="0" y="148724"/>
                    </a:lnTo>
                    <a:cubicBezTo>
                      <a:pt x="0" y="109280"/>
                      <a:pt x="15669" y="71452"/>
                      <a:pt x="43560" y="43560"/>
                    </a:cubicBezTo>
                    <a:cubicBezTo>
                      <a:pt x="71452" y="15669"/>
                      <a:pt x="109280" y="0"/>
                      <a:pt x="148724" y="0"/>
                    </a:cubicBezTo>
                    <a:close/>
                  </a:path>
                </a:pathLst>
              </a:custGeom>
              <a:solidFill>
                <a:srgbClr val="203660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38100"/>
                <a:ext cx="325915" cy="3355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1309208" y="200466"/>
              <a:ext cx="3934959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PRUEBA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74397" y="5171842"/>
            <a:ext cx="11356695" cy="1192111"/>
            <a:chOff x="0" y="0"/>
            <a:chExt cx="15142260" cy="1589481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3793324" cy="1589481"/>
              <a:chOff x="0" y="0"/>
              <a:chExt cx="749299" cy="313972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3793324" y="0"/>
              <a:ext cx="3793324" cy="1589481"/>
              <a:chOff x="0" y="0"/>
              <a:chExt cx="749299" cy="313972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3938033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2</a:t>
              </a:r>
            </a:p>
          </p:txBody>
        </p:sp>
        <p:grpSp>
          <p:nvGrpSpPr>
            <p:cNvPr id="39" name="Group 39"/>
            <p:cNvGrpSpPr/>
            <p:nvPr/>
          </p:nvGrpSpPr>
          <p:grpSpPr>
            <a:xfrm>
              <a:off x="7571130" y="0"/>
              <a:ext cx="3793324" cy="1589481"/>
              <a:chOff x="0" y="0"/>
              <a:chExt cx="749299" cy="313972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2" name="TextBox 42"/>
            <p:cNvSpPr txBox="1"/>
            <p:nvPr/>
          </p:nvSpPr>
          <p:spPr>
            <a:xfrm>
              <a:off x="7715839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3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11348936" y="0"/>
              <a:ext cx="3793324" cy="1589481"/>
              <a:chOff x="0" y="0"/>
              <a:chExt cx="749299" cy="313972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6" name="TextBox 46"/>
            <p:cNvSpPr txBox="1"/>
            <p:nvPr/>
          </p:nvSpPr>
          <p:spPr>
            <a:xfrm>
              <a:off x="11493645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4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18961" y="7497428"/>
            <a:ext cx="11593920" cy="1192111"/>
            <a:chOff x="0" y="0"/>
            <a:chExt cx="15458560" cy="1589481"/>
          </a:xfrm>
        </p:grpSpPr>
        <p:sp>
          <p:nvSpPr>
            <p:cNvPr id="48" name="TextBox 48"/>
            <p:cNvSpPr txBox="1"/>
            <p:nvPr/>
          </p:nvSpPr>
          <p:spPr>
            <a:xfrm>
              <a:off x="0" y="229005"/>
              <a:ext cx="4094105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ITERACIÓN 2</a:t>
              </a:r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4094105" y="0"/>
              <a:ext cx="3793324" cy="1589481"/>
              <a:chOff x="0" y="0"/>
              <a:chExt cx="749299" cy="313972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7887430" y="0"/>
              <a:ext cx="3793324" cy="1589481"/>
              <a:chOff x="0" y="0"/>
              <a:chExt cx="749299" cy="313972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3776AA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6" name="TextBox 56"/>
            <p:cNvSpPr txBox="1"/>
            <p:nvPr/>
          </p:nvSpPr>
          <p:spPr>
            <a:xfrm>
              <a:off x="8032138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2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11665236" y="0"/>
              <a:ext cx="3793324" cy="1589481"/>
              <a:chOff x="0" y="0"/>
              <a:chExt cx="749299" cy="313972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49299" cy="313972"/>
              </a:xfrm>
              <a:custGeom>
                <a:avLst/>
                <a:gdLst/>
                <a:ahLst/>
                <a:cxnLst/>
                <a:rect l="l" t="t" r="r" b="b"/>
                <a:pathLst>
                  <a:path w="749299" h="313972">
                    <a:moveTo>
                      <a:pt x="149668" y="0"/>
                    </a:moveTo>
                    <a:lnTo>
                      <a:pt x="599630" y="0"/>
                    </a:lnTo>
                    <a:cubicBezTo>
                      <a:pt x="639325" y="0"/>
                      <a:pt x="677394" y="15769"/>
                      <a:pt x="705462" y="43837"/>
                    </a:cubicBezTo>
                    <a:cubicBezTo>
                      <a:pt x="733530" y="71905"/>
                      <a:pt x="749299" y="109974"/>
                      <a:pt x="749299" y="149668"/>
                    </a:cubicBezTo>
                    <a:lnTo>
                      <a:pt x="749299" y="164303"/>
                    </a:lnTo>
                    <a:cubicBezTo>
                      <a:pt x="749299" y="203998"/>
                      <a:pt x="733530" y="242067"/>
                      <a:pt x="705462" y="270135"/>
                    </a:cubicBezTo>
                    <a:cubicBezTo>
                      <a:pt x="677394" y="298203"/>
                      <a:pt x="639325" y="313972"/>
                      <a:pt x="599630" y="313972"/>
                    </a:cubicBezTo>
                    <a:lnTo>
                      <a:pt x="149668" y="313972"/>
                    </a:lnTo>
                    <a:cubicBezTo>
                      <a:pt x="67009" y="313972"/>
                      <a:pt x="0" y="246963"/>
                      <a:pt x="0" y="164303"/>
                    </a:cubicBezTo>
                    <a:lnTo>
                      <a:pt x="0" y="149668"/>
                    </a:lnTo>
                    <a:cubicBezTo>
                      <a:pt x="0" y="67009"/>
                      <a:pt x="67009" y="0"/>
                      <a:pt x="149668" y="0"/>
                    </a:cubicBezTo>
                    <a:close/>
                  </a:path>
                </a:pathLst>
              </a:custGeom>
              <a:solidFill>
                <a:srgbClr val="203660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38100"/>
                <a:ext cx="749299" cy="35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11809944" y="242291"/>
              <a:ext cx="3503908" cy="100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sz="4500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PLIEGUE 3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4489136" y="713423"/>
            <a:ext cx="9309728" cy="1316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TIME SERIES SPLIT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1201DB2D-AF0E-AAB7-2052-5BBFF2937D58}"/>
              </a:ext>
            </a:extLst>
          </p:cNvPr>
          <p:cNvSpPr txBox="1"/>
          <p:nvPr/>
        </p:nvSpPr>
        <p:spPr>
          <a:xfrm>
            <a:off x="4350138" y="7679146"/>
            <a:ext cx="2736462" cy="7572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500" dirty="0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PLIEGUE 1</a:t>
            </a:r>
          </a:p>
        </p:txBody>
      </p:sp>
      <p:sp>
        <p:nvSpPr>
          <p:cNvPr id="63" name="TextBox 35">
            <a:extLst>
              <a:ext uri="{FF2B5EF4-FFF2-40B4-BE49-F238E27FC236}">
                <a16:creationId xmlns:a16="http://schemas.microsoft.com/office/drawing/2014/main" id="{C9653AEA-9363-9BF1-509A-EEF7A06E8300}"/>
              </a:ext>
            </a:extLst>
          </p:cNvPr>
          <p:cNvSpPr txBox="1"/>
          <p:nvPr/>
        </p:nvSpPr>
        <p:spPr>
          <a:xfrm>
            <a:off x="560831" y="5353560"/>
            <a:ext cx="2639569" cy="7572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500" dirty="0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PLIEGUE 1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MÉTRICAS</a:t>
            </a:r>
          </a:p>
        </p:txBody>
      </p:sp>
      <p:sp>
        <p:nvSpPr>
          <p:cNvPr id="16" name="Freeform 16"/>
          <p:cNvSpPr/>
          <p:nvPr/>
        </p:nvSpPr>
        <p:spPr>
          <a:xfrm>
            <a:off x="9144000" y="2263566"/>
            <a:ext cx="95250" cy="7570996"/>
          </a:xfrm>
          <a:custGeom>
            <a:avLst/>
            <a:gdLst/>
            <a:ahLst/>
            <a:cxnLst/>
            <a:rect l="l" t="t" r="r" b="b"/>
            <a:pathLst>
              <a:path h="3728348">
                <a:moveTo>
                  <a:pt x="0" y="0"/>
                </a:moveTo>
                <a:lnTo>
                  <a:pt x="0" y="3728348"/>
                </a:lnTo>
              </a:path>
            </a:pathLst>
          </a:custGeom>
          <a:ln w="190500" cap="flat">
            <a:solidFill>
              <a:srgbClr val="4D6BA7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Box 17"/>
          <p:cNvSpPr txBox="1"/>
          <p:nvPr/>
        </p:nvSpPr>
        <p:spPr>
          <a:xfrm>
            <a:off x="1856019" y="2263566"/>
            <a:ext cx="5522416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ENTRENAMIENTO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249696" y="2263566"/>
            <a:ext cx="5522416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EVALUACIÓN</a:t>
            </a:r>
          </a:p>
        </p:txBody>
      </p:sp>
      <p:sp>
        <p:nvSpPr>
          <p:cNvPr id="19" name="TextBox 19"/>
          <p:cNvSpPr txBox="1"/>
          <p:nvPr/>
        </p:nvSpPr>
        <p:spPr>
          <a:xfrm rot="-920685">
            <a:off x="2780704" y="4700103"/>
            <a:ext cx="3382180" cy="1940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794"/>
              </a:lnSpc>
              <a:spcBef>
                <a:spcPct val="0"/>
              </a:spcBef>
            </a:pPr>
            <a:r>
              <a:rPr lang="en-US" sz="11281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MSE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310064" y="3867915"/>
            <a:ext cx="3382180" cy="1940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794"/>
              </a:lnSpc>
              <a:spcBef>
                <a:spcPct val="0"/>
              </a:spcBef>
            </a:pPr>
            <a:r>
              <a:rPr lang="en-US" sz="11281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MAE</a:t>
            </a:r>
          </a:p>
        </p:txBody>
      </p:sp>
      <p:sp>
        <p:nvSpPr>
          <p:cNvPr id="21" name="TextBox 21"/>
          <p:cNvSpPr txBox="1"/>
          <p:nvPr/>
        </p:nvSpPr>
        <p:spPr>
          <a:xfrm rot="-920685">
            <a:off x="11590214" y="6819916"/>
            <a:ext cx="4022259" cy="1940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794"/>
              </a:lnSpc>
              <a:spcBef>
                <a:spcPct val="0"/>
              </a:spcBef>
            </a:pPr>
            <a:r>
              <a:rPr lang="en-US" sz="11281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MAPE</a:t>
            </a:r>
          </a:p>
        </p:txBody>
      </p:sp>
      <p:grpSp>
        <p:nvGrpSpPr>
          <p:cNvPr id="22" name="Group 22"/>
          <p:cNvGrpSpPr/>
          <p:nvPr/>
        </p:nvGrpSpPr>
        <p:grpSpPr>
          <a:xfrm rot="2146988">
            <a:off x="15138360" y="4032085"/>
            <a:ext cx="1857349" cy="2222829"/>
            <a:chOff x="0" y="0"/>
            <a:chExt cx="2476465" cy="2963773"/>
          </a:xfrm>
        </p:grpSpPr>
        <p:sp>
          <p:nvSpPr>
            <p:cNvPr id="23" name="TextBox 23"/>
            <p:cNvSpPr txBox="1"/>
            <p:nvPr/>
          </p:nvSpPr>
          <p:spPr>
            <a:xfrm rot="-920685">
              <a:off x="240969" y="268082"/>
              <a:ext cx="1730372" cy="25115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794"/>
                </a:lnSpc>
                <a:spcBef>
                  <a:spcPct val="0"/>
                </a:spcBef>
              </a:pPr>
              <a:r>
                <a:rPr lang="en-US" sz="11281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 rot="-920685">
              <a:off x="1278669" y="-19974"/>
              <a:ext cx="1020241" cy="14793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12"/>
                </a:lnSpc>
                <a:spcBef>
                  <a:spcPct val="0"/>
                </a:spcBef>
              </a:pPr>
              <a:r>
                <a:rPr lang="en-US" sz="6651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29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MÉTRICAS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382792" y="2482438"/>
            <a:ext cx="5522416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ENTRENAMIENTO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3050914" y="4069493"/>
            <a:ext cx="15008486" cy="3389022"/>
            <a:chOff x="0" y="-180975"/>
            <a:chExt cx="20011314" cy="4518697"/>
          </a:xfrm>
        </p:grpSpPr>
        <p:sp>
          <p:nvSpPr>
            <p:cNvPr id="18" name="TextBox 18"/>
            <p:cNvSpPr txBox="1"/>
            <p:nvPr/>
          </p:nvSpPr>
          <p:spPr>
            <a:xfrm>
              <a:off x="0" y="1068127"/>
              <a:ext cx="15935241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MSE=    ∑   (Y - Y 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25312" y="86065"/>
              <a:ext cx="11737609" cy="33594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</a:pPr>
              <a:r>
                <a:rPr lang="en-US" sz="7303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   N                 2</a:t>
              </a:r>
            </a:p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 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076073" y="2057171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     </a:t>
              </a:r>
              <a:r>
                <a:rPr lang="en-US" sz="7303" dirty="0" err="1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</a:t>
              </a:r>
              <a:endParaRPr lang="en-US" sz="7303" dirty="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6776" y="2705458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= 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951613" y="436969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^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576778" y="-180975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76778" y="1989126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N</a:t>
              </a:r>
            </a:p>
          </p:txBody>
        </p:sp>
        <p:sp>
          <p:nvSpPr>
            <p:cNvPr id="25" name="Freeform 25"/>
            <p:cNvSpPr/>
            <p:nvPr/>
          </p:nvSpPr>
          <p:spPr>
            <a:xfrm flipV="1">
              <a:off x="5889488" y="2153468"/>
              <a:ext cx="877512" cy="60959"/>
            </a:xfrm>
            <a:custGeom>
              <a:avLst/>
              <a:gdLst/>
              <a:ahLst/>
              <a:cxnLst/>
              <a:rect l="l" t="t" r="r" b="b"/>
              <a:pathLst>
                <a:path w="551547">
                  <a:moveTo>
                    <a:pt x="0" y="0"/>
                  </a:moveTo>
                  <a:lnTo>
                    <a:pt x="551547" y="0"/>
                  </a:lnTo>
                </a:path>
              </a:pathLst>
            </a:custGeom>
            <a:ln w="254000" cap="flat">
              <a:solidFill>
                <a:srgbClr val="20366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57406" y="5807703"/>
            <a:ext cx="18232910" cy="4290908"/>
            <a:chOff x="-2760960" y="-448394"/>
            <a:chExt cx="24310546" cy="5721210"/>
          </a:xfrm>
        </p:grpSpPr>
        <p:sp>
          <p:nvSpPr>
            <p:cNvPr id="12" name="TextBox 12"/>
            <p:cNvSpPr txBox="1"/>
            <p:nvPr/>
          </p:nvSpPr>
          <p:spPr>
            <a:xfrm>
              <a:off x="-2760960" y="1661434"/>
              <a:ext cx="15935241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MAPE=    ∑             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111036" y="622925"/>
              <a:ext cx="11737609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   N                 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614345" y="1051447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     </a:t>
              </a:r>
              <a:r>
                <a:rPr lang="en-US" sz="7303" dirty="0" err="1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</a:t>
              </a:r>
              <a:endParaRPr lang="en-US" sz="7303" dirty="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57340" y="3371592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= 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646560" y="-448394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^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095587" y="411921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095587" y="2707851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808810" y="159374"/>
              <a:ext cx="5059107" cy="198986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|Y – Y |     </a:t>
              </a:r>
            </a:p>
          </p:txBody>
        </p:sp>
        <p:sp>
          <p:nvSpPr>
            <p:cNvPr id="20" name="Freeform 20"/>
            <p:cNvSpPr/>
            <p:nvPr/>
          </p:nvSpPr>
          <p:spPr>
            <a:xfrm flipV="1">
              <a:off x="6323468" y="2664210"/>
              <a:ext cx="1028263" cy="111125"/>
            </a:xfrm>
            <a:custGeom>
              <a:avLst/>
              <a:gdLst/>
              <a:ahLst/>
              <a:cxnLst/>
              <a:rect l="l" t="t" r="r" b="b"/>
              <a:pathLst>
                <a:path w="551546">
                  <a:moveTo>
                    <a:pt x="0" y="0"/>
                  </a:moveTo>
                  <a:lnTo>
                    <a:pt x="551546" y="0"/>
                  </a:lnTo>
                </a:path>
              </a:pathLst>
            </a:custGeom>
            <a:ln w="254000" cap="flat">
              <a:solidFill>
                <a:srgbClr val="20366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57726" y="2707851"/>
              <a:ext cx="5434992" cy="387908"/>
            </a:xfrm>
            <a:custGeom>
              <a:avLst/>
              <a:gdLst/>
              <a:ahLst/>
              <a:cxnLst/>
              <a:rect l="l" t="t" r="r" b="b"/>
              <a:pathLst>
                <a:path w="2578142">
                  <a:moveTo>
                    <a:pt x="0" y="0"/>
                  </a:moveTo>
                  <a:lnTo>
                    <a:pt x="2578142" y="0"/>
                  </a:lnTo>
                </a:path>
              </a:pathLst>
            </a:custGeom>
            <a:ln w="254000" cap="flat">
              <a:solidFill>
                <a:srgbClr val="20366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127818" y="2513678"/>
              <a:ext cx="3441004" cy="198986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|Y |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980037" y="3253823"/>
              <a:ext cx="416137" cy="20189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MÉTRICAS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382792" y="2433800"/>
            <a:ext cx="5522416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EVALUACIÓN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-340468" y="3244219"/>
            <a:ext cx="14995211" cy="3445808"/>
            <a:chOff x="0" y="-180975"/>
            <a:chExt cx="19993614" cy="4594411"/>
          </a:xfrm>
        </p:grpSpPr>
        <p:sp>
          <p:nvSpPr>
            <p:cNvPr id="31" name="TextBox 31"/>
            <p:cNvSpPr txBox="1"/>
            <p:nvPr/>
          </p:nvSpPr>
          <p:spPr>
            <a:xfrm>
              <a:off x="0" y="1068127"/>
              <a:ext cx="15935241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MAE=    ∑   |Y - Y |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98815" y="84033"/>
              <a:ext cx="11737609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N                 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058373" y="1900564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     </a:t>
              </a:r>
              <a:r>
                <a:rPr lang="en-US" sz="7303" dirty="0" err="1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</a:t>
              </a:r>
              <a:endParaRPr lang="en-US" sz="7303" dirty="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55168" y="2781172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= 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954808" y="493054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^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576778" y="-180975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76778" y="1989126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N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5838757" y="2133049"/>
              <a:ext cx="1095964" cy="171739"/>
            </a:xfrm>
            <a:custGeom>
              <a:avLst/>
              <a:gdLst/>
              <a:ahLst/>
              <a:cxnLst/>
              <a:rect l="l" t="t" r="r" b="b"/>
              <a:pathLst>
                <a:path w="551547">
                  <a:moveTo>
                    <a:pt x="0" y="0"/>
                  </a:moveTo>
                  <a:lnTo>
                    <a:pt x="551547" y="0"/>
                  </a:lnTo>
                </a:path>
              </a:pathLst>
            </a:custGeom>
            <a:ln w="254000" cap="flat">
              <a:solidFill>
                <a:srgbClr val="20366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MÉTRICAS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382792" y="2433800"/>
            <a:ext cx="5522416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EVALUACIÓN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711965" y="3506220"/>
            <a:ext cx="19232161" cy="6228951"/>
            <a:chOff x="0" y="-42543"/>
            <a:chExt cx="25642881" cy="8305268"/>
          </a:xfrm>
        </p:grpSpPr>
        <p:sp>
          <p:nvSpPr>
            <p:cNvPr id="18" name="TextBox 18"/>
            <p:cNvSpPr txBox="1"/>
            <p:nvPr/>
          </p:nvSpPr>
          <p:spPr>
            <a:xfrm>
              <a:off x="5679111" y="870620"/>
              <a:ext cx="15935241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            ∑   (Y - Y 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25504" y="-42543"/>
              <a:ext cx="11737609" cy="33594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   N                 2</a:t>
              </a:r>
            </a:p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 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707640" y="1912916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     </a:t>
              </a:r>
              <a:r>
                <a:rPr lang="en-US" sz="7303" dirty="0" err="1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</a:t>
              </a:r>
              <a:endParaRPr lang="en-US" sz="7303" dirty="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85125" y="2485941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= 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675261" y="254503"/>
              <a:ext cx="1502932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^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2461914" y="4035185"/>
              <a:ext cx="7678605" cy="60959"/>
            </a:xfrm>
            <a:custGeom>
              <a:avLst/>
              <a:gdLst/>
              <a:ahLst/>
              <a:cxnLst/>
              <a:rect l="l" t="t" r="r" b="b"/>
              <a:pathLst>
                <a:path w="3925230">
                  <a:moveTo>
                    <a:pt x="0" y="0"/>
                  </a:moveTo>
                  <a:lnTo>
                    <a:pt x="3925230" y="0"/>
                  </a:lnTo>
                </a:path>
              </a:pathLst>
            </a:custGeom>
            <a:ln w="254000" cap="flat">
              <a:solidFill>
                <a:srgbClr val="20366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97252" y="4903262"/>
              <a:ext cx="15935241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            ∑   (Y - Y 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149112" y="3895416"/>
              <a:ext cx="11737609" cy="33594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   N                 2</a:t>
              </a:r>
            </a:p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 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13913" y="5856238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     </a:t>
              </a:r>
              <a:r>
                <a:rPr lang="en-US" sz="7303" dirty="0" err="1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</a:t>
              </a:r>
              <a:endParaRPr lang="en-US" sz="7303" dirty="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66571" y="6630461"/>
              <a:ext cx="15935241" cy="16322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24"/>
                </a:lnSpc>
                <a:spcBef>
                  <a:spcPct val="0"/>
                </a:spcBef>
              </a:pPr>
              <a:r>
                <a:rPr lang="en-US" sz="7303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I = 1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17643512" y="5075211"/>
              <a:ext cx="1045068" cy="114503"/>
            </a:xfrm>
            <a:custGeom>
              <a:avLst/>
              <a:gdLst/>
              <a:ahLst/>
              <a:cxnLst/>
              <a:rect l="l" t="t" r="r" b="b"/>
              <a:pathLst>
                <a:path w="396193">
                  <a:moveTo>
                    <a:pt x="0" y="0"/>
                  </a:moveTo>
                  <a:lnTo>
                    <a:pt x="396193" y="0"/>
                  </a:lnTo>
                </a:path>
              </a:pathLst>
            </a:custGeom>
            <a:ln w="254000" cap="flat">
              <a:solidFill>
                <a:srgbClr val="20366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2903931"/>
              <a:ext cx="13058007" cy="2022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R = 1 -         = 1 -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5684739" y="4061296"/>
              <a:ext cx="3052343" cy="0"/>
            </a:xfrm>
            <a:custGeom>
              <a:avLst/>
              <a:gdLst/>
              <a:ahLst/>
              <a:cxnLst/>
              <a:rect l="l" t="t" r="r" b="b"/>
              <a:pathLst>
                <a:path w="3052343">
                  <a:moveTo>
                    <a:pt x="0" y="0"/>
                  </a:moveTo>
                  <a:lnTo>
                    <a:pt x="3052342" y="0"/>
                  </a:lnTo>
                </a:path>
              </a:pathLst>
            </a:custGeom>
            <a:ln w="254000" cap="flat">
              <a:solidFill>
                <a:srgbClr val="20366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623701" y="1985869"/>
              <a:ext cx="3246364" cy="201899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MSE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297941" y="4074960"/>
              <a:ext cx="4357583" cy="20189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743"/>
                </a:lnSpc>
                <a:spcBef>
                  <a:spcPct val="0"/>
                </a:spcBef>
              </a:pPr>
              <a:r>
                <a:rPr lang="en-US" sz="9102" dirty="0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VAR(Y)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997564" y="2192519"/>
              <a:ext cx="694690" cy="16323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19"/>
                </a:lnSpc>
                <a:spcBef>
                  <a:spcPct val="0"/>
                </a:spcBef>
              </a:pPr>
              <a:r>
                <a:rPr lang="en-US" sz="7299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ENTRENAMIENTO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95580" y="3431571"/>
            <a:ext cx="17096841" cy="2860675"/>
            <a:chOff x="0" y="-114300"/>
            <a:chExt cx="22795787" cy="3814233"/>
          </a:xfrm>
        </p:grpSpPr>
        <p:sp>
          <p:nvSpPr>
            <p:cNvPr id="17" name="Freeform 17"/>
            <p:cNvSpPr/>
            <p:nvPr/>
          </p:nvSpPr>
          <p:spPr>
            <a:xfrm>
              <a:off x="6413262" y="1849967"/>
              <a:ext cx="1778000" cy="0"/>
            </a:xfrm>
            <a:custGeom>
              <a:avLst/>
              <a:gdLst/>
              <a:ahLst/>
              <a:cxnLst/>
              <a:rect l="l" t="t" r="r" b="b"/>
              <a:pathLst>
                <a:path w="1778000">
                  <a:moveTo>
                    <a:pt x="0" y="0"/>
                  </a:moveTo>
                  <a:lnTo>
                    <a:pt x="1778001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14300"/>
              <a:ext cx="6413262" cy="381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INYECCIÓN DE POTENCIA POR GENERADORES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191262" y="-114300"/>
              <a:ext cx="6413262" cy="381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ALTERA TENSIONES DE LOS NUDOS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382525" y="-114300"/>
              <a:ext cx="6413262" cy="381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ALTERA PÉRDIDAS DE LA RED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932445" y="6225659"/>
            <a:ext cx="11147817" cy="3831382"/>
            <a:chOff x="0" y="0"/>
            <a:chExt cx="14863755" cy="5108510"/>
          </a:xfrm>
        </p:grpSpPr>
        <p:sp>
          <p:nvSpPr>
            <p:cNvPr id="23" name="Freeform 23"/>
            <p:cNvSpPr/>
            <p:nvPr/>
          </p:nvSpPr>
          <p:spPr>
            <a:xfrm>
              <a:off x="90811" y="88783"/>
              <a:ext cx="8191262" cy="2094594"/>
            </a:xfrm>
            <a:custGeom>
              <a:avLst/>
              <a:gdLst/>
              <a:ahLst/>
              <a:cxnLst/>
              <a:rect l="l" t="t" r="r" b="b"/>
              <a:pathLst>
                <a:path w="8191262" h="2094594">
                  <a:moveTo>
                    <a:pt x="8191262" y="0"/>
                  </a:moveTo>
                  <a:quadBezTo>
                    <a:pt x="4095631" y="4189188"/>
                    <a:pt x="0" y="0"/>
                  </a:quadBez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triangle" w="lg" len="med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544768" y="348187"/>
              <a:ext cx="14177589" cy="3230842"/>
            </a:xfrm>
            <a:custGeom>
              <a:avLst/>
              <a:gdLst/>
              <a:ahLst/>
              <a:cxnLst/>
              <a:rect l="l" t="t" r="r" b="b"/>
              <a:pathLst>
                <a:path w="14177589" h="3230842">
                  <a:moveTo>
                    <a:pt x="14177589" y="0"/>
                  </a:moveTo>
                  <a:quadBezTo>
                    <a:pt x="7024239" y="6329268"/>
                    <a:pt x="0" y="259404"/>
                  </a:quadBez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triangle" w="lg" len="med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60456" y="3885076"/>
              <a:ext cx="12000802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DEPENDENCIA DE VARIABLES</a:t>
              </a:r>
            </a:p>
          </p:txBody>
        </p:sp>
      </p:grpSp>
      <p:sp>
        <p:nvSpPr>
          <p:cNvPr id="28" name="Freeform 17">
            <a:extLst>
              <a:ext uri="{FF2B5EF4-FFF2-40B4-BE49-F238E27FC236}">
                <a16:creationId xmlns:a16="http://schemas.microsoft.com/office/drawing/2014/main" id="{923C488D-FE4B-901F-EEF2-40B4501ED210}"/>
              </a:ext>
            </a:extLst>
          </p:cNvPr>
          <p:cNvSpPr/>
          <p:nvPr/>
        </p:nvSpPr>
        <p:spPr>
          <a:xfrm>
            <a:off x="11792878" y="4904771"/>
            <a:ext cx="1333500" cy="0"/>
          </a:xfrm>
          <a:custGeom>
            <a:avLst/>
            <a:gdLst/>
            <a:ahLst/>
            <a:cxnLst/>
            <a:rect l="l" t="t" r="r" b="b"/>
            <a:pathLst>
              <a:path w="1778000">
                <a:moveTo>
                  <a:pt x="0" y="0"/>
                </a:moveTo>
                <a:lnTo>
                  <a:pt x="1778001" y="0"/>
                </a:lnTo>
              </a:path>
            </a:pathLst>
          </a:custGeom>
          <a:ln w="254000" cap="flat">
            <a:solidFill>
              <a:srgbClr val="4D6BA7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s-E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ENTRENAMIENTO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73186" y="2187038"/>
            <a:ext cx="12341628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ELECTRIC SEQUENTIAL REGRESSOR (ESR)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776287" y="3398102"/>
            <a:ext cx="16735425" cy="4717098"/>
            <a:chOff x="0" y="-192881"/>
            <a:chExt cx="22313900" cy="6289463"/>
          </a:xfrm>
        </p:grpSpPr>
        <p:grpSp>
          <p:nvGrpSpPr>
            <p:cNvPr id="18" name="Group 18"/>
            <p:cNvGrpSpPr/>
            <p:nvPr/>
          </p:nvGrpSpPr>
          <p:grpSpPr>
            <a:xfrm>
              <a:off x="2592648" y="-192881"/>
              <a:ext cx="15834827" cy="6289463"/>
              <a:chOff x="0" y="-38100"/>
              <a:chExt cx="3127867" cy="124236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3127867" cy="1204263"/>
              </a:xfrm>
              <a:custGeom>
                <a:avLst/>
                <a:gdLst/>
                <a:ahLst/>
                <a:cxnLst/>
                <a:rect l="l" t="t" r="r" b="b"/>
                <a:pathLst>
                  <a:path w="3127867" h="1204263">
                    <a:moveTo>
                      <a:pt x="35854" y="0"/>
                    </a:moveTo>
                    <a:lnTo>
                      <a:pt x="3092013" y="0"/>
                    </a:lnTo>
                    <a:cubicBezTo>
                      <a:pt x="3111815" y="0"/>
                      <a:pt x="3127867" y="16052"/>
                      <a:pt x="3127867" y="35854"/>
                    </a:cubicBezTo>
                    <a:lnTo>
                      <a:pt x="3127867" y="1168409"/>
                    </a:lnTo>
                    <a:cubicBezTo>
                      <a:pt x="3127867" y="1177918"/>
                      <a:pt x="3124090" y="1187038"/>
                      <a:pt x="3117366" y="1193762"/>
                    </a:cubicBezTo>
                    <a:cubicBezTo>
                      <a:pt x="3110642" y="1200486"/>
                      <a:pt x="3101522" y="1204263"/>
                      <a:pt x="3092013" y="1204263"/>
                    </a:cubicBezTo>
                    <a:lnTo>
                      <a:pt x="35854" y="1204263"/>
                    </a:lnTo>
                    <a:cubicBezTo>
                      <a:pt x="26345" y="1204263"/>
                      <a:pt x="17225" y="1200486"/>
                      <a:pt x="10501" y="1193762"/>
                    </a:cubicBezTo>
                    <a:cubicBezTo>
                      <a:pt x="3777" y="1187038"/>
                      <a:pt x="0" y="1177918"/>
                      <a:pt x="0" y="1168409"/>
                    </a:cubicBezTo>
                    <a:lnTo>
                      <a:pt x="0" y="35854"/>
                    </a:lnTo>
                    <a:cubicBezTo>
                      <a:pt x="0" y="26345"/>
                      <a:pt x="3777" y="17225"/>
                      <a:pt x="10501" y="10501"/>
                    </a:cubicBezTo>
                    <a:cubicBezTo>
                      <a:pt x="17225" y="3777"/>
                      <a:pt x="26345" y="0"/>
                      <a:pt x="35854" y="0"/>
                    </a:cubicBezTo>
                    <a:close/>
                  </a:path>
                </a:pathLst>
              </a:custGeom>
              <a:solidFill>
                <a:srgbClr val="DBE7FF"/>
              </a:solidFill>
              <a:ln w="85725" cap="rnd">
                <a:solidFill>
                  <a:srgbClr val="4D6BA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3127867" cy="124236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5898929" y="2906798"/>
              <a:ext cx="4290986" cy="2703598"/>
              <a:chOff x="0" y="0"/>
              <a:chExt cx="847602" cy="534044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47602" cy="534044"/>
              </a:xfrm>
              <a:custGeom>
                <a:avLst/>
                <a:gdLst/>
                <a:ahLst/>
                <a:cxnLst/>
                <a:rect l="l" t="t" r="r" b="b"/>
                <a:pathLst>
                  <a:path w="847602" h="534044">
                    <a:moveTo>
                      <a:pt x="132310" y="0"/>
                    </a:moveTo>
                    <a:lnTo>
                      <a:pt x="715292" y="0"/>
                    </a:lnTo>
                    <a:cubicBezTo>
                      <a:pt x="750383" y="0"/>
                      <a:pt x="784036" y="13940"/>
                      <a:pt x="808849" y="38753"/>
                    </a:cubicBezTo>
                    <a:cubicBezTo>
                      <a:pt x="833662" y="63566"/>
                      <a:pt x="847602" y="97219"/>
                      <a:pt x="847602" y="132310"/>
                    </a:cubicBezTo>
                    <a:lnTo>
                      <a:pt x="847602" y="401734"/>
                    </a:lnTo>
                    <a:cubicBezTo>
                      <a:pt x="847602" y="436825"/>
                      <a:pt x="833662" y="470478"/>
                      <a:pt x="808849" y="495291"/>
                    </a:cubicBezTo>
                    <a:cubicBezTo>
                      <a:pt x="784036" y="520104"/>
                      <a:pt x="750383" y="534044"/>
                      <a:pt x="715292" y="534044"/>
                    </a:cubicBezTo>
                    <a:lnTo>
                      <a:pt x="132310" y="534044"/>
                    </a:lnTo>
                    <a:cubicBezTo>
                      <a:pt x="97219" y="534044"/>
                      <a:pt x="63566" y="520104"/>
                      <a:pt x="38753" y="495291"/>
                    </a:cubicBezTo>
                    <a:cubicBezTo>
                      <a:pt x="13940" y="470478"/>
                      <a:pt x="0" y="436825"/>
                      <a:pt x="0" y="401734"/>
                    </a:cubicBezTo>
                    <a:lnTo>
                      <a:pt x="0" y="132310"/>
                    </a:lnTo>
                    <a:cubicBezTo>
                      <a:pt x="0" y="97219"/>
                      <a:pt x="13940" y="63566"/>
                      <a:pt x="38753" y="38753"/>
                    </a:cubicBezTo>
                    <a:cubicBezTo>
                      <a:pt x="63566" y="13940"/>
                      <a:pt x="97219" y="0"/>
                      <a:pt x="132310" y="0"/>
                    </a:cubicBezTo>
                    <a:close/>
                  </a:path>
                </a:pathLst>
              </a:custGeom>
              <a:solidFill>
                <a:srgbClr val="4D6BA7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847602" cy="572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2484447" y="490687"/>
              <a:ext cx="4290986" cy="2703598"/>
              <a:chOff x="0" y="0"/>
              <a:chExt cx="847602" cy="53404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47602" cy="534044"/>
              </a:xfrm>
              <a:custGeom>
                <a:avLst/>
                <a:gdLst/>
                <a:ahLst/>
                <a:cxnLst/>
                <a:rect l="l" t="t" r="r" b="b"/>
                <a:pathLst>
                  <a:path w="847602" h="534044">
                    <a:moveTo>
                      <a:pt x="132310" y="0"/>
                    </a:moveTo>
                    <a:lnTo>
                      <a:pt x="715292" y="0"/>
                    </a:lnTo>
                    <a:cubicBezTo>
                      <a:pt x="750383" y="0"/>
                      <a:pt x="784036" y="13940"/>
                      <a:pt x="808849" y="38753"/>
                    </a:cubicBezTo>
                    <a:cubicBezTo>
                      <a:pt x="833662" y="63566"/>
                      <a:pt x="847602" y="97219"/>
                      <a:pt x="847602" y="132310"/>
                    </a:cubicBezTo>
                    <a:lnTo>
                      <a:pt x="847602" y="401734"/>
                    </a:lnTo>
                    <a:cubicBezTo>
                      <a:pt x="847602" y="436825"/>
                      <a:pt x="833662" y="470478"/>
                      <a:pt x="808849" y="495291"/>
                    </a:cubicBezTo>
                    <a:cubicBezTo>
                      <a:pt x="784036" y="520104"/>
                      <a:pt x="750383" y="534044"/>
                      <a:pt x="715292" y="534044"/>
                    </a:cubicBezTo>
                    <a:lnTo>
                      <a:pt x="132310" y="534044"/>
                    </a:lnTo>
                    <a:cubicBezTo>
                      <a:pt x="97219" y="534044"/>
                      <a:pt x="63566" y="520104"/>
                      <a:pt x="38753" y="495291"/>
                    </a:cubicBezTo>
                    <a:cubicBezTo>
                      <a:pt x="13940" y="470478"/>
                      <a:pt x="0" y="436825"/>
                      <a:pt x="0" y="401734"/>
                    </a:cubicBezTo>
                    <a:lnTo>
                      <a:pt x="0" y="132310"/>
                    </a:lnTo>
                    <a:cubicBezTo>
                      <a:pt x="0" y="97219"/>
                      <a:pt x="13940" y="63566"/>
                      <a:pt x="38753" y="38753"/>
                    </a:cubicBezTo>
                    <a:cubicBezTo>
                      <a:pt x="63566" y="13940"/>
                      <a:pt x="97219" y="0"/>
                      <a:pt x="132310" y="0"/>
                    </a:cubicBezTo>
                    <a:close/>
                  </a:path>
                </a:pathLst>
              </a:custGeom>
              <a:solidFill>
                <a:srgbClr val="4D6BA7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847602" cy="572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 flipV="1">
              <a:off x="10189915" y="4131645"/>
              <a:ext cx="9194787" cy="126952"/>
            </a:xfrm>
            <a:custGeom>
              <a:avLst/>
              <a:gdLst/>
              <a:ahLst/>
              <a:cxnLst/>
              <a:rect l="l" t="t" r="r" b="b"/>
              <a:pathLst>
                <a:path w="4750955">
                  <a:moveTo>
                    <a:pt x="4750955" y="0"/>
                  </a:move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10189914" y="2418501"/>
              <a:ext cx="2294532" cy="1840096"/>
            </a:xfrm>
            <a:custGeom>
              <a:avLst/>
              <a:gdLst/>
              <a:ahLst/>
              <a:cxnLst/>
              <a:rect l="l" t="t" r="r" b="b"/>
              <a:pathLst>
                <a:path w="2294532" h="1840096">
                  <a:moveTo>
                    <a:pt x="2294532" y="0"/>
                  </a:moveTo>
                  <a:lnTo>
                    <a:pt x="1452067" y="0"/>
                  </a:lnTo>
                  <a:cubicBezTo>
                    <a:pt x="1371229" y="0"/>
                    <a:pt x="1293702" y="32112"/>
                    <a:pt x="1236540" y="89273"/>
                  </a:cubicBezTo>
                  <a:cubicBezTo>
                    <a:pt x="1179380" y="146434"/>
                    <a:pt x="1147267" y="223962"/>
                    <a:pt x="1147267" y="304800"/>
                  </a:cubicBezTo>
                  <a:lnTo>
                    <a:pt x="1147267" y="1535296"/>
                  </a:lnTo>
                  <a:cubicBezTo>
                    <a:pt x="1147267" y="1616134"/>
                    <a:pt x="1115154" y="1693661"/>
                    <a:pt x="1057993" y="1750822"/>
                  </a:cubicBezTo>
                  <a:cubicBezTo>
                    <a:pt x="1000832" y="1807983"/>
                    <a:pt x="923305" y="1840096"/>
                    <a:pt x="842467" y="1840096"/>
                  </a:cubicBezTo>
                  <a:lnTo>
                    <a:pt x="0" y="1840096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Freeform 29"/>
            <p:cNvSpPr/>
            <p:nvPr/>
          </p:nvSpPr>
          <p:spPr>
            <a:xfrm flipV="1">
              <a:off x="16775431" y="1168389"/>
              <a:ext cx="2609271" cy="60959"/>
            </a:xfrm>
            <a:custGeom>
              <a:avLst/>
              <a:gdLst/>
              <a:ahLst/>
              <a:cxnLst/>
              <a:rect l="l" t="t" r="r" b="b"/>
              <a:pathLst>
                <a:path w="1471386">
                  <a:moveTo>
                    <a:pt x="1471386" y="0"/>
                  </a:move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0" name="Freeform 30"/>
            <p:cNvSpPr/>
            <p:nvPr/>
          </p:nvSpPr>
          <p:spPr>
            <a:xfrm>
              <a:off x="16775432" y="2418500"/>
              <a:ext cx="2609269" cy="60959"/>
            </a:xfrm>
            <a:custGeom>
              <a:avLst/>
              <a:gdLst/>
              <a:ahLst/>
              <a:cxnLst/>
              <a:rect l="l" t="t" r="r" b="b"/>
              <a:pathLst>
                <a:path w="1471386">
                  <a:moveTo>
                    <a:pt x="1471386" y="0"/>
                  </a:move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1103092" y="1047909"/>
              <a:ext cx="5980811" cy="0"/>
            </a:xfrm>
            <a:custGeom>
              <a:avLst/>
              <a:gdLst/>
              <a:ahLst/>
              <a:cxnLst/>
              <a:rect l="l" t="t" r="r" b="b"/>
              <a:pathLst>
                <a:path w="5980811">
                  <a:moveTo>
                    <a:pt x="5980811" y="0"/>
                  </a:move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1103092" y="1733205"/>
              <a:ext cx="5980811" cy="0"/>
            </a:xfrm>
            <a:custGeom>
              <a:avLst/>
              <a:gdLst/>
              <a:ahLst/>
              <a:cxnLst/>
              <a:rect l="l" t="t" r="r" b="b"/>
              <a:pathLst>
                <a:path w="5980811">
                  <a:moveTo>
                    <a:pt x="5980811" y="0"/>
                  </a:move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5025171" y="1842486"/>
              <a:ext cx="873758" cy="1766187"/>
            </a:xfrm>
            <a:custGeom>
              <a:avLst/>
              <a:gdLst/>
              <a:ahLst/>
              <a:cxnLst/>
              <a:rect l="l" t="t" r="r" b="b"/>
              <a:pathLst>
                <a:path w="873758" h="1766187">
                  <a:moveTo>
                    <a:pt x="873758" y="1766186"/>
                  </a:moveTo>
                  <a:lnTo>
                    <a:pt x="873758" y="1187893"/>
                  </a:lnTo>
                  <a:cubicBezTo>
                    <a:pt x="873758" y="1107055"/>
                    <a:pt x="841645" y="1029528"/>
                    <a:pt x="784484" y="972367"/>
                  </a:cubicBezTo>
                  <a:cubicBezTo>
                    <a:pt x="727323" y="915206"/>
                    <a:pt x="649796" y="883093"/>
                    <a:pt x="568958" y="883093"/>
                  </a:cubicBezTo>
                  <a:lnTo>
                    <a:pt x="304800" y="883093"/>
                  </a:lnTo>
                  <a:cubicBezTo>
                    <a:pt x="136464" y="883093"/>
                    <a:pt x="0" y="746629"/>
                    <a:pt x="0" y="578293"/>
                  </a:cubicBez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081883" y="1047909"/>
              <a:ext cx="1817046" cy="3788101"/>
            </a:xfrm>
            <a:custGeom>
              <a:avLst/>
              <a:gdLst/>
              <a:ahLst/>
              <a:cxnLst/>
              <a:rect l="l" t="t" r="r" b="b"/>
              <a:pathLst>
                <a:path w="1817046" h="3788101">
                  <a:moveTo>
                    <a:pt x="1817046" y="3788102"/>
                  </a:moveTo>
                  <a:lnTo>
                    <a:pt x="1817046" y="2198851"/>
                  </a:lnTo>
                  <a:cubicBezTo>
                    <a:pt x="1817046" y="2030515"/>
                    <a:pt x="1680582" y="1894051"/>
                    <a:pt x="1512246" y="1894051"/>
                  </a:cubicBezTo>
                  <a:lnTo>
                    <a:pt x="304800" y="1894051"/>
                  </a:lnTo>
                  <a:cubicBezTo>
                    <a:pt x="136464" y="1894051"/>
                    <a:pt x="0" y="1757587"/>
                    <a:pt x="0" y="1589251"/>
                  </a:cubicBezTo>
                  <a:lnTo>
                    <a:pt x="0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766640" y="379043"/>
              <a:ext cx="630486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X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709928" y="1115048"/>
              <a:ext cx="630486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X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987806" y="3562005"/>
              <a:ext cx="630486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203660"/>
                  </a:solidFill>
                  <a:latin typeface="Bantayog"/>
                  <a:ea typeface="Bantayog"/>
                  <a:cs typeface="Bantayog"/>
                  <a:sym typeface="Bantayog"/>
                </a:rPr>
                <a:t>X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056222" y="3673627"/>
              <a:ext cx="3976399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MODELO 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483790" y="1173619"/>
              <a:ext cx="4291642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MODELO 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255022"/>
              <a:ext cx="858823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P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1297676"/>
              <a:ext cx="858823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Q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9844226" y="3494373"/>
              <a:ext cx="858823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Q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0397585" y="3849564"/>
              <a:ext cx="1916315" cy="9001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653"/>
                </a:lnSpc>
                <a:spcBef>
                  <a:spcPct val="0"/>
                </a:spcBef>
              </a:pPr>
              <a:r>
                <a:rPr lang="en-US" sz="4038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GEN7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9959504" y="509772"/>
              <a:ext cx="858823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V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0081189" y="1749634"/>
              <a:ext cx="2148148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PERD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3801551" y="8115200"/>
            <a:ext cx="9326448" cy="2099678"/>
            <a:chOff x="0" y="0"/>
            <a:chExt cx="12435265" cy="2799571"/>
          </a:xfrm>
        </p:grpSpPr>
        <p:sp>
          <p:nvSpPr>
            <p:cNvPr id="47" name="Freeform 47"/>
            <p:cNvSpPr/>
            <p:nvPr/>
          </p:nvSpPr>
          <p:spPr>
            <a:xfrm>
              <a:off x="0" y="248696"/>
              <a:ext cx="4723843" cy="2550875"/>
            </a:xfrm>
            <a:custGeom>
              <a:avLst/>
              <a:gdLst/>
              <a:ahLst/>
              <a:cxnLst/>
              <a:rect l="l" t="t" r="r" b="b"/>
              <a:pathLst>
                <a:path w="4723843" h="2550875">
                  <a:moveTo>
                    <a:pt x="0" y="0"/>
                  </a:moveTo>
                  <a:lnTo>
                    <a:pt x="4723843" y="0"/>
                  </a:lnTo>
                  <a:lnTo>
                    <a:pt x="4723843" y="2550875"/>
                  </a:lnTo>
                  <a:lnTo>
                    <a:pt x="0" y="25508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967735" y="855266"/>
              <a:ext cx="5138993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 dirty="0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COMPATIBLE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10495834" y="0"/>
              <a:ext cx="1812430" cy="1524133"/>
            </a:xfrm>
            <a:custGeom>
              <a:avLst/>
              <a:gdLst/>
              <a:ahLst/>
              <a:cxnLst/>
              <a:rect l="l" t="t" r="r" b="b"/>
              <a:pathLst>
                <a:path w="1812430" h="1524133">
                  <a:moveTo>
                    <a:pt x="1812430" y="0"/>
                  </a:moveTo>
                  <a:lnTo>
                    <a:pt x="1812430" y="1219333"/>
                  </a:lnTo>
                  <a:cubicBezTo>
                    <a:pt x="1812430" y="1387670"/>
                    <a:pt x="1675966" y="1524133"/>
                    <a:pt x="1507630" y="1524133"/>
                  </a:cubicBezTo>
                  <a:lnTo>
                    <a:pt x="0" y="1524133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triangle" w="lg" len="med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ENTRENAMIENTO</a:t>
            </a:r>
          </a:p>
        </p:txBody>
      </p:sp>
      <p:sp>
        <p:nvSpPr>
          <p:cNvPr id="16" name="Freeform 16"/>
          <p:cNvSpPr/>
          <p:nvPr/>
        </p:nvSpPr>
        <p:spPr>
          <a:xfrm>
            <a:off x="13803139" y="2074846"/>
            <a:ext cx="2014215" cy="2160016"/>
          </a:xfrm>
          <a:custGeom>
            <a:avLst/>
            <a:gdLst/>
            <a:ahLst/>
            <a:cxnLst/>
            <a:rect l="l" t="t" r="r" b="b"/>
            <a:pathLst>
              <a:path w="2014215" h="2160016">
                <a:moveTo>
                  <a:pt x="0" y="0"/>
                </a:moveTo>
                <a:lnTo>
                  <a:pt x="2014214" y="0"/>
                </a:lnTo>
                <a:lnTo>
                  <a:pt x="2014214" y="2160016"/>
                </a:lnTo>
                <a:lnTo>
                  <a:pt x="0" y="21600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795483" y="2483459"/>
            <a:ext cx="4630309" cy="1342790"/>
          </a:xfrm>
          <a:custGeom>
            <a:avLst/>
            <a:gdLst/>
            <a:ahLst/>
            <a:cxnLst/>
            <a:rect l="l" t="t" r="r" b="b"/>
            <a:pathLst>
              <a:path w="4630309" h="1342790">
                <a:moveTo>
                  <a:pt x="0" y="0"/>
                </a:moveTo>
                <a:lnTo>
                  <a:pt x="4630310" y="0"/>
                </a:lnTo>
                <a:lnTo>
                  <a:pt x="4630310" y="1342790"/>
                </a:lnTo>
                <a:lnTo>
                  <a:pt x="0" y="13427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8" name="TextBox 18"/>
          <p:cNvSpPr txBox="1"/>
          <p:nvPr/>
        </p:nvSpPr>
        <p:spPr>
          <a:xfrm>
            <a:off x="5061005" y="2624629"/>
            <a:ext cx="8165989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REDES NEURONALES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95483" y="4727575"/>
            <a:ext cx="16463817" cy="3390900"/>
            <a:chOff x="0" y="0"/>
            <a:chExt cx="21951755" cy="4521200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14300"/>
              <a:ext cx="18686350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NORMALIZACIÓN DE ENTRADAS Y SALIDAS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1591733"/>
              <a:ext cx="21951755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ASIGNACIÓN DE PESOS A LAS VARIABLES OBJETIVO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3297767"/>
              <a:ext cx="21951755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MODELO BASADO EN LÓGICA ESR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ENTRENAMIENTO</a:t>
            </a:r>
          </a:p>
        </p:txBody>
      </p:sp>
      <p:sp>
        <p:nvSpPr>
          <p:cNvPr id="16" name="Freeform 16"/>
          <p:cNvSpPr/>
          <p:nvPr/>
        </p:nvSpPr>
        <p:spPr>
          <a:xfrm>
            <a:off x="13803139" y="2074846"/>
            <a:ext cx="2014215" cy="2160016"/>
          </a:xfrm>
          <a:custGeom>
            <a:avLst/>
            <a:gdLst/>
            <a:ahLst/>
            <a:cxnLst/>
            <a:rect l="l" t="t" r="r" b="b"/>
            <a:pathLst>
              <a:path w="2014215" h="2160016">
                <a:moveTo>
                  <a:pt x="0" y="0"/>
                </a:moveTo>
                <a:lnTo>
                  <a:pt x="2014214" y="0"/>
                </a:lnTo>
                <a:lnTo>
                  <a:pt x="2014214" y="2160016"/>
                </a:lnTo>
                <a:lnTo>
                  <a:pt x="0" y="21600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7" name="Freeform 17"/>
          <p:cNvSpPr/>
          <p:nvPr/>
        </p:nvSpPr>
        <p:spPr>
          <a:xfrm>
            <a:off x="795483" y="2483459"/>
            <a:ext cx="4630309" cy="1342790"/>
          </a:xfrm>
          <a:custGeom>
            <a:avLst/>
            <a:gdLst/>
            <a:ahLst/>
            <a:cxnLst/>
            <a:rect l="l" t="t" r="r" b="b"/>
            <a:pathLst>
              <a:path w="4630309" h="1342790">
                <a:moveTo>
                  <a:pt x="0" y="0"/>
                </a:moveTo>
                <a:lnTo>
                  <a:pt x="4630310" y="0"/>
                </a:lnTo>
                <a:lnTo>
                  <a:pt x="4630310" y="1342790"/>
                </a:lnTo>
                <a:lnTo>
                  <a:pt x="0" y="13427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8" name="TextBox 18"/>
          <p:cNvSpPr txBox="1"/>
          <p:nvPr/>
        </p:nvSpPr>
        <p:spPr>
          <a:xfrm>
            <a:off x="5061005" y="2624629"/>
            <a:ext cx="8165989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REDES NEURONALES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95483" y="4727575"/>
            <a:ext cx="16463817" cy="3082925"/>
            <a:chOff x="0" y="0"/>
            <a:chExt cx="21951755" cy="4110567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14300"/>
              <a:ext cx="18686350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AUTO-OPTIMIZACIÓN DE HIPERPARÁMETROS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1591733"/>
              <a:ext cx="21951755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IMPLEMENTA ESTRATEGIAS DE OPTIMIZACIÓN (DROPOUT Y BATCH NORMALIZATION)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608685" y="3437170"/>
            <a:ext cx="2096600" cy="2096600"/>
          </a:xfrm>
          <a:custGeom>
            <a:avLst/>
            <a:gdLst/>
            <a:ahLst/>
            <a:cxnLst/>
            <a:rect l="l" t="t" r="r" b="b"/>
            <a:pathLst>
              <a:path w="2096600" h="2096600">
                <a:moveTo>
                  <a:pt x="0" y="0"/>
                </a:moveTo>
                <a:lnTo>
                  <a:pt x="2096600" y="0"/>
                </a:lnTo>
                <a:lnTo>
                  <a:pt x="2096600" y="2096600"/>
                </a:lnTo>
                <a:lnTo>
                  <a:pt x="0" y="2096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215123"/>
            <a:ext cx="13346707" cy="261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OPTIMIZACIÓN DE HIPERPARÁMETROS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152960" y="2958083"/>
            <a:ext cx="5150415" cy="288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LIMITACIÓN DE POTENCIA COMPUTACIONAL</a:t>
            </a:r>
          </a:p>
        </p:txBody>
      </p:sp>
      <p:sp>
        <p:nvSpPr>
          <p:cNvPr id="18" name="AutoShape 18"/>
          <p:cNvSpPr/>
          <p:nvPr/>
        </p:nvSpPr>
        <p:spPr>
          <a:xfrm flipH="1">
            <a:off x="9303375" y="4485470"/>
            <a:ext cx="1776073" cy="0"/>
          </a:xfrm>
          <a:prstGeom prst="line">
            <a:avLst/>
          </a:prstGeom>
          <a:ln w="254000" cap="flat">
            <a:solidFill>
              <a:srgbClr val="4D6BA7"/>
            </a:solidFill>
            <a:prstDash val="solid"/>
            <a:headEnd type="triangle" w="lg" len="med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Box 19"/>
          <p:cNvSpPr txBox="1"/>
          <p:nvPr/>
        </p:nvSpPr>
        <p:spPr>
          <a:xfrm>
            <a:off x="11528900" y="2983695"/>
            <a:ext cx="5150415" cy="288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DESCARTADA EXPLORACIÓN EN REJILLA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3685124" y="6094983"/>
            <a:ext cx="9622036" cy="3502476"/>
            <a:chOff x="0" y="0"/>
            <a:chExt cx="12829381" cy="4669968"/>
          </a:xfrm>
        </p:grpSpPr>
        <p:sp>
          <p:nvSpPr>
            <p:cNvPr id="21" name="AutoShape 21"/>
            <p:cNvSpPr/>
            <p:nvPr/>
          </p:nvSpPr>
          <p:spPr>
            <a:xfrm flipH="1" flipV="1">
              <a:off x="4057391" y="0"/>
              <a:ext cx="0" cy="2368098"/>
            </a:xfrm>
            <a:prstGeom prst="line">
              <a:avLst/>
            </a:prstGeom>
            <a:ln w="254000" cap="flat">
              <a:solidFill>
                <a:srgbClr val="4D6BA7"/>
              </a:solidFill>
              <a:prstDash val="solid"/>
              <a:headEnd type="triangle" w="lg" len="med"/>
              <a:tailEnd type="none" w="sm" len="sm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52621" y="2994322"/>
              <a:ext cx="10676759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EXPLORACIÓN ALEATORIA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0" y="2656410"/>
              <a:ext cx="2013557" cy="2013557"/>
            </a:xfrm>
            <a:custGeom>
              <a:avLst/>
              <a:gdLst/>
              <a:ahLst/>
              <a:cxnLst/>
              <a:rect l="l" t="t" r="r" b="b"/>
              <a:pathLst>
                <a:path w="2013557" h="2013557">
                  <a:moveTo>
                    <a:pt x="0" y="0"/>
                  </a:moveTo>
                  <a:lnTo>
                    <a:pt x="2013557" y="0"/>
                  </a:lnTo>
                  <a:lnTo>
                    <a:pt x="2013557" y="2013558"/>
                  </a:lnTo>
                  <a:lnTo>
                    <a:pt x="0" y="20135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215123"/>
            <a:ext cx="13346707" cy="261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OPTIMIZACIÓN DE HIPERPARÁMETROS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73186" y="2712578"/>
            <a:ext cx="12341628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ELECTRIC SEQUENTIAL REGRESSOR (ESR)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860755" y="4787672"/>
            <a:ext cx="7283245" cy="3118550"/>
            <a:chOff x="0" y="0"/>
            <a:chExt cx="9710993" cy="4158067"/>
          </a:xfrm>
        </p:grpSpPr>
        <p:sp>
          <p:nvSpPr>
            <p:cNvPr id="18" name="Freeform 18"/>
            <p:cNvSpPr/>
            <p:nvPr/>
          </p:nvSpPr>
          <p:spPr>
            <a:xfrm>
              <a:off x="2493575" y="0"/>
              <a:ext cx="4723843" cy="2550875"/>
            </a:xfrm>
            <a:custGeom>
              <a:avLst/>
              <a:gdLst/>
              <a:ahLst/>
              <a:cxnLst/>
              <a:rect l="l" t="t" r="r" b="b"/>
              <a:pathLst>
                <a:path w="4723843" h="2550875">
                  <a:moveTo>
                    <a:pt x="0" y="0"/>
                  </a:moveTo>
                  <a:lnTo>
                    <a:pt x="4723843" y="0"/>
                  </a:lnTo>
                  <a:lnTo>
                    <a:pt x="4723843" y="2550875"/>
                  </a:lnTo>
                  <a:lnTo>
                    <a:pt x="0" y="25508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2934634"/>
              <a:ext cx="9710993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RANDOMIZEDSEARCHCV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0" y="4799900"/>
            <a:ext cx="7283245" cy="3106323"/>
            <a:chOff x="0" y="0"/>
            <a:chExt cx="9710993" cy="4141764"/>
          </a:xfrm>
        </p:grpSpPr>
        <p:sp>
          <p:nvSpPr>
            <p:cNvPr id="21" name="TextBox 21"/>
            <p:cNvSpPr txBox="1"/>
            <p:nvPr/>
          </p:nvSpPr>
          <p:spPr>
            <a:xfrm rot="-1063670">
              <a:off x="2544215" y="560556"/>
              <a:ext cx="4587759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METAGEN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2918331"/>
              <a:ext cx="9710993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RANDOMSEARCH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215123"/>
            <a:ext cx="13346707" cy="261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OPTIMIZACIÓN DE HIPERPARÁMETROS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73186" y="2712578"/>
            <a:ext cx="12341628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ELECTRIC SEQUENTIAL REGRESSOR (ESR)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333651" y="3996531"/>
            <a:ext cx="7723282" cy="5261769"/>
            <a:chOff x="0" y="0"/>
            <a:chExt cx="10297709" cy="7015692"/>
          </a:xfrm>
        </p:grpSpPr>
        <p:sp>
          <p:nvSpPr>
            <p:cNvPr id="18" name="TextBox 18"/>
            <p:cNvSpPr txBox="1"/>
            <p:nvPr/>
          </p:nvSpPr>
          <p:spPr>
            <a:xfrm>
              <a:off x="64960" y="-114300"/>
              <a:ext cx="7214227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RANDOM FOREST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1207558"/>
              <a:ext cx="7703667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N_ESTIMATORS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2735792"/>
              <a:ext cx="7703667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MAX_DEPTH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4264025"/>
              <a:ext cx="10297709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MIN_SAMPLES_SPLIT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5792258"/>
              <a:ext cx="8128146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MAX_FEATURES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056933" y="3996531"/>
            <a:ext cx="7723282" cy="5261769"/>
            <a:chOff x="0" y="0"/>
            <a:chExt cx="10297709" cy="7015692"/>
          </a:xfrm>
        </p:grpSpPr>
        <p:sp>
          <p:nvSpPr>
            <p:cNvPr id="24" name="TextBox 24"/>
            <p:cNvSpPr txBox="1"/>
            <p:nvPr/>
          </p:nvSpPr>
          <p:spPr>
            <a:xfrm>
              <a:off x="64960" y="-114300"/>
              <a:ext cx="4490482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XGBOOST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207558"/>
              <a:ext cx="7703667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N_ESTIMATORS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2735792"/>
              <a:ext cx="7703667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MAX_DEPTH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4264025"/>
              <a:ext cx="10297709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COLSAMPLE_BYTREE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5792258"/>
              <a:ext cx="8128146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LEARNING_RATE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39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215123"/>
            <a:ext cx="13346707" cy="261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OPTIMIZACIÓN DE HIPERPARÁMETROS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73186" y="2712578"/>
            <a:ext cx="12341628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REDES NEURONALES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096161" y="3801269"/>
            <a:ext cx="13701409" cy="1342790"/>
            <a:chOff x="0" y="0"/>
            <a:chExt cx="18268545" cy="179038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173745" cy="1790386"/>
            </a:xfrm>
            <a:custGeom>
              <a:avLst/>
              <a:gdLst/>
              <a:ahLst/>
              <a:cxnLst/>
              <a:rect l="l" t="t" r="r" b="b"/>
              <a:pathLst>
                <a:path w="6173745" h="1790386">
                  <a:moveTo>
                    <a:pt x="0" y="0"/>
                  </a:moveTo>
                  <a:lnTo>
                    <a:pt x="6173745" y="0"/>
                  </a:lnTo>
                  <a:lnTo>
                    <a:pt x="6173745" y="1790386"/>
                  </a:lnTo>
                  <a:lnTo>
                    <a:pt x="0" y="17903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03850" y="226326"/>
              <a:ext cx="11364695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TIMESERIESRANDOMSEARCH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470647" y="5762981"/>
            <a:ext cx="12575611" cy="3844502"/>
            <a:chOff x="0" y="0"/>
            <a:chExt cx="16767481" cy="5126003"/>
          </a:xfrm>
        </p:grpSpPr>
        <p:sp>
          <p:nvSpPr>
            <p:cNvPr id="21" name="TextBox 21"/>
            <p:cNvSpPr txBox="1"/>
            <p:nvPr/>
          </p:nvSpPr>
          <p:spPr>
            <a:xfrm>
              <a:off x="22431" y="-114300"/>
              <a:ext cx="16745050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VALIDACIÓN CRUZADA PARA SERIES TEMPORALES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2607169"/>
              <a:ext cx="16767481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PREVENCIÓN DE FUGAS DE DATOS EN NORMALIZACIÓN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215123"/>
            <a:ext cx="13346707" cy="261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OPTIMIZACIÓN DE HIPERPARÁMETROS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73186" y="2712578"/>
            <a:ext cx="12341628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REDES NEURONALES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096161" y="3801269"/>
            <a:ext cx="13701409" cy="1342790"/>
            <a:chOff x="0" y="0"/>
            <a:chExt cx="18268545" cy="179038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173745" cy="1790386"/>
            </a:xfrm>
            <a:custGeom>
              <a:avLst/>
              <a:gdLst/>
              <a:ahLst/>
              <a:cxnLst/>
              <a:rect l="l" t="t" r="r" b="b"/>
              <a:pathLst>
                <a:path w="6173745" h="1790386">
                  <a:moveTo>
                    <a:pt x="0" y="0"/>
                  </a:moveTo>
                  <a:lnTo>
                    <a:pt x="6173745" y="0"/>
                  </a:lnTo>
                  <a:lnTo>
                    <a:pt x="6173745" y="1790386"/>
                  </a:lnTo>
                  <a:lnTo>
                    <a:pt x="0" y="17903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03850" y="226326"/>
              <a:ext cx="11364695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TIMESERIESRANDOMSEARCH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856195" y="5762981"/>
            <a:ext cx="12575611" cy="3911244"/>
            <a:chOff x="0" y="0"/>
            <a:chExt cx="16767481" cy="5214991"/>
          </a:xfrm>
        </p:grpSpPr>
        <p:sp>
          <p:nvSpPr>
            <p:cNvPr id="21" name="TextBox 21"/>
            <p:cNvSpPr txBox="1"/>
            <p:nvPr/>
          </p:nvSpPr>
          <p:spPr>
            <a:xfrm>
              <a:off x="22431" y="-114300"/>
              <a:ext cx="16745050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FUNCIÓN DE ACTIVACIÓN (RELU Y ELU)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1311769"/>
              <a:ext cx="16767481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NÚMERO DE CAPAS OCULTAS Y NEURONAS POR CADA RAMA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3991558"/>
              <a:ext cx="1676748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OPTIMIZADOR (SGD Y ADAM)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215123"/>
            <a:ext cx="13346707" cy="261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60"/>
              </a:lnSpc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OPTIMIZACIÓN DE HIPERPARÁMETROS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73186" y="2712578"/>
            <a:ext cx="12341628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REDES NEURONALES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096161" y="3801269"/>
            <a:ext cx="13701409" cy="1342790"/>
            <a:chOff x="0" y="0"/>
            <a:chExt cx="18268545" cy="179038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173745" cy="1790386"/>
            </a:xfrm>
            <a:custGeom>
              <a:avLst/>
              <a:gdLst/>
              <a:ahLst/>
              <a:cxnLst/>
              <a:rect l="l" t="t" r="r" b="b"/>
              <a:pathLst>
                <a:path w="6173745" h="1790386">
                  <a:moveTo>
                    <a:pt x="0" y="0"/>
                  </a:moveTo>
                  <a:lnTo>
                    <a:pt x="6173745" y="0"/>
                  </a:lnTo>
                  <a:lnTo>
                    <a:pt x="6173745" y="1790386"/>
                  </a:lnTo>
                  <a:lnTo>
                    <a:pt x="0" y="17903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03850" y="226326"/>
              <a:ext cx="11364695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TIMESERIESRANDOMSEARCH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799145" y="5908896"/>
            <a:ext cx="8295441" cy="2939694"/>
            <a:chOff x="0" y="0"/>
            <a:chExt cx="11060587" cy="3919591"/>
          </a:xfrm>
        </p:grpSpPr>
        <p:sp>
          <p:nvSpPr>
            <p:cNvPr id="21" name="TextBox 21"/>
            <p:cNvSpPr txBox="1"/>
            <p:nvPr/>
          </p:nvSpPr>
          <p:spPr>
            <a:xfrm>
              <a:off x="14797" y="-114300"/>
              <a:ext cx="11045791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TASA DE DROPOUT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1311769"/>
              <a:ext cx="11060587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BATCH NORMALIZATION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2696158"/>
              <a:ext cx="11060587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187449" lvl="1" indent="-593725" algn="l">
                <a:lnSpc>
                  <a:spcPts val="7699"/>
                </a:lnSpc>
                <a:buFont typeface="Arial"/>
                <a:buChar char="•"/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LEARNING RATE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3136594" y="2423366"/>
            <a:ext cx="4768522" cy="7358212"/>
            <a:chOff x="0" y="0"/>
            <a:chExt cx="6358030" cy="9810949"/>
          </a:xfrm>
        </p:grpSpPr>
        <p:grpSp>
          <p:nvGrpSpPr>
            <p:cNvPr id="17" name="Group 17"/>
            <p:cNvGrpSpPr/>
            <p:nvPr/>
          </p:nvGrpSpPr>
          <p:grpSpPr>
            <a:xfrm>
              <a:off x="239872" y="0"/>
              <a:ext cx="5878286" cy="2837928"/>
              <a:chOff x="0" y="0"/>
              <a:chExt cx="1161143" cy="560578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161143" cy="560578"/>
              </a:xfrm>
              <a:custGeom>
                <a:avLst/>
                <a:gdLst/>
                <a:ahLst/>
                <a:cxnLst/>
                <a:rect l="l" t="t" r="r" b="b"/>
                <a:pathLst>
                  <a:path w="1161143" h="560578">
                    <a:moveTo>
                      <a:pt x="96583" y="0"/>
                    </a:moveTo>
                    <a:lnTo>
                      <a:pt x="1064560" y="0"/>
                    </a:lnTo>
                    <a:cubicBezTo>
                      <a:pt x="1090176" y="0"/>
                      <a:pt x="1114742" y="10176"/>
                      <a:pt x="1132855" y="28288"/>
                    </a:cubicBezTo>
                    <a:cubicBezTo>
                      <a:pt x="1150967" y="46401"/>
                      <a:pt x="1161143" y="70967"/>
                      <a:pt x="1161143" y="96583"/>
                    </a:cubicBezTo>
                    <a:lnTo>
                      <a:pt x="1161143" y="463996"/>
                    </a:lnTo>
                    <a:cubicBezTo>
                      <a:pt x="1161143" y="489611"/>
                      <a:pt x="1150967" y="514177"/>
                      <a:pt x="1132855" y="532290"/>
                    </a:cubicBezTo>
                    <a:cubicBezTo>
                      <a:pt x="1114742" y="550403"/>
                      <a:pt x="1090176" y="560578"/>
                      <a:pt x="1064560" y="560578"/>
                    </a:cubicBezTo>
                    <a:lnTo>
                      <a:pt x="96583" y="560578"/>
                    </a:lnTo>
                    <a:cubicBezTo>
                      <a:pt x="70967" y="560578"/>
                      <a:pt x="46401" y="550403"/>
                      <a:pt x="28288" y="532290"/>
                    </a:cubicBezTo>
                    <a:cubicBezTo>
                      <a:pt x="10176" y="514177"/>
                      <a:pt x="0" y="489611"/>
                      <a:pt x="0" y="463996"/>
                    </a:cubicBezTo>
                    <a:lnTo>
                      <a:pt x="0" y="96583"/>
                    </a:lnTo>
                    <a:cubicBezTo>
                      <a:pt x="0" y="70967"/>
                      <a:pt x="10176" y="46401"/>
                      <a:pt x="28288" y="28288"/>
                    </a:cubicBezTo>
                    <a:cubicBezTo>
                      <a:pt x="46401" y="10176"/>
                      <a:pt x="70967" y="0"/>
                      <a:pt x="96583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38100"/>
                <a:ext cx="1161143" cy="5986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356681" y="102397"/>
              <a:ext cx="5644668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RESULTADOS INICIALES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3179015" y="2837928"/>
              <a:ext cx="0" cy="1643254"/>
            </a:xfrm>
            <a:custGeom>
              <a:avLst/>
              <a:gdLst/>
              <a:ahLst/>
              <a:cxnLst/>
              <a:rect l="l" t="t" r="r" b="b"/>
              <a:pathLst>
                <a:path h="1643254">
                  <a:moveTo>
                    <a:pt x="0" y="0"/>
                  </a:moveTo>
                  <a:lnTo>
                    <a:pt x="0" y="1643254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4366882"/>
              <a:ext cx="6358030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MÉTRICAS POR VARIABLE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7292116"/>
              <a:ext cx="6358030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GRÁFICAS DEL ERROR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382884" y="2423366"/>
            <a:ext cx="4768522" cy="7358212"/>
            <a:chOff x="0" y="0"/>
            <a:chExt cx="6358030" cy="9810949"/>
          </a:xfrm>
        </p:grpSpPr>
        <p:grpSp>
          <p:nvGrpSpPr>
            <p:cNvPr id="25" name="Group 25"/>
            <p:cNvGrpSpPr/>
            <p:nvPr/>
          </p:nvGrpSpPr>
          <p:grpSpPr>
            <a:xfrm>
              <a:off x="239872" y="0"/>
              <a:ext cx="5878286" cy="2837928"/>
              <a:chOff x="0" y="0"/>
              <a:chExt cx="1161143" cy="560578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161143" cy="560578"/>
              </a:xfrm>
              <a:custGeom>
                <a:avLst/>
                <a:gdLst/>
                <a:ahLst/>
                <a:cxnLst/>
                <a:rect l="l" t="t" r="r" b="b"/>
                <a:pathLst>
                  <a:path w="1161143" h="560578">
                    <a:moveTo>
                      <a:pt x="96583" y="0"/>
                    </a:moveTo>
                    <a:lnTo>
                      <a:pt x="1064560" y="0"/>
                    </a:lnTo>
                    <a:cubicBezTo>
                      <a:pt x="1090176" y="0"/>
                      <a:pt x="1114742" y="10176"/>
                      <a:pt x="1132855" y="28288"/>
                    </a:cubicBezTo>
                    <a:cubicBezTo>
                      <a:pt x="1150967" y="46401"/>
                      <a:pt x="1161143" y="70967"/>
                      <a:pt x="1161143" y="96583"/>
                    </a:cubicBezTo>
                    <a:lnTo>
                      <a:pt x="1161143" y="463996"/>
                    </a:lnTo>
                    <a:cubicBezTo>
                      <a:pt x="1161143" y="489611"/>
                      <a:pt x="1150967" y="514177"/>
                      <a:pt x="1132855" y="532290"/>
                    </a:cubicBezTo>
                    <a:cubicBezTo>
                      <a:pt x="1114742" y="550403"/>
                      <a:pt x="1090176" y="560578"/>
                      <a:pt x="1064560" y="560578"/>
                    </a:cubicBezTo>
                    <a:lnTo>
                      <a:pt x="96583" y="560578"/>
                    </a:lnTo>
                    <a:cubicBezTo>
                      <a:pt x="70967" y="560578"/>
                      <a:pt x="46401" y="550403"/>
                      <a:pt x="28288" y="532290"/>
                    </a:cubicBezTo>
                    <a:cubicBezTo>
                      <a:pt x="10176" y="514177"/>
                      <a:pt x="0" y="489611"/>
                      <a:pt x="0" y="463996"/>
                    </a:cubicBezTo>
                    <a:lnTo>
                      <a:pt x="0" y="96583"/>
                    </a:lnTo>
                    <a:cubicBezTo>
                      <a:pt x="0" y="70967"/>
                      <a:pt x="10176" y="46401"/>
                      <a:pt x="28288" y="28288"/>
                    </a:cubicBezTo>
                    <a:cubicBezTo>
                      <a:pt x="46401" y="10176"/>
                      <a:pt x="70967" y="0"/>
                      <a:pt x="96583" y="0"/>
                    </a:cubicBezTo>
                    <a:close/>
                  </a:path>
                </a:pathLst>
              </a:custGeom>
              <a:solidFill>
                <a:srgbClr val="4D6BA7"/>
              </a:solidFill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161143" cy="5986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356681" y="102397"/>
              <a:ext cx="5644668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FFFFFF"/>
                  </a:solidFill>
                  <a:latin typeface="Bantayog"/>
                  <a:ea typeface="Bantayog"/>
                  <a:cs typeface="Bantayog"/>
                  <a:sym typeface="Bantayog"/>
                </a:rPr>
                <a:t>RESULTADOS AVANZADOS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3179015" y="2837928"/>
              <a:ext cx="0" cy="1643254"/>
            </a:xfrm>
            <a:custGeom>
              <a:avLst/>
              <a:gdLst/>
              <a:ahLst/>
              <a:cxnLst/>
              <a:rect l="l" t="t" r="r" b="b"/>
              <a:pathLst>
                <a:path h="1643254">
                  <a:moveTo>
                    <a:pt x="0" y="0"/>
                  </a:moveTo>
                  <a:lnTo>
                    <a:pt x="0" y="1643254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4366882"/>
              <a:ext cx="6358030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MÉTRICAS POR VARIABLE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7292116"/>
              <a:ext cx="6358030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GRÁFICAS DEL ERROR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374267" y="2470252"/>
            <a:ext cx="16690842" cy="4589982"/>
          </a:xfrm>
          <a:custGeom>
            <a:avLst/>
            <a:gdLst/>
            <a:ahLst/>
            <a:cxnLst/>
            <a:rect l="l" t="t" r="r" b="b"/>
            <a:pathLst>
              <a:path w="16690842" h="4589982">
                <a:moveTo>
                  <a:pt x="0" y="0"/>
                </a:moveTo>
                <a:lnTo>
                  <a:pt x="16690842" y="0"/>
                </a:lnTo>
                <a:lnTo>
                  <a:pt x="16690842" y="4589981"/>
                </a:lnTo>
                <a:lnTo>
                  <a:pt x="0" y="45899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269162" y="2196717"/>
            <a:ext cx="29419211" cy="8090283"/>
          </a:xfrm>
          <a:custGeom>
            <a:avLst/>
            <a:gdLst/>
            <a:ahLst/>
            <a:cxnLst/>
            <a:rect l="l" t="t" r="r" b="b"/>
            <a:pathLst>
              <a:path w="29419211" h="8090283">
                <a:moveTo>
                  <a:pt x="0" y="0"/>
                </a:moveTo>
                <a:lnTo>
                  <a:pt x="29419211" y="0"/>
                </a:lnTo>
                <a:lnTo>
                  <a:pt x="29419211" y="8090283"/>
                </a:lnTo>
                <a:lnTo>
                  <a:pt x="0" y="80902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-7947795" y="2196717"/>
            <a:ext cx="29419211" cy="8090283"/>
          </a:xfrm>
          <a:custGeom>
            <a:avLst/>
            <a:gdLst/>
            <a:ahLst/>
            <a:cxnLst/>
            <a:rect l="l" t="t" r="r" b="b"/>
            <a:pathLst>
              <a:path w="29419211" h="8090283">
                <a:moveTo>
                  <a:pt x="0" y="0"/>
                </a:moveTo>
                <a:lnTo>
                  <a:pt x="29419211" y="0"/>
                </a:lnTo>
                <a:lnTo>
                  <a:pt x="29419211" y="8090283"/>
                </a:lnTo>
                <a:lnTo>
                  <a:pt x="0" y="80902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-15438093" y="2196717"/>
            <a:ext cx="29419211" cy="8090283"/>
          </a:xfrm>
          <a:custGeom>
            <a:avLst/>
            <a:gdLst/>
            <a:ahLst/>
            <a:cxnLst/>
            <a:rect l="l" t="t" r="r" b="b"/>
            <a:pathLst>
              <a:path w="29419211" h="8090283">
                <a:moveTo>
                  <a:pt x="0" y="0"/>
                </a:moveTo>
                <a:lnTo>
                  <a:pt x="29419211" y="0"/>
                </a:lnTo>
                <a:lnTo>
                  <a:pt x="29419211" y="8090283"/>
                </a:lnTo>
                <a:lnTo>
                  <a:pt x="0" y="80902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-15707994" y="2196717"/>
            <a:ext cx="29689112" cy="8090283"/>
          </a:xfrm>
          <a:custGeom>
            <a:avLst/>
            <a:gdLst/>
            <a:ahLst/>
            <a:cxnLst/>
            <a:rect l="l" t="t" r="r" b="b"/>
            <a:pathLst>
              <a:path w="29689112" h="8090283">
                <a:moveTo>
                  <a:pt x="0" y="0"/>
                </a:moveTo>
                <a:lnTo>
                  <a:pt x="29689112" y="0"/>
                </a:lnTo>
                <a:lnTo>
                  <a:pt x="29689112" y="8090283"/>
                </a:lnTo>
                <a:lnTo>
                  <a:pt x="0" y="80902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688108" y="2144881"/>
            <a:ext cx="4911784" cy="7689681"/>
          </a:xfrm>
          <a:custGeom>
            <a:avLst/>
            <a:gdLst/>
            <a:ahLst/>
            <a:cxnLst/>
            <a:rect l="l" t="t" r="r" b="b"/>
            <a:pathLst>
              <a:path w="4911784" h="7689681">
                <a:moveTo>
                  <a:pt x="0" y="0"/>
                </a:moveTo>
                <a:lnTo>
                  <a:pt x="4911784" y="0"/>
                </a:lnTo>
                <a:lnTo>
                  <a:pt x="4911784" y="7689681"/>
                </a:lnTo>
                <a:lnTo>
                  <a:pt x="0" y="76896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5789" y="2254820"/>
            <a:ext cx="15136423" cy="23696943"/>
          </a:xfrm>
          <a:custGeom>
            <a:avLst/>
            <a:gdLst/>
            <a:ahLst/>
            <a:cxnLst/>
            <a:rect l="l" t="t" r="r" b="b"/>
            <a:pathLst>
              <a:path w="15136423" h="23696943">
                <a:moveTo>
                  <a:pt x="0" y="0"/>
                </a:moveTo>
                <a:lnTo>
                  <a:pt x="15136422" y="0"/>
                </a:lnTo>
                <a:lnTo>
                  <a:pt x="15136422" y="23696943"/>
                </a:lnTo>
                <a:lnTo>
                  <a:pt x="0" y="236969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5789" y="-4449062"/>
            <a:ext cx="15136423" cy="23696943"/>
          </a:xfrm>
          <a:custGeom>
            <a:avLst/>
            <a:gdLst/>
            <a:ahLst/>
            <a:cxnLst/>
            <a:rect l="l" t="t" r="r" b="b"/>
            <a:pathLst>
              <a:path w="15136423" h="23696943">
                <a:moveTo>
                  <a:pt x="0" y="0"/>
                </a:moveTo>
                <a:lnTo>
                  <a:pt x="15136422" y="0"/>
                </a:lnTo>
                <a:lnTo>
                  <a:pt x="15136422" y="23696943"/>
                </a:lnTo>
                <a:lnTo>
                  <a:pt x="0" y="236969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5789" y="-13409943"/>
            <a:ext cx="15136423" cy="23696943"/>
          </a:xfrm>
          <a:custGeom>
            <a:avLst/>
            <a:gdLst/>
            <a:ahLst/>
            <a:cxnLst/>
            <a:rect l="l" t="t" r="r" b="b"/>
            <a:pathLst>
              <a:path w="15136423" h="23696943">
                <a:moveTo>
                  <a:pt x="0" y="0"/>
                </a:moveTo>
                <a:lnTo>
                  <a:pt x="15136422" y="0"/>
                </a:lnTo>
                <a:lnTo>
                  <a:pt x="15136422" y="23696943"/>
                </a:lnTo>
                <a:lnTo>
                  <a:pt x="0" y="236969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700296" y="2183043"/>
            <a:ext cx="4887408" cy="7651520"/>
          </a:xfrm>
          <a:custGeom>
            <a:avLst/>
            <a:gdLst/>
            <a:ahLst/>
            <a:cxnLst/>
            <a:rect l="l" t="t" r="r" b="b"/>
            <a:pathLst>
              <a:path w="4887408" h="7651520">
                <a:moveTo>
                  <a:pt x="0" y="0"/>
                </a:moveTo>
                <a:lnTo>
                  <a:pt x="4887408" y="0"/>
                </a:lnTo>
                <a:lnTo>
                  <a:pt x="4887408" y="7651519"/>
                </a:lnTo>
                <a:lnTo>
                  <a:pt x="0" y="76515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45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5789" y="2414677"/>
            <a:ext cx="15136423" cy="23696943"/>
          </a:xfrm>
          <a:custGeom>
            <a:avLst/>
            <a:gdLst/>
            <a:ahLst/>
            <a:cxnLst/>
            <a:rect l="l" t="t" r="r" b="b"/>
            <a:pathLst>
              <a:path w="15136423" h="23696943">
                <a:moveTo>
                  <a:pt x="0" y="0"/>
                </a:moveTo>
                <a:lnTo>
                  <a:pt x="15136422" y="0"/>
                </a:lnTo>
                <a:lnTo>
                  <a:pt x="15136422" y="23696943"/>
                </a:lnTo>
                <a:lnTo>
                  <a:pt x="0" y="236969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5789" y="-4297408"/>
            <a:ext cx="15136423" cy="23696943"/>
          </a:xfrm>
          <a:custGeom>
            <a:avLst/>
            <a:gdLst/>
            <a:ahLst/>
            <a:cxnLst/>
            <a:rect l="l" t="t" r="r" b="b"/>
            <a:pathLst>
              <a:path w="15136423" h="23696943">
                <a:moveTo>
                  <a:pt x="0" y="0"/>
                </a:moveTo>
                <a:lnTo>
                  <a:pt x="15136422" y="0"/>
                </a:lnTo>
                <a:lnTo>
                  <a:pt x="15136422" y="23696943"/>
                </a:lnTo>
                <a:lnTo>
                  <a:pt x="0" y="236969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5789" y="-13409943"/>
            <a:ext cx="15136423" cy="23696943"/>
          </a:xfrm>
          <a:custGeom>
            <a:avLst/>
            <a:gdLst/>
            <a:ahLst/>
            <a:cxnLst/>
            <a:rect l="l" t="t" r="r" b="b"/>
            <a:pathLst>
              <a:path w="15136423" h="23696943">
                <a:moveTo>
                  <a:pt x="0" y="0"/>
                </a:moveTo>
                <a:lnTo>
                  <a:pt x="15136422" y="0"/>
                </a:lnTo>
                <a:lnTo>
                  <a:pt x="15136422" y="23696943"/>
                </a:lnTo>
                <a:lnTo>
                  <a:pt x="0" y="236969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700296" y="2183043"/>
            <a:ext cx="4887408" cy="7651520"/>
          </a:xfrm>
          <a:custGeom>
            <a:avLst/>
            <a:gdLst/>
            <a:ahLst/>
            <a:cxnLst/>
            <a:rect l="l" t="t" r="r" b="b"/>
            <a:pathLst>
              <a:path w="4887408" h="7651520">
                <a:moveTo>
                  <a:pt x="0" y="0"/>
                </a:moveTo>
                <a:lnTo>
                  <a:pt x="4887408" y="0"/>
                </a:lnTo>
                <a:lnTo>
                  <a:pt x="4887408" y="7651519"/>
                </a:lnTo>
                <a:lnTo>
                  <a:pt x="0" y="76515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2249647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-4389481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INICIALES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-13420289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300947" y="2187413"/>
            <a:ext cx="16690842" cy="5320206"/>
          </a:xfrm>
          <a:custGeom>
            <a:avLst/>
            <a:gdLst/>
            <a:ahLst/>
            <a:cxnLst/>
            <a:rect l="l" t="t" r="r" b="b"/>
            <a:pathLst>
              <a:path w="16690842" h="5320206">
                <a:moveTo>
                  <a:pt x="0" y="0"/>
                </a:moveTo>
                <a:lnTo>
                  <a:pt x="16690842" y="0"/>
                </a:lnTo>
                <a:lnTo>
                  <a:pt x="16690842" y="5320206"/>
                </a:lnTo>
                <a:lnTo>
                  <a:pt x="0" y="53202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47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181732" y="2196717"/>
            <a:ext cx="25381280" cy="8090283"/>
          </a:xfrm>
          <a:custGeom>
            <a:avLst/>
            <a:gdLst/>
            <a:ahLst/>
            <a:cxnLst/>
            <a:rect l="l" t="t" r="r" b="b"/>
            <a:pathLst>
              <a:path w="25381280" h="8090283">
                <a:moveTo>
                  <a:pt x="0" y="0"/>
                </a:moveTo>
                <a:lnTo>
                  <a:pt x="25381280" y="0"/>
                </a:lnTo>
                <a:lnTo>
                  <a:pt x="25381280" y="8090283"/>
                </a:lnTo>
                <a:lnTo>
                  <a:pt x="0" y="80902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-5724906" y="2196717"/>
            <a:ext cx="25381280" cy="8090283"/>
          </a:xfrm>
          <a:custGeom>
            <a:avLst/>
            <a:gdLst/>
            <a:ahLst/>
            <a:cxnLst/>
            <a:rect l="l" t="t" r="r" b="b"/>
            <a:pathLst>
              <a:path w="25381280" h="8090283">
                <a:moveTo>
                  <a:pt x="0" y="0"/>
                </a:moveTo>
                <a:lnTo>
                  <a:pt x="25381280" y="0"/>
                </a:lnTo>
                <a:lnTo>
                  <a:pt x="25381280" y="8090283"/>
                </a:lnTo>
                <a:lnTo>
                  <a:pt x="0" y="80902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-11512864" y="2196717"/>
            <a:ext cx="25381280" cy="8090283"/>
          </a:xfrm>
          <a:custGeom>
            <a:avLst/>
            <a:gdLst/>
            <a:ahLst/>
            <a:cxnLst/>
            <a:rect l="l" t="t" r="r" b="b"/>
            <a:pathLst>
              <a:path w="25381280" h="8090283">
                <a:moveTo>
                  <a:pt x="0" y="0"/>
                </a:moveTo>
                <a:lnTo>
                  <a:pt x="25381280" y="0"/>
                </a:lnTo>
                <a:lnTo>
                  <a:pt x="25381280" y="8090283"/>
                </a:lnTo>
                <a:lnTo>
                  <a:pt x="0" y="80902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-8570194" y="2196717"/>
            <a:ext cx="22551312" cy="8090283"/>
          </a:xfrm>
          <a:custGeom>
            <a:avLst/>
            <a:gdLst/>
            <a:ahLst/>
            <a:cxnLst/>
            <a:rect l="l" t="t" r="r" b="b"/>
            <a:pathLst>
              <a:path w="22551312" h="8090283">
                <a:moveTo>
                  <a:pt x="0" y="0"/>
                </a:moveTo>
                <a:lnTo>
                  <a:pt x="22551312" y="0"/>
                </a:lnTo>
                <a:lnTo>
                  <a:pt x="22551312" y="8090283"/>
                </a:lnTo>
                <a:lnTo>
                  <a:pt x="0" y="80902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700296" y="2183043"/>
            <a:ext cx="4887408" cy="7651520"/>
          </a:xfrm>
          <a:custGeom>
            <a:avLst/>
            <a:gdLst/>
            <a:ahLst/>
            <a:cxnLst/>
            <a:rect l="l" t="t" r="r" b="b"/>
            <a:pathLst>
              <a:path w="4887408" h="7651520">
                <a:moveTo>
                  <a:pt x="0" y="0"/>
                </a:moveTo>
                <a:lnTo>
                  <a:pt x="4887408" y="0"/>
                </a:lnTo>
                <a:lnTo>
                  <a:pt x="4887408" y="7651519"/>
                </a:lnTo>
                <a:lnTo>
                  <a:pt x="0" y="76515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48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2249647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-4316523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8"/>
                </a:lnTo>
                <a:lnTo>
                  <a:pt x="0" y="23707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5" name="Freeform 15"/>
          <p:cNvSpPr/>
          <p:nvPr/>
        </p:nvSpPr>
        <p:spPr>
          <a:xfrm>
            <a:off x="1572485" y="-13420289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6" name="TextBox 16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700296" y="2183043"/>
            <a:ext cx="4887408" cy="7651520"/>
          </a:xfrm>
          <a:custGeom>
            <a:avLst/>
            <a:gdLst/>
            <a:ahLst/>
            <a:cxnLst/>
            <a:rect l="l" t="t" r="r" b="b"/>
            <a:pathLst>
              <a:path w="4887408" h="7651520">
                <a:moveTo>
                  <a:pt x="0" y="0"/>
                </a:moveTo>
                <a:lnTo>
                  <a:pt x="4887408" y="0"/>
                </a:lnTo>
                <a:lnTo>
                  <a:pt x="4887408" y="7651519"/>
                </a:lnTo>
                <a:lnTo>
                  <a:pt x="0" y="76515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49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2454175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-4306548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8"/>
                </a:lnTo>
                <a:lnTo>
                  <a:pt x="0" y="23707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49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-13420289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6700296" y="2183043"/>
            <a:ext cx="4887408" cy="7651520"/>
          </a:xfrm>
          <a:custGeom>
            <a:avLst/>
            <a:gdLst/>
            <a:ahLst/>
            <a:cxnLst/>
            <a:rect l="l" t="t" r="r" b="b"/>
            <a:pathLst>
              <a:path w="4887408" h="7651520">
                <a:moveTo>
                  <a:pt x="0" y="0"/>
                </a:moveTo>
                <a:lnTo>
                  <a:pt x="4887408" y="0"/>
                </a:lnTo>
                <a:lnTo>
                  <a:pt x="4887408" y="7651519"/>
                </a:lnTo>
                <a:lnTo>
                  <a:pt x="0" y="76515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  <p:sp>
        <p:nvSpPr>
          <p:cNvPr id="15" name="TextBox 15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50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50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2444228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50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-4344094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50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AVANZADOS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72485" y="-13420289"/>
            <a:ext cx="15143031" cy="23707289"/>
          </a:xfrm>
          <a:custGeom>
            <a:avLst/>
            <a:gdLst/>
            <a:ahLst/>
            <a:cxnLst/>
            <a:rect l="l" t="t" r="r" b="b"/>
            <a:pathLst>
              <a:path w="15143031" h="23707289">
                <a:moveTo>
                  <a:pt x="0" y="0"/>
                </a:moveTo>
                <a:lnTo>
                  <a:pt x="15143030" y="0"/>
                </a:lnTo>
                <a:lnTo>
                  <a:pt x="15143030" y="23707289"/>
                </a:lnTo>
                <a:lnTo>
                  <a:pt x="0" y="237072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  <p:transition spd="med">
    <p:fade/>
  </p:transition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51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FINALES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030047" y="2061334"/>
            <a:ext cx="6227907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MEJORES MODELOS: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662682" y="3293234"/>
            <a:ext cx="7065221" cy="5507732"/>
            <a:chOff x="0" y="0"/>
            <a:chExt cx="9420294" cy="7343643"/>
          </a:xfrm>
        </p:grpSpPr>
        <p:sp>
          <p:nvSpPr>
            <p:cNvPr id="18" name="TextBox 18"/>
            <p:cNvSpPr txBox="1"/>
            <p:nvPr/>
          </p:nvSpPr>
          <p:spPr>
            <a:xfrm>
              <a:off x="0" y="-114300"/>
              <a:ext cx="9420294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VARIABLES DE ESTADO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3221400" y="4366148"/>
              <a:ext cx="2977495" cy="2977495"/>
            </a:xfrm>
            <a:custGeom>
              <a:avLst/>
              <a:gdLst/>
              <a:ahLst/>
              <a:cxnLst/>
              <a:rect l="l" t="t" r="r" b="b"/>
              <a:pathLst>
                <a:path w="2977495" h="2977495">
                  <a:moveTo>
                    <a:pt x="0" y="0"/>
                  </a:moveTo>
                  <a:lnTo>
                    <a:pt x="2977495" y="0"/>
                  </a:lnTo>
                  <a:lnTo>
                    <a:pt x="2977495" y="2977495"/>
                  </a:lnTo>
                  <a:lnTo>
                    <a:pt x="0" y="2977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74647" y="1642533"/>
              <a:ext cx="4671000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RED NEURONAL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582707" y="3293234"/>
            <a:ext cx="7065221" cy="5560152"/>
            <a:chOff x="0" y="0"/>
            <a:chExt cx="9420294" cy="7413536"/>
          </a:xfrm>
        </p:grpSpPr>
        <p:sp>
          <p:nvSpPr>
            <p:cNvPr id="22" name="TextBox 22"/>
            <p:cNvSpPr txBox="1"/>
            <p:nvPr/>
          </p:nvSpPr>
          <p:spPr>
            <a:xfrm>
              <a:off x="0" y="-114300"/>
              <a:ext cx="9420294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VARIABLE DE CONTROL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53307" y="1642533"/>
              <a:ext cx="5744392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ESR_RANDOMFOREST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2999418" y="4161367"/>
              <a:ext cx="3252169" cy="3252169"/>
            </a:xfrm>
            <a:custGeom>
              <a:avLst/>
              <a:gdLst/>
              <a:ahLst/>
              <a:cxnLst/>
              <a:rect l="l" t="t" r="r" b="b"/>
              <a:pathLst>
                <a:path w="3252169" h="3252169">
                  <a:moveTo>
                    <a:pt x="0" y="0"/>
                  </a:moveTo>
                  <a:lnTo>
                    <a:pt x="3252170" y="0"/>
                  </a:lnTo>
                  <a:lnTo>
                    <a:pt x="3252170" y="3252169"/>
                  </a:lnTo>
                  <a:lnTo>
                    <a:pt x="0" y="3252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5930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52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RESULTADOS FINALES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030047" y="2061334"/>
            <a:ext cx="6227907" cy="946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MEJOR MODELO: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31276" y="3638447"/>
            <a:ext cx="5663945" cy="3010106"/>
            <a:chOff x="0" y="0"/>
            <a:chExt cx="7551927" cy="4013475"/>
          </a:xfrm>
        </p:grpSpPr>
        <p:sp>
          <p:nvSpPr>
            <p:cNvPr id="18" name="Freeform 18"/>
            <p:cNvSpPr/>
            <p:nvPr/>
          </p:nvSpPr>
          <p:spPr>
            <a:xfrm>
              <a:off x="2454470" y="1370490"/>
              <a:ext cx="2642986" cy="2642986"/>
            </a:xfrm>
            <a:custGeom>
              <a:avLst/>
              <a:gdLst/>
              <a:ahLst/>
              <a:cxnLst/>
              <a:rect l="l" t="t" r="r" b="b"/>
              <a:pathLst>
                <a:path w="2642986" h="2642986">
                  <a:moveTo>
                    <a:pt x="0" y="0"/>
                  </a:moveTo>
                  <a:lnTo>
                    <a:pt x="2642986" y="0"/>
                  </a:lnTo>
                  <a:lnTo>
                    <a:pt x="2642986" y="2642985"/>
                  </a:lnTo>
                  <a:lnTo>
                    <a:pt x="0" y="26429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14300"/>
              <a:ext cx="7551927" cy="12234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ESR_BEST_MODEL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2204833" y="7572375"/>
            <a:ext cx="5663945" cy="191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DESVIACIÓN DEL 3% EN PÉRDIDAS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36023" y="7572375"/>
            <a:ext cx="5980094" cy="191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DESVIACIÓN DEL 0,1% EN TENSIONES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248789" y="3845304"/>
            <a:ext cx="7325282" cy="288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>
                <a:solidFill>
                  <a:srgbClr val="4D6BA7"/>
                </a:solidFill>
                <a:latin typeface="Bantayog"/>
                <a:ea typeface="Bantayog"/>
                <a:cs typeface="Bantayog"/>
                <a:sym typeface="Bantayog"/>
              </a:rPr>
              <a:t>DESVIACIÓN ABSOLUTA MEDIA DEL 0,0067 P.U. EN POTENCIA REACTIVA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5790814" y="5251830"/>
            <a:ext cx="4457975" cy="2434845"/>
            <a:chOff x="0" y="0"/>
            <a:chExt cx="5943967" cy="3246461"/>
          </a:xfrm>
        </p:grpSpPr>
        <p:sp>
          <p:nvSpPr>
            <p:cNvPr id="24" name="Freeform 24"/>
            <p:cNvSpPr/>
            <p:nvPr/>
          </p:nvSpPr>
          <p:spPr>
            <a:xfrm>
              <a:off x="939209" y="127000"/>
              <a:ext cx="5004758" cy="0"/>
            </a:xfrm>
            <a:custGeom>
              <a:avLst/>
              <a:gdLst/>
              <a:ahLst/>
              <a:cxnLst/>
              <a:rect l="l" t="t" r="r" b="b"/>
              <a:pathLst>
                <a:path w="5004758">
                  <a:moveTo>
                    <a:pt x="0" y="0"/>
                  </a:moveTo>
                  <a:lnTo>
                    <a:pt x="5004758" y="0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127000"/>
              <a:ext cx="4240543" cy="3119461"/>
            </a:xfrm>
            <a:custGeom>
              <a:avLst/>
              <a:gdLst/>
              <a:ahLst/>
              <a:cxnLst/>
              <a:rect l="l" t="t" r="r" b="b"/>
              <a:pathLst>
                <a:path w="4240543" h="3119461">
                  <a:moveTo>
                    <a:pt x="0" y="0"/>
                  </a:moveTo>
                  <a:lnTo>
                    <a:pt x="2588952" y="0"/>
                  </a:lnTo>
                  <a:cubicBezTo>
                    <a:pt x="2669790" y="0"/>
                    <a:pt x="2747317" y="32113"/>
                    <a:pt x="2804478" y="89274"/>
                  </a:cubicBezTo>
                  <a:cubicBezTo>
                    <a:pt x="2861639" y="146435"/>
                    <a:pt x="2893752" y="223962"/>
                    <a:pt x="2893752" y="304800"/>
                  </a:cubicBezTo>
                  <a:lnTo>
                    <a:pt x="2893752" y="1092186"/>
                  </a:lnTo>
                  <a:cubicBezTo>
                    <a:pt x="2893752" y="1173024"/>
                    <a:pt x="2925865" y="1250551"/>
                    <a:pt x="2983026" y="1307712"/>
                  </a:cubicBezTo>
                  <a:cubicBezTo>
                    <a:pt x="3040187" y="1364873"/>
                    <a:pt x="3117714" y="1396986"/>
                    <a:pt x="3198552" y="1396986"/>
                  </a:cubicBezTo>
                  <a:lnTo>
                    <a:pt x="3935743" y="1396986"/>
                  </a:lnTo>
                  <a:cubicBezTo>
                    <a:pt x="4016581" y="1396986"/>
                    <a:pt x="4094108" y="1429099"/>
                    <a:pt x="4151269" y="1486260"/>
                  </a:cubicBezTo>
                  <a:cubicBezTo>
                    <a:pt x="4208430" y="1543421"/>
                    <a:pt x="4240543" y="1620948"/>
                    <a:pt x="4240543" y="1701786"/>
                  </a:cubicBezTo>
                  <a:lnTo>
                    <a:pt x="4240543" y="3119461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127000"/>
              <a:ext cx="1098353" cy="3119461"/>
            </a:xfrm>
            <a:custGeom>
              <a:avLst/>
              <a:gdLst/>
              <a:ahLst/>
              <a:cxnLst/>
              <a:rect l="l" t="t" r="r" b="b"/>
              <a:pathLst>
                <a:path w="1098353" h="3119461">
                  <a:moveTo>
                    <a:pt x="0" y="0"/>
                  </a:moveTo>
                  <a:lnTo>
                    <a:pt x="793553" y="0"/>
                  </a:lnTo>
                  <a:cubicBezTo>
                    <a:pt x="961889" y="0"/>
                    <a:pt x="1098353" y="136464"/>
                    <a:pt x="1098353" y="304800"/>
                  </a:cubicBezTo>
                  <a:lnTo>
                    <a:pt x="1098353" y="3119461"/>
                  </a:lnTo>
                </a:path>
              </a:pathLst>
            </a:custGeom>
            <a:ln w="254000" cap="flat">
              <a:solidFill>
                <a:srgbClr val="4D6BA7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ES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570167">
            <a:off x="-1135601" y="-3063714"/>
            <a:ext cx="5983240" cy="3369636"/>
            <a:chOff x="0" y="0"/>
            <a:chExt cx="744168" cy="419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4168" cy="419100"/>
            </a:xfrm>
            <a:custGeom>
              <a:avLst/>
              <a:gdLst/>
              <a:ahLst/>
              <a:cxnLst/>
              <a:rect l="l" t="t" r="r" b="b"/>
              <a:pathLst>
                <a:path w="744168" h="419100">
                  <a:moveTo>
                    <a:pt x="50544" y="0"/>
                  </a:moveTo>
                  <a:lnTo>
                    <a:pt x="693624" y="0"/>
                  </a:lnTo>
                  <a:cubicBezTo>
                    <a:pt x="721539" y="0"/>
                    <a:pt x="744168" y="22629"/>
                    <a:pt x="744168" y="50544"/>
                  </a:cubicBezTo>
                  <a:lnTo>
                    <a:pt x="744168" y="368556"/>
                  </a:lnTo>
                  <a:cubicBezTo>
                    <a:pt x="744168" y="381961"/>
                    <a:pt x="738843" y="394817"/>
                    <a:pt x="729364" y="404296"/>
                  </a:cubicBezTo>
                  <a:cubicBezTo>
                    <a:pt x="719885" y="413775"/>
                    <a:pt x="707029" y="419100"/>
                    <a:pt x="693624" y="419100"/>
                  </a:cubicBezTo>
                  <a:lnTo>
                    <a:pt x="50544" y="419100"/>
                  </a:lnTo>
                  <a:cubicBezTo>
                    <a:pt x="37139" y="419100"/>
                    <a:pt x="24283" y="413775"/>
                    <a:pt x="14804" y="404296"/>
                  </a:cubicBezTo>
                  <a:cubicBezTo>
                    <a:pt x="5325" y="394817"/>
                    <a:pt x="0" y="381961"/>
                    <a:pt x="0" y="368556"/>
                  </a:cubicBezTo>
                  <a:lnTo>
                    <a:pt x="0" y="50544"/>
                  </a:lnTo>
                  <a:cubicBezTo>
                    <a:pt x="0" y="37139"/>
                    <a:pt x="5325" y="24283"/>
                    <a:pt x="14804" y="14804"/>
                  </a:cubicBezTo>
                  <a:cubicBezTo>
                    <a:pt x="24283" y="5325"/>
                    <a:pt x="37139" y="0"/>
                    <a:pt x="50544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44168" cy="457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570167">
            <a:off x="-4609279" y="8628547"/>
            <a:ext cx="6252050" cy="3864704"/>
            <a:chOff x="0" y="0"/>
            <a:chExt cx="744168" cy="46000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4168" cy="460007"/>
            </a:xfrm>
            <a:custGeom>
              <a:avLst/>
              <a:gdLst/>
              <a:ahLst/>
              <a:cxnLst/>
              <a:rect l="l" t="t" r="r" b="b"/>
              <a:pathLst>
                <a:path w="744168" h="460007">
                  <a:moveTo>
                    <a:pt x="48371" y="0"/>
                  </a:moveTo>
                  <a:lnTo>
                    <a:pt x="695797" y="0"/>
                  </a:lnTo>
                  <a:cubicBezTo>
                    <a:pt x="722512" y="0"/>
                    <a:pt x="744168" y="21656"/>
                    <a:pt x="744168" y="48371"/>
                  </a:cubicBezTo>
                  <a:lnTo>
                    <a:pt x="744168" y="411636"/>
                  </a:lnTo>
                  <a:cubicBezTo>
                    <a:pt x="744168" y="424465"/>
                    <a:pt x="739072" y="436768"/>
                    <a:pt x="730000" y="445840"/>
                  </a:cubicBezTo>
                  <a:cubicBezTo>
                    <a:pt x="720929" y="454911"/>
                    <a:pt x="708626" y="460007"/>
                    <a:pt x="695797" y="460007"/>
                  </a:cubicBezTo>
                  <a:lnTo>
                    <a:pt x="48371" y="460007"/>
                  </a:lnTo>
                  <a:cubicBezTo>
                    <a:pt x="35542" y="460007"/>
                    <a:pt x="23239" y="454911"/>
                    <a:pt x="14168" y="445840"/>
                  </a:cubicBezTo>
                  <a:cubicBezTo>
                    <a:pt x="5096" y="436768"/>
                    <a:pt x="0" y="424465"/>
                    <a:pt x="0" y="411636"/>
                  </a:cubicBezTo>
                  <a:lnTo>
                    <a:pt x="0" y="48371"/>
                  </a:lnTo>
                  <a:cubicBezTo>
                    <a:pt x="0" y="35542"/>
                    <a:pt x="5096" y="23239"/>
                    <a:pt x="14168" y="14168"/>
                  </a:cubicBezTo>
                  <a:cubicBezTo>
                    <a:pt x="23239" y="5096"/>
                    <a:pt x="35542" y="0"/>
                    <a:pt x="4837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44168" cy="4981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2570167">
            <a:off x="16189262" y="-3106762"/>
            <a:ext cx="9679118" cy="4948927"/>
            <a:chOff x="0" y="0"/>
            <a:chExt cx="836041" cy="4274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36041" cy="427467"/>
            </a:xfrm>
            <a:custGeom>
              <a:avLst/>
              <a:gdLst/>
              <a:ahLst/>
              <a:cxnLst/>
              <a:rect l="l" t="t" r="r" b="b"/>
              <a:pathLst>
                <a:path w="836041" h="427467">
                  <a:moveTo>
                    <a:pt x="31244" y="0"/>
                  </a:moveTo>
                  <a:lnTo>
                    <a:pt x="804796" y="0"/>
                  </a:lnTo>
                  <a:cubicBezTo>
                    <a:pt x="813083" y="0"/>
                    <a:pt x="821030" y="3292"/>
                    <a:pt x="826889" y="9151"/>
                  </a:cubicBezTo>
                  <a:cubicBezTo>
                    <a:pt x="832749" y="15011"/>
                    <a:pt x="836041" y="22958"/>
                    <a:pt x="836041" y="31244"/>
                  </a:cubicBezTo>
                  <a:lnTo>
                    <a:pt x="836041" y="396223"/>
                  </a:lnTo>
                  <a:cubicBezTo>
                    <a:pt x="836041" y="404509"/>
                    <a:pt x="832749" y="412456"/>
                    <a:pt x="826889" y="418316"/>
                  </a:cubicBezTo>
                  <a:cubicBezTo>
                    <a:pt x="821030" y="424175"/>
                    <a:pt x="813083" y="427467"/>
                    <a:pt x="804796" y="427467"/>
                  </a:cubicBezTo>
                  <a:lnTo>
                    <a:pt x="31244" y="427467"/>
                  </a:lnTo>
                  <a:cubicBezTo>
                    <a:pt x="22958" y="427467"/>
                    <a:pt x="15011" y="424175"/>
                    <a:pt x="9151" y="418316"/>
                  </a:cubicBezTo>
                  <a:cubicBezTo>
                    <a:pt x="3292" y="412456"/>
                    <a:pt x="0" y="404509"/>
                    <a:pt x="0" y="396223"/>
                  </a:cubicBezTo>
                  <a:lnTo>
                    <a:pt x="0" y="31244"/>
                  </a:lnTo>
                  <a:cubicBezTo>
                    <a:pt x="0" y="22958"/>
                    <a:pt x="3292" y="15011"/>
                    <a:pt x="9151" y="9151"/>
                  </a:cubicBezTo>
                  <a:cubicBezTo>
                    <a:pt x="15011" y="3292"/>
                    <a:pt x="22958" y="0"/>
                    <a:pt x="31244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36041" cy="46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2570167">
            <a:off x="12379941" y="9017924"/>
            <a:ext cx="7467555" cy="4043454"/>
            <a:chOff x="0" y="0"/>
            <a:chExt cx="928780" cy="50290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28780" cy="502906"/>
            </a:xfrm>
            <a:custGeom>
              <a:avLst/>
              <a:gdLst/>
              <a:ahLst/>
              <a:cxnLst/>
              <a:rect l="l" t="t" r="r" b="b"/>
              <a:pathLst>
                <a:path w="928780" h="502906">
                  <a:moveTo>
                    <a:pt x="40498" y="0"/>
                  </a:moveTo>
                  <a:lnTo>
                    <a:pt x="888283" y="0"/>
                  </a:lnTo>
                  <a:cubicBezTo>
                    <a:pt x="910649" y="0"/>
                    <a:pt x="928780" y="18131"/>
                    <a:pt x="928780" y="40498"/>
                  </a:cubicBezTo>
                  <a:lnTo>
                    <a:pt x="928780" y="462409"/>
                  </a:lnTo>
                  <a:cubicBezTo>
                    <a:pt x="928780" y="484775"/>
                    <a:pt x="910649" y="502906"/>
                    <a:pt x="888283" y="502906"/>
                  </a:cubicBezTo>
                  <a:lnTo>
                    <a:pt x="40498" y="502906"/>
                  </a:lnTo>
                  <a:cubicBezTo>
                    <a:pt x="18131" y="502906"/>
                    <a:pt x="0" y="484775"/>
                    <a:pt x="0" y="462409"/>
                  </a:cubicBezTo>
                  <a:lnTo>
                    <a:pt x="0" y="40498"/>
                  </a:lnTo>
                  <a:cubicBezTo>
                    <a:pt x="0" y="18131"/>
                    <a:pt x="18131" y="0"/>
                    <a:pt x="40498" y="0"/>
                  </a:cubicBezTo>
                  <a:close/>
                </a:path>
              </a:pathLst>
            </a:custGeom>
            <a:solidFill>
              <a:srgbClr val="4D6BA7"/>
            </a:solidFill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28780" cy="5410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470647" y="494348"/>
            <a:ext cx="13346707" cy="154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9000">
                <a:solidFill>
                  <a:srgbClr val="203660"/>
                </a:solidFill>
                <a:latin typeface="Bantayog"/>
                <a:ea typeface="Bantayog"/>
                <a:cs typeface="Bantayog"/>
                <a:sym typeface="Bantayog"/>
              </a:rPr>
              <a:t>CONCLUSIONES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240250" y="9258300"/>
            <a:ext cx="10287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5999">
                <a:solidFill>
                  <a:srgbClr val="FFFFFF"/>
                </a:solidFill>
                <a:latin typeface="Bantayog"/>
                <a:ea typeface="Bantayog"/>
                <a:cs typeface="Bantayog"/>
                <a:sym typeface="Bantayog"/>
              </a:rPr>
              <a:t>53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2808002" y="3023951"/>
            <a:ext cx="12671996" cy="5711825"/>
            <a:chOff x="0" y="0"/>
            <a:chExt cx="16895994" cy="7615767"/>
          </a:xfrm>
        </p:grpSpPr>
        <p:sp>
          <p:nvSpPr>
            <p:cNvPr id="17" name="TextBox 17"/>
            <p:cNvSpPr txBox="1"/>
            <p:nvPr/>
          </p:nvSpPr>
          <p:spPr>
            <a:xfrm>
              <a:off x="4537242" y="-114300"/>
              <a:ext cx="7821511" cy="2518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VIABILIDAD DE LA IA EN SMART GRIDS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74483" y="3801533"/>
              <a:ext cx="7821511" cy="381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RUPTURA DEL ENFOQUE MONOLÍTICO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801533"/>
              <a:ext cx="7821511" cy="381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99"/>
                </a:lnSpc>
                <a:spcBef>
                  <a:spcPct val="0"/>
                </a:spcBef>
              </a:pPr>
              <a:r>
                <a:rPr lang="en-US" sz="5499">
                  <a:solidFill>
                    <a:srgbClr val="4D6BA7"/>
                  </a:solidFill>
                  <a:latin typeface="Bantayog"/>
                  <a:ea typeface="Bantayog"/>
                  <a:cs typeface="Bantayog"/>
                  <a:sym typeface="Bantayog"/>
                </a:rPr>
                <a:t>ÉXITO DE LA ARQUITECTURA HÍBRIDA (ESR)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1064</Words>
  <Application>Microsoft Office PowerPoint</Application>
  <PresentationFormat>Personalizado</PresentationFormat>
  <Paragraphs>485</Paragraphs>
  <Slides>88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88</vt:i4>
      </vt:variant>
    </vt:vector>
  </HeadingPairs>
  <TitlesOfParts>
    <vt:vector size="92" baseType="lpstr">
      <vt:lpstr>Calibri</vt:lpstr>
      <vt:lpstr>Bantayog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Grids: Control de Redes Eléctricas con IA</dc:title>
  <cp:lastModifiedBy>DANIEL LÓPEZ RAMOS</cp:lastModifiedBy>
  <cp:revision>5</cp:revision>
  <dcterms:created xsi:type="dcterms:W3CDTF">2006-08-16T00:00:00Z</dcterms:created>
  <dcterms:modified xsi:type="dcterms:W3CDTF">2026-05-07T15:54:03Z</dcterms:modified>
  <dc:identifier>DAHH9DGzV84</dc:identifier>
</cp:coreProperties>
</file>